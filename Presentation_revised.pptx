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sldIdLst>
    <p:sldId id="328" r:id="rId2"/>
    <p:sldId id="329" r:id="rId3"/>
    <p:sldId id="308" r:id="rId4"/>
    <p:sldId id="309" r:id="rId5"/>
    <p:sldId id="310" r:id="rId6"/>
    <p:sldId id="299" r:id="rId7"/>
    <p:sldId id="312" r:id="rId8"/>
    <p:sldId id="330" r:id="rId9"/>
    <p:sldId id="313" r:id="rId10"/>
    <p:sldId id="314" r:id="rId11"/>
    <p:sldId id="315" r:id="rId12"/>
    <p:sldId id="316" r:id="rId13"/>
    <p:sldId id="317" r:id="rId14"/>
    <p:sldId id="320" r:id="rId15"/>
    <p:sldId id="318" r:id="rId16"/>
    <p:sldId id="319" r:id="rId17"/>
    <p:sldId id="321" r:id="rId18"/>
    <p:sldId id="322" r:id="rId19"/>
    <p:sldId id="323" r:id="rId20"/>
    <p:sldId id="332" r:id="rId21"/>
    <p:sldId id="324" r:id="rId2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D3EE"/>
    <a:srgbClr val="0F172A"/>
    <a:srgbClr val="1E293B"/>
    <a:srgbClr val="64748B"/>
    <a:srgbClr val="9EA8B7"/>
    <a:srgbClr val="969696"/>
    <a:srgbClr val="9D9D9D"/>
    <a:srgbClr val="C0C0C0"/>
    <a:srgbClr val="EAEAEA"/>
    <a:srgbClr val="7B4F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56959" autoAdjust="0"/>
  </p:normalViewPr>
  <p:slideViewPr>
    <p:cSldViewPr snapToGrid="0">
      <p:cViewPr varScale="1">
        <p:scale>
          <a:sx n="65" d="100"/>
          <a:sy n="65" d="100"/>
        </p:scale>
        <p:origin x="235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60078-77E7-46A7-9649-B3FD62DAD7B9}" type="datetimeFigureOut">
              <a:rPr lang="tr-TR" smtClean="0"/>
              <a:t>30.04.2026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73214-2400-4051-BA10-C1E11D206B4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285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[OPENING] Smile. Pause. Scan the room for 2 seconds before you start.</a:t>
            </a:r>
          </a:p>
          <a:p>
            <a:endParaRPr lang="en-US" dirty="0"/>
          </a:p>
          <a:p>
            <a:r>
              <a:rPr lang="en-US" dirty="0"/>
              <a:t>Hi everyone — I'm [name], and for the next 45 minutes we're going to build something you've probably wanted for years: a way to ask your database questions in plain English and get back real, trustworthy answers.</a:t>
            </a:r>
          </a:p>
          <a:p>
            <a:endParaRPr lang="en-US" dirty="0"/>
          </a:p>
          <a:p>
            <a:r>
              <a:rPr lang="en-US" dirty="0"/>
              <a:t>We'll do it in .NET, we'll do it with code you can copy, and we'll do it twice — once in a console app so you see every moving part, and once in a Blazor app with voice, charts, and Excel export.</a:t>
            </a:r>
          </a:p>
          <a:p>
            <a:endParaRPr lang="en-US" dirty="0"/>
          </a:p>
          <a:p>
            <a:r>
              <a:rPr lang="en-US" dirty="0"/>
              <a:t>[PAUSE 2s]</a:t>
            </a:r>
          </a:p>
          <a:p>
            <a:endParaRPr lang="en-US" dirty="0"/>
          </a:p>
          <a:p>
            <a:r>
              <a:rPr lang="en-US" dirty="0"/>
              <a:t>Show of hands — who here has written a SELECT this week because a PM asked for numbers?</a:t>
            </a:r>
          </a:p>
          <a:p>
            <a:endParaRPr lang="en-US" dirty="0"/>
          </a:p>
          <a:p>
            <a:r>
              <a:rPr lang="en-US" dirty="0"/>
              <a:t>[TRANSITION] 'That's exactly the problem we're solving.’</a:t>
            </a:r>
          </a:p>
          <a:p>
            <a:r>
              <a:rPr lang="en-US" dirty="0"/>
              <a:t>//////////////////////////</a:t>
            </a:r>
          </a:p>
          <a:p>
            <a:endParaRPr lang="en-US" dirty="0"/>
          </a:p>
          <a:p>
            <a:r>
              <a:rPr lang="en-US" dirty="0"/>
              <a:t>8. daha </a:t>
            </a:r>
            <a:r>
              <a:rPr lang="en-US" dirty="0" err="1"/>
              <a:t>az</a:t>
            </a:r>
            <a:r>
              <a:rPr lang="en-US" dirty="0"/>
              <a:t> zaman</a:t>
            </a:r>
          </a:p>
          <a:p>
            <a:r>
              <a:rPr lang="en-US" dirty="0"/>
              <a:t>9. </a:t>
            </a:r>
            <a:r>
              <a:rPr lang="en-US" dirty="0" err="1"/>
              <a:t>ile</a:t>
            </a:r>
            <a:r>
              <a:rPr lang="en-US" dirty="0"/>
              <a:t> 6.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değiştir</a:t>
            </a:r>
            <a:endParaRPr lang="en-US" dirty="0"/>
          </a:p>
          <a:p>
            <a:r>
              <a:rPr lang="en-US" dirty="0"/>
              <a:t>12. 15. 16. 17. </a:t>
            </a:r>
            <a:r>
              <a:rPr lang="en-US" dirty="0" err="1"/>
              <a:t>sil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7 slide 10sn </a:t>
            </a:r>
            <a:r>
              <a:rPr lang="en-US" dirty="0" err="1"/>
              <a:t>göster</a:t>
            </a:r>
            <a:endParaRPr lang="en-US" dirty="0"/>
          </a:p>
          <a:p>
            <a:r>
              <a:rPr lang="en-US" dirty="0" err="1"/>
              <a:t>sunum</a:t>
            </a:r>
            <a:r>
              <a:rPr lang="en-US" dirty="0"/>
              <a:t> </a:t>
            </a:r>
            <a:r>
              <a:rPr lang="en-US" dirty="0" err="1"/>
              <a:t>tarafını</a:t>
            </a:r>
            <a:r>
              <a:rPr lang="en-US" dirty="0"/>
              <a:t> </a:t>
            </a:r>
            <a:r>
              <a:rPr lang="en-US" dirty="0" err="1"/>
              <a:t>mümkün</a:t>
            </a:r>
            <a:r>
              <a:rPr lang="en-US" dirty="0"/>
              <a:t> </a:t>
            </a:r>
            <a:r>
              <a:rPr lang="en-US" dirty="0" err="1"/>
              <a:t>olduğunca</a:t>
            </a:r>
            <a:r>
              <a:rPr lang="en-US" dirty="0"/>
              <a:t> </a:t>
            </a:r>
            <a:r>
              <a:rPr lang="en-US" dirty="0" err="1"/>
              <a:t>azalt</a:t>
            </a:r>
            <a:endParaRPr lang="en-US" dirty="0"/>
          </a:p>
          <a:p>
            <a:r>
              <a:rPr lang="en-US" dirty="0"/>
              <a:t>console </a:t>
            </a:r>
            <a:r>
              <a:rPr lang="en-US" dirty="0" err="1"/>
              <a:t>uygulamasını</a:t>
            </a:r>
            <a:r>
              <a:rPr lang="en-US" dirty="0"/>
              <a:t> 1 </a:t>
            </a:r>
            <a:r>
              <a:rPr lang="en-US" dirty="0" err="1"/>
              <a:t>kez</a:t>
            </a:r>
            <a:r>
              <a:rPr lang="en-US" dirty="0"/>
              <a:t> </a:t>
            </a:r>
            <a:r>
              <a:rPr lang="en-US" dirty="0" err="1"/>
              <a:t>çalıştır</a:t>
            </a:r>
            <a:endParaRPr lang="en-US" dirty="0"/>
          </a:p>
          <a:p>
            <a:r>
              <a:rPr lang="en-US" dirty="0" err="1"/>
              <a:t>soru</a:t>
            </a:r>
            <a:r>
              <a:rPr lang="en-US" dirty="0"/>
              <a:t> </a:t>
            </a:r>
            <a:r>
              <a:rPr lang="en-US" dirty="0" err="1"/>
              <a:t>seçimlerini</a:t>
            </a:r>
            <a:r>
              <a:rPr lang="en-US" dirty="0"/>
              <a:t> </a:t>
            </a:r>
            <a:r>
              <a:rPr lang="en-US" dirty="0" err="1"/>
              <a:t>baştan</a:t>
            </a:r>
            <a:r>
              <a:rPr lang="en-US" dirty="0"/>
              <a:t> </a:t>
            </a:r>
            <a:r>
              <a:rPr lang="en-US" dirty="0" err="1"/>
              <a:t>ayarla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 err="1"/>
              <a:t>Başlangıçta</a:t>
            </a:r>
            <a:r>
              <a:rPr lang="en-US" b="1" dirty="0"/>
              <a:t> </a:t>
            </a:r>
            <a:r>
              <a:rPr lang="en-US" b="1" dirty="0" err="1"/>
              <a:t>aç</a:t>
            </a:r>
            <a:r>
              <a:rPr lang="en-US" b="1" dirty="0"/>
              <a:t> -&gt;</a:t>
            </a:r>
            <a:br>
              <a:rPr lang="en-US" dirty="0"/>
            </a:br>
            <a:r>
              <a:rPr lang="en-US" dirty="0"/>
              <a:t>D:\github\alper\chat-with-your-data-conference\Chat.Console\bin\Debug\net10.0\Output</a:t>
            </a:r>
            <a:br>
              <a:rPr lang="en-US" dirty="0"/>
            </a:br>
            <a:r>
              <a:rPr lang="en-US" dirty="0"/>
              <a:t>how-to-get-your-db-schema.png </a:t>
            </a:r>
            <a:br>
              <a:rPr lang="en-US" dirty="0"/>
            </a:br>
            <a:r>
              <a:rPr lang="en-US" dirty="0"/>
              <a:t>DB Browser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73214-2400-4051-BA10-C1E11D206B4D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0510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F172A"/>
                </a:solidFill>
                <a:sym typeface="Wingdings" panose="05000000000000000000" pitchFamily="2" charset="2"/>
              </a:rPr>
              <a:t> </a:t>
            </a:r>
            <a:r>
              <a:rPr lang="en-US" sz="1200" b="1" dirty="0">
                <a:solidFill>
                  <a:srgbClr val="0F172A"/>
                </a:solidFill>
              </a:rPr>
              <a:t>How many of you have written SQL before? Or create a reporting screen?</a:t>
            </a:r>
          </a:p>
          <a:p>
            <a:endParaRPr lang="en-US" dirty="0"/>
          </a:p>
          <a:p>
            <a:r>
              <a:rPr lang="en-US" b="1" dirty="0"/>
              <a:t>We, developers are the bottleneck. And today we are going to remove ourselves.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today you will have the pattern to actually build this.</a:t>
            </a:r>
          </a:p>
          <a:p>
            <a:endParaRPr lang="en-US" dirty="0"/>
          </a:p>
          <a:p>
            <a:r>
              <a:rPr lang="en-US" dirty="0"/>
              <a:t>Three promises on this slide:</a:t>
            </a:r>
          </a:p>
          <a:p>
            <a:r>
              <a:rPr lang="en-US" dirty="0"/>
              <a:t>- Natural language in, real data out</a:t>
            </a:r>
          </a:p>
          <a:p>
            <a:r>
              <a:rPr lang="en-US" dirty="0"/>
              <a:t>- No SQL required from the user</a:t>
            </a:r>
          </a:p>
          <a:p>
            <a:r>
              <a:rPr lang="en-US" dirty="0"/>
              <a:t>- And crucially: it works for both us as developers AND for the business users who have been waiting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[OVERVIEW] This slide is the table of contents for the next 40 minutes. Do not spend long here — 60 seconds max.</a:t>
            </a:r>
          </a:p>
          <a:p>
            <a:endParaRPr lang="en-US" dirty="0"/>
          </a:p>
          <a:p>
            <a:r>
              <a:rPr lang="en-US" dirty="0"/>
              <a:t>- Understand intent — </a:t>
            </a:r>
            <a:r>
              <a:rPr lang="en-US" b="1" dirty="0"/>
              <a:t>parse what the user actually asked</a:t>
            </a:r>
          </a:p>
          <a:p>
            <a:r>
              <a:rPr lang="en-US" dirty="0"/>
              <a:t>- Read the schema — </a:t>
            </a:r>
            <a:r>
              <a:rPr lang="en-US" b="1" dirty="0"/>
              <a:t>the LLM has to know your tables</a:t>
            </a:r>
          </a:p>
          <a:p>
            <a:r>
              <a:rPr lang="en-US" dirty="0"/>
              <a:t>- Generate SQL safely — </a:t>
            </a:r>
            <a:r>
              <a:rPr lang="en-US" b="1" dirty="0"/>
              <a:t>with validation, not blind trust</a:t>
            </a:r>
          </a:p>
          <a:p>
            <a:r>
              <a:rPr lang="en-US" dirty="0"/>
              <a:t>- Execute — </a:t>
            </a:r>
            <a:r>
              <a:rPr lang="en-US" b="1" dirty="0"/>
              <a:t>run it against the real database</a:t>
            </a:r>
          </a:p>
          <a:p>
            <a:r>
              <a:rPr lang="en-US" dirty="0"/>
              <a:t>- Export — </a:t>
            </a:r>
            <a:r>
              <a:rPr lang="en-US" b="1" dirty="0"/>
              <a:t>Excel and generating charts, because that is what people actually do with results</a:t>
            </a:r>
          </a:p>
          <a:p>
            <a:endParaRPr lang="en-US" dirty="0"/>
          </a:p>
          <a:p>
            <a:r>
              <a:rPr lang="en-US" dirty="0"/>
              <a:t>[EMPHASIZE] 'Each one of these is boring on its own. The magic is the chain.'</a:t>
            </a:r>
          </a:p>
          <a:p>
            <a:endParaRPr lang="en-US" dirty="0"/>
          </a:p>
          <a:p>
            <a:r>
              <a:rPr lang="en-US" dirty="0"/>
              <a:t>[TRANSITION] 'Here is how we will walk through it.'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!!! 30 seconds for this slide</a:t>
            </a:r>
          </a:p>
          <a:p>
            <a:endParaRPr lang="en-US" u="sng" dirty="0"/>
          </a:p>
          <a:p>
            <a:r>
              <a:rPr lang="en-US" dirty="0"/>
              <a:t>This is the whole system in 7 boxes. </a:t>
            </a:r>
          </a:p>
          <a:p>
            <a:r>
              <a:rPr lang="en-US" dirty="0"/>
              <a:t>User types → we build the prompt → LLM writes SQL → validator checks it → we execute.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[DETAIL] This is where the quality of the system is decided. Spend about 2 minutes here.</a:t>
            </a:r>
          </a:p>
          <a:p>
            <a:endParaRPr lang="en-US" dirty="0"/>
          </a:p>
          <a:p>
            <a:r>
              <a:rPr lang="en-US" dirty="0"/>
              <a:t>Schema first. Walk through the left card:</a:t>
            </a:r>
          </a:p>
          <a:p>
            <a:r>
              <a:rPr lang="en-US" dirty="0"/>
              <a:t>- We extract tables, columns, relationships, and types from the database</a:t>
            </a:r>
          </a:p>
          <a:p>
            <a:r>
              <a:rPr lang="en-US" dirty="0"/>
              <a:t>- Optionally sample values help the LLM understand content, not just structure</a:t>
            </a:r>
          </a:p>
          <a:p>
            <a:r>
              <a:rPr lang="en-US" dirty="0"/>
              <a:t>- Extra info DDL 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Definition Language)</a:t>
            </a:r>
            <a:endParaRPr lang="en-US" dirty="0"/>
          </a:p>
          <a:p>
            <a:r>
              <a:rPr lang="en-US" dirty="0"/>
              <a:t>- Without this, the LLM is guessing. With it, it is translating.</a:t>
            </a:r>
          </a:p>
          <a:p>
            <a:endParaRPr lang="en-US" dirty="0"/>
          </a:p>
          <a:p>
            <a:r>
              <a:rPr lang="en-US" dirty="0"/>
              <a:t>[PAUSE] Then pivot to the right card.</a:t>
            </a:r>
          </a:p>
          <a:p>
            <a:endParaRPr lang="en-US" dirty="0"/>
          </a:p>
          <a:p>
            <a:r>
              <a:rPr lang="en-US" dirty="0"/>
              <a:t>The prompt is where we write the rules — in plain English. Read the code block out loud:</a:t>
            </a:r>
          </a:p>
          <a:p>
            <a:r>
              <a:rPr lang="en-US" dirty="0"/>
              <a:t>'You are a SQL assistant. Rules: SELECT only. No DELETE, UPDATE, or DROP. Return SQL only. Use the schema above.’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[EMPHASIZE] 'Good schema plus strict prompt equals boring, reliable SQL. That is exactly what we want.'</a:t>
            </a:r>
          </a:p>
          <a:p>
            <a:endParaRPr lang="en-US" dirty="0"/>
          </a:p>
          <a:p>
            <a:r>
              <a:rPr lang="en-US" dirty="0"/>
              <a:t>[TRANSITION] 'Let me show you this running live.'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0EC0F-DA0D-0A76-E806-8E6CBDDFF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61CA3-11A4-AE5B-BC7E-4E722A78C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DEF67-09CC-E136-C2C8-BC26E99D7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[DIVIDER] This is a pacing slide — 10 seconds maximum. It exists to let the audience breathe.</a:t>
            </a:r>
          </a:p>
          <a:p>
            <a:endParaRPr lang="en-US" dirty="0"/>
          </a:p>
          <a:p>
            <a:r>
              <a:rPr lang="en-US" dirty="0"/>
              <a:t>'First demo: the console. We are going to see every stage of the pipeline explicitly.'</a:t>
            </a:r>
          </a:p>
          <a:p>
            <a:endParaRPr lang="en-US" dirty="0"/>
          </a:p>
          <a:p>
            <a:r>
              <a:rPr lang="en-US" dirty="0"/>
              <a:t>[STAGE] Walk two steps closer to the screen before clicking forward.</a:t>
            </a:r>
          </a:p>
          <a:p>
            <a:endParaRPr lang="en-US" dirty="0"/>
          </a:p>
          <a:p>
            <a:r>
              <a:rPr lang="en-US" dirty="0"/>
              <a:t>[TRANSITION] 'Let us start at the beginning — the pipeline itself.'</a:t>
            </a:r>
          </a:p>
        </p:txBody>
      </p:sp>
    </p:spTree>
    <p:extLst>
      <p:ext uri="{BB962C8B-B14F-4D97-AF65-F5344CB8AC3E}">
        <p14:creationId xmlns:p14="http://schemas.microsoft.com/office/powerpoint/2010/main" val="1339754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[LIVE DEMO — Console] Alt-tab to Visual Studio. Make sure Chat.Console.OpenAI is already loaded and the font is LARGE.</a:t>
            </a:r>
          </a:p>
          <a:p>
            <a:endParaRPr lang="en-US" dirty="0"/>
          </a:p>
          <a:p>
            <a:r>
              <a:rPr lang="en-US" dirty="0"/>
              <a:t>Step 1: Start the app. Let them see the prompt blink.</a:t>
            </a:r>
          </a:p>
          <a:p>
            <a:r>
              <a:rPr lang="en-US" dirty="0"/>
              <a:t>Step 2: Type 'top 10 customers by revenue' slowly, so people can read.</a:t>
            </a:r>
          </a:p>
          <a:p>
            <a:r>
              <a:rPr lang="en-US" dirty="0"/>
              <a:t>Step 3: Pause before hitting enter. Ask: 'What SQL do you expect?'</a:t>
            </a:r>
          </a:p>
          <a:p>
            <a:r>
              <a:rPr lang="en-US" dirty="0"/>
              <a:t>Step 4: Hit enter. The generated SQL appears.</a:t>
            </a:r>
          </a:p>
          <a:p>
            <a:endParaRPr lang="en-US" dirty="0"/>
          </a:p>
          <a:p>
            <a:r>
              <a:rPr lang="en-US" dirty="0"/>
              <a:t>[TRUST MOMENT] Stop. Read the SQL out loud. Then ask the audience:</a:t>
            </a:r>
          </a:p>
          <a:p>
            <a:r>
              <a:rPr lang="en-US" dirty="0"/>
              <a:t>'Would you run this in production?'</a:t>
            </a:r>
          </a:p>
          <a:p>
            <a:endParaRPr lang="en-US" dirty="0"/>
          </a:p>
          <a:p>
            <a:r>
              <a:rPr lang="en-US" dirty="0"/>
              <a:t>[PAUSE 3s] Let them sit with it. Some will say yes, some no.</a:t>
            </a:r>
          </a:p>
          <a:p>
            <a:endParaRPr lang="en-US" dirty="0"/>
          </a:p>
          <a:p>
            <a:r>
              <a:rPr lang="en-US" dirty="0"/>
              <a:t>Then: 'Right — we would not trust it blindly. That is why the next stage is validation.'</a:t>
            </a:r>
          </a:p>
          <a:p>
            <a:endParaRPr lang="en-US" dirty="0"/>
          </a:p>
          <a:p>
            <a:r>
              <a:rPr lang="en-US" dirty="0"/>
              <a:t>[CUE] Point back to the pipeline slide mentally: we just completed Schema → Prompt → LLM → SQL. Validation is next.</a:t>
            </a:r>
          </a:p>
          <a:p>
            <a:endParaRPr lang="en-US" dirty="0"/>
          </a:p>
          <a:p>
            <a:r>
              <a:rPr lang="en-US" dirty="0"/>
              <a:t>Keep the console running — we'll use the same session for validation + execution.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[SECURITY] Slow down on this slide. This is where developers in the room decide if they trust the system.</a:t>
            </a:r>
          </a:p>
          <a:p>
            <a:endParaRPr lang="en-US" dirty="0"/>
          </a:p>
          <a:p>
            <a:r>
              <a:rPr lang="en-US" dirty="0"/>
              <a:t>Left card — the validator:</a:t>
            </a:r>
          </a:p>
          <a:p>
            <a:r>
              <a:rPr lang="en-US" dirty="0"/>
              <a:t>- Block all mutating statements: DELETE, UPDATE, DROP, TRUNCATE</a:t>
            </a:r>
          </a:p>
          <a:p>
            <a:r>
              <a:rPr lang="en-US" dirty="0"/>
              <a:t>- Block multi-statement queries (semicolons)</a:t>
            </a:r>
          </a:p>
          <a:p>
            <a:r>
              <a:rPr lang="en-US" dirty="0"/>
              <a:t>- Allow SELECT only</a:t>
            </a:r>
          </a:p>
          <a:p>
            <a:r>
              <a:rPr lang="en-US" dirty="0"/>
              <a:t>- Enforce row limits so nobody accidentally SELECTs 50 million rows</a:t>
            </a:r>
          </a:p>
          <a:p>
            <a:r>
              <a:rPr lang="en-US" dirty="0"/>
              <a:t>- Sanitize any identifiers</a:t>
            </a:r>
          </a:p>
          <a:p>
            <a:endParaRPr lang="en-US" dirty="0"/>
          </a:p>
          <a:p>
            <a:r>
              <a:rPr lang="en-US" dirty="0"/>
              <a:t>[EMPHASIZE] 'The LLM is clever. It is not on your payroll. Treat its output like untrusted user input — because that is what it is.'</a:t>
            </a:r>
          </a:p>
          <a:p>
            <a:endParaRPr lang="en-US" dirty="0"/>
          </a:p>
          <a:p>
            <a:r>
              <a:rPr lang="en-US" dirty="0"/>
              <a:t>Right card — execution:</a:t>
            </a:r>
          </a:p>
          <a:p>
            <a:r>
              <a:rPr lang="en-US" dirty="0"/>
              <a:t>- Connect with a read-only DB user. Belt and suspenders.</a:t>
            </a:r>
          </a:p>
          <a:p>
            <a:r>
              <a:rPr lang="en-US" dirty="0"/>
              <a:t>- Set a query timeout. LLMs occasionally generate Cartesian joins.</a:t>
            </a:r>
          </a:p>
          <a:p>
            <a:r>
              <a:rPr lang="en-US" dirty="0"/>
              <a:t>- Return structured data, not raw rows</a:t>
            </a:r>
          </a:p>
          <a:p>
            <a:r>
              <a:rPr lang="en-US" dirty="0"/>
              <a:t>- Log every single query — you will need this for debugging AND auditing</a:t>
            </a:r>
          </a:p>
          <a:p>
            <a:endParaRPr lang="en-US" dirty="0"/>
          </a:p>
          <a:p>
            <a:r>
              <a:rPr lang="en-US" dirty="0"/>
              <a:t>[TRANSITION] Back to the console demo — run the same query and show the log line.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[BIG MOMENT] This is the punchline of Act 1. Own it.</a:t>
            </a:r>
          </a:p>
          <a:p>
            <a:endParaRPr lang="en-US" dirty="0"/>
          </a:p>
          <a:p>
            <a:r>
              <a:rPr lang="en-US" dirty="0"/>
              <a:t>[PAUSE 3s] Stand still. Let the slide breathe.</a:t>
            </a:r>
          </a:p>
          <a:p>
            <a:endParaRPr lang="en-US" dirty="0"/>
          </a:p>
          <a:p>
            <a:r>
              <a:rPr lang="en-US" dirty="0"/>
              <a:t>Read the quote slowly: 'This is a pipeline — not magic.'</a:t>
            </a:r>
          </a:p>
          <a:p>
            <a:endParaRPr lang="en-US" dirty="0"/>
          </a:p>
          <a:p>
            <a:r>
              <a:rPr lang="en-US" dirty="0"/>
              <a:t>[EMPHASIZE] 'Every stage you just saw is inspectable. Testable. Replaceable. You can swap the LLM. You can add a cache in front of it. You can unit-test the validator.'</a:t>
            </a:r>
          </a:p>
          <a:p>
            <a:endParaRPr lang="en-US" dirty="0"/>
          </a:p>
          <a:p>
            <a:r>
              <a:rPr lang="en-US" dirty="0"/>
              <a:t>'When something goes wrong in production — and it will — you can open a log and see exactly which stage failed.'</a:t>
            </a:r>
          </a:p>
          <a:p>
            <a:endParaRPr lang="en-US" dirty="0"/>
          </a:p>
          <a:p>
            <a:r>
              <a:rPr lang="en-US" dirty="0"/>
              <a:t>[PAUSE] 'That is why this works in an enterprise context. Because it stops being AI and starts being software.'</a:t>
            </a:r>
          </a:p>
          <a:p>
            <a:endParaRPr lang="en-US" dirty="0"/>
          </a:p>
          <a:p>
            <a:r>
              <a:rPr lang="en-US" dirty="0"/>
              <a:t>[TRANSITION] 'Let me zoom out and show you the architecture.'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[ARCHITECTURE] Architects in the room, this slide is for you.</a:t>
            </a:r>
          </a:p>
          <a:p>
            <a:endParaRPr lang="en-US" dirty="0"/>
          </a:p>
          <a:p>
            <a:r>
              <a:rPr lang="en-US" dirty="0"/>
              <a:t>Three layers. Walk through top to bottom:</a:t>
            </a:r>
          </a:p>
          <a:p>
            <a:endParaRPr lang="en-US" dirty="0"/>
          </a:p>
          <a:p>
            <a:r>
              <a:rPr lang="en-US" dirty="0"/>
              <a:t>Layer 1 — Intake. The only layer that touches the user and the database schema. It answers: 'What did they ask, and what do we know about the data?'</a:t>
            </a:r>
          </a:p>
          <a:p>
            <a:endParaRPr lang="en-US" dirty="0"/>
          </a:p>
          <a:p>
            <a:r>
              <a:rPr lang="en-US" dirty="0"/>
              <a:t>Layer 2 — Brain. The LLM lives here, and so does the validator. Input: user intent plus schema. Output: safe SQL. Nothing else gets in or out.</a:t>
            </a:r>
          </a:p>
          <a:p>
            <a:endParaRPr lang="en-US" dirty="0"/>
          </a:p>
          <a:p>
            <a:r>
              <a:rPr lang="en-US" dirty="0"/>
              <a:t>Layer 3 — Output. Runs the query, formats the results, feeds downstream consumers like Excel or charts.</a:t>
            </a:r>
          </a:p>
          <a:p>
            <a:endParaRPr lang="en-US" dirty="0"/>
          </a:p>
          <a:p>
            <a:r>
              <a:rPr lang="en-US" dirty="0"/>
              <a:t>[EMPHASIZE] Read the bottom strip: 'Swap the LLM, swap the database, swap the UI — the contract between layers stays the same.'</a:t>
            </a:r>
          </a:p>
          <a:p>
            <a:endParaRPr lang="en-US" dirty="0"/>
          </a:p>
          <a:p>
            <a:r>
              <a:rPr lang="en-US" dirty="0"/>
              <a:t>'Which means when OpenAI releases a better model next week, you change one class. When you move from SQL Server to Postgres, you change one class. That is the win.'</a:t>
            </a:r>
          </a:p>
          <a:p>
            <a:endParaRPr lang="en-US" dirty="0"/>
          </a:p>
          <a:p>
            <a:r>
              <a:rPr lang="en-US" dirty="0"/>
              <a:t>[TRANSITION] 'And because the layers are clean, this whole thing fits in one NuGet module.'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[PRACTICAL] Point at the code block on the left.</a:t>
            </a:r>
          </a:p>
          <a:p>
            <a:endParaRPr lang="en-US" dirty="0"/>
          </a:p>
          <a:p>
            <a:r>
              <a:rPr lang="en-US" dirty="0"/>
              <a:t>'This is literally the whole setup. Three lines in Program.cs:'</a:t>
            </a:r>
          </a:p>
          <a:p>
            <a:r>
              <a:rPr lang="en-US" dirty="0"/>
              <a:t>- Connection string — where's your database</a:t>
            </a:r>
          </a:p>
          <a:p>
            <a:r>
              <a:rPr lang="en-US" dirty="0"/>
              <a:t>- LLM provider — OpenAI, Azure OpenAI, Claude, local model, whatever</a:t>
            </a:r>
          </a:p>
          <a:p>
            <a:r>
              <a:rPr lang="en-US" dirty="0"/>
              <a:t>- ReadOnly flag — seat belt and suspenders on top of the validator</a:t>
            </a:r>
          </a:p>
          <a:p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[TRANSITION] 'So let us look at what a real product feels like.'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[LIVE DEMO] Switch to the Blazor browser window. Make sure the mic permission is already granted before the talk.</a:t>
            </a:r>
          </a:p>
          <a:p>
            <a:endParaRPr lang="en-US" dirty="0"/>
          </a:p>
          <a:p>
            <a:r>
              <a:rPr lang="en-US" dirty="0"/>
              <a:t>Demo script — roughly 4 minutes total:</a:t>
            </a:r>
          </a:p>
          <a:p>
            <a:endParaRPr lang="en-US" dirty="0"/>
          </a:p>
          <a:p>
            <a:r>
              <a:rPr lang="en-US" dirty="0"/>
              <a:t>1. Click the mic button. Say clearly: 'Show me sales trends for the last six months.'</a:t>
            </a:r>
          </a:p>
          <a:p>
            <a:r>
              <a:rPr lang="en-US" dirty="0"/>
              <a:t>2. Let the audience watch the transcription appear.</a:t>
            </a:r>
          </a:p>
          <a:p>
            <a:r>
              <a:rPr lang="en-US" dirty="0"/>
              <a:t>3. Show the SQL it generated (same pipeline as before — point this out).</a:t>
            </a:r>
          </a:p>
          <a:p>
            <a:r>
              <a:rPr lang="en-US" dirty="0"/>
              <a:t>4. Watch the table render.</a:t>
            </a:r>
          </a:p>
          <a:p>
            <a:r>
              <a:rPr lang="en-US" dirty="0"/>
              <a:t>5. Switch to the chart tab — the 'wow' moment.</a:t>
            </a:r>
          </a:p>
          <a:p>
            <a:r>
              <a:rPr lang="en-US" dirty="0"/>
              <a:t>6. Click Export to Excel. Open the file briefly so they see it's real.</a:t>
            </a:r>
          </a:p>
          <a:p>
            <a:endParaRPr lang="en-US" dirty="0"/>
          </a:p>
          <a:p>
            <a:r>
              <a:rPr lang="en-US" dirty="0"/>
              <a:t>[EMPHASIZE] 'Voice in. Chart out. Spreadsheet in my downloads folder. Zero SQL.'</a:t>
            </a:r>
          </a:p>
          <a:p>
            <a:endParaRPr lang="en-US" dirty="0"/>
          </a:p>
          <a:p>
            <a:r>
              <a:rPr lang="en-US" dirty="0"/>
              <a:t>[FALLBACK] If the mic fails, just type the query. Don't panic. Say: 'Let me type this instead.'</a:t>
            </a:r>
          </a:p>
          <a:p>
            <a:endParaRPr lang="en-US" dirty="0"/>
          </a:p>
          <a:p>
            <a:r>
              <a:rPr lang="en-US" dirty="0"/>
              <a:t>[TRANSITION] Return to slides. 'Why does this feel different from the console? Let's talk about UX.'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[DIVIDER] Brief pacing slide — 10 seconds.</a:t>
            </a:r>
          </a:p>
          <a:p>
            <a:endParaRPr lang="en-US" dirty="0"/>
          </a:p>
          <a:p>
            <a:r>
              <a:rPr lang="en-US" dirty="0"/>
              <a:t>'Second demo: the product. Same backend, but now with voice input, live charts, and Excel export. This is what you'd actually ship to business users.'</a:t>
            </a:r>
          </a:p>
          <a:p>
            <a:endParaRPr lang="en-US" dirty="0"/>
          </a:p>
          <a:p>
            <a:r>
              <a:rPr lang="en-US" dirty="0"/>
              <a:t>[STAGE] Take a breath. Check the room. Walk to the other side of the stage if possible.</a:t>
            </a:r>
          </a:p>
          <a:p>
            <a:endParaRPr lang="en-US" dirty="0"/>
          </a:p>
          <a:p>
            <a:r>
              <a:rPr lang="en-US" dirty="0"/>
              <a:t>[TRANSITION] 'Let me show you the pieces.'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[SETUP] This slide introduces the second demo. Frame it as 'same engine, different car.'</a:t>
            </a:r>
          </a:p>
          <a:p>
            <a:endParaRPr lang="en-US" dirty="0"/>
          </a:p>
          <a:p>
            <a:r>
              <a:rPr lang="en-US" dirty="0"/>
              <a:t>'The console app proved the pipeline works. But business users don't open a terminal — they want to click, talk, and see a chart.'</a:t>
            </a:r>
          </a:p>
          <a:p>
            <a:endParaRPr lang="en-US" dirty="0"/>
          </a:p>
          <a:p>
            <a:r>
              <a:rPr lang="en-US" dirty="0"/>
              <a:t>Walk through the three upgrades briefly:</a:t>
            </a:r>
          </a:p>
          <a:p>
            <a:r>
              <a:rPr lang="en-US" dirty="0"/>
              <a:t>- Voice input — you literally speak your question</a:t>
            </a:r>
          </a:p>
          <a:p>
            <a:r>
              <a:rPr lang="en-US" dirty="0"/>
              <a:t>- Live charts — results render as tables AND as visualizations</a:t>
            </a:r>
          </a:p>
          <a:p>
            <a:r>
              <a:rPr lang="en-US" dirty="0"/>
              <a:t>- One-click Excel export — because half of all reporting ends in Excel anyway</a:t>
            </a:r>
          </a:p>
          <a:p>
            <a:endParaRPr lang="en-US" dirty="0"/>
          </a:p>
          <a:p>
            <a:r>
              <a:rPr lang="en-US" dirty="0"/>
              <a:t>[EMPHASIZE] 'The backend code? Identical. We just swapped the UI.'</a:t>
            </a:r>
          </a:p>
          <a:p>
            <a:endParaRPr lang="en-US" dirty="0"/>
          </a:p>
          <a:p>
            <a:r>
              <a:rPr lang="en-US" dirty="0"/>
              <a:t>[TRANSITION] 'Let me show you.'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[REFLECTION] Slow down here. The audience just saw something cool — give them a moment to integrate it.</a:t>
            </a:r>
          </a:p>
          <a:p>
            <a:endParaRPr lang="en-US" dirty="0"/>
          </a:p>
          <a:p>
            <a:r>
              <a:rPr lang="en-US" dirty="0"/>
              <a:t>Three UX truths this project taught me:</a:t>
            </a:r>
          </a:p>
          <a:p>
            <a:endParaRPr lang="en-US" dirty="0"/>
          </a:p>
          <a:p>
            <a:r>
              <a:rPr lang="en-US" dirty="0"/>
              <a:t>- Simplicity wins. The user types or speaks. That's it. No dropdowns, no filters, no form fields.</a:t>
            </a:r>
          </a:p>
          <a:p>
            <a:r>
              <a:rPr lang="en-US" dirty="0"/>
              <a:t>- Instant feedback. Show the SQL. Show the table. Show the chart. Never leave the user staring at a spinner with no context.</a:t>
            </a:r>
          </a:p>
          <a:p>
            <a:r>
              <a:rPr lang="en-US" dirty="0"/>
              <a:t>- Trust in results. Every answer can be inspected — show me the query, show me the row count, let me verify.</a:t>
            </a:r>
          </a:p>
          <a:p>
            <a:endParaRPr lang="en-US" dirty="0"/>
          </a:p>
          <a:p>
            <a:r>
              <a:rPr lang="en-US" dirty="0"/>
              <a:t>[EMPHASIZE] 'The tech is the LLM. The product is the trust.'</a:t>
            </a:r>
          </a:p>
          <a:p>
            <a:endParaRPr lang="en-US" dirty="0"/>
          </a:p>
          <a:p>
            <a:r>
              <a:rPr lang="en-US" dirty="0"/>
              <a:t>[TRANSITION] 'So where does this actually fit in the real world?'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[MAKE IT REAL] This is where you connect the demo to their day job. Tailor the examples to the room if you can — if you know someone works in finance, lean on that one.</a:t>
            </a:r>
          </a:p>
          <a:p>
            <a:endParaRPr lang="en-US" dirty="0"/>
          </a:p>
          <a:p>
            <a:r>
              <a:rPr lang="en-US" dirty="0"/>
              <a:t>Four places this pattern ships today:</a:t>
            </a:r>
          </a:p>
          <a:p>
            <a:endParaRPr lang="en-US" dirty="0"/>
          </a:p>
          <a:p>
            <a:r>
              <a:rPr lang="en-US" dirty="0"/>
              <a:t>- Admin dashboards — internal tools where PMs, ops, and support staff self-serve data</a:t>
            </a:r>
          </a:p>
          <a:p>
            <a:r>
              <a:rPr lang="en-US" dirty="0"/>
              <a:t>- Customer support — '/lookup everything for account 1234' without a Slack ticket to engineering</a:t>
            </a:r>
          </a:p>
          <a:p>
            <a:r>
              <a:rPr lang="en-US" dirty="0"/>
              <a:t>- Finance and BI — replacing half-built Power BI reports that nobody maintains</a:t>
            </a:r>
          </a:p>
          <a:p>
            <a:r>
              <a:rPr lang="en-US" dirty="0"/>
              <a:t>- Sales ops — 'what's my pipeline this quarter?' asked and answered in five seconds</a:t>
            </a:r>
          </a:p>
          <a:p>
            <a:endParaRPr lang="en-US" dirty="0"/>
          </a:p>
          <a:p>
            <a:r>
              <a:rPr lang="en-US" dirty="0"/>
              <a:t>[EMPHASIZE] 'Every company you've worked at had this need. You just didn't have the tools to solve it cheaply. Now you do.’</a:t>
            </a:r>
          </a:p>
          <a:p>
            <a:endParaRPr lang="en-US" dirty="0"/>
          </a:p>
          <a:p>
            <a:r>
              <a:rPr lang="en-US" b="1" dirty="0"/>
              <a:t>ACTIONS: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Create reservations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Remove spam users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Add/update products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merge duplicate records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Fix invalid phone numbers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Auto create campaigns based on my sales</a:t>
            </a:r>
          </a:p>
          <a:p>
            <a:endParaRPr lang="en-US" dirty="0"/>
          </a:p>
          <a:p>
            <a:r>
              <a:rPr lang="en-US" dirty="0"/>
              <a:t>[TRANSITION] 'Before you go build one — the real talk.'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[HONEST] Don't skip past this. The audience trusts you more when you admit what's hard.</a:t>
            </a:r>
          </a:p>
          <a:p>
            <a:endParaRPr lang="en-US" dirty="0"/>
          </a:p>
          <a:p>
            <a:r>
              <a:rPr lang="en-US" dirty="0"/>
              <a:t>Challenges you will absolutely hit:</a:t>
            </a:r>
          </a:p>
          <a:p>
            <a:r>
              <a:rPr lang="en-US" dirty="0"/>
              <a:t>- Prompt tuning is iterative. Your first prompt will be wrong. Your tenth will still miss edge cases.</a:t>
            </a:r>
          </a:p>
          <a:p>
            <a:r>
              <a:rPr lang="en-US" dirty="0"/>
              <a:t>- SQL safety is a moving target — you're not just blocking DROP, you're blocking creative joins that melt the DB.</a:t>
            </a:r>
          </a:p>
          <a:p>
            <a:r>
              <a:rPr lang="en-US" dirty="0"/>
              <a:t>- Performance matters — LLM latency + query latency compounds. Cache aggressively.</a:t>
            </a:r>
          </a:p>
          <a:p>
            <a:r>
              <a:rPr lang="en-US" dirty="0"/>
              <a:t>- Edge cases are infinite. 'Show me sales' is easy. 'Compare this quarter to the same quarter two years ago, excluding returns' is not.</a:t>
            </a:r>
          </a:p>
          <a:p>
            <a:endParaRPr lang="en-US" dirty="0"/>
          </a:p>
          <a:p>
            <a:r>
              <a:rPr lang="en-US" dirty="0"/>
              <a:t>Best practices that actually work:</a:t>
            </a:r>
          </a:p>
          <a:p>
            <a:r>
              <a:rPr lang="en-US" dirty="0"/>
              <a:t>- Always validate SQL. Twice. Belt and suspenders.</a:t>
            </a:r>
          </a:p>
          <a:p>
            <a:r>
              <a:rPr lang="en-US" dirty="0"/>
              <a:t>- Keep prompts strict — don't try to be clever.</a:t>
            </a:r>
          </a:p>
          <a:p>
            <a:r>
              <a:rPr lang="en-US" dirty="0"/>
              <a:t>- Log every single query, prompt, and response. You'll need them when a user says 'that number looks wrong.'</a:t>
            </a:r>
          </a:p>
          <a:p>
            <a:r>
              <a:rPr lang="en-US" dirty="0"/>
              <a:t>- Start simple. Ship the ugly version first.</a:t>
            </a:r>
          </a:p>
          <a:p>
            <a:endParaRPr lang="en-US" dirty="0"/>
          </a:p>
          <a:p>
            <a:r>
              <a:rPr lang="en-US" dirty="0"/>
              <a:t>[TRANSITION] 'Which brings me to the three things I want you to take home.'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04BD-6229-5249-EE25-4823CBADA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E44DB-5DE9-BDFC-FB4F-DD1CE6F68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E79A91-5D21-567F-24C1-A268E9366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Create a new customer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Delete duplicate records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Update order status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Clean up spam or inactive records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1103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[CLOSING] Speak slowly. Make eye contact with different sections of the room.</a:t>
            </a:r>
          </a:p>
          <a:p>
            <a:endParaRPr lang="en-US" dirty="0"/>
          </a:p>
          <a:p>
            <a:r>
              <a:rPr lang="en-US" dirty="0"/>
              <a:t>Four takeaways — the reason you came today:</a:t>
            </a:r>
          </a:p>
          <a:p>
            <a:r>
              <a:rPr lang="en-US" dirty="0"/>
              <a:t>- LLMs can unlock data. Not in a hype way — in a boring, pipeline-shaped, shippable way.</a:t>
            </a:r>
          </a:p>
          <a:p>
            <a:r>
              <a:rPr lang="en-US" dirty="0"/>
              <a:t>- Start small. A console app. One table. One query. Prove the pattern before you build the Blazor version.</a:t>
            </a:r>
          </a:p>
          <a:p>
            <a:r>
              <a:rPr lang="en-US" dirty="0"/>
              <a:t>- Scale to real apps. When the pattern works, wrap it in the UX your users actually want.</a:t>
            </a:r>
          </a:p>
          <a:p>
            <a:r>
              <a:rPr lang="en-US" dirty="0"/>
              <a:t>- Focus on UX. The LLM is replaceable. The trust you build with users is not.</a:t>
            </a:r>
          </a:p>
          <a:p>
            <a:endParaRPr lang="en-US" dirty="0"/>
          </a:p>
          <a:p>
            <a:r>
              <a:rPr lang="en-US" dirty="0"/>
              <a:t>[PAUSE 2s]</a:t>
            </a:r>
          </a:p>
          <a:p>
            <a:endParaRPr lang="en-US" dirty="0"/>
          </a:p>
          <a:p>
            <a:r>
              <a:rPr lang="en-US" dirty="0"/>
              <a:t>[CLOSING LINE] 'Start simple. Then evolve into a product.'</a:t>
            </a:r>
          </a:p>
          <a:p>
            <a:endParaRPr lang="en-US" dirty="0"/>
          </a:p>
          <a:p>
            <a:r>
              <a:rPr lang="en-US" dirty="0"/>
              <a:t>[PAUSE 3s]</a:t>
            </a:r>
          </a:p>
          <a:p>
            <a:endParaRPr lang="en-US" dirty="0"/>
          </a:p>
          <a:p>
            <a:r>
              <a:rPr lang="en-US" dirty="0"/>
              <a:t>'Thank you — I'd love your questions.'</a:t>
            </a:r>
          </a:p>
          <a:p>
            <a:endParaRPr lang="en-US" dirty="0"/>
          </a:p>
          <a:p>
            <a:r>
              <a:rPr lang="en-US" dirty="0"/>
              <a:t>[QA] Stay on this slide. Don't flip back to earlier slides unless someone asks. Repeat the question so the whole room hears it. If you don't know the answer: 'Great question, I don't know — find me after.' Better than faking it.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A668-7820-8A4A-4103-128C3CDA4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9A3CB-1C8E-5F2F-7E0F-8020AFD53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CADC6-76DB-B80D-E8B5-277C2C2E2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30.04.2026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AF917-D7F4-8BDC-D92C-964327939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6E976-38CC-1FA0-D8CD-0C979B05F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898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84EA-CDF2-A314-8B91-728E9C67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DB4ED-5BD8-7B2F-230B-41DA4B100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911EF-0B06-7947-9DDD-F75EAE1E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30.04.2026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85DB6-DF7E-9B25-7163-08A55C6D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487D7-4C0B-B815-A0A2-20D99AF6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277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9DCC4-B41F-B311-79C2-28D722B4B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08651-0BA3-BCF8-ABEC-224E7B08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281D8-3A7D-3F81-FB3C-A03503404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30.04.2026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8AA5C-4342-D1C9-194A-B89241879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BE101-D0F2-8A6D-AC9A-A5E7216C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926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B5E5-CF30-49C0-2511-08B3A156A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31D83-C97A-AF38-42B5-644B19337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F6F4F-DC33-347D-99DB-F6373935D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B5C53-F985-18A5-A9F4-F99EEDD1D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30.04.2026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DF2EC-6BCA-192E-89E4-81A3660A5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4955E-3D13-74E3-945B-29C90C29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1125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DAFCE-4360-3529-85C2-D60FC5E11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86F6A-F01D-451D-9D1C-C244C18E8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1DA4F-D891-8A45-3D20-4FE773914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51488-DD92-854E-AD1E-96FF4EA71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6D5DA0-F756-BF63-C4FA-25F46285D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8580AF-DDF0-5735-7FA1-BA2164904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30.04.2026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1F4271-D40F-CA31-8B0B-FE6CC8A4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DE1E1-DCF0-0C8F-541D-DD492121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4349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21F5F-D53B-EC38-2AA3-5FE1BA251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6DACA6-FDEE-7F72-D51C-BDC0D5888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30.04.2026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F510D-AF43-9AB9-943B-8B04D964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D72D5-3121-A953-13E1-BB6B5BEE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4813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3533E-79AA-F494-5B16-80AC9FA6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30.04.2026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ED0A2C-F8A5-BE29-11EA-CA93E3C8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23C4C-67E4-75FD-7BAF-CBD91412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7297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D7AFE-9199-4B99-6229-31F59F69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6E8B0-4AA1-2AB8-7AE0-2EA8800C3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47DDB-79DD-4362-7368-01805DD73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BFDDE-F648-F670-FC83-45FB6643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30.04.2026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6594F-6295-65C2-9F7E-10C6F06A1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D7D61-B07D-E080-7E94-03E2BB8F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667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02E56-AA67-3DBD-311B-635721F9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95AD3-6D8E-9C5F-1135-7EF1ADB470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28BCE-E549-CD71-E3A8-9C90152AA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AFBE0-8FD6-DED4-0EED-4DBA9FF01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30.04.2026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7EB54-93F5-4DEF-EB51-550B04FF5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B9F31-E1A5-9596-FBCA-39DBD706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998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8888-A623-35ED-213E-A37F6BDE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A9139-209A-A01D-82F3-A8BCA77BC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7F07A-463B-C7B5-5472-301379FC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30.04.2026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97970-C865-4EA9-BD77-F90120B8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4E478-9DD2-5A8A-E300-876CD465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222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DBE8A5-7C1E-E08E-7897-C746B1087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D3E72-F444-9496-C4DD-3BD97A07C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5E509-79F7-F450-D395-0E6FB01EF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30.04.2026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8506B-FD6B-821D-547B-4DDD9E98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C1E9E-6227-96CD-F6BB-7C48811F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662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05570F-08DF-C25C-7EA2-5D2EAFC9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34B50-5538-83C8-3AA5-0C3617709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D1F98-55B7-9A51-0154-752A6A168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59CCF-2F75-48E0-B827-F930E918C137}" type="datetimeFigureOut">
              <a:rPr lang="tr-TR" smtClean="0"/>
              <a:t>30.04.2026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A37BB-55F0-1E88-2CB1-D47229C91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FFEB3-CD35-26D7-5BD0-357AAFB5A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  <p:sp>
        <p:nvSpPr>
          <p:cNvPr id="900" name="Accent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FooterLine"/>
          <p:cNvSpPr/>
          <p:nvPr userDrawn="1"/>
        </p:nvSpPr>
        <p:spPr>
          <a:xfrm>
            <a:off x="457200" y="6400800"/>
            <a:ext cx="8229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FooterBrand"/>
          <p:cNvSpPr txBox="1"/>
          <p:nvPr userDrawn="1"/>
        </p:nvSpPr>
        <p:spPr>
          <a:xfrm>
            <a:off x="457200" y="6477000"/>
            <a:ext cx="5486400" cy="254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900" dirty="0">
                <a:solidFill>
                  <a:srgbClr val="94A3B8"/>
                </a:solidFill>
              </a:rPr>
              <a:t>Building AI-Powered Reporting with .NET  ·  x.com/alperebicoglu</a:t>
            </a:r>
          </a:p>
        </p:txBody>
      </p:sp>
      <p:pic>
        <p:nvPicPr>
          <p:cNvPr id="903" name="QR_Twit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80800" y="61214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7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F172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15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LeftPanel"/>
          <p:cNvSpPr/>
          <p:nvPr/>
        </p:nvSpPr>
        <p:spPr>
          <a:xfrm>
            <a:off x="0" y="0"/>
            <a:ext cx="70612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AccentBar"/>
          <p:cNvSpPr/>
          <p:nvPr/>
        </p:nvSpPr>
        <p:spPr>
          <a:xfrm>
            <a:off x="0" y="0"/>
            <a:ext cx="7061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VDivider"/>
          <p:cNvSpPr/>
          <p:nvPr/>
        </p:nvSpPr>
        <p:spPr>
          <a:xfrm>
            <a:off x="6985000" y="0"/>
            <a:ext cx="10293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" name="Chip"/>
          <p:cNvSpPr/>
          <p:nvPr/>
        </p:nvSpPr>
        <p:spPr>
          <a:xfrm>
            <a:off x="303275" y="451065"/>
            <a:ext cx="3048000" cy="355600"/>
          </a:xfrm>
          <a:prstGeom prst="roundRect">
            <a:avLst>
              <a:gd name="adj" fmla="val 50000"/>
            </a:avLst>
          </a:prstGeom>
          <a:solidFill>
            <a:srgbClr val="164E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/>
            <a:r>
              <a:rPr lang="en-US" b="1" spc="300" dirty="0">
                <a:solidFill>
                  <a:srgbClr val="22D3EE"/>
                </a:solidFill>
              </a:rPr>
              <a:t>DOTNET KONF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480" y="1411955"/>
            <a:ext cx="6466306" cy="3468803"/>
          </a:xfrm>
        </p:spPr>
        <p:txBody>
          <a:bodyPr wrap="square" lIns="0" tIns="0" rIns="0" bIns="0" anchor="t"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</a:rPr>
              <a:t>Building an 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AI-Powered 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Query Generator 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with </a:t>
            </a:r>
            <a:r>
              <a:rPr lang="en-US" b="1" dirty="0">
                <a:solidFill>
                  <a:srgbClr val="22D3EE"/>
                </a:solidFill>
              </a:rPr>
              <a:t>.NET</a:t>
            </a:r>
          </a:p>
        </p:txBody>
      </p:sp>
      <p:sp>
        <p:nvSpPr>
          <p:cNvPr id="600" name="AvatarCircle"/>
          <p:cNvSpPr/>
          <p:nvPr/>
        </p:nvSpPr>
        <p:spPr>
          <a:xfrm>
            <a:off x="7374021" y="673100"/>
            <a:ext cx="1062790" cy="982578"/>
          </a:xfrm>
          <a:prstGeom prst="ellipse">
            <a:avLst/>
          </a:prstGeom>
          <a:solidFill>
            <a:srgbClr val="0891B2"/>
          </a:solidFill>
          <a:ln w="19050">
            <a:solidFill>
              <a:srgbClr val="22D3EE"/>
            </a:solidFill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4000" b="1" dirty="0">
                <a:solidFill>
                  <a:srgbClr val="FFFFFF"/>
                </a:solidFill>
              </a:rPr>
              <a:t>AE</a:t>
            </a:r>
          </a:p>
        </p:txBody>
      </p:sp>
      <p:sp>
        <p:nvSpPr>
          <p:cNvPr id="601" name="SpeakerName"/>
          <p:cNvSpPr txBox="1"/>
          <p:nvPr/>
        </p:nvSpPr>
        <p:spPr>
          <a:xfrm>
            <a:off x="8666747" y="628865"/>
            <a:ext cx="3195053" cy="645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4000" b="1" dirty="0">
                <a:solidFill>
                  <a:srgbClr val="0F172A"/>
                </a:solidFill>
              </a:rPr>
              <a:t>Alper </a:t>
            </a:r>
            <a:r>
              <a:rPr lang="en-US" sz="3600" b="1" dirty="0">
                <a:solidFill>
                  <a:srgbClr val="0F172A"/>
                </a:solidFill>
              </a:rPr>
              <a:t>Ebiçoğlu</a:t>
            </a:r>
            <a:endParaRPr lang="en-US" sz="4000" b="1" dirty="0">
              <a:solidFill>
                <a:srgbClr val="0F172A"/>
              </a:solidFill>
            </a:endParaRPr>
          </a:p>
        </p:txBody>
      </p:sp>
      <p:sp>
        <p:nvSpPr>
          <p:cNvPr id="602" name="SpeakerRole"/>
          <p:cNvSpPr txBox="1"/>
          <p:nvPr/>
        </p:nvSpPr>
        <p:spPr>
          <a:xfrm>
            <a:off x="8666747" y="1824122"/>
            <a:ext cx="3454400" cy="44917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dirty="0">
                <a:solidFill>
                  <a:srgbClr val="475569"/>
                </a:solidFill>
              </a:rPr>
              <a:t>Cofounder—Volosoft</a:t>
            </a:r>
          </a:p>
        </p:txBody>
      </p:sp>
      <p:sp>
        <p:nvSpPr>
          <p:cNvPr id="610" name="RightDiv"/>
          <p:cNvSpPr/>
          <p:nvPr/>
        </p:nvSpPr>
        <p:spPr>
          <a:xfrm>
            <a:off x="7505700" y="2332789"/>
            <a:ext cx="4191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0" name="QRLabel"/>
          <p:cNvSpPr txBox="1"/>
          <p:nvPr/>
        </p:nvSpPr>
        <p:spPr>
          <a:xfrm>
            <a:off x="8140700" y="27305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600" b="1" spc="200" dirty="0">
                <a:solidFill>
                  <a:srgbClr val="64748B"/>
                </a:solidFill>
              </a:rPr>
              <a:t>FOLLOW on TWITTER</a:t>
            </a:r>
          </a:p>
        </p:txBody>
      </p:sp>
      <p:pic>
        <p:nvPicPr>
          <p:cNvPr id="621" name="QR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700" y="3048000"/>
            <a:ext cx="3048000" cy="3048000"/>
          </a:xfrm>
          <a:prstGeom prst="rect">
            <a:avLst/>
          </a:prstGeom>
        </p:spPr>
      </p:pic>
      <p:sp>
        <p:nvSpPr>
          <p:cNvPr id="622" name="QRUrl"/>
          <p:cNvSpPr txBox="1"/>
          <p:nvPr/>
        </p:nvSpPr>
        <p:spPr>
          <a:xfrm>
            <a:off x="7886700" y="6096000"/>
            <a:ext cx="355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dirty="0"/>
              <a:t>x.com/</a:t>
            </a:r>
            <a:r>
              <a:rPr lang="en-US" b="1" dirty="0"/>
              <a:t>alperebicoglu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2DF1F1EF-0A50-6D19-3F17-37567905D655}"/>
              </a:ext>
            </a:extLst>
          </p:cNvPr>
          <p:cNvCxnSpPr>
            <a:cxnSpLocks/>
            <a:stCxn id="620" idx="3"/>
            <a:endCxn id="621" idx="3"/>
          </p:cNvCxnSpPr>
          <p:nvPr/>
        </p:nvCxnSpPr>
        <p:spPr>
          <a:xfrm>
            <a:off x="11188700" y="2870200"/>
            <a:ext cx="12700" cy="1701800"/>
          </a:xfrm>
          <a:prstGeom prst="curvedConnector3">
            <a:avLst>
              <a:gd name="adj1" fmla="val 4392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275" y="5364479"/>
            <a:ext cx="4744453" cy="508000"/>
          </a:xfr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dirty="0">
                <a:solidFill>
                  <a:srgbClr val="94A3B8"/>
                </a:solidFill>
              </a:rPr>
              <a:t>From Your Native Language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C04564-E4C0-F5EF-41C0-C360D063978F}"/>
              </a:ext>
            </a:extLst>
          </p:cNvPr>
          <p:cNvSpPr/>
          <p:nvPr/>
        </p:nvSpPr>
        <p:spPr>
          <a:xfrm>
            <a:off x="4476133" y="5347904"/>
            <a:ext cx="516440" cy="4241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8346BC4F-555E-4279-9796-2E03531A4D9E}"/>
              </a:ext>
            </a:extLst>
          </p:cNvPr>
          <p:cNvSpPr txBox="1">
            <a:spLocks/>
          </p:cNvSpPr>
          <p:nvPr/>
        </p:nvSpPr>
        <p:spPr>
          <a:xfrm>
            <a:off x="5127228" y="5364479"/>
            <a:ext cx="1180447" cy="508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334155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rgbClr val="94A3B8"/>
                </a:solidFill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281074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C0D9473-061D-C9E9-4B55-5C81CD2FBAC1}"/>
              </a:ext>
            </a:extLst>
          </p:cNvPr>
          <p:cNvGrpSpPr/>
          <p:nvPr/>
        </p:nvGrpSpPr>
        <p:grpSpPr>
          <a:xfrm>
            <a:off x="292607" y="500775"/>
            <a:ext cx="5781675" cy="5826874"/>
            <a:chOff x="5851726" y="316952"/>
            <a:chExt cx="5400000" cy="639289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05BF955-0262-9FFC-A3DF-B392C75BB70E}"/>
                </a:ext>
              </a:extLst>
            </p:cNvPr>
            <p:cNvCxnSpPr>
              <a:cxnSpLocks/>
            </p:cNvCxnSpPr>
            <p:nvPr/>
          </p:nvCxnSpPr>
          <p:spPr>
            <a:xfrm>
              <a:off x="6601026" y="405089"/>
              <a:ext cx="0" cy="6064007"/>
            </a:xfrm>
            <a:prstGeom prst="line">
              <a:avLst/>
            </a:prstGeom>
            <a:ln w="28575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EA45590-D411-FBCF-8031-68C9298C8D68}"/>
                </a:ext>
              </a:extLst>
            </p:cNvPr>
            <p:cNvGrpSpPr/>
            <p:nvPr/>
          </p:nvGrpSpPr>
          <p:grpSpPr>
            <a:xfrm>
              <a:off x="5851726" y="316952"/>
              <a:ext cx="5400000" cy="1080000"/>
              <a:chOff x="5177173" y="285179"/>
              <a:chExt cx="6302970" cy="1096566"/>
            </a:xfrm>
          </p:grpSpPr>
          <p:sp>
            <p:nvSpPr>
              <p:cNvPr id="23" name="Shape 1">
                <a:extLst>
                  <a:ext uri="{FF2B5EF4-FFF2-40B4-BE49-F238E27FC236}">
                    <a16:creationId xmlns:a16="http://schemas.microsoft.com/office/drawing/2014/main" id="{831188E9-0791-5F7D-6BF7-EAD5BE1BB0BC}"/>
                  </a:ext>
                </a:extLst>
              </p:cNvPr>
              <p:cNvSpPr/>
              <p:nvPr/>
            </p:nvSpPr>
            <p:spPr>
              <a:xfrm>
                <a:off x="5177173" y="285179"/>
                <a:ext cx="6302970" cy="1096566"/>
              </a:xfrm>
              <a:prstGeom prst="roundRect">
                <a:avLst>
                  <a:gd name="adj" fmla="val 7206"/>
                </a:avLst>
              </a:prstGeom>
              <a:solidFill>
                <a:schemeClr val="bg1">
                  <a:lumMod val="95000"/>
                </a:schemeClr>
              </a:solidFill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" name="Text 2">
                <a:extLst>
                  <a:ext uri="{FF2B5EF4-FFF2-40B4-BE49-F238E27FC236}">
                    <a16:creationId xmlns:a16="http://schemas.microsoft.com/office/drawing/2014/main" id="{991C0F6F-36D1-2F0B-79ED-5ED4B250F002}"/>
                  </a:ext>
                </a:extLst>
              </p:cNvPr>
              <p:cNvSpPr/>
              <p:nvPr/>
            </p:nvSpPr>
            <p:spPr>
              <a:xfrm>
                <a:off x="5371641" y="479648"/>
                <a:ext cx="2351882" cy="29388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1997</a:t>
                </a:r>
                <a:endParaRPr lang="en-US" sz="2000" b="1" dirty="0"/>
              </a:p>
            </p:txBody>
          </p:sp>
          <p:sp>
            <p:nvSpPr>
              <p:cNvPr id="25" name="Text 3">
                <a:extLst>
                  <a:ext uri="{FF2B5EF4-FFF2-40B4-BE49-F238E27FC236}">
                    <a16:creationId xmlns:a16="http://schemas.microsoft.com/office/drawing/2014/main" id="{411362A0-933C-F13E-1EF5-47E195758EF2}"/>
                  </a:ext>
                </a:extLst>
              </p:cNvPr>
              <p:cNvSpPr/>
              <p:nvPr/>
            </p:nvSpPr>
            <p:spPr>
              <a:xfrm>
                <a:off x="5371642" y="932767"/>
                <a:ext cx="5914034" cy="30093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Intel i386 processor with Q-Basic programming</a:t>
                </a:r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9CA6E73-D44A-6BFB-D3D4-1BFC5245F81C}"/>
                </a:ext>
              </a:extLst>
            </p:cNvPr>
            <p:cNvGrpSpPr/>
            <p:nvPr/>
          </p:nvGrpSpPr>
          <p:grpSpPr>
            <a:xfrm>
              <a:off x="5851726" y="1645177"/>
              <a:ext cx="5400000" cy="1080000"/>
              <a:chOff x="5230515" y="2673450"/>
              <a:chExt cx="6302970" cy="1096566"/>
            </a:xfrm>
            <a:solidFill>
              <a:schemeClr val="bg1">
                <a:lumMod val="95000"/>
              </a:schemeClr>
            </a:solidFill>
          </p:grpSpPr>
          <p:sp>
            <p:nvSpPr>
              <p:cNvPr id="20" name="Shape 4">
                <a:extLst>
                  <a:ext uri="{FF2B5EF4-FFF2-40B4-BE49-F238E27FC236}">
                    <a16:creationId xmlns:a16="http://schemas.microsoft.com/office/drawing/2014/main" id="{5BC4C0BA-2604-C2C7-F93D-5085287EFA6D}"/>
                  </a:ext>
                </a:extLst>
              </p:cNvPr>
              <p:cNvSpPr/>
              <p:nvPr/>
            </p:nvSpPr>
            <p:spPr>
              <a:xfrm>
                <a:off x="5230515" y="2673450"/>
                <a:ext cx="6302970" cy="1096566"/>
              </a:xfrm>
              <a:prstGeom prst="roundRect">
                <a:avLst>
                  <a:gd name="adj" fmla="val 7206"/>
                </a:avLst>
              </a:prstGeom>
              <a:grpFill/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1" name="Text 5">
                <a:extLst>
                  <a:ext uri="{FF2B5EF4-FFF2-40B4-BE49-F238E27FC236}">
                    <a16:creationId xmlns:a16="http://schemas.microsoft.com/office/drawing/2014/main" id="{EBB25F70-73A0-FEFE-A786-32FF1B4E9B78}"/>
                  </a:ext>
                </a:extLst>
              </p:cNvPr>
              <p:cNvSpPr/>
              <p:nvPr/>
            </p:nvSpPr>
            <p:spPr>
              <a:xfrm>
                <a:off x="5424983" y="2867919"/>
                <a:ext cx="2351882" cy="293886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2004</a:t>
                </a:r>
                <a:endParaRPr lang="en-US" sz="2000" b="1" dirty="0"/>
              </a:p>
            </p:txBody>
          </p:sp>
          <p:sp>
            <p:nvSpPr>
              <p:cNvPr id="22" name="Text 6">
                <a:extLst>
                  <a:ext uri="{FF2B5EF4-FFF2-40B4-BE49-F238E27FC236}">
                    <a16:creationId xmlns:a16="http://schemas.microsoft.com/office/drawing/2014/main" id="{C449CDC2-4399-87A6-A3E4-996D15FD91FA}"/>
                  </a:ext>
                </a:extLst>
              </p:cNvPr>
              <p:cNvSpPr/>
              <p:nvPr/>
            </p:nvSpPr>
            <p:spPr>
              <a:xfrm>
                <a:off x="5424984" y="3321037"/>
                <a:ext cx="5914034" cy="300931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First .NET App developed on .NET Framework 1.0</a:t>
                </a:r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368E19-B3A9-2795-9019-97B699D13410}"/>
                </a:ext>
              </a:extLst>
            </p:cNvPr>
            <p:cNvGrpSpPr/>
            <p:nvPr/>
          </p:nvGrpSpPr>
          <p:grpSpPr>
            <a:xfrm>
              <a:off x="5851726" y="2973402"/>
              <a:ext cx="5400000" cy="1080000"/>
              <a:chOff x="5230515" y="2673450"/>
              <a:chExt cx="6302970" cy="1096566"/>
            </a:xfrm>
            <a:solidFill>
              <a:schemeClr val="bg1">
                <a:lumMod val="95000"/>
              </a:schemeClr>
            </a:solidFill>
          </p:grpSpPr>
          <p:sp>
            <p:nvSpPr>
              <p:cNvPr id="17" name="Shape 4">
                <a:extLst>
                  <a:ext uri="{FF2B5EF4-FFF2-40B4-BE49-F238E27FC236}">
                    <a16:creationId xmlns:a16="http://schemas.microsoft.com/office/drawing/2014/main" id="{D16B007F-95E4-096C-B4D2-B551E00648EC}"/>
                  </a:ext>
                </a:extLst>
              </p:cNvPr>
              <p:cNvSpPr/>
              <p:nvPr/>
            </p:nvSpPr>
            <p:spPr>
              <a:xfrm>
                <a:off x="5230515" y="2673450"/>
                <a:ext cx="6302970" cy="1096566"/>
              </a:xfrm>
              <a:prstGeom prst="roundRect">
                <a:avLst>
                  <a:gd name="adj" fmla="val 7206"/>
                </a:avLst>
              </a:prstGeom>
              <a:grpFill/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8" name="Text 5">
                <a:extLst>
                  <a:ext uri="{FF2B5EF4-FFF2-40B4-BE49-F238E27FC236}">
                    <a16:creationId xmlns:a16="http://schemas.microsoft.com/office/drawing/2014/main" id="{101D7DDF-139A-655D-7394-E1B2CEDDC195}"/>
                  </a:ext>
                </a:extLst>
              </p:cNvPr>
              <p:cNvSpPr/>
              <p:nvPr/>
            </p:nvSpPr>
            <p:spPr>
              <a:xfrm>
                <a:off x="5424983" y="2867919"/>
                <a:ext cx="2351882" cy="293886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2006</a:t>
                </a:r>
                <a:endParaRPr lang="en-US" sz="2000" b="1" dirty="0"/>
              </a:p>
            </p:txBody>
          </p:sp>
          <p:sp>
            <p:nvSpPr>
              <p:cNvPr id="19" name="Text 6">
                <a:extLst>
                  <a:ext uri="{FF2B5EF4-FFF2-40B4-BE49-F238E27FC236}">
                    <a16:creationId xmlns:a16="http://schemas.microsoft.com/office/drawing/2014/main" id="{6115236A-0980-4BD4-0346-BF8810FE6EF8}"/>
                  </a:ext>
                </a:extLst>
              </p:cNvPr>
              <p:cNvSpPr/>
              <p:nvPr/>
            </p:nvSpPr>
            <p:spPr>
              <a:xfrm>
                <a:off x="5424984" y="3321037"/>
                <a:ext cx="5914034" cy="300931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Computer Engineering</a:t>
                </a:r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2606A69-A8D4-0FF1-DB83-BF0A95A7DAA5}"/>
                </a:ext>
              </a:extLst>
            </p:cNvPr>
            <p:cNvGrpSpPr/>
            <p:nvPr/>
          </p:nvGrpSpPr>
          <p:grpSpPr>
            <a:xfrm>
              <a:off x="5851726" y="4301627"/>
              <a:ext cx="5400000" cy="1080000"/>
              <a:chOff x="5230515" y="2673450"/>
              <a:chExt cx="6302970" cy="1096566"/>
            </a:xfrm>
            <a:solidFill>
              <a:schemeClr val="bg1">
                <a:lumMod val="95000"/>
              </a:schemeClr>
            </a:solidFill>
          </p:grpSpPr>
          <p:sp>
            <p:nvSpPr>
              <p:cNvPr id="14" name="Shape 4">
                <a:extLst>
                  <a:ext uri="{FF2B5EF4-FFF2-40B4-BE49-F238E27FC236}">
                    <a16:creationId xmlns:a16="http://schemas.microsoft.com/office/drawing/2014/main" id="{559EB20F-10AF-CF0E-CE4A-AAC63F7776EF}"/>
                  </a:ext>
                </a:extLst>
              </p:cNvPr>
              <p:cNvSpPr/>
              <p:nvPr/>
            </p:nvSpPr>
            <p:spPr>
              <a:xfrm>
                <a:off x="5230515" y="2673450"/>
                <a:ext cx="6302970" cy="1096566"/>
              </a:xfrm>
              <a:prstGeom prst="roundRect">
                <a:avLst>
                  <a:gd name="adj" fmla="val 7206"/>
                </a:avLst>
              </a:prstGeom>
              <a:grpFill/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5" name="Text 5">
                <a:extLst>
                  <a:ext uri="{FF2B5EF4-FFF2-40B4-BE49-F238E27FC236}">
                    <a16:creationId xmlns:a16="http://schemas.microsoft.com/office/drawing/2014/main" id="{BAEC6D8F-BF48-4931-69ED-A9C573705E96}"/>
                  </a:ext>
                </a:extLst>
              </p:cNvPr>
              <p:cNvSpPr/>
              <p:nvPr/>
            </p:nvSpPr>
            <p:spPr>
              <a:xfrm>
                <a:off x="5424983" y="2867919"/>
                <a:ext cx="2351882" cy="293886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2010</a:t>
                </a:r>
                <a:endParaRPr lang="en-US" sz="2000" b="1" dirty="0"/>
              </a:p>
            </p:txBody>
          </p:sp>
          <p:sp>
            <p:nvSpPr>
              <p:cNvPr id="16" name="Text 6">
                <a:extLst>
                  <a:ext uri="{FF2B5EF4-FFF2-40B4-BE49-F238E27FC236}">
                    <a16:creationId xmlns:a16="http://schemas.microsoft.com/office/drawing/2014/main" id="{6A15A1CC-CE87-34E1-E797-06EB7D6F0604}"/>
                  </a:ext>
                </a:extLst>
              </p:cNvPr>
              <p:cNvSpPr/>
              <p:nvPr/>
            </p:nvSpPr>
            <p:spPr>
              <a:xfrm>
                <a:off x="5424984" y="3321037"/>
                <a:ext cx="5914034" cy="300931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Master Degree</a:t>
                </a:r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958AEF2-AE2A-FE87-8C7E-5EE447A2C096}"/>
                </a:ext>
              </a:extLst>
            </p:cNvPr>
            <p:cNvGrpSpPr/>
            <p:nvPr/>
          </p:nvGrpSpPr>
          <p:grpSpPr>
            <a:xfrm>
              <a:off x="5851726" y="5629851"/>
              <a:ext cx="5400000" cy="1080000"/>
              <a:chOff x="5230515" y="5242819"/>
              <a:chExt cx="6302970" cy="1096566"/>
            </a:xfrm>
            <a:solidFill>
              <a:schemeClr val="bg1">
                <a:lumMod val="95000"/>
              </a:schemeClr>
            </a:solidFill>
          </p:grpSpPr>
          <p:sp>
            <p:nvSpPr>
              <p:cNvPr id="11" name="Shape 10">
                <a:extLst>
                  <a:ext uri="{FF2B5EF4-FFF2-40B4-BE49-F238E27FC236}">
                    <a16:creationId xmlns:a16="http://schemas.microsoft.com/office/drawing/2014/main" id="{C632B7D7-2D83-58B0-D98A-FA6BCD5DD109}"/>
                  </a:ext>
                </a:extLst>
              </p:cNvPr>
              <p:cNvSpPr/>
              <p:nvPr/>
            </p:nvSpPr>
            <p:spPr>
              <a:xfrm>
                <a:off x="5230515" y="5242819"/>
                <a:ext cx="6302970" cy="1096566"/>
              </a:xfrm>
              <a:prstGeom prst="roundRect">
                <a:avLst>
                  <a:gd name="adj" fmla="val 7206"/>
                </a:avLst>
              </a:prstGeom>
              <a:grpFill/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2" name="Text 11">
                <a:extLst>
                  <a:ext uri="{FF2B5EF4-FFF2-40B4-BE49-F238E27FC236}">
                    <a16:creationId xmlns:a16="http://schemas.microsoft.com/office/drawing/2014/main" id="{51FE5208-DAB9-60D1-EE8F-58A82ABCF6F8}"/>
                  </a:ext>
                </a:extLst>
              </p:cNvPr>
              <p:cNvSpPr/>
              <p:nvPr/>
            </p:nvSpPr>
            <p:spPr>
              <a:xfrm>
                <a:off x="5424983" y="5437287"/>
                <a:ext cx="2351882" cy="293886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2017</a:t>
                </a:r>
                <a:endParaRPr lang="en-US" sz="2000" b="1" dirty="0"/>
              </a:p>
            </p:txBody>
          </p:sp>
          <p:sp>
            <p:nvSpPr>
              <p:cNvPr id="13" name="Text 12">
                <a:extLst>
                  <a:ext uri="{FF2B5EF4-FFF2-40B4-BE49-F238E27FC236}">
                    <a16:creationId xmlns:a16="http://schemas.microsoft.com/office/drawing/2014/main" id="{4FDEF6FE-D278-30FA-FF00-F8BB60B3EA3B}"/>
                  </a:ext>
                </a:extLst>
              </p:cNvPr>
              <p:cNvSpPr/>
              <p:nvPr/>
            </p:nvSpPr>
            <p:spPr>
              <a:xfrm>
                <a:off x="5424984" y="5890406"/>
                <a:ext cx="5914034" cy="300931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Co-Founder of Volosoft</a:t>
                </a:r>
              </a:p>
            </p:txBody>
          </p:sp>
        </p:grp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0278EBE5-0553-A4BC-FEF9-28E3AAB4D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738" y="0"/>
            <a:ext cx="5781675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4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714B-8540-832E-9FD8-43EEDC049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8" y="36512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202" name="Pain202"/>
          <p:cNvSpPr/>
          <p:nvPr/>
        </p:nvSpPr>
        <p:spPr>
          <a:xfrm>
            <a:off x="294970" y="4362335"/>
            <a:ext cx="900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40000" rIns="180000" bIns="140000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Developers are </a:t>
            </a:r>
            <a:r>
              <a:rPr lang="en-US" sz="2400" b="1" u="sng" dirty="0">
                <a:solidFill>
                  <a:srgbClr val="0F172A"/>
                </a:solidFill>
              </a:rPr>
              <a:t>bottleneck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475569"/>
                </a:solidFill>
              </a:rPr>
              <a:t>Business waits on engineers</a:t>
            </a:r>
          </a:p>
        </p:txBody>
      </p:sp>
      <p:sp>
        <p:nvSpPr>
          <p:cNvPr id="203" name="Pain203"/>
          <p:cNvSpPr/>
          <p:nvPr/>
        </p:nvSpPr>
        <p:spPr>
          <a:xfrm>
            <a:off x="294968" y="1690688"/>
            <a:ext cx="900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40000" rIns="180000" bIns="140000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Reporting tools are </a:t>
            </a:r>
            <a:r>
              <a:rPr lang="en-US" sz="2400" b="1" u="sng" dirty="0">
                <a:solidFill>
                  <a:srgbClr val="0F172A"/>
                </a:solidFill>
              </a:rPr>
              <a:t>rigid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475569"/>
                </a:solidFill>
              </a:rPr>
              <a:t>Every new question = new ticket</a:t>
            </a:r>
          </a:p>
        </p:txBody>
      </p:sp>
      <p:sp>
        <p:nvSpPr>
          <p:cNvPr id="204" name="Pain204"/>
          <p:cNvSpPr/>
          <p:nvPr/>
        </p:nvSpPr>
        <p:spPr>
          <a:xfrm>
            <a:off x="294968" y="3026511"/>
            <a:ext cx="900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40000" rIns="180000" bIns="140000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Writing SQL, Page Design, Testing, Deployment are </a:t>
            </a:r>
            <a:r>
              <a:rPr lang="en-US" sz="2400" b="1" u="sng" dirty="0">
                <a:solidFill>
                  <a:srgbClr val="0F172A"/>
                </a:solidFill>
              </a:rPr>
              <a:t>slow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475569"/>
                </a:solidFill>
              </a:rPr>
              <a:t>The real value is trapped behind technical gatekeepers</a:t>
            </a:r>
          </a:p>
        </p:txBody>
      </p:sp>
      <p:sp>
        <p:nvSpPr>
          <p:cNvPr id="3" name="HookCard">
            <a:extLst>
              <a:ext uri="{FF2B5EF4-FFF2-40B4-BE49-F238E27FC236}">
                <a16:creationId xmlns:a16="http://schemas.microsoft.com/office/drawing/2014/main" id="{83DB4F90-329A-712C-5DB7-1C0CE558FAFF}"/>
              </a:ext>
            </a:extLst>
          </p:cNvPr>
          <p:cNvSpPr/>
          <p:nvPr/>
        </p:nvSpPr>
        <p:spPr>
          <a:xfrm>
            <a:off x="9438968" y="1606339"/>
            <a:ext cx="2458062" cy="3983344"/>
          </a:xfrm>
          <a:prstGeom prst="roundRect">
            <a:avLst>
              <a:gd name="adj" fmla="val 6000"/>
            </a:avLst>
          </a:prstGeom>
          <a:solidFill>
            <a:srgbClr val="ECFEFF"/>
          </a:solidFill>
          <a:ln w="12700">
            <a:solidFill>
              <a:srgbClr val="A5F3FC"/>
            </a:solidFill>
          </a:ln>
        </p:spPr>
        <p:txBody>
          <a:bodyPr wrap="square" lIns="260000" tIns="140000" rIns="260000" bIns="140000" anchor="ctr"/>
          <a:lstStyle/>
          <a:p>
            <a:pPr algn="r"/>
            <a:endParaRPr lang="en-US" sz="3600" b="1" dirty="0">
              <a:solidFill>
                <a:srgbClr val="0F172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20705-57EF-7347-2A93-B973F7CDFB64}"/>
              </a:ext>
            </a:extLst>
          </p:cNvPr>
          <p:cNvSpPr txBox="1"/>
          <p:nvPr/>
        </p:nvSpPr>
        <p:spPr>
          <a:xfrm>
            <a:off x="9438968" y="2166850"/>
            <a:ext cx="26020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F172A"/>
                </a:solidFill>
              </a:rPr>
              <a:t>Data is </a:t>
            </a:r>
            <a:r>
              <a:rPr lang="en-US" sz="3600" b="1" dirty="0">
                <a:solidFill>
                  <a:srgbClr val="FF0000"/>
                </a:solidFill>
              </a:rPr>
              <a:t>locked</a:t>
            </a:r>
            <a:r>
              <a:rPr lang="en-US" sz="3600" b="1" dirty="0">
                <a:solidFill>
                  <a:srgbClr val="0F172A"/>
                </a:solidFill>
              </a:rPr>
              <a:t> behind technical curtains!</a:t>
            </a:r>
          </a:p>
        </p:txBody>
      </p:sp>
    </p:spTree>
    <p:extLst>
      <p:ext uri="{BB962C8B-B14F-4D97-AF65-F5344CB8AC3E}">
        <p14:creationId xmlns:p14="http://schemas.microsoft.com/office/powerpoint/2010/main" val="196658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>
            <a:extLst>
              <a:ext uri="{FF2B5EF4-FFF2-40B4-BE49-F238E27FC236}">
                <a16:creationId xmlns:a16="http://schemas.microsoft.com/office/drawing/2014/main" id="{74421564-AFB6-A882-9D32-6CFD32A6A777}"/>
              </a:ext>
            </a:extLst>
          </p:cNvPr>
          <p:cNvSpPr/>
          <p:nvPr/>
        </p:nvSpPr>
        <p:spPr>
          <a:xfrm>
            <a:off x="73744" y="911168"/>
            <a:ext cx="12118256" cy="45277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301" name="Quote"/>
          <p:cNvSpPr txBox="1"/>
          <p:nvPr/>
        </p:nvSpPr>
        <p:spPr>
          <a:xfrm>
            <a:off x="1006078" y="1856426"/>
            <a:ext cx="7876665" cy="314514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</a:pPr>
            <a:r>
              <a:rPr lang="en-US" sz="6600" b="1" dirty="0">
                <a:solidFill>
                  <a:schemeClr val="bg1"/>
                </a:solidFill>
              </a:rPr>
              <a:t>What if you could </a:t>
            </a:r>
            <a:br>
              <a:rPr lang="en-US" sz="6600" b="1" dirty="0">
                <a:solidFill>
                  <a:schemeClr val="bg1"/>
                </a:solidFill>
              </a:rPr>
            </a:br>
            <a:r>
              <a:rPr lang="en-US" sz="6600" b="1" dirty="0">
                <a:solidFill>
                  <a:schemeClr val="bg1"/>
                </a:solidFill>
              </a:rPr>
              <a:t>just </a:t>
            </a:r>
            <a:r>
              <a:rPr lang="en-US" sz="6600" b="1" dirty="0">
                <a:solidFill>
                  <a:srgbClr val="0891B2"/>
                </a:solidFill>
              </a:rPr>
              <a:t>ask</a:t>
            </a:r>
            <a:r>
              <a:rPr lang="en-US" sz="6600" b="1" dirty="0">
                <a:solidFill>
                  <a:srgbClr val="0F172A"/>
                </a:solidFill>
              </a:rPr>
              <a:t> </a:t>
            </a:r>
            <a:br>
              <a:rPr lang="en-US" sz="6600" b="1" dirty="0">
                <a:solidFill>
                  <a:srgbClr val="0F172A"/>
                </a:solidFill>
              </a:rPr>
            </a:br>
            <a:r>
              <a:rPr lang="en-US" sz="6600" b="1" dirty="0">
                <a:solidFill>
                  <a:schemeClr val="bg1"/>
                </a:solidFill>
              </a:rPr>
              <a:t>your database?</a:t>
            </a:r>
          </a:p>
        </p:txBody>
      </p:sp>
    </p:spTree>
    <p:extLst>
      <p:ext uri="{BB962C8B-B14F-4D97-AF65-F5344CB8AC3E}">
        <p14:creationId xmlns:p14="http://schemas.microsoft.com/office/powerpoint/2010/main" val="309236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DC06-12C5-EEFA-9FCF-9D0C6B920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What We'll Build</a:t>
            </a:r>
          </a:p>
        </p:txBody>
      </p:sp>
      <p:sp>
        <p:nvSpPr>
          <p:cNvPr id="400" name="Sub"/>
          <p:cNvSpPr txBox="1"/>
          <p:nvPr/>
        </p:nvSpPr>
        <p:spPr>
          <a:xfrm>
            <a:off x="889000" y="1371600"/>
            <a:ext cx="10414000" cy="431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800" dirty="0">
                <a:solidFill>
                  <a:srgbClr val="475569"/>
                </a:solidFill>
              </a:rPr>
              <a:t>Main steps of </a:t>
            </a:r>
            <a:r>
              <a:rPr lang="en-US" dirty="0">
                <a:solidFill>
                  <a:srgbClr val="475569"/>
                </a:solidFill>
              </a:rPr>
              <a:t>the </a:t>
            </a:r>
            <a:r>
              <a:rPr lang="en-US" sz="1800" dirty="0">
                <a:solidFill>
                  <a:srgbClr val="475569"/>
                </a:solidFill>
              </a:rPr>
              <a:t>solution</a:t>
            </a:r>
          </a:p>
        </p:txBody>
      </p:sp>
      <p:sp>
        <p:nvSpPr>
          <p:cNvPr id="410" name="N410"/>
          <p:cNvSpPr/>
          <p:nvPr/>
        </p:nvSpPr>
        <p:spPr>
          <a:xfrm>
            <a:off x="889000" y="2032000"/>
            <a:ext cx="660400" cy="6604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11" name="L410"/>
          <p:cNvSpPr txBox="1"/>
          <p:nvPr/>
        </p:nvSpPr>
        <p:spPr>
          <a:xfrm>
            <a:off x="1778000" y="2032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Understand user intent</a:t>
            </a:r>
            <a:r>
              <a:rPr lang="en-US" dirty="0">
                <a:solidFill>
                  <a:srgbClr val="64748B"/>
                </a:solidFill>
              </a:rPr>
              <a:t>   parse the natural-language question</a:t>
            </a:r>
          </a:p>
        </p:txBody>
      </p:sp>
      <p:sp>
        <p:nvSpPr>
          <p:cNvPr id="420" name="N420"/>
          <p:cNvSpPr/>
          <p:nvPr/>
        </p:nvSpPr>
        <p:spPr>
          <a:xfrm>
            <a:off x="889000" y="2794000"/>
            <a:ext cx="660400" cy="6604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21" name="L420"/>
          <p:cNvSpPr txBox="1"/>
          <p:nvPr/>
        </p:nvSpPr>
        <p:spPr>
          <a:xfrm>
            <a:off x="1778000" y="2794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Read the schema</a:t>
            </a:r>
            <a:r>
              <a:rPr lang="en-US" dirty="0">
                <a:solidFill>
                  <a:srgbClr val="64748B"/>
                </a:solidFill>
              </a:rPr>
              <a:t>   tables, columns, relationships</a:t>
            </a:r>
          </a:p>
        </p:txBody>
      </p:sp>
      <p:sp>
        <p:nvSpPr>
          <p:cNvPr id="430" name="N430"/>
          <p:cNvSpPr/>
          <p:nvPr/>
        </p:nvSpPr>
        <p:spPr>
          <a:xfrm>
            <a:off x="889000" y="3556000"/>
            <a:ext cx="660400" cy="660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1" name="L430"/>
          <p:cNvSpPr txBox="1"/>
          <p:nvPr/>
        </p:nvSpPr>
        <p:spPr>
          <a:xfrm>
            <a:off x="1778000" y="3556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Generate SQL safely</a:t>
            </a:r>
            <a:r>
              <a:rPr lang="en-US" dirty="0">
                <a:solidFill>
                  <a:srgbClr val="64748B"/>
                </a:solidFill>
              </a:rPr>
              <a:t>   LLM + strict prompt + validator</a:t>
            </a:r>
          </a:p>
        </p:txBody>
      </p:sp>
      <p:sp>
        <p:nvSpPr>
          <p:cNvPr id="440" name="N440"/>
          <p:cNvSpPr/>
          <p:nvPr/>
        </p:nvSpPr>
        <p:spPr>
          <a:xfrm>
            <a:off x="889000" y="4318000"/>
            <a:ext cx="660400" cy="660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1" name="L440"/>
          <p:cNvSpPr txBox="1"/>
          <p:nvPr/>
        </p:nvSpPr>
        <p:spPr>
          <a:xfrm>
            <a:off x="1778000" y="4318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Execute the query</a:t>
            </a:r>
            <a:r>
              <a:rPr lang="en-US" dirty="0">
                <a:solidFill>
                  <a:srgbClr val="64748B"/>
                </a:solidFill>
              </a:rPr>
              <a:t>   return structured results</a:t>
            </a:r>
          </a:p>
        </p:txBody>
      </p:sp>
      <p:sp>
        <p:nvSpPr>
          <p:cNvPr id="450" name="N450"/>
          <p:cNvSpPr/>
          <p:nvPr/>
        </p:nvSpPr>
        <p:spPr>
          <a:xfrm>
            <a:off x="889000" y="5080000"/>
            <a:ext cx="660400" cy="6604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51" name="L450"/>
          <p:cNvSpPr txBox="1"/>
          <p:nvPr/>
        </p:nvSpPr>
        <p:spPr>
          <a:xfrm>
            <a:off x="1778000" y="5080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Export to Excel &amp; Visualization</a:t>
            </a:r>
            <a:r>
              <a:rPr lang="en-US" dirty="0">
                <a:solidFill>
                  <a:srgbClr val="64748B"/>
                </a:solidFill>
              </a:rPr>
              <a:t>   turn data into decisions</a:t>
            </a:r>
          </a:p>
        </p:txBody>
      </p:sp>
    </p:spTree>
    <p:extLst>
      <p:ext uri="{BB962C8B-B14F-4D97-AF65-F5344CB8AC3E}">
        <p14:creationId xmlns:p14="http://schemas.microsoft.com/office/powerpoint/2010/main" val="2200040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age0">
            <a:extLst>
              <a:ext uri="{FF2B5EF4-FFF2-40B4-BE49-F238E27FC236}">
                <a16:creationId xmlns:a16="http://schemas.microsoft.com/office/drawing/2014/main" id="{C88B0937-7522-BCEA-AD17-C53A61AD7815}"/>
              </a:ext>
            </a:extLst>
          </p:cNvPr>
          <p:cNvSpPr/>
          <p:nvPr/>
        </p:nvSpPr>
        <p:spPr>
          <a:xfrm>
            <a:off x="9804400" y="3323967"/>
            <a:ext cx="2106862" cy="1519881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0000" tIns="90000" rIns="90000" bIns="90000" anchor="t"/>
          <a:lstStyle/>
          <a:p>
            <a:pPr algn="l"/>
            <a:endParaRPr lang="en-US" sz="1100" dirty="0">
              <a:solidFill>
                <a:srgbClr val="64748B"/>
              </a:solidFill>
            </a:endParaRPr>
          </a:p>
        </p:txBody>
      </p:sp>
      <p:sp>
        <p:nvSpPr>
          <p:cNvPr id="3" name="Stage0">
            <a:extLst>
              <a:ext uri="{FF2B5EF4-FFF2-40B4-BE49-F238E27FC236}">
                <a16:creationId xmlns:a16="http://schemas.microsoft.com/office/drawing/2014/main" id="{8861DE56-5964-C0B4-16CE-5227DA7D9A2C}"/>
              </a:ext>
            </a:extLst>
          </p:cNvPr>
          <p:cNvSpPr/>
          <p:nvPr/>
        </p:nvSpPr>
        <p:spPr>
          <a:xfrm>
            <a:off x="279399" y="1779372"/>
            <a:ext cx="11631863" cy="1791731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0000" tIns="90000" rIns="90000" bIns="90000" anchor="t"/>
          <a:lstStyle/>
          <a:p>
            <a:pPr algn="l"/>
            <a:endParaRPr lang="en-US" sz="1100" dirty="0">
              <a:solidFill>
                <a:srgbClr val="64748B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6D80D3-1267-47C8-5022-51711533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231" y="306214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The Pipeline</a:t>
            </a:r>
            <a:endParaRPr lang="en-US" sz="4800" b="1" dirty="0">
              <a:solidFill>
                <a:srgbClr val="94A3B8"/>
              </a:solidFill>
            </a:endParaRPr>
          </a:p>
        </p:txBody>
      </p:sp>
      <p:sp>
        <p:nvSpPr>
          <p:cNvPr id="800" name="Stage0"/>
          <p:cNvSpPr/>
          <p:nvPr/>
        </p:nvSpPr>
        <p:spPr>
          <a:xfrm>
            <a:off x="508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891B2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200" b="1" spc="300" dirty="0">
                <a:solidFill>
                  <a:srgbClr val="0891B2"/>
                </a:solidFill>
              </a:rPr>
              <a:t>01</a:t>
            </a:r>
          </a:p>
          <a:p>
            <a:pPr algn="l">
              <a:spcBef>
                <a:spcPts val="400"/>
              </a:spcBef>
            </a:pPr>
            <a:r>
              <a:rPr lang="en-US" sz="2400" b="1" dirty="0">
                <a:solidFill>
                  <a:srgbClr val="0F172A"/>
                </a:solidFill>
              </a:rPr>
              <a:t>User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64748B"/>
                </a:solidFill>
              </a:rPr>
              <a:t>natural language</a:t>
            </a:r>
          </a:p>
        </p:txBody>
      </p:sp>
      <p:sp>
        <p:nvSpPr>
          <p:cNvPr id="850" name="Arr0"/>
          <p:cNvSpPr/>
          <p:nvPr/>
        </p:nvSpPr>
        <p:spPr>
          <a:xfrm>
            <a:off x="2184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1" name="Stage1"/>
          <p:cNvSpPr/>
          <p:nvPr/>
        </p:nvSpPr>
        <p:spPr>
          <a:xfrm>
            <a:off x="2413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891B2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200" b="1" spc="3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02</a:t>
            </a:r>
          </a:p>
          <a:p>
            <a:pPr algn="l">
              <a:spcBef>
                <a:spcPts val="400"/>
              </a:spcBef>
            </a:pPr>
            <a:r>
              <a:rPr lang="en-US" sz="2400" b="1" dirty="0"/>
              <a:t>Prompt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64748B"/>
                </a:solidFill>
              </a:rPr>
              <a:t>schema + rules</a:t>
            </a:r>
          </a:p>
        </p:txBody>
      </p:sp>
      <p:sp>
        <p:nvSpPr>
          <p:cNvPr id="851" name="Arr1"/>
          <p:cNvSpPr/>
          <p:nvPr/>
        </p:nvSpPr>
        <p:spPr>
          <a:xfrm>
            <a:off x="4089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2" name="Stage2"/>
          <p:cNvSpPr/>
          <p:nvPr/>
        </p:nvSpPr>
        <p:spPr>
          <a:xfrm>
            <a:off x="4318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2D3EE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200" b="1" spc="300" dirty="0">
                <a:solidFill>
                  <a:srgbClr val="22D3EE"/>
                </a:solidFill>
              </a:rPr>
              <a:t>03</a:t>
            </a:r>
          </a:p>
          <a:p>
            <a:pPr algn="l">
              <a:spcBef>
                <a:spcPts val="400"/>
              </a:spcBef>
            </a:pPr>
            <a:r>
              <a:rPr lang="en-US" sz="2400" b="1" dirty="0">
                <a:solidFill>
                  <a:srgbClr val="0F172A"/>
                </a:solidFill>
              </a:rPr>
              <a:t>LLM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64748B"/>
                </a:solidFill>
              </a:rPr>
              <a:t>reasoning</a:t>
            </a:r>
          </a:p>
        </p:txBody>
      </p:sp>
      <p:sp>
        <p:nvSpPr>
          <p:cNvPr id="852" name="Arr2"/>
          <p:cNvSpPr/>
          <p:nvPr/>
        </p:nvSpPr>
        <p:spPr>
          <a:xfrm>
            <a:off x="5994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3" name="Stage3"/>
          <p:cNvSpPr/>
          <p:nvPr/>
        </p:nvSpPr>
        <p:spPr>
          <a:xfrm>
            <a:off x="6223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200" b="1" spc="300" dirty="0">
                <a:solidFill>
                  <a:srgbClr val="10B981"/>
                </a:solidFill>
              </a:rPr>
              <a:t>04</a:t>
            </a:r>
          </a:p>
          <a:p>
            <a:pPr algn="l">
              <a:spcBef>
                <a:spcPts val="400"/>
              </a:spcBef>
            </a:pPr>
            <a:r>
              <a:rPr lang="en-US" sz="2400" b="1" dirty="0">
                <a:solidFill>
                  <a:srgbClr val="0F172A"/>
                </a:solidFill>
              </a:rPr>
              <a:t>SQL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64748B"/>
                </a:solidFill>
              </a:rPr>
              <a:t>generated query</a:t>
            </a:r>
          </a:p>
        </p:txBody>
      </p:sp>
      <p:sp>
        <p:nvSpPr>
          <p:cNvPr id="853" name="Arr3"/>
          <p:cNvSpPr/>
          <p:nvPr/>
        </p:nvSpPr>
        <p:spPr>
          <a:xfrm>
            <a:off x="7899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4" name="Stage4"/>
          <p:cNvSpPr/>
          <p:nvPr/>
        </p:nvSpPr>
        <p:spPr>
          <a:xfrm>
            <a:off x="8128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chemeClr val="accent3">
                <a:lumMod val="75000"/>
              </a:schemeClr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200" b="1" spc="300" dirty="0">
                <a:solidFill>
                  <a:srgbClr val="7B4F05"/>
                </a:solidFill>
              </a:rPr>
              <a:t>05</a:t>
            </a:r>
          </a:p>
          <a:p>
            <a:pPr algn="l">
              <a:spcBef>
                <a:spcPts val="400"/>
              </a:spcBef>
            </a:pPr>
            <a:r>
              <a:rPr lang="en-US" sz="2400" b="1" dirty="0">
                <a:solidFill>
                  <a:srgbClr val="0F172A"/>
                </a:solidFill>
              </a:rPr>
              <a:t>Validator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64748B"/>
                </a:solidFill>
              </a:rPr>
              <a:t>safety gate</a:t>
            </a:r>
          </a:p>
        </p:txBody>
      </p:sp>
      <p:sp>
        <p:nvSpPr>
          <p:cNvPr id="854" name="Arr4"/>
          <p:cNvSpPr/>
          <p:nvPr/>
        </p:nvSpPr>
        <p:spPr>
          <a:xfrm>
            <a:off x="9804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5" name="Stage5"/>
          <p:cNvSpPr/>
          <p:nvPr/>
        </p:nvSpPr>
        <p:spPr>
          <a:xfrm>
            <a:off x="10033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200" b="1" spc="300" dirty="0">
                <a:solidFill>
                  <a:srgbClr val="F59E0B"/>
                </a:solidFill>
              </a:rPr>
              <a:t>06</a:t>
            </a:r>
          </a:p>
          <a:p>
            <a:pPr algn="l">
              <a:spcBef>
                <a:spcPts val="400"/>
              </a:spcBef>
            </a:pPr>
            <a:r>
              <a:rPr lang="en-US" sz="2400" b="1" dirty="0">
                <a:solidFill>
                  <a:srgbClr val="0F172A"/>
                </a:solidFill>
              </a:rPr>
              <a:t>Execute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64748B"/>
                </a:solidFill>
              </a:rPr>
              <a:t>results </a:t>
            </a:r>
          </a:p>
        </p:txBody>
      </p:sp>
      <p:sp>
        <p:nvSpPr>
          <p:cNvPr id="880" name="Ex"/>
          <p:cNvSpPr/>
          <p:nvPr/>
        </p:nvSpPr>
        <p:spPr>
          <a:xfrm>
            <a:off x="507330" y="4999681"/>
            <a:ext cx="11176000" cy="101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txBody>
          <a:bodyPr wrap="square" lIns="240000" tIns="140000" rIns="240000" bIns="140000" anchor="ctr"/>
          <a:lstStyle/>
          <a:p>
            <a:r>
              <a:rPr lang="en-US" sz="2000" dirty="0">
                <a:solidFill>
                  <a:srgbClr val="94A3B8"/>
                </a:solidFill>
                <a:latin typeface="Consolas"/>
              </a:rPr>
              <a:t>User</a:t>
            </a:r>
            <a:r>
              <a:rPr lang="en-US" dirty="0">
                <a:solidFill>
                  <a:srgbClr val="94A3B8"/>
                </a:solidFill>
                <a:latin typeface="Consolas"/>
              </a:rPr>
              <a:t> ✍️ </a:t>
            </a:r>
            <a:r>
              <a:rPr lang="en-US" sz="2000" b="1" dirty="0">
                <a:solidFill>
                  <a:srgbClr val="22D3EE"/>
                </a:solidFill>
                <a:latin typeface="Consolas"/>
              </a:rPr>
              <a:t>"top 10 customers by revenue this year"</a:t>
            </a:r>
            <a:r>
              <a:rPr lang="en-US" dirty="0">
                <a:solidFill>
                  <a:srgbClr val="94A3B8"/>
                </a:solidFill>
                <a:latin typeface="Consolas"/>
              </a:rPr>
              <a:t>   →   </a:t>
            </a:r>
            <a:r>
              <a:rPr lang="en-US" sz="2000" b="1" dirty="0">
                <a:solidFill>
                  <a:srgbClr val="10B981"/>
                </a:solidFill>
                <a:latin typeface="Consolas"/>
              </a:rPr>
              <a:t>SELECT TOP 10 ...</a:t>
            </a:r>
          </a:p>
        </p:txBody>
      </p:sp>
      <p:sp>
        <p:nvSpPr>
          <p:cNvPr id="5" name="Stage5">
            <a:extLst>
              <a:ext uri="{FF2B5EF4-FFF2-40B4-BE49-F238E27FC236}">
                <a16:creationId xmlns:a16="http://schemas.microsoft.com/office/drawing/2014/main" id="{169C684F-9C26-86A6-AC1E-ECE5050DAC37}"/>
              </a:ext>
            </a:extLst>
          </p:cNvPr>
          <p:cNvSpPr/>
          <p:nvPr/>
        </p:nvSpPr>
        <p:spPr>
          <a:xfrm>
            <a:off x="10043297" y="3672191"/>
            <a:ext cx="1651000" cy="92057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2D3EE"/>
            </a:solidFill>
            <a:prstDash val="sysDash"/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r>
              <a:rPr lang="en-US" sz="1400" b="1" spc="300" dirty="0">
                <a:solidFill>
                  <a:srgbClr val="FF0000"/>
                </a:solidFill>
              </a:rPr>
              <a:t>07</a:t>
            </a:r>
            <a:br>
              <a:rPr lang="en-US" sz="1400" b="1" spc="300" dirty="0">
                <a:solidFill>
                  <a:srgbClr val="F59E0B"/>
                </a:solidFill>
              </a:rPr>
            </a:br>
            <a:r>
              <a:rPr lang="en-US" sz="2400" b="1" dirty="0">
                <a:solidFill>
                  <a:schemeClr val="accent5"/>
                </a:solidFill>
              </a:rPr>
              <a:t>Error</a:t>
            </a:r>
            <a:endParaRPr lang="en-US" sz="2800" b="1" dirty="0">
              <a:solidFill>
                <a:schemeClr val="accent5"/>
              </a:solidFill>
            </a:endParaRPr>
          </a:p>
          <a:p>
            <a:pPr algn="l">
              <a:spcBef>
                <a:spcPts val="300"/>
              </a:spcBef>
            </a:pPr>
            <a:endParaRPr lang="en-US" sz="1400" dirty="0">
              <a:solidFill>
                <a:srgbClr val="64748B"/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0E5E794-A4F8-C1F4-5248-9B689CAD8735}"/>
              </a:ext>
            </a:extLst>
          </p:cNvPr>
          <p:cNvCxnSpPr>
            <a:cxnSpLocks/>
            <a:stCxn id="5" idx="1"/>
            <a:endCxn id="802" idx="2"/>
          </p:cNvCxnSpPr>
          <p:nvPr/>
        </p:nvCxnSpPr>
        <p:spPr>
          <a:xfrm rot="10800000">
            <a:off x="5143501" y="3323968"/>
            <a:ext cx="4899797" cy="808512"/>
          </a:xfrm>
          <a:prstGeom prst="bentConnector2">
            <a:avLst/>
          </a:prstGeom>
          <a:ln w="98425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rr4">
            <a:extLst>
              <a:ext uri="{FF2B5EF4-FFF2-40B4-BE49-F238E27FC236}">
                <a16:creationId xmlns:a16="http://schemas.microsoft.com/office/drawing/2014/main" id="{9286CF5E-7314-85A6-D4EF-063F9CE387DD}"/>
              </a:ext>
            </a:extLst>
          </p:cNvPr>
          <p:cNvSpPr/>
          <p:nvPr/>
        </p:nvSpPr>
        <p:spPr>
          <a:xfrm rot="5400000">
            <a:off x="10710070" y="3359987"/>
            <a:ext cx="321230" cy="27837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4B9F97-4E80-486C-FE7C-DC6DC5520893}"/>
              </a:ext>
            </a:extLst>
          </p:cNvPr>
          <p:cNvSpPr txBox="1"/>
          <p:nvPr/>
        </p:nvSpPr>
        <p:spPr>
          <a:xfrm>
            <a:off x="10649644" y="2694396"/>
            <a:ext cx="580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3F4F6"/>
                </a:solidFill>
                <a:effectLst/>
                <a:latin typeface="Apple Color Emoji"/>
              </a:rPr>
              <a:t>✅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39840D-3579-C6D4-75CA-F1F3C5465DE1}"/>
              </a:ext>
            </a:extLst>
          </p:cNvPr>
          <p:cNvSpPr txBox="1"/>
          <p:nvPr/>
        </p:nvSpPr>
        <p:spPr>
          <a:xfrm>
            <a:off x="10892548" y="4006502"/>
            <a:ext cx="580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❌</a:t>
            </a:r>
          </a:p>
        </p:txBody>
      </p:sp>
    </p:spTree>
    <p:extLst>
      <p:ext uri="{BB962C8B-B14F-4D97-AF65-F5344CB8AC3E}">
        <p14:creationId xmlns:p14="http://schemas.microsoft.com/office/powerpoint/2010/main" val="411072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719D-6174-6E05-E935-B77F706A8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41287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Schema + Prompt Design</a:t>
            </a:r>
          </a:p>
        </p:txBody>
      </p:sp>
      <p:sp>
        <p:nvSpPr>
          <p:cNvPr id="400" name="LeftCard"/>
          <p:cNvSpPr/>
          <p:nvPr/>
        </p:nvSpPr>
        <p:spPr>
          <a:xfrm>
            <a:off x="635000" y="1466850"/>
            <a:ext cx="5334000" cy="443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b="1" spc="300" dirty="0">
                <a:solidFill>
                  <a:srgbClr val="0891B2"/>
                </a:solidFill>
              </a:rPr>
              <a:t>STEP 1  ·  SCHEMA</a:t>
            </a:r>
          </a:p>
          <a:p>
            <a:pPr algn="l">
              <a:spcBef>
                <a:spcPts val="400"/>
              </a:spcBef>
            </a:pPr>
            <a:r>
              <a:rPr lang="en-US" sz="2800" b="1" dirty="0">
                <a:solidFill>
                  <a:srgbClr val="0F172A"/>
                </a:solidFill>
              </a:rPr>
              <a:t>Teach the LLM your data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Tables &amp; columns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Relationships &amp; keys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Data types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Enum Values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Optional: sample values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Optional: extra DDL info</a:t>
            </a:r>
            <a:br>
              <a:rPr lang="en-US" sz="2400" dirty="0">
                <a:solidFill>
                  <a:srgbClr val="334155"/>
                </a:solidFill>
              </a:rPr>
            </a:br>
            <a:endParaRPr lang="en-US" sz="2400" dirty="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lang="en-US" i="1" dirty="0">
                <a:solidFill>
                  <a:srgbClr val="64748B"/>
                </a:solidFill>
              </a:rPr>
              <a:t>Without schema, the LLM is guessing!</a:t>
            </a:r>
          </a:p>
        </p:txBody>
      </p:sp>
      <p:sp>
        <p:nvSpPr>
          <p:cNvPr id="401" name="RightCard"/>
          <p:cNvSpPr/>
          <p:nvPr/>
        </p:nvSpPr>
        <p:spPr>
          <a:xfrm>
            <a:off x="6223000" y="1466850"/>
            <a:ext cx="5334000" cy="443865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b="1" spc="300" dirty="0">
                <a:solidFill>
                  <a:srgbClr val="22D3EE"/>
                </a:solidFill>
              </a:rPr>
              <a:t>STEP 2  ·  PROMPT</a:t>
            </a:r>
          </a:p>
          <a:p>
            <a:pPr algn="l">
              <a:spcBef>
                <a:spcPts val="400"/>
              </a:spcBef>
            </a:pPr>
            <a:r>
              <a:rPr lang="en-US" sz="2800" b="1" dirty="0">
                <a:solidFill>
                  <a:srgbClr val="FFFFFF"/>
                </a:solidFill>
              </a:rPr>
              <a:t>Write the rules</a:t>
            </a:r>
          </a:p>
          <a:p>
            <a:pPr>
              <a:spcBef>
                <a:spcPts val="800"/>
              </a:spcBef>
            </a:pPr>
            <a:r>
              <a:rPr lang="en-US" dirty="0">
                <a:solidFill>
                  <a:srgbClr val="64748B"/>
                </a:solidFill>
                <a:latin typeface="Consolas"/>
              </a:rPr>
              <a:t>// system prompt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You are a SQL assistant.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22D3EE"/>
                </a:solidFill>
                <a:latin typeface="Consolas"/>
              </a:rPr>
              <a:t>RULES: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• SELECT only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• No DELETE/UPDATE/DROP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• Return SQL only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• Use the schema above</a:t>
            </a:r>
          </a:p>
        </p:txBody>
      </p:sp>
    </p:spTree>
    <p:extLst>
      <p:ext uri="{BB962C8B-B14F-4D97-AF65-F5344CB8AC3E}">
        <p14:creationId xmlns:p14="http://schemas.microsoft.com/office/powerpoint/2010/main" val="2819277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C07A3-A506-91E2-776A-A29FCBDFC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anel">
            <a:extLst>
              <a:ext uri="{FF2B5EF4-FFF2-40B4-BE49-F238E27FC236}">
                <a16:creationId xmlns:a16="http://schemas.microsoft.com/office/drawing/2014/main" id="{18B2B528-04D2-2150-B806-041B393ED26A}"/>
              </a:ext>
            </a:extLst>
          </p:cNvPr>
          <p:cNvSpPr/>
          <p:nvPr/>
        </p:nvSpPr>
        <p:spPr>
          <a:xfrm>
            <a:off x="73026" y="1270000"/>
            <a:ext cx="12118974" cy="431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701" name="AccentBar">
            <a:extLst>
              <a:ext uri="{FF2B5EF4-FFF2-40B4-BE49-F238E27FC236}">
                <a16:creationId xmlns:a16="http://schemas.microsoft.com/office/drawing/2014/main" id="{C728586D-EB19-12D4-4F3F-29D6CB3CC6F8}"/>
              </a:ext>
            </a:extLst>
          </p:cNvPr>
          <p:cNvSpPr/>
          <p:nvPr/>
        </p:nvSpPr>
        <p:spPr>
          <a:xfrm>
            <a:off x="929325" y="1911350"/>
            <a:ext cx="47520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C53B48-EF36-6340-82E8-458E3E0A9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</a:rPr>
              <a:t>Demo</a:t>
            </a:r>
          </a:p>
          <a:p>
            <a:pPr algn="l">
              <a:buNone/>
            </a:pPr>
            <a:r>
              <a:rPr lang="en-US" sz="2800" dirty="0">
                <a:solidFill>
                  <a:srgbClr val="94A3B8"/>
                </a:solidFill>
              </a:rPr>
              <a:t>A Simple .NET Console App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23229-FD34-7833-06A8-F4C0CCC87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050663"/>
            <a:ext cx="5016500" cy="558799"/>
          </a:xfrm>
        </p:spPr>
        <p:txBody>
          <a:bodyPr>
            <a:normAutofit fontScale="77500" lnSpcReduction="20000"/>
          </a:bodyPr>
          <a:lstStyle/>
          <a:p>
            <a:pPr algn="l">
              <a:buNone/>
            </a:pPr>
            <a:r>
              <a:rPr lang="en-US" sz="3200" b="1" spc="400" dirty="0">
                <a:solidFill>
                  <a:srgbClr val="22D3EE"/>
                </a:solidFill>
              </a:rPr>
              <a:t>CHAT WITH YOUR DATA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BF4189-844E-C8D9-D73B-DD7B8585FBE3}"/>
              </a:ext>
            </a:extLst>
          </p:cNvPr>
          <p:cNvGrpSpPr/>
          <p:nvPr/>
        </p:nvGrpSpPr>
        <p:grpSpPr>
          <a:xfrm>
            <a:off x="4030325" y="3357368"/>
            <a:ext cx="1651000" cy="457200"/>
            <a:chOff x="889000" y="1429656"/>
            <a:chExt cx="1651000" cy="457200"/>
          </a:xfrm>
        </p:grpSpPr>
        <p:sp>
          <p:nvSpPr>
            <p:cNvPr id="12" name="LiveBadge">
              <a:extLst>
                <a:ext uri="{FF2B5EF4-FFF2-40B4-BE49-F238E27FC236}">
                  <a16:creationId xmlns:a16="http://schemas.microsoft.com/office/drawing/2014/main" id="{B1DE4706-7C9E-FB03-11A8-AD13184D2821}"/>
                </a:ext>
              </a:extLst>
            </p:cNvPr>
            <p:cNvSpPr/>
            <p:nvPr/>
          </p:nvSpPr>
          <p:spPr>
            <a:xfrm>
              <a:off x="889000" y="1429656"/>
              <a:ext cx="1651000" cy="457200"/>
            </a:xfrm>
            <a:prstGeom prst="roundRect">
              <a:avLst>
                <a:gd name="adj" fmla="val 50000"/>
              </a:avLst>
            </a:prstGeom>
            <a:solidFill>
              <a:srgbClr val="F43F5E"/>
            </a:solidFill>
            <a:ln>
              <a:noFill/>
            </a:ln>
          </p:spPr>
          <p:txBody>
            <a:bodyPr wrap="square" lIns="91440" tIns="0" rIns="91440" bIns="0" anchor="ctr"/>
            <a:lstStyle/>
            <a:p>
              <a:pPr algn="ctr"/>
              <a:r>
                <a:rPr lang="en-US" b="1" spc="300" dirty="0">
                  <a:solidFill>
                    <a:srgbClr val="FFFFFF"/>
                  </a:solidFill>
                </a:rPr>
                <a:t>    LIVE</a:t>
              </a:r>
            </a:p>
          </p:txBody>
        </p:sp>
        <p:pic>
          <p:nvPicPr>
            <p:cNvPr id="13" name="Graphic 12" descr="Presentation with media with solid fill">
              <a:extLst>
                <a:ext uri="{FF2B5EF4-FFF2-40B4-BE49-F238E27FC236}">
                  <a16:creationId xmlns:a16="http://schemas.microsoft.com/office/drawing/2014/main" id="{37193B5B-7B8B-D404-8310-414F52FF0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37503" y="1476895"/>
              <a:ext cx="394735" cy="3947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4748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9AD2-1B67-A3D7-680A-E00FA44CA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88211" cy="1325563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Live Demo — Console</a:t>
            </a:r>
          </a:p>
        </p:txBody>
      </p:sp>
      <p:sp>
        <p:nvSpPr>
          <p:cNvPr id="501" name="DemoSub"/>
          <p:cNvSpPr txBox="1"/>
          <p:nvPr/>
        </p:nvSpPr>
        <p:spPr>
          <a:xfrm>
            <a:off x="2794000" y="1429656"/>
            <a:ext cx="8890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dirty="0">
                <a:solidFill>
                  <a:srgbClr val="475569"/>
                </a:solidFill>
              </a:rPr>
              <a:t>Visual Studio  &gt;  Chat.Console.OpenAI</a:t>
            </a:r>
          </a:p>
        </p:txBody>
      </p:sp>
      <p:sp>
        <p:nvSpPr>
          <p:cNvPr id="510" name="Terminal"/>
          <p:cNvSpPr/>
          <p:nvPr/>
        </p:nvSpPr>
        <p:spPr>
          <a:xfrm>
            <a:off x="508000" y="2342240"/>
            <a:ext cx="7112000" cy="33655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>
            <a:outerShdw blurRad="80000" dist="20000" dir="5400000" algn="t" rotWithShape="0">
              <a:srgbClr val="0F172A">
                <a:alpha val="20000"/>
              </a:srgbClr>
            </a:outerShdw>
          </a:effectLst>
        </p:spPr>
        <p:txBody>
          <a:bodyPr wrap="square" lIns="240000" tIns="200000" rIns="240000" bIns="200000" anchor="t"/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Consolas"/>
              </a:rPr>
              <a:t>$ dotnet run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94A3B8"/>
                </a:solidFill>
                <a:latin typeface="Consolas"/>
              </a:rPr>
              <a:t>Ask your database &gt; </a:t>
            </a:r>
            <a:r>
              <a:rPr lang="en-US" sz="2000" b="1" dirty="0">
                <a:solidFill>
                  <a:srgbClr val="22D3EE"/>
                </a:solidFill>
                <a:latin typeface="Consolas"/>
              </a:rPr>
              <a:t>top 10 customers by revenue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Consolas"/>
              </a:rPr>
              <a:t>// generated SQL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SELECT TOP 10 c.Name,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       SUM(o.Total) AS Revenue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FROM Customers c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JOIN Orders o ON o.CustomerId=c.Id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GROUP BY c.Name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ORDER BY Revenue DESC;</a:t>
            </a:r>
          </a:p>
        </p:txBody>
      </p:sp>
      <p:sp>
        <p:nvSpPr>
          <p:cNvPr id="520" name="Trust"/>
          <p:cNvSpPr/>
          <p:nvPr/>
        </p:nvSpPr>
        <p:spPr>
          <a:xfrm>
            <a:off x="7874000" y="2342240"/>
            <a:ext cx="3810000" cy="3365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220000" tIns="200000" rIns="220000" bIns="200000" anchor="t"/>
          <a:lstStyle/>
          <a:p>
            <a:pPr>
              <a:spcBef>
                <a:spcPts val="800"/>
              </a:spcBef>
            </a:pPr>
            <a:r>
              <a:rPr lang="en-US" sz="3200" b="1" spc="300" dirty="0">
                <a:solidFill>
                  <a:srgbClr val="92400E"/>
                </a:solidFill>
              </a:rPr>
              <a:t>⏸</a:t>
            </a:r>
            <a:r>
              <a:rPr lang="en-US" sz="2800" b="1" dirty="0">
                <a:solidFill>
                  <a:srgbClr val="0F172A"/>
                </a:solidFill>
              </a:rPr>
              <a:t>Would you </a:t>
            </a:r>
            <a:br>
              <a:rPr lang="en-US" sz="2800" b="1" dirty="0">
                <a:solidFill>
                  <a:srgbClr val="0F172A"/>
                </a:solidFill>
              </a:rPr>
            </a:br>
            <a:r>
              <a:rPr lang="en-US" sz="2800" b="1" dirty="0">
                <a:solidFill>
                  <a:srgbClr val="0F172A"/>
                </a:solidFill>
              </a:rPr>
              <a:t>     run this </a:t>
            </a:r>
            <a:br>
              <a:rPr lang="en-US" sz="2800" b="1" dirty="0">
                <a:solidFill>
                  <a:srgbClr val="0F172A"/>
                </a:solidFill>
              </a:rPr>
            </a:br>
            <a:r>
              <a:rPr lang="en-US" sz="2800" b="1" dirty="0">
                <a:solidFill>
                  <a:srgbClr val="0F172A"/>
                </a:solidFill>
              </a:rPr>
              <a:t>     in production?</a:t>
            </a:r>
            <a:endParaRPr lang="en-US" sz="3200" b="1" dirty="0">
              <a:solidFill>
                <a:srgbClr val="0F172A"/>
              </a:solidFill>
            </a:endParaRPr>
          </a:p>
          <a:p>
            <a:pPr algn="l">
              <a:spcBef>
                <a:spcPts val="400"/>
              </a:spcBef>
            </a:pPr>
            <a:br>
              <a:rPr lang="en-US" dirty="0">
                <a:solidFill>
                  <a:srgbClr val="78350F"/>
                </a:solidFill>
              </a:rPr>
            </a:br>
            <a:br>
              <a:rPr lang="en-US" dirty="0">
                <a:solidFill>
                  <a:srgbClr val="78350F"/>
                </a:solidFill>
              </a:rPr>
            </a:br>
            <a:r>
              <a:rPr lang="en-US" dirty="0">
                <a:solidFill>
                  <a:srgbClr val="78350F"/>
                </a:solidFill>
              </a:rPr>
              <a:t>        </a:t>
            </a:r>
            <a:r>
              <a:rPr lang="en-US" sz="2400" b="1" dirty="0">
                <a:solidFill>
                  <a:srgbClr val="78350F"/>
                </a:solidFill>
              </a:rPr>
              <a:t>The validator → </a:t>
            </a:r>
            <a:endParaRPr lang="en-US" b="1" dirty="0">
              <a:solidFill>
                <a:srgbClr val="78350F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E91529-23A7-B9D9-91A9-CD0F5AB4D505}"/>
              </a:ext>
            </a:extLst>
          </p:cNvPr>
          <p:cNvGrpSpPr/>
          <p:nvPr/>
        </p:nvGrpSpPr>
        <p:grpSpPr>
          <a:xfrm>
            <a:off x="889000" y="1429656"/>
            <a:ext cx="1651000" cy="457200"/>
            <a:chOff x="889000" y="1429656"/>
            <a:chExt cx="1651000" cy="457200"/>
          </a:xfrm>
        </p:grpSpPr>
        <p:sp>
          <p:nvSpPr>
            <p:cNvPr id="500" name="LiveBadge"/>
            <p:cNvSpPr/>
            <p:nvPr/>
          </p:nvSpPr>
          <p:spPr>
            <a:xfrm>
              <a:off x="889000" y="1429656"/>
              <a:ext cx="1651000" cy="457200"/>
            </a:xfrm>
            <a:prstGeom prst="roundRect">
              <a:avLst>
                <a:gd name="adj" fmla="val 50000"/>
              </a:avLst>
            </a:prstGeom>
            <a:solidFill>
              <a:srgbClr val="F43F5E"/>
            </a:solidFill>
            <a:ln>
              <a:noFill/>
            </a:ln>
          </p:spPr>
          <p:txBody>
            <a:bodyPr wrap="square" lIns="91440" tIns="0" rIns="91440" bIns="0" anchor="ctr"/>
            <a:lstStyle/>
            <a:p>
              <a:pPr algn="ctr"/>
              <a:r>
                <a:rPr lang="en-US" b="1" spc="300" dirty="0">
                  <a:solidFill>
                    <a:srgbClr val="FFFFFF"/>
                  </a:solidFill>
                </a:rPr>
                <a:t>    LIVE</a:t>
              </a:r>
            </a:p>
          </p:txBody>
        </p:sp>
        <p:pic>
          <p:nvPicPr>
            <p:cNvPr id="8" name="Graphic 7" descr="Presentation with media with solid fill">
              <a:extLst>
                <a:ext uri="{FF2B5EF4-FFF2-40B4-BE49-F238E27FC236}">
                  <a16:creationId xmlns:a16="http://schemas.microsoft.com/office/drawing/2014/main" id="{09202127-A8D4-A00F-7BBA-CB4879194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37503" y="1476895"/>
              <a:ext cx="394735" cy="394735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98970D3-6DAB-B756-8ED7-860209BBE762}"/>
              </a:ext>
            </a:extLst>
          </p:cNvPr>
          <p:cNvSpPr txBox="1"/>
          <p:nvPr/>
        </p:nvSpPr>
        <p:spPr>
          <a:xfrm>
            <a:off x="11076710" y="3590941"/>
            <a:ext cx="4423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spc="300" dirty="0">
                <a:solidFill>
                  <a:srgbClr val="92400E"/>
                </a:solidFill>
              </a:rPr>
              <a:t>⏸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75431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BEB7-C36F-15BC-7D87-2E120220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43577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Validation + Execution</a:t>
            </a:r>
          </a:p>
        </p:txBody>
      </p:sp>
      <p:sp>
        <p:nvSpPr>
          <p:cNvPr id="600" name="Validator"/>
          <p:cNvSpPr/>
          <p:nvPr/>
        </p:nvSpPr>
        <p:spPr>
          <a:xfrm>
            <a:off x="635000" y="1669140"/>
            <a:ext cx="5461000" cy="419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ECDD3"/>
            </a:solidFill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sz="3600" b="1" dirty="0">
                <a:solidFill>
                  <a:srgbClr val="F43F5E"/>
                </a:solidFill>
              </a:rPr>
              <a:t>🛡</a:t>
            </a:r>
            <a:r>
              <a:rPr lang="en-US" b="1" spc="300" dirty="0">
                <a:solidFill>
                  <a:srgbClr val="9F1239"/>
                </a:solidFill>
              </a:rPr>
              <a:t>  </a:t>
            </a:r>
            <a:r>
              <a:rPr lang="en-US" sz="2800" b="1" spc="300" dirty="0">
                <a:solidFill>
                  <a:srgbClr val="9F1239"/>
                </a:solidFill>
              </a:rPr>
              <a:t>VALIDATE</a:t>
            </a:r>
            <a:endParaRPr lang="en-US" b="1" spc="300" dirty="0">
              <a:solidFill>
                <a:srgbClr val="9F1239"/>
              </a:solidFill>
            </a:endParaRPr>
          </a:p>
          <a:p>
            <a:pPr algn="l">
              <a:spcBef>
                <a:spcPts val="400"/>
              </a:spcBef>
            </a:pPr>
            <a:r>
              <a:rPr lang="en-US" sz="3600" b="1" dirty="0">
                <a:solidFill>
                  <a:srgbClr val="0F172A"/>
                </a:solidFill>
              </a:rPr>
              <a:t>Never trust the LLM</a:t>
            </a:r>
          </a:p>
          <a:p>
            <a:pPr marL="228600" indent="-228600">
              <a:spcBef>
                <a:spcPts val="600"/>
              </a:spcBef>
              <a:buClr>
                <a:srgbClr val="FF0000"/>
              </a:buClr>
              <a:buFont typeface="Arial"/>
              <a:buChar char="✕"/>
            </a:pPr>
            <a:r>
              <a:rPr lang="en-US" sz="2400" dirty="0">
                <a:solidFill>
                  <a:srgbClr val="334155"/>
                </a:solidFill>
              </a:rPr>
              <a:t> Block DELETE, UPDATE, DROP</a:t>
            </a:r>
          </a:p>
          <a:p>
            <a:pPr marL="228600" indent="-228600">
              <a:spcBef>
                <a:spcPts val="400"/>
              </a:spcBef>
              <a:buClr>
                <a:srgbClr val="FF0000"/>
              </a:buClr>
              <a:buFont typeface="Arial"/>
              <a:buChar char="✕"/>
            </a:pPr>
            <a:r>
              <a:rPr lang="en-US" sz="2400" dirty="0">
                <a:solidFill>
                  <a:srgbClr val="334155"/>
                </a:solidFill>
              </a:rPr>
              <a:t> Block multi-statement queries</a:t>
            </a:r>
          </a:p>
          <a:p>
            <a:pPr marL="228600" indent="-228600">
              <a:spcBef>
                <a:spcPts val="400"/>
              </a:spcBef>
              <a:buClr>
                <a:srgbClr val="00B050"/>
              </a:buClr>
              <a:buFont typeface="Arial"/>
              <a:buChar char="✓"/>
            </a:pPr>
            <a:r>
              <a:rPr lang="en-US" sz="2400" dirty="0">
                <a:solidFill>
                  <a:srgbClr val="334155"/>
                </a:solidFill>
              </a:rPr>
              <a:t> Allow only SELECT</a:t>
            </a:r>
          </a:p>
          <a:p>
            <a:pPr marL="228600" indent="-228600">
              <a:spcBef>
                <a:spcPts val="400"/>
              </a:spcBef>
              <a:buClr>
                <a:srgbClr val="00B050"/>
              </a:buClr>
              <a:buFont typeface="Arial"/>
              <a:buChar char="✓"/>
            </a:pPr>
            <a:r>
              <a:rPr lang="en-US" sz="2400" dirty="0">
                <a:solidFill>
                  <a:srgbClr val="334155"/>
                </a:solidFill>
              </a:rPr>
              <a:t> Enforce row limits</a:t>
            </a:r>
          </a:p>
          <a:p>
            <a:pPr marL="228600" indent="-228600">
              <a:spcBef>
                <a:spcPts val="400"/>
              </a:spcBef>
              <a:buClr>
                <a:srgbClr val="00B050"/>
              </a:buClr>
              <a:buFont typeface="Arial"/>
              <a:buChar char="✓"/>
            </a:pPr>
            <a:r>
              <a:rPr lang="en-US" sz="2400" dirty="0">
                <a:solidFill>
                  <a:srgbClr val="334155"/>
                </a:solidFill>
              </a:rPr>
              <a:t> Sanitize identifiers</a:t>
            </a:r>
          </a:p>
        </p:txBody>
      </p:sp>
      <p:sp>
        <p:nvSpPr>
          <p:cNvPr id="601" name="Exec"/>
          <p:cNvSpPr/>
          <p:nvPr/>
        </p:nvSpPr>
        <p:spPr>
          <a:xfrm>
            <a:off x="6223000" y="1669140"/>
            <a:ext cx="5334000" cy="419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sz="3600" b="1" dirty="0">
                <a:solidFill>
                  <a:srgbClr val="10B981"/>
                </a:solidFill>
              </a:rPr>
              <a:t>▶</a:t>
            </a:r>
            <a:r>
              <a:rPr lang="en-US" b="1" spc="300" dirty="0">
                <a:solidFill>
                  <a:srgbClr val="047857"/>
                </a:solidFill>
              </a:rPr>
              <a:t>  </a:t>
            </a:r>
            <a:r>
              <a:rPr lang="en-US" sz="2800" b="1" spc="300" dirty="0">
                <a:solidFill>
                  <a:srgbClr val="047857"/>
                </a:solidFill>
              </a:rPr>
              <a:t>EXECUTE</a:t>
            </a:r>
            <a:endParaRPr lang="en-US" b="1" spc="300" dirty="0">
              <a:solidFill>
                <a:srgbClr val="047857"/>
              </a:solidFill>
            </a:endParaRPr>
          </a:p>
          <a:p>
            <a:pPr algn="l">
              <a:spcBef>
                <a:spcPts val="400"/>
              </a:spcBef>
            </a:pPr>
            <a:r>
              <a:rPr lang="en-US" sz="3600" b="1" dirty="0">
                <a:solidFill>
                  <a:srgbClr val="0F172A"/>
                </a:solidFill>
              </a:rPr>
              <a:t>Run it, return it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Read-only connection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Timeout guard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Return as structured data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Log every query</a:t>
            </a:r>
            <a:br>
              <a:rPr lang="en-US" sz="2400" dirty="0">
                <a:solidFill>
                  <a:srgbClr val="334155"/>
                </a:solidFill>
              </a:rPr>
            </a:br>
            <a:endParaRPr lang="en-US" sz="2400" dirty="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lang="en-US" i="1" dirty="0">
                <a:solidFill>
                  <a:srgbClr val="64748B"/>
                </a:solidFill>
              </a:rPr>
              <a:t>The DB user should only SELECT.</a:t>
            </a:r>
          </a:p>
        </p:txBody>
      </p:sp>
    </p:spTree>
    <p:extLst>
      <p:ext uri="{BB962C8B-B14F-4D97-AF65-F5344CB8AC3E}">
        <p14:creationId xmlns:p14="http://schemas.microsoft.com/office/powerpoint/2010/main" val="3067230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BG"/>
          <p:cNvSpPr/>
          <p:nvPr/>
        </p:nvSpPr>
        <p:spPr>
          <a:xfrm>
            <a:off x="60960" y="0"/>
            <a:ext cx="1213103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2" name="Quote"/>
          <p:cNvSpPr txBox="1"/>
          <p:nvPr/>
        </p:nvSpPr>
        <p:spPr>
          <a:xfrm>
            <a:off x="1016000" y="719117"/>
            <a:ext cx="10160000" cy="31931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</a:pPr>
            <a:r>
              <a:rPr lang="en-US" sz="9600" b="1" dirty="0">
                <a:solidFill>
                  <a:srgbClr val="FFFFFF"/>
                </a:solidFill>
              </a:rPr>
              <a:t>This is a </a:t>
            </a:r>
            <a:r>
              <a:rPr lang="en-US" sz="9600" b="1" i="1" dirty="0">
                <a:solidFill>
                  <a:srgbClr val="22D3EE"/>
                </a:solidFill>
              </a:rPr>
              <a:t>pipeline,</a:t>
            </a:r>
          </a:p>
          <a:p>
            <a:pPr algn="l">
              <a:lnSpc>
                <a:spcPct val="105000"/>
              </a:lnSpc>
            </a:pPr>
            <a:r>
              <a:rPr lang="en-US" sz="9600" b="1" dirty="0">
                <a:solidFill>
                  <a:srgbClr val="FFFFFF"/>
                </a:solidFill>
              </a:rPr>
              <a:t>not </a:t>
            </a:r>
            <a:r>
              <a:rPr lang="en-US" sz="9600" b="1" i="1" dirty="0">
                <a:solidFill>
                  <a:srgbClr val="F43F5E"/>
                </a:solidFill>
              </a:rPr>
              <a:t>magic.</a:t>
            </a:r>
          </a:p>
        </p:txBody>
      </p:sp>
      <p:sp>
        <p:nvSpPr>
          <p:cNvPr id="703" name="Sub"/>
          <p:cNvSpPr txBox="1"/>
          <p:nvPr/>
        </p:nvSpPr>
        <p:spPr>
          <a:xfrm>
            <a:off x="1016000" y="5759533"/>
            <a:ext cx="10160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800" dirty="0">
                <a:solidFill>
                  <a:srgbClr val="94A3B8"/>
                </a:solidFill>
              </a:rPr>
              <a:t>Every stage is inspectable, testable, replaceable.</a:t>
            </a:r>
          </a:p>
        </p:txBody>
      </p:sp>
    </p:spTree>
    <p:extLst>
      <p:ext uri="{BB962C8B-B14F-4D97-AF65-F5344CB8AC3E}">
        <p14:creationId xmlns:p14="http://schemas.microsoft.com/office/powerpoint/2010/main" val="3187530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3F21-8185-DCF7-FAAB-4AD3EB181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79173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Architecture — 3 Layers</a:t>
            </a:r>
          </a:p>
        </p:txBody>
      </p:sp>
      <p:sp>
        <p:nvSpPr>
          <p:cNvPr id="800" name="Sub"/>
          <p:cNvSpPr txBox="1"/>
          <p:nvPr/>
        </p:nvSpPr>
        <p:spPr>
          <a:xfrm>
            <a:off x="635000" y="1166586"/>
            <a:ext cx="104140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dirty="0">
                <a:solidFill>
                  <a:srgbClr val="64748B"/>
                </a:solidFill>
              </a:rPr>
              <a:t>Clean boundaries. Each layer does one thing well.</a:t>
            </a:r>
          </a:p>
        </p:txBody>
      </p:sp>
      <p:sp>
        <p:nvSpPr>
          <p:cNvPr id="900" name="L1"/>
          <p:cNvSpPr/>
          <p:nvPr/>
        </p:nvSpPr>
        <p:spPr>
          <a:xfrm>
            <a:off x="623786" y="1985488"/>
            <a:ext cx="889000" cy="8890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01" name="L1T"/>
          <p:cNvSpPr txBox="1"/>
          <p:nvPr/>
        </p:nvSpPr>
        <p:spPr>
          <a:xfrm>
            <a:off x="1599215" y="2000002"/>
            <a:ext cx="3590305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800" b="1" dirty="0">
                <a:solidFill>
                  <a:srgbClr val="0F172A"/>
                </a:solidFill>
              </a:rPr>
              <a:t>Intake</a:t>
            </a:r>
          </a:p>
          <a:p>
            <a:pPr algn="l">
              <a:spcBef>
                <a:spcPts val="200"/>
              </a:spcBef>
            </a:pPr>
            <a:r>
              <a:rPr lang="en-US" b="1" dirty="0">
                <a:solidFill>
                  <a:srgbClr val="7B4F05"/>
                </a:solidFill>
              </a:rPr>
              <a:t>Understand the user question</a:t>
            </a:r>
          </a:p>
        </p:txBody>
      </p:sp>
      <p:sp>
        <p:nvSpPr>
          <p:cNvPr id="910" name="C1_0"/>
          <p:cNvSpPr/>
          <p:nvPr/>
        </p:nvSpPr>
        <p:spPr>
          <a:xfrm>
            <a:off x="5284520" y="2127002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User Query</a:t>
            </a:r>
          </a:p>
        </p:txBody>
      </p:sp>
      <p:sp>
        <p:nvSpPr>
          <p:cNvPr id="911" name="C1_1"/>
          <p:cNvSpPr/>
          <p:nvPr/>
        </p:nvSpPr>
        <p:spPr>
          <a:xfrm>
            <a:off x="7715000" y="2137888"/>
            <a:ext cx="2286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Schema Reader</a:t>
            </a:r>
          </a:p>
        </p:txBody>
      </p:sp>
      <p:sp>
        <p:nvSpPr>
          <p:cNvPr id="930" name="L2"/>
          <p:cNvSpPr/>
          <p:nvPr/>
        </p:nvSpPr>
        <p:spPr>
          <a:xfrm>
            <a:off x="623786" y="3270002"/>
            <a:ext cx="889000" cy="8890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31" name="L2T"/>
          <p:cNvSpPr txBox="1"/>
          <p:nvPr/>
        </p:nvSpPr>
        <p:spPr>
          <a:xfrm>
            <a:off x="1599216" y="3270002"/>
            <a:ext cx="3302000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800" b="1" dirty="0">
                <a:solidFill>
                  <a:srgbClr val="0F172A"/>
                </a:solidFill>
              </a:rPr>
              <a:t>Brain</a:t>
            </a:r>
          </a:p>
          <a:p>
            <a:pPr algn="l">
              <a:spcBef>
                <a:spcPts val="200"/>
              </a:spcBef>
            </a:pPr>
            <a:r>
              <a:rPr lang="en-US" b="1" dirty="0">
                <a:solidFill>
                  <a:srgbClr val="6366F1"/>
                </a:solidFill>
              </a:rPr>
              <a:t>Generate safe SQL</a:t>
            </a:r>
          </a:p>
        </p:txBody>
      </p:sp>
      <p:sp>
        <p:nvSpPr>
          <p:cNvPr id="940" name="C2_0"/>
          <p:cNvSpPr/>
          <p:nvPr/>
        </p:nvSpPr>
        <p:spPr>
          <a:xfrm>
            <a:off x="5284520" y="3397002"/>
            <a:ext cx="217648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Prompt Builder</a:t>
            </a:r>
          </a:p>
        </p:txBody>
      </p:sp>
      <p:sp>
        <p:nvSpPr>
          <p:cNvPr id="941" name="C2_1"/>
          <p:cNvSpPr/>
          <p:nvPr/>
        </p:nvSpPr>
        <p:spPr>
          <a:xfrm>
            <a:off x="7715000" y="3397002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LLM Service</a:t>
            </a:r>
          </a:p>
        </p:txBody>
      </p:sp>
      <p:sp>
        <p:nvSpPr>
          <p:cNvPr id="942" name="C2_2"/>
          <p:cNvSpPr/>
          <p:nvPr/>
        </p:nvSpPr>
        <p:spPr>
          <a:xfrm>
            <a:off x="10001000" y="3397002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Validator</a:t>
            </a:r>
          </a:p>
        </p:txBody>
      </p:sp>
      <p:sp>
        <p:nvSpPr>
          <p:cNvPr id="960" name="L3"/>
          <p:cNvSpPr/>
          <p:nvPr/>
        </p:nvSpPr>
        <p:spPr>
          <a:xfrm>
            <a:off x="623786" y="4540002"/>
            <a:ext cx="889000" cy="889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61" name="L3T"/>
          <p:cNvSpPr txBox="1"/>
          <p:nvPr/>
        </p:nvSpPr>
        <p:spPr>
          <a:xfrm>
            <a:off x="1599216" y="4540002"/>
            <a:ext cx="3302000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800" b="1" dirty="0">
                <a:solidFill>
                  <a:srgbClr val="0F172A"/>
                </a:solidFill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lang="en-US" b="1" dirty="0">
                <a:solidFill>
                  <a:srgbClr val="10B981"/>
                </a:solidFill>
              </a:rPr>
              <a:t>Run and format results</a:t>
            </a:r>
          </a:p>
        </p:txBody>
      </p:sp>
      <p:sp>
        <p:nvSpPr>
          <p:cNvPr id="970" name="C3_0"/>
          <p:cNvSpPr/>
          <p:nvPr/>
        </p:nvSpPr>
        <p:spPr>
          <a:xfrm>
            <a:off x="5284520" y="4667002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Executor</a:t>
            </a:r>
          </a:p>
        </p:txBody>
      </p:sp>
      <p:sp>
        <p:nvSpPr>
          <p:cNvPr id="971" name="C3_1"/>
          <p:cNvSpPr/>
          <p:nvPr/>
        </p:nvSpPr>
        <p:spPr>
          <a:xfrm>
            <a:off x="7715000" y="4667002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Formatter</a:t>
            </a:r>
          </a:p>
        </p:txBody>
      </p:sp>
      <p:sp>
        <p:nvSpPr>
          <p:cNvPr id="972" name="C3_2"/>
          <p:cNvSpPr/>
          <p:nvPr/>
        </p:nvSpPr>
        <p:spPr>
          <a:xfrm>
            <a:off x="10001000" y="4667002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Exporter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1DD38E-AD84-1D50-E52F-B5F98C5D28D8}"/>
              </a:ext>
            </a:extLst>
          </p:cNvPr>
          <p:cNvCxnSpPr>
            <a:cxnSpLocks/>
          </p:cNvCxnSpPr>
          <p:nvPr/>
        </p:nvCxnSpPr>
        <p:spPr>
          <a:xfrm>
            <a:off x="635000" y="3070431"/>
            <a:ext cx="10800000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400EC4-90AC-A72F-9F8C-1821703F6ACF}"/>
              </a:ext>
            </a:extLst>
          </p:cNvPr>
          <p:cNvCxnSpPr>
            <a:cxnSpLocks/>
          </p:cNvCxnSpPr>
          <p:nvPr/>
        </p:nvCxnSpPr>
        <p:spPr>
          <a:xfrm>
            <a:off x="635000" y="4325917"/>
            <a:ext cx="10800000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812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E9B66-9047-A005-9B40-77D94E893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25437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The Whole Setup 👌🏻 </a:t>
            </a:r>
            <a:endParaRPr lang="en-US" sz="4800" b="1" dirty="0">
              <a:solidFill>
                <a:srgbClr val="0F172A"/>
              </a:solidFill>
            </a:endParaRPr>
          </a:p>
        </p:txBody>
      </p:sp>
      <p:sp>
        <p:nvSpPr>
          <p:cNvPr id="900" name="Code"/>
          <p:cNvSpPr/>
          <p:nvPr/>
        </p:nvSpPr>
        <p:spPr>
          <a:xfrm>
            <a:off x="635000" y="1940367"/>
            <a:ext cx="10515600" cy="3355051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txBody>
          <a:bodyPr wrap="square" lIns="240000" tIns="200000" rIns="240000" bIns="200000" anchor="t"/>
          <a:lstStyle/>
          <a:p>
            <a:pPr>
              <a:spcBef>
                <a:spcPts val="500"/>
              </a:spcBef>
            </a:pPr>
            <a:r>
              <a:rPr lang="en-US" sz="3200" dirty="0" err="1">
                <a:solidFill>
                  <a:srgbClr val="A78BFA"/>
                </a:solidFill>
                <a:latin typeface="Consolas"/>
              </a:rPr>
              <a:t>builder.Services.</a:t>
            </a:r>
            <a:r>
              <a:rPr lang="en-US" sz="3200" dirty="0" err="1">
                <a:solidFill>
                  <a:srgbClr val="22D3EE"/>
                </a:solidFill>
                <a:latin typeface="Consolas"/>
              </a:rPr>
              <a:t>AddAiReporting</a:t>
            </a:r>
            <a:r>
              <a:rPr lang="en-US" sz="3200" dirty="0">
                <a:solidFill>
                  <a:srgbClr val="E2E8F0"/>
                </a:solidFill>
                <a:latin typeface="Consolas"/>
              </a:rPr>
              <a:t>(opt =&gt;</a:t>
            </a:r>
          </a:p>
          <a:p>
            <a:pPr>
              <a:spcBef>
                <a:spcPts val="200"/>
              </a:spcBef>
            </a:pPr>
            <a:r>
              <a:rPr lang="en-US" sz="3200" dirty="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200"/>
              </a:spcBef>
            </a:pPr>
            <a:r>
              <a:rPr lang="en-US" sz="3200" dirty="0">
                <a:solidFill>
                  <a:srgbClr val="E2E8F0"/>
                </a:solidFill>
                <a:latin typeface="Consolas"/>
              </a:rPr>
              <a:t>    opt.ConnectionString = config[</a:t>
            </a:r>
            <a:r>
              <a:rPr lang="en-US" sz="3200" dirty="0">
                <a:solidFill>
                  <a:srgbClr val="10B981"/>
                </a:solidFill>
                <a:latin typeface="Consolas"/>
              </a:rPr>
              <a:t>"Db"</a:t>
            </a:r>
            <a:r>
              <a:rPr lang="en-US" sz="3200" dirty="0">
                <a:solidFill>
                  <a:srgbClr val="E2E8F0"/>
                </a:solidFill>
                <a:latin typeface="Consolas"/>
              </a:rPr>
              <a:t>];</a:t>
            </a:r>
          </a:p>
          <a:p>
            <a:pPr>
              <a:spcBef>
                <a:spcPts val="200"/>
              </a:spcBef>
            </a:pPr>
            <a:r>
              <a:rPr lang="en-US" sz="3200" dirty="0">
                <a:solidFill>
                  <a:srgbClr val="E2E8F0"/>
                </a:solidFill>
                <a:latin typeface="Consolas"/>
              </a:rPr>
              <a:t>    </a:t>
            </a:r>
            <a:r>
              <a:rPr lang="en-US" sz="3200" dirty="0" err="1">
                <a:solidFill>
                  <a:srgbClr val="E2E8F0"/>
                </a:solidFill>
                <a:latin typeface="Consolas"/>
              </a:rPr>
              <a:t>opt.LlmProvider</a:t>
            </a:r>
            <a:r>
              <a:rPr lang="en-US" sz="3200" dirty="0">
                <a:solidFill>
                  <a:srgbClr val="E2E8F0"/>
                </a:solidFill>
                <a:latin typeface="Consolas"/>
              </a:rPr>
              <a:t>   = {</a:t>
            </a:r>
            <a:r>
              <a:rPr lang="en-US" sz="3200" dirty="0">
                <a:solidFill>
                  <a:srgbClr val="10B981"/>
                </a:solidFill>
                <a:latin typeface="Consolas"/>
              </a:rPr>
              <a:t>"OpenAI"</a:t>
            </a:r>
            <a:r>
              <a:rPr lang="en-US" sz="3200" dirty="0">
                <a:solidFill>
                  <a:srgbClr val="E2E8F0"/>
                </a:solidFill>
                <a:latin typeface="Consolas"/>
              </a:rPr>
              <a:t>, </a:t>
            </a:r>
            <a:r>
              <a:rPr lang="en-US" sz="3200" dirty="0" err="1">
                <a:solidFill>
                  <a:srgbClr val="22D3EE"/>
                </a:solidFill>
                <a:latin typeface="Consolas"/>
              </a:rPr>
              <a:t>ApiKey</a:t>
            </a:r>
            <a:r>
              <a:rPr lang="en-US" sz="3200" dirty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200"/>
              </a:spcBef>
            </a:pPr>
            <a:r>
              <a:rPr lang="en-US" sz="3200" dirty="0">
                <a:solidFill>
                  <a:srgbClr val="E2E8F0"/>
                </a:solidFill>
                <a:latin typeface="Consolas"/>
              </a:rPr>
              <a:t>});</a:t>
            </a:r>
            <a:endParaRPr lang="en-US" sz="2800" dirty="0">
              <a:solidFill>
                <a:srgbClr val="64748B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434733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787CF-88FF-1DB2-F78F-BF6C35A2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0037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Live Demo 2 — Blazor Web App</a:t>
            </a:r>
          </a:p>
        </p:txBody>
      </p:sp>
      <p:sp>
        <p:nvSpPr>
          <p:cNvPr id="1210" name="S"/>
          <p:cNvSpPr/>
          <p:nvPr/>
        </p:nvSpPr>
        <p:spPr>
          <a:xfrm>
            <a:off x="635000" y="2158999"/>
            <a:ext cx="2872014" cy="35174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00000" rIns="180000" bIns="200000" anchor="t"/>
          <a:lstStyle/>
          <a:p>
            <a:r>
              <a:rPr lang="en-US" sz="2400" b="1" spc="300" dirty="0">
                <a:solidFill>
                  <a:srgbClr val="10B981"/>
                </a:solidFill>
              </a:rPr>
              <a:t>STEP 1</a:t>
            </a:r>
          </a:p>
          <a:p>
            <a:pPr algn="l">
              <a:spcBef>
                <a:spcPts val="400"/>
              </a:spcBef>
            </a:pPr>
            <a:r>
              <a:rPr lang="en-US" sz="5400" b="1" dirty="0">
                <a:solidFill>
                  <a:srgbClr val="F43F5E"/>
                </a:solidFill>
              </a:rPr>
              <a:t>🎤</a:t>
            </a:r>
          </a:p>
          <a:p>
            <a:pPr algn="l">
              <a:spcBef>
                <a:spcPts val="500"/>
              </a:spcBef>
            </a:pPr>
            <a:r>
              <a:rPr lang="en-US" sz="3200" b="1" dirty="0">
                <a:solidFill>
                  <a:srgbClr val="0F172A"/>
                </a:solidFill>
              </a:rPr>
              <a:t>Speak</a:t>
            </a:r>
          </a:p>
          <a:p>
            <a:pPr algn="l">
              <a:spcBef>
                <a:spcPts val="400"/>
              </a:spcBef>
            </a:pPr>
            <a:r>
              <a:rPr lang="en-US" sz="2400" i="1" dirty="0">
                <a:solidFill>
                  <a:srgbClr val="64748B"/>
                </a:solidFill>
              </a:rPr>
              <a:t>"Show sales trends last 6 months"</a:t>
            </a:r>
          </a:p>
        </p:txBody>
      </p:sp>
      <p:sp>
        <p:nvSpPr>
          <p:cNvPr id="1211" name="S"/>
          <p:cNvSpPr/>
          <p:nvPr/>
        </p:nvSpPr>
        <p:spPr>
          <a:xfrm>
            <a:off x="3321958" y="2158999"/>
            <a:ext cx="2872014" cy="3517405"/>
          </a:xfrm>
          <a:prstGeom prst="roundRect">
            <a:avLst>
              <a:gd name="adj" fmla="val 5000"/>
            </a:avLst>
          </a:prstGeom>
          <a:solidFill>
            <a:srgbClr val="EAEAEA"/>
          </a:solidFill>
          <a:ln w="12700">
            <a:solidFill>
              <a:srgbClr val="E2E8F0"/>
            </a:solidFill>
          </a:ln>
        </p:spPr>
        <p:txBody>
          <a:bodyPr wrap="square" lIns="180000" tIns="200000" rIns="180000" bIns="200000" anchor="t"/>
          <a:lstStyle/>
          <a:p>
            <a:pPr algn="l"/>
            <a:r>
              <a:rPr lang="en-US" sz="2400" b="1" spc="300" dirty="0">
                <a:solidFill>
                  <a:srgbClr val="22D3EE"/>
                </a:solidFill>
              </a:rPr>
              <a:t>STEP 2</a:t>
            </a:r>
          </a:p>
          <a:p>
            <a:pPr algn="l">
              <a:spcBef>
                <a:spcPts val="400"/>
              </a:spcBef>
            </a:pPr>
            <a:r>
              <a:rPr lang="en-US" sz="5400" b="1" dirty="0">
                <a:solidFill>
                  <a:srgbClr val="22D3EE"/>
                </a:solidFill>
              </a:rPr>
              <a:t>⚡</a:t>
            </a:r>
          </a:p>
          <a:p>
            <a:pPr algn="l">
              <a:spcBef>
                <a:spcPts val="500"/>
              </a:spcBef>
            </a:pPr>
            <a:r>
              <a:rPr lang="en-US" sz="3200" b="1" dirty="0">
                <a:solidFill>
                  <a:srgbClr val="0F172A"/>
                </a:solidFill>
              </a:rPr>
              <a:t>Query runs</a:t>
            </a:r>
          </a:p>
          <a:p>
            <a:pPr algn="l">
              <a:spcBef>
                <a:spcPts val="400"/>
              </a:spcBef>
            </a:pPr>
            <a:r>
              <a:rPr lang="en-US" sz="2400" i="1" dirty="0">
                <a:solidFill>
                  <a:srgbClr val="64748B"/>
                </a:solidFill>
              </a:rPr>
              <a:t>Same pipeline. Faster feedback.</a:t>
            </a:r>
          </a:p>
        </p:txBody>
      </p:sp>
      <p:sp>
        <p:nvSpPr>
          <p:cNvPr id="1212" name="S"/>
          <p:cNvSpPr/>
          <p:nvPr/>
        </p:nvSpPr>
        <p:spPr>
          <a:xfrm>
            <a:off x="6052458" y="2158999"/>
            <a:ext cx="2872014" cy="3517405"/>
          </a:xfrm>
          <a:prstGeom prst="roundRect">
            <a:avLst>
              <a:gd name="adj" fmla="val 5000"/>
            </a:avLst>
          </a:prstGeom>
          <a:solidFill>
            <a:srgbClr val="C0C0C0"/>
          </a:solidFill>
          <a:ln w="12700">
            <a:solidFill>
              <a:srgbClr val="E2E8F0"/>
            </a:solidFill>
          </a:ln>
        </p:spPr>
        <p:txBody>
          <a:bodyPr wrap="square" lIns="180000" tIns="200000" rIns="180000" bIns="200000" anchor="t"/>
          <a:lstStyle/>
          <a:p>
            <a:pPr algn="l"/>
            <a:r>
              <a:rPr lang="en-US" sz="2400" b="1" spc="300" dirty="0">
                <a:solidFill>
                  <a:srgbClr val="6366F1"/>
                </a:solidFill>
              </a:rPr>
              <a:t>STEP 3</a:t>
            </a:r>
          </a:p>
          <a:p>
            <a:pPr algn="l">
              <a:spcBef>
                <a:spcPts val="400"/>
              </a:spcBef>
            </a:pPr>
            <a:r>
              <a:rPr lang="en-US" sz="5400" b="1" dirty="0">
                <a:solidFill>
                  <a:srgbClr val="6366F1"/>
                </a:solidFill>
              </a:rPr>
              <a:t>📊</a:t>
            </a:r>
          </a:p>
          <a:p>
            <a:pPr algn="l">
              <a:spcBef>
                <a:spcPts val="500"/>
              </a:spcBef>
            </a:pPr>
            <a:r>
              <a:rPr lang="en-US" sz="3200" b="1" dirty="0">
                <a:solidFill>
                  <a:srgbClr val="0F172A"/>
                </a:solidFill>
              </a:rPr>
              <a:t>Chart renders</a:t>
            </a:r>
          </a:p>
          <a:p>
            <a:pPr algn="l">
              <a:spcBef>
                <a:spcPts val="400"/>
              </a:spcBef>
            </a:pPr>
            <a:r>
              <a:rPr lang="en-US" sz="2400" i="1" dirty="0">
                <a:solidFill>
                  <a:schemeClr val="bg1"/>
                </a:solidFill>
              </a:rPr>
              <a:t>Table + chart</a:t>
            </a:r>
          </a:p>
        </p:txBody>
      </p:sp>
      <p:sp>
        <p:nvSpPr>
          <p:cNvPr id="1213" name="S"/>
          <p:cNvSpPr/>
          <p:nvPr/>
        </p:nvSpPr>
        <p:spPr>
          <a:xfrm>
            <a:off x="8782958" y="2158999"/>
            <a:ext cx="2872014" cy="3517405"/>
          </a:xfrm>
          <a:prstGeom prst="roundRect">
            <a:avLst>
              <a:gd name="adj" fmla="val 5000"/>
            </a:avLst>
          </a:prstGeom>
          <a:solidFill>
            <a:srgbClr val="9D9D9D"/>
          </a:solidFill>
          <a:ln w="12700">
            <a:solidFill>
              <a:srgbClr val="E2E8F0"/>
            </a:solidFill>
          </a:ln>
        </p:spPr>
        <p:txBody>
          <a:bodyPr wrap="square" lIns="180000" tIns="200000" rIns="180000" bIns="200000" anchor="t"/>
          <a:lstStyle/>
          <a:p>
            <a:r>
              <a:rPr lang="en-US" sz="2400" b="1" spc="300" dirty="0">
                <a:solidFill>
                  <a:srgbClr val="F43F5E"/>
                </a:solidFill>
              </a:rPr>
              <a:t>STEP 4</a:t>
            </a:r>
          </a:p>
          <a:p>
            <a:pPr algn="l">
              <a:spcBef>
                <a:spcPts val="400"/>
              </a:spcBef>
            </a:pPr>
            <a:r>
              <a:rPr lang="en-US" sz="5400" b="1" dirty="0">
                <a:solidFill>
                  <a:srgbClr val="10B981"/>
                </a:solidFill>
              </a:rPr>
              <a:t>📄</a:t>
            </a:r>
          </a:p>
          <a:p>
            <a:pPr algn="l">
              <a:spcBef>
                <a:spcPts val="500"/>
              </a:spcBef>
            </a:pPr>
            <a:r>
              <a:rPr lang="en-US" sz="3200" b="1" dirty="0">
                <a:solidFill>
                  <a:srgbClr val="0F172A"/>
                </a:solidFill>
              </a:rPr>
              <a:t>Export</a:t>
            </a:r>
          </a:p>
          <a:p>
            <a:pPr algn="l">
              <a:spcBef>
                <a:spcPts val="400"/>
              </a:spcBef>
            </a:pPr>
            <a:r>
              <a:rPr lang="en-US" sz="2400" i="1" dirty="0">
                <a:solidFill>
                  <a:schemeClr val="bg1"/>
                </a:solidFill>
              </a:rPr>
              <a:t>Excel report.</a:t>
            </a:r>
          </a:p>
        </p:txBody>
      </p:sp>
    </p:spTree>
    <p:extLst>
      <p:ext uri="{BB962C8B-B14F-4D97-AF65-F5344CB8AC3E}">
        <p14:creationId xmlns:p14="http://schemas.microsoft.com/office/powerpoint/2010/main" val="3483866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>
            <a:extLst>
              <a:ext uri="{FF2B5EF4-FFF2-40B4-BE49-F238E27FC236}">
                <a16:creationId xmlns:a16="http://schemas.microsoft.com/office/drawing/2014/main" id="{BAA9BBAE-549B-363A-B2DE-7B82682E01A1}"/>
              </a:ext>
            </a:extLst>
          </p:cNvPr>
          <p:cNvSpPr/>
          <p:nvPr/>
        </p:nvSpPr>
        <p:spPr>
          <a:xfrm>
            <a:off x="73026" y="1270000"/>
            <a:ext cx="12118974" cy="431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1002" name="Q"/>
          <p:cNvSpPr txBox="1"/>
          <p:nvPr/>
        </p:nvSpPr>
        <p:spPr>
          <a:xfrm>
            <a:off x="1016000" y="2603500"/>
            <a:ext cx="10160000" cy="203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</a:pPr>
            <a:r>
              <a:rPr lang="en-US" sz="7200" b="1" dirty="0">
                <a:solidFill>
                  <a:srgbClr val="FFFFFF"/>
                </a:solidFill>
              </a:rPr>
              <a:t>Let's turn this </a:t>
            </a:r>
            <a:br>
              <a:rPr lang="en-US" sz="7200" b="1" dirty="0">
                <a:solidFill>
                  <a:srgbClr val="FFFFFF"/>
                </a:solidFill>
              </a:rPr>
            </a:br>
            <a:r>
              <a:rPr lang="en-US" sz="7200" b="1" dirty="0">
                <a:solidFill>
                  <a:srgbClr val="FFFFFF"/>
                </a:solidFill>
              </a:rPr>
              <a:t>into a </a:t>
            </a:r>
            <a:r>
              <a:rPr lang="en-US" sz="7200" b="1" i="1" dirty="0">
                <a:solidFill>
                  <a:srgbClr val="22D3EE"/>
                </a:solidFill>
              </a:rPr>
              <a:t>real  </a:t>
            </a:r>
            <a:r>
              <a:rPr lang="en-US" sz="7200" b="1" dirty="0">
                <a:solidFill>
                  <a:srgbClr val="22D3EE"/>
                </a:solidFill>
              </a:rPr>
              <a:t>product</a:t>
            </a:r>
          </a:p>
        </p:txBody>
      </p:sp>
      <p:sp>
        <p:nvSpPr>
          <p:cNvPr id="1003" name="Sub"/>
          <p:cNvSpPr txBox="1"/>
          <p:nvPr/>
        </p:nvSpPr>
        <p:spPr>
          <a:xfrm>
            <a:off x="1016000" y="5080000"/>
            <a:ext cx="10160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dirty="0">
                <a:solidFill>
                  <a:srgbClr val="94A3B8"/>
                </a:solidFill>
              </a:rPr>
              <a:t>Same backend</a:t>
            </a:r>
            <a:r>
              <a:rPr lang="en-US" dirty="0">
                <a:solidFill>
                  <a:srgbClr val="94A3B8"/>
                </a:solidFill>
              </a:rPr>
              <a:t> with interactive </a:t>
            </a:r>
            <a:r>
              <a:rPr lang="en-US" b="1" dirty="0">
                <a:solidFill>
                  <a:srgbClr val="94A3B8"/>
                </a:solidFill>
              </a:rPr>
              <a:t>V</a:t>
            </a:r>
            <a:r>
              <a:rPr lang="en-US" sz="1800" b="1" dirty="0">
                <a:solidFill>
                  <a:srgbClr val="94A3B8"/>
                </a:solidFill>
              </a:rPr>
              <a:t>oice</a:t>
            </a:r>
            <a:r>
              <a:rPr lang="en-US" b="1" dirty="0">
                <a:solidFill>
                  <a:srgbClr val="94A3B8"/>
                </a:solidFill>
              </a:rPr>
              <a:t> </a:t>
            </a:r>
            <a:r>
              <a:rPr lang="en-US" dirty="0">
                <a:solidFill>
                  <a:srgbClr val="94A3B8"/>
                </a:solidFill>
              </a:rPr>
              <a:t>(Blazor Server app)</a:t>
            </a:r>
            <a:endParaRPr lang="en-US" sz="1800" dirty="0">
              <a:solidFill>
                <a:srgbClr val="94A3B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537CD-F344-9285-D1DE-69928DF5BEA5}"/>
              </a:ext>
            </a:extLst>
          </p:cNvPr>
          <p:cNvSpPr txBox="1">
            <a:spLocks/>
          </p:cNvSpPr>
          <p:nvPr/>
        </p:nvSpPr>
        <p:spPr>
          <a:xfrm>
            <a:off x="1016000" y="1875027"/>
            <a:ext cx="5270500" cy="558799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34155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3200" b="1" spc="400" dirty="0">
                <a:solidFill>
                  <a:srgbClr val="22D3EE"/>
                </a:solidFill>
              </a:rPr>
              <a:t>TALK TO YOUR DATA</a:t>
            </a:r>
          </a:p>
        </p:txBody>
      </p:sp>
      <p:sp>
        <p:nvSpPr>
          <p:cNvPr id="4" name="AccentBar">
            <a:extLst>
              <a:ext uri="{FF2B5EF4-FFF2-40B4-BE49-F238E27FC236}">
                <a16:creationId xmlns:a16="http://schemas.microsoft.com/office/drawing/2014/main" id="{8160ADC7-A2E8-EA22-303B-688EC857D850}"/>
              </a:ext>
            </a:extLst>
          </p:cNvPr>
          <p:cNvSpPr/>
          <p:nvPr/>
        </p:nvSpPr>
        <p:spPr>
          <a:xfrm>
            <a:off x="1095581" y="1784351"/>
            <a:ext cx="48600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D02981-EC00-CA24-9A53-841C69148F8E}"/>
              </a:ext>
            </a:extLst>
          </p:cNvPr>
          <p:cNvGrpSpPr/>
          <p:nvPr/>
        </p:nvGrpSpPr>
        <p:grpSpPr>
          <a:xfrm>
            <a:off x="6152636" y="1822451"/>
            <a:ext cx="1651000" cy="457200"/>
            <a:chOff x="889000" y="1429656"/>
            <a:chExt cx="1651000" cy="457200"/>
          </a:xfrm>
        </p:grpSpPr>
        <p:sp>
          <p:nvSpPr>
            <p:cNvPr id="6" name="LiveBadge">
              <a:extLst>
                <a:ext uri="{FF2B5EF4-FFF2-40B4-BE49-F238E27FC236}">
                  <a16:creationId xmlns:a16="http://schemas.microsoft.com/office/drawing/2014/main" id="{0F7942F8-37EE-BE0E-CF0A-AFDCE5AED565}"/>
                </a:ext>
              </a:extLst>
            </p:cNvPr>
            <p:cNvSpPr/>
            <p:nvPr/>
          </p:nvSpPr>
          <p:spPr>
            <a:xfrm>
              <a:off x="889000" y="1429656"/>
              <a:ext cx="1651000" cy="457200"/>
            </a:xfrm>
            <a:prstGeom prst="roundRect">
              <a:avLst>
                <a:gd name="adj" fmla="val 50000"/>
              </a:avLst>
            </a:prstGeom>
            <a:solidFill>
              <a:srgbClr val="F43F5E"/>
            </a:solidFill>
            <a:ln>
              <a:noFill/>
            </a:ln>
          </p:spPr>
          <p:txBody>
            <a:bodyPr wrap="square" lIns="91440" tIns="0" rIns="91440" bIns="0" anchor="ctr"/>
            <a:lstStyle/>
            <a:p>
              <a:pPr algn="ctr"/>
              <a:r>
                <a:rPr lang="en-US" b="1" spc="300" dirty="0">
                  <a:solidFill>
                    <a:srgbClr val="FFFFFF"/>
                  </a:solidFill>
                </a:rPr>
                <a:t>    LIVE</a:t>
              </a:r>
            </a:p>
          </p:txBody>
        </p:sp>
        <p:pic>
          <p:nvPicPr>
            <p:cNvPr id="7" name="Graphic 6" descr="Presentation with media with solid fill">
              <a:extLst>
                <a:ext uri="{FF2B5EF4-FFF2-40B4-BE49-F238E27FC236}">
                  <a16:creationId xmlns:a16="http://schemas.microsoft.com/office/drawing/2014/main" id="{44BF11B1-A87D-0E81-4EF5-B50F0A9C0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37503" y="1476895"/>
              <a:ext cx="394735" cy="3947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3001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1DA7E-317D-1151-40A8-0BFF0DA6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53218"/>
            <a:ext cx="10909300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0F172A"/>
                </a:solidFill>
              </a:rPr>
              <a:t>Same Backend, </a:t>
            </a:r>
            <a:r>
              <a:rPr lang="en-US" sz="4800" dirty="0">
                <a:solidFill>
                  <a:srgbClr val="0F172A"/>
                </a:solidFill>
              </a:rPr>
              <a:t>Closer to a </a:t>
            </a:r>
            <a:r>
              <a:rPr lang="en-US" sz="4800" b="1" dirty="0"/>
              <a:t>Real Product</a:t>
            </a:r>
            <a:endParaRPr lang="en-US" sz="4800" b="1" dirty="0">
              <a:solidFill>
                <a:srgbClr val="0F172A"/>
              </a:solidFill>
            </a:endParaRPr>
          </a:p>
        </p:txBody>
      </p:sp>
      <p:sp>
        <p:nvSpPr>
          <p:cNvPr id="1100" name="F"/>
          <p:cNvSpPr/>
          <p:nvPr/>
        </p:nvSpPr>
        <p:spPr>
          <a:xfrm>
            <a:off x="635000" y="1778000"/>
            <a:ext cx="2540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20000" rIns="180000" bIns="180000" anchor="t"/>
          <a:lstStyle/>
          <a:p>
            <a:pPr algn="l"/>
            <a:r>
              <a:rPr lang="en-US" sz="4800" b="1" dirty="0">
                <a:solidFill>
                  <a:srgbClr val="F43F5E"/>
                </a:solidFill>
              </a:rPr>
              <a:t>🎤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F172A"/>
                </a:solidFill>
              </a:rPr>
              <a:t>Voice input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Talk to your data</a:t>
            </a:r>
          </a:p>
        </p:txBody>
      </p:sp>
      <p:sp>
        <p:nvSpPr>
          <p:cNvPr id="1101" name="F"/>
          <p:cNvSpPr/>
          <p:nvPr/>
        </p:nvSpPr>
        <p:spPr>
          <a:xfrm>
            <a:off x="3365499" y="1778000"/>
            <a:ext cx="2540001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20000" rIns="180000" bIns="180000" anchor="t"/>
          <a:lstStyle/>
          <a:p>
            <a:pPr algn="l"/>
            <a:r>
              <a:rPr lang="en-US" sz="4400" b="1" dirty="0">
                <a:solidFill>
                  <a:srgbClr val="22D3EE"/>
                </a:solidFill>
              </a:rPr>
              <a:t>⚡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F172A"/>
                </a:solidFill>
              </a:rPr>
              <a:t>Live query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Real-time to SQL</a:t>
            </a:r>
          </a:p>
        </p:txBody>
      </p:sp>
      <p:sp>
        <p:nvSpPr>
          <p:cNvPr id="1102" name="F"/>
          <p:cNvSpPr/>
          <p:nvPr/>
        </p:nvSpPr>
        <p:spPr>
          <a:xfrm>
            <a:off x="6096000" y="1778000"/>
            <a:ext cx="2540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20000" rIns="180000" bIns="180000" anchor="t"/>
          <a:lstStyle/>
          <a:p>
            <a:pPr algn="l"/>
            <a:r>
              <a:rPr lang="en-US" sz="4800" b="1" dirty="0">
                <a:solidFill>
                  <a:srgbClr val="6366F1"/>
                </a:solidFill>
              </a:rPr>
              <a:t>📊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F172A"/>
                </a:solidFill>
              </a:rPr>
              <a:t>Charts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Visualize results</a:t>
            </a:r>
          </a:p>
        </p:txBody>
      </p:sp>
      <p:sp>
        <p:nvSpPr>
          <p:cNvPr id="1103" name="F"/>
          <p:cNvSpPr/>
          <p:nvPr/>
        </p:nvSpPr>
        <p:spPr>
          <a:xfrm>
            <a:off x="8826500" y="1778000"/>
            <a:ext cx="27305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20000" rIns="180000" bIns="180000" anchor="t"/>
          <a:lstStyle/>
          <a:p>
            <a:pPr algn="l"/>
            <a:r>
              <a:rPr lang="en-US" sz="4800" b="1" dirty="0">
                <a:solidFill>
                  <a:srgbClr val="10B981"/>
                </a:solidFill>
              </a:rPr>
              <a:t>📄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F172A"/>
                </a:solidFill>
              </a:rPr>
              <a:t>Excel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One click to report</a:t>
            </a:r>
          </a:p>
        </p:txBody>
      </p:sp>
      <p:sp>
        <p:nvSpPr>
          <p:cNvPr id="1110" name="Banner"/>
          <p:cNvSpPr/>
          <p:nvPr/>
        </p:nvSpPr>
        <p:spPr>
          <a:xfrm>
            <a:off x="635000" y="4318000"/>
            <a:ext cx="10731500" cy="1524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 wrap="square" lIns="280000" tIns="200000" rIns="280000" bIns="200000" anchor="ctr"/>
          <a:lstStyle/>
          <a:p>
            <a:pPr algn="l"/>
            <a:r>
              <a:rPr lang="en-US" sz="1400" b="1" spc="300" dirty="0">
                <a:solidFill>
                  <a:srgbClr val="22D3EE"/>
                </a:solidFill>
              </a:rPr>
              <a:t>THE BACKEND DIDN'T CHANGE.</a:t>
            </a:r>
          </a:p>
          <a:p>
            <a:pPr algn="l">
              <a:spcBef>
                <a:spcPts val="400"/>
              </a:spcBef>
            </a:pPr>
            <a:r>
              <a:rPr lang="en-US" sz="2400" dirty="0">
                <a:solidFill>
                  <a:srgbClr val="FFFFFF"/>
                </a:solidFill>
              </a:rPr>
              <a:t>Blazor reuses the exact same module. </a:t>
            </a:r>
            <a:br>
              <a:rPr lang="en-US" sz="24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The frontend is where </a:t>
            </a:r>
            <a:r>
              <a:rPr lang="en-US" sz="2400" i="1" dirty="0">
                <a:solidFill>
                  <a:srgbClr val="22D3EE"/>
                </a:solidFill>
              </a:rPr>
              <a:t>the product</a:t>
            </a:r>
            <a:r>
              <a:rPr lang="en-US" sz="2400" dirty="0">
                <a:solidFill>
                  <a:srgbClr val="FFFFFF"/>
                </a:solidFill>
              </a:rPr>
              <a:t> lives.</a:t>
            </a:r>
          </a:p>
        </p:txBody>
      </p:sp>
    </p:spTree>
    <p:extLst>
      <p:ext uri="{BB962C8B-B14F-4D97-AF65-F5344CB8AC3E}">
        <p14:creationId xmlns:p14="http://schemas.microsoft.com/office/powerpoint/2010/main" val="4276252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8FAF-AB4F-A00A-4E74-5574F0150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57434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The LLM is 20% of the work. </a:t>
            </a:r>
          </a:p>
        </p:txBody>
      </p:sp>
      <p:sp>
        <p:nvSpPr>
          <p:cNvPr id="1300" name="P"/>
          <p:cNvSpPr/>
          <p:nvPr/>
        </p:nvSpPr>
        <p:spPr>
          <a:xfrm>
            <a:off x="635000" y="1778000"/>
            <a:ext cx="3492500" cy="33402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20000" tIns="240000" rIns="220000" bIns="240000" anchor="t"/>
          <a:lstStyle/>
          <a:p>
            <a:pPr algn="l"/>
            <a:r>
              <a:rPr lang="en-US" b="1" spc="300" dirty="0">
                <a:solidFill>
                  <a:srgbClr val="22D3EE"/>
                </a:solidFill>
              </a:rPr>
              <a:t>01</a:t>
            </a:r>
          </a:p>
          <a:p>
            <a:pPr algn="l">
              <a:spcBef>
                <a:spcPts val="400"/>
              </a:spcBef>
            </a:pPr>
            <a:r>
              <a:rPr lang="en-US" sz="4400" b="1" dirty="0">
                <a:solidFill>
                  <a:srgbClr val="22D3EE"/>
                </a:solidFill>
              </a:rPr>
              <a:t>Simplicity</a:t>
            </a:r>
          </a:p>
          <a:p>
            <a:pPr algn="l">
              <a:spcBef>
                <a:spcPts val="600"/>
              </a:spcBef>
            </a:pPr>
            <a:r>
              <a:rPr lang="en-US" sz="2400" dirty="0">
                <a:solidFill>
                  <a:srgbClr val="475569"/>
                </a:solidFill>
              </a:rPr>
              <a:t>One input. One answer. Hide everything else until they ask.</a:t>
            </a:r>
          </a:p>
        </p:txBody>
      </p:sp>
      <p:sp>
        <p:nvSpPr>
          <p:cNvPr id="1301" name="P"/>
          <p:cNvSpPr/>
          <p:nvPr/>
        </p:nvSpPr>
        <p:spPr>
          <a:xfrm>
            <a:off x="4343400" y="1778000"/>
            <a:ext cx="3492500" cy="33402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20000" tIns="240000" rIns="220000" bIns="240000" anchor="t"/>
          <a:lstStyle/>
          <a:p>
            <a:pPr algn="l"/>
            <a:r>
              <a:rPr lang="en-US" b="1" spc="300" dirty="0">
                <a:solidFill>
                  <a:srgbClr val="6366F1"/>
                </a:solidFill>
              </a:rPr>
              <a:t>02</a:t>
            </a:r>
          </a:p>
          <a:p>
            <a:pPr algn="l">
              <a:spcBef>
                <a:spcPts val="400"/>
              </a:spcBef>
            </a:pPr>
            <a:r>
              <a:rPr lang="en-US" sz="4400" b="1" dirty="0">
                <a:solidFill>
                  <a:srgbClr val="6366F1"/>
                </a:solidFill>
              </a:rPr>
              <a:t>Speed</a:t>
            </a:r>
          </a:p>
          <a:p>
            <a:pPr algn="l">
              <a:spcBef>
                <a:spcPts val="600"/>
              </a:spcBef>
            </a:pPr>
            <a:r>
              <a:rPr lang="en-US" sz="2400" dirty="0">
                <a:solidFill>
                  <a:srgbClr val="475569"/>
                </a:solidFill>
              </a:rPr>
              <a:t>Stream the SQL. Stream the result. No spinners over 2 seconds.</a:t>
            </a:r>
          </a:p>
        </p:txBody>
      </p:sp>
      <p:sp>
        <p:nvSpPr>
          <p:cNvPr id="1302" name="P"/>
          <p:cNvSpPr/>
          <p:nvPr/>
        </p:nvSpPr>
        <p:spPr>
          <a:xfrm>
            <a:off x="8051800" y="1778000"/>
            <a:ext cx="3492500" cy="33402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20000" tIns="240000" rIns="220000" bIns="240000" anchor="t"/>
          <a:lstStyle/>
          <a:p>
            <a:pPr algn="l"/>
            <a:r>
              <a:rPr lang="en-US" b="1" spc="300" dirty="0">
                <a:solidFill>
                  <a:srgbClr val="F43F5E"/>
                </a:solidFill>
              </a:rPr>
              <a:t>03</a:t>
            </a:r>
          </a:p>
          <a:p>
            <a:pPr algn="l">
              <a:spcBef>
                <a:spcPts val="400"/>
              </a:spcBef>
            </a:pPr>
            <a:r>
              <a:rPr lang="en-US" sz="4400" b="1" dirty="0">
                <a:solidFill>
                  <a:srgbClr val="F43F5E"/>
                </a:solidFill>
              </a:rPr>
              <a:t>Trust</a:t>
            </a:r>
          </a:p>
          <a:p>
            <a:pPr algn="l">
              <a:spcBef>
                <a:spcPts val="600"/>
              </a:spcBef>
            </a:pPr>
            <a:r>
              <a:rPr lang="en-US" sz="2400" dirty="0">
                <a:solidFill>
                  <a:srgbClr val="475569"/>
                </a:solidFill>
              </a:rPr>
              <a:t>Always show the SQL. Let users verify before they believe. And save</a:t>
            </a:r>
          </a:p>
        </p:txBody>
      </p:sp>
      <p:sp>
        <p:nvSpPr>
          <p:cNvPr id="1310" name="BQ"/>
          <p:cNvSpPr/>
          <p:nvPr/>
        </p:nvSpPr>
        <p:spPr>
          <a:xfrm>
            <a:off x="635000" y="5308270"/>
            <a:ext cx="10922000" cy="92743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wrap="square" lIns="180000" tIns="0" rIns="180000" bIns="0" anchor="ctr"/>
          <a:lstStyle/>
          <a:p>
            <a:pPr algn="ctr"/>
            <a:r>
              <a:rPr lang="en-US" sz="2400" dirty="0">
                <a:solidFill>
                  <a:srgbClr val="475569"/>
                </a:solidFill>
              </a:rPr>
              <a:t>The LLM 20% of the work. </a:t>
            </a:r>
            <a:br>
              <a:rPr lang="en-US" sz="2400" dirty="0">
                <a:solidFill>
                  <a:srgbClr val="475569"/>
                </a:solidFill>
              </a:rPr>
            </a:br>
            <a:r>
              <a:rPr lang="en-US" sz="2400" dirty="0">
                <a:solidFill>
                  <a:srgbClr val="475569"/>
                </a:solidFill>
              </a:rPr>
              <a:t>The rest is just connecting the pieces.</a:t>
            </a:r>
          </a:p>
        </p:txBody>
      </p:sp>
    </p:spTree>
    <p:extLst>
      <p:ext uri="{BB962C8B-B14F-4D97-AF65-F5344CB8AC3E}">
        <p14:creationId xmlns:p14="http://schemas.microsoft.com/office/powerpoint/2010/main" val="2802800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FFD1-30E3-F282-65BE-DD43E9D8B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5" y="325437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Where This Fits in the Real World</a:t>
            </a:r>
          </a:p>
        </p:txBody>
      </p:sp>
      <p:sp>
        <p:nvSpPr>
          <p:cNvPr id="1400" name="U"/>
          <p:cNvSpPr/>
          <p:nvPr/>
        </p:nvSpPr>
        <p:spPr>
          <a:xfrm>
            <a:off x="412955" y="1853554"/>
            <a:ext cx="3749475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3600" b="1" dirty="0">
                <a:solidFill>
                  <a:srgbClr val="22D3EE"/>
                </a:solidFill>
              </a:rPr>
              <a:t>▣ </a:t>
            </a:r>
            <a:r>
              <a:rPr lang="en-US" sz="2400" b="1" dirty="0">
                <a:solidFill>
                  <a:srgbClr val="0F172A"/>
                </a:solidFill>
              </a:rPr>
              <a:t>Admin dashboards</a:t>
            </a:r>
          </a:p>
          <a:p>
            <a:pPr algn="l">
              <a:spcBef>
                <a:spcPts val="500"/>
              </a:spcBef>
            </a:pPr>
            <a:r>
              <a:rPr lang="en-US" i="1" dirty="0">
                <a:solidFill>
                  <a:srgbClr val="64748B"/>
                </a:solidFill>
              </a:rPr>
              <a:t>"How many new users last week?"</a:t>
            </a:r>
          </a:p>
        </p:txBody>
      </p:sp>
      <p:sp>
        <p:nvSpPr>
          <p:cNvPr id="1401" name="U"/>
          <p:cNvSpPr/>
          <p:nvPr/>
        </p:nvSpPr>
        <p:spPr>
          <a:xfrm>
            <a:off x="4236525" y="1853554"/>
            <a:ext cx="36000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3600" b="1" dirty="0">
                <a:solidFill>
                  <a:srgbClr val="6366F1"/>
                </a:solidFill>
              </a:rPr>
              <a:t>◉ </a:t>
            </a:r>
            <a:r>
              <a:rPr lang="en-US" sz="2400" b="1" dirty="0">
                <a:solidFill>
                  <a:srgbClr val="0F172A"/>
                </a:solidFill>
              </a:rPr>
              <a:t>Internal tools</a:t>
            </a:r>
          </a:p>
          <a:p>
            <a:pPr algn="l">
              <a:spcBef>
                <a:spcPts val="500"/>
              </a:spcBef>
            </a:pPr>
            <a:r>
              <a:rPr lang="en-US" i="1" dirty="0">
                <a:solidFill>
                  <a:srgbClr val="64748B"/>
                </a:solidFill>
              </a:rPr>
              <a:t>"Failed orders from the EU region."</a:t>
            </a:r>
          </a:p>
        </p:txBody>
      </p:sp>
      <p:sp>
        <p:nvSpPr>
          <p:cNvPr id="1402" name="U"/>
          <p:cNvSpPr/>
          <p:nvPr/>
        </p:nvSpPr>
        <p:spPr>
          <a:xfrm>
            <a:off x="7910620" y="1853554"/>
            <a:ext cx="36000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3600" b="1" dirty="0">
                <a:solidFill>
                  <a:srgbClr val="10B981"/>
                </a:solidFill>
              </a:rPr>
              <a:t>⚡</a:t>
            </a:r>
            <a:r>
              <a:rPr lang="en-US" sz="2400" b="1" dirty="0">
                <a:solidFill>
                  <a:srgbClr val="0F172A"/>
                </a:solidFill>
              </a:rPr>
              <a:t>Support &amp; ops</a:t>
            </a:r>
          </a:p>
          <a:p>
            <a:pPr algn="l">
              <a:spcBef>
                <a:spcPts val="500"/>
              </a:spcBef>
            </a:pPr>
            <a:r>
              <a:rPr lang="en-US" i="1" dirty="0">
                <a:solidFill>
                  <a:srgbClr val="64748B"/>
                </a:solidFill>
              </a:rPr>
              <a:t>"Customers who churned in March."</a:t>
            </a:r>
          </a:p>
        </p:txBody>
      </p:sp>
      <p:sp>
        <p:nvSpPr>
          <p:cNvPr id="1403" name="U"/>
          <p:cNvSpPr/>
          <p:nvPr/>
        </p:nvSpPr>
        <p:spPr>
          <a:xfrm>
            <a:off x="412955" y="4000108"/>
            <a:ext cx="3749475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3600" b="1" dirty="0">
                <a:solidFill>
                  <a:srgbClr val="F43F5E"/>
                </a:solidFill>
              </a:rPr>
              <a:t>📊</a:t>
            </a:r>
            <a:r>
              <a:rPr lang="en-US" sz="2400" b="1" dirty="0">
                <a:solidFill>
                  <a:srgbClr val="0F172A"/>
                </a:solidFill>
              </a:rPr>
              <a:t>Exec reporting</a:t>
            </a:r>
          </a:p>
          <a:p>
            <a:pPr algn="l">
              <a:spcBef>
                <a:spcPts val="500"/>
              </a:spcBef>
            </a:pPr>
            <a:r>
              <a:rPr lang="en-US" i="1" dirty="0">
                <a:solidFill>
                  <a:srgbClr val="64748B"/>
                </a:solidFill>
              </a:rPr>
              <a:t>"Revenue by product, last 4 quarters."</a:t>
            </a:r>
          </a:p>
        </p:txBody>
      </p:sp>
      <p:sp>
        <p:nvSpPr>
          <p:cNvPr id="1404" name="U"/>
          <p:cNvSpPr/>
          <p:nvPr/>
        </p:nvSpPr>
        <p:spPr>
          <a:xfrm>
            <a:off x="4236525" y="4000108"/>
            <a:ext cx="36000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3200" b="1" dirty="0">
                <a:solidFill>
                  <a:srgbClr val="F59E0B"/>
                </a:solidFill>
              </a:rPr>
              <a:t>🔍 </a:t>
            </a:r>
            <a:r>
              <a:rPr lang="en-US" sz="2400" b="1" dirty="0">
                <a:solidFill>
                  <a:srgbClr val="0F172A"/>
                </a:solidFill>
              </a:rPr>
              <a:t>Ad-hoc analysis</a:t>
            </a:r>
          </a:p>
          <a:p>
            <a:pPr algn="l">
              <a:spcBef>
                <a:spcPts val="500"/>
              </a:spcBef>
            </a:pPr>
            <a:r>
              <a:rPr lang="en-US" i="1" dirty="0">
                <a:solidFill>
                  <a:srgbClr val="64748B"/>
                </a:solidFill>
              </a:rPr>
              <a:t>"Orders over $1k with no shipment."</a:t>
            </a:r>
          </a:p>
        </p:txBody>
      </p:sp>
      <p:sp>
        <p:nvSpPr>
          <p:cNvPr id="1405" name="U"/>
          <p:cNvSpPr/>
          <p:nvPr/>
        </p:nvSpPr>
        <p:spPr>
          <a:xfrm>
            <a:off x="7910620" y="4000108"/>
            <a:ext cx="36000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3600" b="1" dirty="0">
                <a:solidFill>
                  <a:srgbClr val="A78BFA"/>
                </a:solidFill>
              </a:rPr>
              <a:t>📈</a:t>
            </a:r>
            <a:r>
              <a:rPr lang="en-US" sz="2400" b="1" dirty="0">
                <a:solidFill>
                  <a:srgbClr val="0F172A"/>
                </a:solidFill>
              </a:rPr>
              <a:t>Self-serve BI</a:t>
            </a:r>
          </a:p>
          <a:p>
            <a:pPr algn="l">
              <a:spcBef>
                <a:spcPts val="500"/>
              </a:spcBef>
            </a:pPr>
            <a:r>
              <a:rPr lang="en-US" i="1" dirty="0">
                <a:solidFill>
                  <a:srgbClr val="64748B"/>
                </a:solidFill>
              </a:rPr>
              <a:t>"Top 20 SKUs by margin this year."</a:t>
            </a:r>
          </a:p>
        </p:txBody>
      </p:sp>
    </p:spTree>
    <p:extLst>
      <p:ext uri="{BB962C8B-B14F-4D97-AF65-F5344CB8AC3E}">
        <p14:creationId xmlns:p14="http://schemas.microsoft.com/office/powerpoint/2010/main" val="4193197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3E464-4A9F-3D02-3031-A210FB8E2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91383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What to Watch Out For</a:t>
            </a:r>
          </a:p>
        </p:txBody>
      </p:sp>
      <p:sp>
        <p:nvSpPr>
          <p:cNvPr id="1500" name="Chal"/>
          <p:cNvSpPr/>
          <p:nvPr/>
        </p:nvSpPr>
        <p:spPr>
          <a:xfrm>
            <a:off x="635000" y="1804219"/>
            <a:ext cx="5334000" cy="3859161"/>
          </a:xfrm>
          <a:prstGeom prst="roundRect">
            <a:avLst>
              <a:gd name="adj" fmla="val 6000"/>
            </a:avLst>
          </a:prstGeom>
          <a:solidFill>
            <a:srgbClr val="FEF2F2">
              <a:alpha val="30000"/>
            </a:srgbClr>
          </a:solidFill>
          <a:ln w="12700">
            <a:solidFill>
              <a:srgbClr val="FECDD3"/>
            </a:solidFill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sz="2000" b="1" spc="300" dirty="0">
                <a:solidFill>
                  <a:srgbClr val="9F1239"/>
                </a:solidFill>
              </a:rPr>
              <a:t>⚠  CHALLENGES</a:t>
            </a:r>
          </a:p>
          <a:p>
            <a:pPr algn="l">
              <a:spcBef>
                <a:spcPts val="400"/>
              </a:spcBef>
            </a:pPr>
            <a:r>
              <a:rPr lang="en-US" sz="3200" b="1" dirty="0">
                <a:solidFill>
                  <a:srgbClr val="0F172A"/>
                </a:solidFill>
              </a:rPr>
              <a:t>It gets hard fast.</a:t>
            </a:r>
            <a:br>
              <a:rPr lang="en-US" sz="3200" b="1" dirty="0">
                <a:solidFill>
                  <a:srgbClr val="0F172A"/>
                </a:solidFill>
              </a:rPr>
            </a:br>
            <a:endParaRPr lang="en-US" sz="3200" b="1" dirty="0">
              <a:solidFill>
                <a:srgbClr val="0F172A"/>
              </a:solidFill>
            </a:endParaRP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</a:rPr>
              <a:t>Prompt drift </a:t>
            </a:r>
            <a:r>
              <a:rPr lang="en-US" dirty="0">
                <a:solidFill>
                  <a:srgbClr val="64748B"/>
                </a:solidFill>
              </a:rPr>
              <a:t>as schema grows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</a:rPr>
              <a:t>Ambiguous questions </a:t>
            </a:r>
            <a:r>
              <a:rPr lang="en-US" dirty="0">
                <a:solidFill>
                  <a:srgbClr val="64748B"/>
                </a:solidFill>
              </a:rPr>
              <a:t>("last month")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</a:rPr>
              <a:t>Cost &amp; latency </a:t>
            </a:r>
            <a:r>
              <a:rPr lang="en-US" dirty="0">
                <a:solidFill>
                  <a:srgbClr val="64748B"/>
                </a:solidFill>
              </a:rPr>
              <a:t>per query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</a:rPr>
              <a:t>Hallucinated columns </a:t>
            </a:r>
            <a:r>
              <a:rPr lang="en-US" dirty="0">
                <a:solidFill>
                  <a:srgbClr val="64748B"/>
                </a:solidFill>
              </a:rPr>
              <a:t>&amp; joins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</a:rPr>
              <a:t>Permissions </a:t>
            </a:r>
            <a:r>
              <a:rPr lang="en-US" dirty="0">
                <a:solidFill>
                  <a:srgbClr val="64748B"/>
                </a:solidFill>
              </a:rPr>
              <a:t>&amp; row-level security</a:t>
            </a:r>
          </a:p>
        </p:txBody>
      </p:sp>
      <p:sp>
        <p:nvSpPr>
          <p:cNvPr id="1501" name="BP"/>
          <p:cNvSpPr/>
          <p:nvPr/>
        </p:nvSpPr>
        <p:spPr>
          <a:xfrm>
            <a:off x="6222999" y="1804219"/>
            <a:ext cx="5472471" cy="3859161"/>
          </a:xfrm>
          <a:prstGeom prst="roundRect">
            <a:avLst>
              <a:gd name="adj" fmla="val 6000"/>
            </a:avLst>
          </a:prstGeom>
          <a:solidFill>
            <a:srgbClr val="ECFDF5">
              <a:alpha val="30000"/>
            </a:srgbClr>
          </a:solidFill>
          <a:ln w="12700">
            <a:solidFill>
              <a:srgbClr val="A7F3D0"/>
            </a:solidFill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sz="2000" b="1" spc="300" dirty="0">
                <a:solidFill>
                  <a:srgbClr val="047857"/>
                </a:solidFill>
              </a:rPr>
              <a:t>✓  BEST PRACTICES</a:t>
            </a:r>
          </a:p>
          <a:p>
            <a:pPr algn="l">
              <a:spcBef>
                <a:spcPts val="400"/>
              </a:spcBef>
            </a:pPr>
            <a:r>
              <a:rPr lang="en-US" sz="3200" b="1" dirty="0">
                <a:solidFill>
                  <a:srgbClr val="0F172A"/>
                </a:solidFill>
              </a:rPr>
              <a:t>What actually works.</a:t>
            </a:r>
            <a:br>
              <a:rPr lang="en-US" sz="3200" b="1" dirty="0">
                <a:solidFill>
                  <a:srgbClr val="0F172A"/>
                </a:solidFill>
              </a:rPr>
            </a:br>
            <a:endParaRPr lang="en-US" sz="3200" b="1" dirty="0">
              <a:solidFill>
                <a:srgbClr val="0F172A"/>
              </a:solidFill>
            </a:endParaRPr>
          </a:p>
          <a:p>
            <a:pPr marL="228600" indent="-228600">
              <a:spcBef>
                <a:spcPts val="700"/>
              </a:spcBef>
              <a:buFont typeface="Arial"/>
              <a:buChar char="✓"/>
            </a:pPr>
            <a:r>
              <a:rPr lang="en-US" sz="2000" b="1" dirty="0">
                <a:solidFill>
                  <a:srgbClr val="0F172A"/>
                </a:solidFill>
              </a:rPr>
              <a:t>Always validate </a:t>
            </a:r>
            <a:r>
              <a:rPr lang="en-US" dirty="0">
                <a:solidFill>
                  <a:srgbClr val="475569"/>
                </a:solidFill>
              </a:rPr>
              <a:t>— never trust raw SQL</a:t>
            </a:r>
          </a:p>
          <a:p>
            <a:pPr marL="228600" indent="-228600">
              <a:spcBef>
                <a:spcPts val="400"/>
              </a:spcBef>
              <a:buFont typeface="Arial"/>
              <a:buChar char="✓"/>
            </a:pPr>
            <a:r>
              <a:rPr lang="en-US" sz="2000" b="1" dirty="0">
                <a:solidFill>
                  <a:srgbClr val="0F172A"/>
                </a:solidFill>
              </a:rPr>
              <a:t>Keep prompts strict </a:t>
            </a:r>
            <a:r>
              <a:rPr lang="en-US" dirty="0">
                <a:solidFill>
                  <a:srgbClr val="475569"/>
                </a:solidFill>
              </a:rPr>
              <a:t>&amp; versioned</a:t>
            </a:r>
          </a:p>
          <a:p>
            <a:pPr marL="228600" indent="-228600">
              <a:spcBef>
                <a:spcPts val="400"/>
              </a:spcBef>
              <a:buFont typeface="Arial"/>
              <a:buChar char="✓"/>
            </a:pPr>
            <a:r>
              <a:rPr lang="en-US" sz="2000" b="1" dirty="0">
                <a:solidFill>
                  <a:srgbClr val="0F172A"/>
                </a:solidFill>
              </a:rPr>
              <a:t>Read-only DB user </a:t>
            </a:r>
            <a:r>
              <a:rPr lang="en-US" dirty="0">
                <a:solidFill>
                  <a:srgbClr val="475569"/>
                </a:solidFill>
              </a:rPr>
              <a:t>for the pipeline</a:t>
            </a:r>
          </a:p>
          <a:p>
            <a:pPr marL="228600" indent="-228600">
              <a:spcBef>
                <a:spcPts val="400"/>
              </a:spcBef>
              <a:buFont typeface="Arial"/>
              <a:buChar char="✓"/>
            </a:pPr>
            <a:r>
              <a:rPr lang="en-US" sz="2000" b="1" dirty="0">
                <a:solidFill>
                  <a:srgbClr val="0F172A"/>
                </a:solidFill>
              </a:rPr>
              <a:t>Log everything </a:t>
            </a:r>
            <a:r>
              <a:rPr lang="en-US" dirty="0">
                <a:solidFill>
                  <a:srgbClr val="475569"/>
                </a:solidFill>
              </a:rPr>
              <a:t>— prompt, SQL, result</a:t>
            </a:r>
          </a:p>
          <a:p>
            <a:pPr marL="228600" indent="-228600">
              <a:spcBef>
                <a:spcPts val="400"/>
              </a:spcBef>
              <a:buFont typeface="Arial"/>
              <a:buChar char="✓"/>
            </a:pPr>
            <a:r>
              <a:rPr lang="en-US" sz="2000" b="1" dirty="0">
                <a:solidFill>
                  <a:srgbClr val="0F172A"/>
                </a:solidFill>
              </a:rPr>
              <a:t>Start small </a:t>
            </a:r>
            <a:r>
              <a:rPr lang="en-US" dirty="0">
                <a:solidFill>
                  <a:srgbClr val="475569"/>
                </a:solidFill>
              </a:rPr>
              <a:t>— one table, one user</a:t>
            </a:r>
          </a:p>
        </p:txBody>
      </p:sp>
    </p:spTree>
    <p:extLst>
      <p:ext uri="{BB962C8B-B14F-4D97-AF65-F5344CB8AC3E}">
        <p14:creationId xmlns:p14="http://schemas.microsoft.com/office/powerpoint/2010/main" val="3349061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DE38D-6D72-586F-A672-EC9CD8B0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nel">
            <a:extLst>
              <a:ext uri="{FF2B5EF4-FFF2-40B4-BE49-F238E27FC236}">
                <a16:creationId xmlns:a16="http://schemas.microsoft.com/office/drawing/2014/main" id="{B05FC43A-919B-6C85-31C9-D03E8F18B296}"/>
              </a:ext>
            </a:extLst>
          </p:cNvPr>
          <p:cNvSpPr/>
          <p:nvPr/>
        </p:nvSpPr>
        <p:spPr>
          <a:xfrm>
            <a:off x="73026" y="2822121"/>
            <a:ext cx="12118974" cy="3064329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8" name="Q">
            <a:extLst>
              <a:ext uri="{FF2B5EF4-FFF2-40B4-BE49-F238E27FC236}">
                <a16:creationId xmlns:a16="http://schemas.microsoft.com/office/drawing/2014/main" id="{B9C6DB59-7B03-2063-5030-5346636B1400}"/>
              </a:ext>
            </a:extLst>
          </p:cNvPr>
          <p:cNvSpPr txBox="1"/>
          <p:nvPr/>
        </p:nvSpPr>
        <p:spPr>
          <a:xfrm>
            <a:off x="444500" y="566738"/>
            <a:ext cx="11376025" cy="225538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ct val="105000"/>
              </a:lnSpc>
            </a:pPr>
            <a:r>
              <a:rPr lang="en-US" sz="6000" b="1" dirty="0">
                <a:solidFill>
                  <a:srgbClr val="0F172A"/>
                </a:solidFill>
              </a:rPr>
              <a:t>What if we used 100% of our </a:t>
            </a:r>
            <a:br>
              <a:rPr lang="en-US" sz="6000" b="1" dirty="0">
                <a:solidFill>
                  <a:srgbClr val="0F172A"/>
                </a:solidFill>
              </a:rPr>
            </a:br>
            <a:r>
              <a:rPr lang="en-US" sz="6000" b="1" dirty="0">
                <a:solidFill>
                  <a:srgbClr val="0F172A"/>
                </a:solidFill>
              </a:rPr>
              <a:t>DB’s potential</a:t>
            </a:r>
            <a:r>
              <a:rPr lang="en-US" sz="5400" b="1" dirty="0">
                <a:solidFill>
                  <a:srgbClr val="0F172A"/>
                </a:solidFill>
              </a:rPr>
              <a:t>🤔</a:t>
            </a:r>
          </a:p>
        </p:txBody>
      </p:sp>
      <p:sp>
        <p:nvSpPr>
          <p:cNvPr id="9" name="Q">
            <a:extLst>
              <a:ext uri="{FF2B5EF4-FFF2-40B4-BE49-F238E27FC236}">
                <a16:creationId xmlns:a16="http://schemas.microsoft.com/office/drawing/2014/main" id="{1AB057A2-73DE-48D4-8534-77FBCD65A14A}"/>
              </a:ext>
            </a:extLst>
          </p:cNvPr>
          <p:cNvSpPr txBox="1"/>
          <p:nvPr/>
        </p:nvSpPr>
        <p:spPr>
          <a:xfrm>
            <a:off x="444500" y="3090862"/>
            <a:ext cx="11376025" cy="24003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</a:pPr>
            <a:r>
              <a:rPr lang="en-US" sz="6600" b="1" u="sng" dirty="0">
                <a:solidFill>
                  <a:srgbClr val="FFFFFF"/>
                </a:solidFill>
              </a:rPr>
              <a:t>Taking actions</a:t>
            </a:r>
            <a:r>
              <a:rPr lang="en-US" sz="6600" b="1" dirty="0">
                <a:solidFill>
                  <a:srgbClr val="FFFFFF"/>
                </a:solidFill>
              </a:rPr>
              <a:t> </a:t>
            </a:r>
            <a:br>
              <a:rPr lang="en-US" sz="6600" b="1" dirty="0">
                <a:solidFill>
                  <a:srgbClr val="FFFFFF"/>
                </a:solidFill>
              </a:rPr>
            </a:br>
            <a:r>
              <a:rPr lang="en-US" sz="6600" b="1" dirty="0">
                <a:solidFill>
                  <a:srgbClr val="FFFFFF"/>
                </a:solidFill>
              </a:rPr>
              <a:t>instead of just reporting!</a:t>
            </a:r>
          </a:p>
        </p:txBody>
      </p:sp>
    </p:spTree>
    <p:extLst>
      <p:ext uri="{BB962C8B-B14F-4D97-AF65-F5344CB8AC3E}">
        <p14:creationId xmlns:p14="http://schemas.microsoft.com/office/powerpoint/2010/main" val="1603450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BG"/>
          <p:cNvSpPr/>
          <p:nvPr/>
        </p:nvSpPr>
        <p:spPr>
          <a:xfrm>
            <a:off x="76200" y="0"/>
            <a:ext cx="121158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01" name="Bar"/>
          <p:cNvSpPr/>
          <p:nvPr/>
        </p:nvSpPr>
        <p:spPr>
          <a:xfrm>
            <a:off x="0" y="1016000"/>
            <a:ext cx="76200" cy="4826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3" name="Q"/>
          <p:cNvSpPr txBox="1"/>
          <p:nvPr/>
        </p:nvSpPr>
        <p:spPr>
          <a:xfrm>
            <a:off x="762000" y="411504"/>
            <a:ext cx="10668000" cy="23556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</a:pPr>
            <a:r>
              <a:rPr lang="en-US" sz="6000" b="1" dirty="0">
                <a:solidFill>
                  <a:srgbClr val="FFFFFF"/>
                </a:solidFill>
              </a:rPr>
              <a:t>Start  simple</a:t>
            </a:r>
          </a:p>
          <a:p>
            <a:pPr algn="l">
              <a:lnSpc>
                <a:spcPct val="105000"/>
              </a:lnSpc>
            </a:pPr>
            <a:r>
              <a:rPr lang="en-US" sz="6000" b="1" dirty="0">
                <a:solidFill>
                  <a:srgbClr val="FFFFFF"/>
                </a:solidFill>
              </a:rPr>
              <a:t>Then evolve into a </a:t>
            </a:r>
            <a:r>
              <a:rPr lang="en-US" sz="6000" b="1" i="1" dirty="0">
                <a:solidFill>
                  <a:srgbClr val="22D3EE"/>
                </a:solidFill>
              </a:rPr>
              <a:t>product.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6DDA9F-DD43-59A2-0129-A027E314CDEB}"/>
              </a:ext>
            </a:extLst>
          </p:cNvPr>
          <p:cNvGrpSpPr/>
          <p:nvPr/>
        </p:nvGrpSpPr>
        <p:grpSpPr>
          <a:xfrm>
            <a:off x="743378" y="2838101"/>
            <a:ext cx="10124672" cy="1524000"/>
            <a:chOff x="762000" y="3624943"/>
            <a:chExt cx="6634951" cy="1524000"/>
          </a:xfrm>
        </p:grpSpPr>
        <p:sp>
          <p:nvSpPr>
            <p:cNvPr id="1610" name="B"/>
            <p:cNvSpPr/>
            <p:nvPr/>
          </p:nvSpPr>
          <p:spPr>
            <a:xfrm>
              <a:off x="762000" y="3624943"/>
              <a:ext cx="3773409" cy="152400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wrap="square" lIns="200000" tIns="200000" rIns="200000" bIns="200000" anchor="t"/>
            <a:lstStyle/>
            <a:p>
              <a:pPr algn="l">
                <a:spcBef>
                  <a:spcPts val="300"/>
                </a:spcBef>
              </a:pPr>
              <a:r>
                <a:rPr lang="en-US" sz="2700" dirty="0">
                  <a:solidFill>
                    <a:srgbClr val="FFFFFF"/>
                  </a:solidFill>
                </a:rPr>
                <a:t>Until now we learnt programming languages to talk with computers</a:t>
              </a:r>
              <a:endParaRPr lang="en-US" sz="2700" dirty="0">
                <a:solidFill>
                  <a:srgbClr val="94A3B8"/>
                </a:solidFill>
              </a:endParaRPr>
            </a:p>
          </p:txBody>
        </p:sp>
        <p:sp>
          <p:nvSpPr>
            <p:cNvPr id="1611" name="B"/>
            <p:cNvSpPr/>
            <p:nvPr/>
          </p:nvSpPr>
          <p:spPr>
            <a:xfrm>
              <a:off x="4371599" y="3624943"/>
              <a:ext cx="3025352" cy="1524000"/>
            </a:xfrm>
            <a:prstGeom prst="roundRect">
              <a:avLst>
                <a:gd name="adj" fmla="val 6000"/>
              </a:avLst>
            </a:prstGeom>
            <a:solidFill>
              <a:schemeClr val="bg2"/>
            </a:solidFill>
            <a:ln>
              <a:noFill/>
            </a:ln>
          </p:spPr>
          <p:txBody>
            <a:bodyPr wrap="square" lIns="200000" tIns="200000" rIns="200000" bIns="200000" anchor="t"/>
            <a:lstStyle/>
            <a:p>
              <a:pPr algn="l"/>
              <a:r>
                <a:rPr lang="en-US" sz="2800" b="1" spc="300" dirty="0">
                  <a:solidFill>
                    <a:srgbClr val="1E293B"/>
                  </a:solidFill>
                </a:rPr>
                <a:t>now they learnt</a:t>
              </a:r>
              <a:br>
                <a:rPr lang="en-US" sz="2800" b="1" spc="300" dirty="0">
                  <a:solidFill>
                    <a:srgbClr val="1E293B"/>
                  </a:solidFill>
                </a:rPr>
              </a:br>
              <a:r>
                <a:rPr lang="en-US" sz="2800" b="1" spc="300" dirty="0">
                  <a:solidFill>
                    <a:srgbClr val="1E293B"/>
                  </a:solidFill>
                </a:rPr>
                <a:t>our language</a:t>
              </a:r>
              <a:endParaRPr lang="en-US" sz="2800" b="1" dirty="0">
                <a:solidFill>
                  <a:srgbClr val="1E293B"/>
                </a:solidFill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5D01CF5-3779-C47E-5AA7-7E0126629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318" y="4787580"/>
            <a:ext cx="1735996" cy="17516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AC7983-4AF8-14A4-A44D-2BB81412E54E}"/>
              </a:ext>
            </a:extLst>
          </p:cNvPr>
          <p:cNvSpPr txBox="1"/>
          <p:nvPr/>
        </p:nvSpPr>
        <p:spPr>
          <a:xfrm>
            <a:off x="5884853" y="5092994"/>
            <a:ext cx="2422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i="1" dirty="0">
                <a:solidFill>
                  <a:srgbClr val="94A3B8"/>
                </a:solidFill>
              </a:rPr>
              <a:t>Download</a:t>
            </a:r>
            <a:br>
              <a:rPr lang="en-US" sz="2400" i="1" dirty="0">
                <a:solidFill>
                  <a:srgbClr val="94A3B8"/>
                </a:solidFill>
              </a:rPr>
            </a:br>
            <a:r>
              <a:rPr lang="en-US" sz="2400" i="1" dirty="0">
                <a:solidFill>
                  <a:srgbClr val="94A3B8"/>
                </a:solidFill>
              </a:rPr>
              <a:t>Presentation</a:t>
            </a:r>
            <a:br>
              <a:rPr lang="en-US" sz="2400" i="1" dirty="0">
                <a:solidFill>
                  <a:srgbClr val="94A3B8"/>
                </a:solidFill>
              </a:rPr>
            </a:br>
            <a:r>
              <a:rPr lang="en-US" sz="2400" i="1" dirty="0">
                <a:solidFill>
                  <a:srgbClr val="94A3B8"/>
                </a:solidFill>
              </a:rPr>
              <a:t>Demo projects</a:t>
            </a:r>
            <a:endParaRPr lang="tr-TR" sz="2400" i="1" dirty="0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E5D101DB-A4D3-4114-CE0B-9DA7CACA4509}"/>
              </a:ext>
            </a:extLst>
          </p:cNvPr>
          <p:cNvCxnSpPr>
            <a:cxnSpLocks/>
          </p:cNvCxnSpPr>
          <p:nvPr/>
        </p:nvCxnSpPr>
        <p:spPr>
          <a:xfrm flipV="1">
            <a:off x="8251418" y="5192160"/>
            <a:ext cx="957896" cy="649840"/>
          </a:xfrm>
          <a:prstGeom prst="curvedConnector3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peakerName">
            <a:extLst>
              <a:ext uri="{FF2B5EF4-FFF2-40B4-BE49-F238E27FC236}">
                <a16:creationId xmlns:a16="http://schemas.microsoft.com/office/drawing/2014/main" id="{B67F7C9D-3984-DFAA-4F75-34BC31E06746}"/>
              </a:ext>
            </a:extLst>
          </p:cNvPr>
          <p:cNvSpPr txBox="1"/>
          <p:nvPr/>
        </p:nvSpPr>
        <p:spPr>
          <a:xfrm>
            <a:off x="778693" y="5243714"/>
            <a:ext cx="4094385" cy="11530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4000" b="1" dirty="0">
                <a:solidFill>
                  <a:schemeClr val="bg1"/>
                </a:solidFill>
              </a:rPr>
              <a:t>Alper Ebicoglu</a:t>
            </a:r>
          </a:p>
          <a:p>
            <a:r>
              <a:rPr lang="en-US" sz="2800" dirty="0">
                <a:solidFill>
                  <a:schemeClr val="bg1"/>
                </a:solidFill>
              </a:rPr>
              <a:t>x.com/</a:t>
            </a:r>
            <a:r>
              <a:rPr lang="en-US" sz="2800" dirty="0">
                <a:solidFill>
                  <a:srgbClr val="22D3EE"/>
                </a:solidFill>
              </a:rPr>
              <a:t>alperebicoglu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516DB6-9F60-477D-8214-F1524AF1287A}"/>
              </a:ext>
            </a:extLst>
          </p:cNvPr>
          <p:cNvSpPr/>
          <p:nvPr/>
        </p:nvSpPr>
        <p:spPr>
          <a:xfrm>
            <a:off x="2897136" y="449382"/>
            <a:ext cx="2826769" cy="99940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B697C2-CD1F-7168-5C03-4D94888C954B}"/>
              </a:ext>
            </a:extLst>
          </p:cNvPr>
          <p:cNvSpPr/>
          <p:nvPr/>
        </p:nvSpPr>
        <p:spPr>
          <a:xfrm>
            <a:off x="653927" y="5105523"/>
            <a:ext cx="3953699" cy="1433739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0AE1AA-7E4C-A120-28E1-6595708F20F9}"/>
              </a:ext>
            </a:extLst>
          </p:cNvPr>
          <p:cNvSpPr/>
          <p:nvPr/>
        </p:nvSpPr>
        <p:spPr>
          <a:xfrm>
            <a:off x="5884853" y="4643252"/>
            <a:ext cx="5277952" cy="1995054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69954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6698939131]">
  <a:themeElements>
    <a:clrScheme name="Office">
      <a:dk1>
        <a:srgbClr val="0F172A"/>
      </a:dk1>
      <a:lt1>
        <a:srgbClr val="FAFBFC"/>
      </a:lt1>
      <a:dk2>
        <a:srgbClr val="475569"/>
      </a:dk2>
      <a:lt2>
        <a:srgbClr val="E2E8F0"/>
      </a:lt2>
      <a:accent1>
        <a:srgbClr val="22D3EE"/>
      </a:accent1>
      <a:accent2>
        <a:srgbClr val="0891B2"/>
      </a:accent2>
      <a:accent3>
        <a:srgbClr val="F59E0B"/>
      </a:accent3>
      <a:accent4>
        <a:srgbClr val="10B981"/>
      </a:accent4>
      <a:accent5>
        <a:srgbClr val="F43F5E"/>
      </a:accent5>
      <a:accent6>
        <a:srgbClr val="1E293B"/>
      </a:accent6>
      <a:hlink>
        <a:srgbClr val="467886"/>
      </a:hlink>
      <a:folHlink>
        <a:srgbClr val="96607D"/>
      </a:folHlink>
    </a:clrScheme>
    <a:fontScheme name="Office">
      <a:majorFont>
        <a:latin typeface="Inter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A96001D-FC19-48DE-ACAE-658A0B89BED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5c3744b-1745-4281-a778-88fed6b79981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23AA437-7D55-4192-9ACF-F8570218A846}">
  <we:reference id="wa200009023" version="1.0.0.2" store="en-US" storeType="OMEX"/>
  <we:alternateReferences>
    <we:reference id="wa200009023" version="1.0.0.2" store="wa20000902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3471</Words>
  <Application>Microsoft Office PowerPoint</Application>
  <PresentationFormat>Widescreen</PresentationFormat>
  <Paragraphs>477</Paragraphs>
  <Slides>21</Slides>
  <Notes>21</Notes>
  <HiddenSlides>6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Apple Color Emoji</vt:lpstr>
      <vt:lpstr>Aptos</vt:lpstr>
      <vt:lpstr>Arial</vt:lpstr>
      <vt:lpstr>Consolas</vt:lpstr>
      <vt:lpstr>Inter</vt:lpstr>
      <vt:lpstr>Raleway</vt:lpstr>
      <vt:lpstr>Roboto</vt:lpstr>
      <vt:lpstr>Wingdings</vt:lpstr>
      <vt:lpstr>Office Theme [1776698939131]</vt:lpstr>
      <vt:lpstr>Building an  AI-Powered  Query Generator  with .NET</vt:lpstr>
      <vt:lpstr>PowerPoint Presentation</vt:lpstr>
      <vt:lpstr>The Problem</vt:lpstr>
      <vt:lpstr>PowerPoint Presentation</vt:lpstr>
      <vt:lpstr>What We'll Build</vt:lpstr>
      <vt:lpstr>The Pipeline</vt:lpstr>
      <vt:lpstr>Schema + Prompt Design</vt:lpstr>
      <vt:lpstr>Demo A Simple .NET Console App </vt:lpstr>
      <vt:lpstr>Live Demo — Console</vt:lpstr>
      <vt:lpstr>Validation + Execution</vt:lpstr>
      <vt:lpstr>PowerPoint Presentation</vt:lpstr>
      <vt:lpstr>Architecture — 3 Layers</vt:lpstr>
      <vt:lpstr>The Whole Setup 👌🏻 </vt:lpstr>
      <vt:lpstr>Live Demo 2 — Blazor Web App</vt:lpstr>
      <vt:lpstr>PowerPoint Presentation</vt:lpstr>
      <vt:lpstr>Same Backend, Closer to a Real Product</vt:lpstr>
      <vt:lpstr>The LLM is 20% of the work. </vt:lpstr>
      <vt:lpstr>Where This Fits in the Real World</vt:lpstr>
      <vt:lpstr>What to Watch Out For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Volosoft Bilisim</dc:creator>
  <cp:lastModifiedBy>Alper Ebiçoğlu</cp:lastModifiedBy>
  <cp:revision>203</cp:revision>
  <dcterms:created xsi:type="dcterms:W3CDTF">2026-04-20T12:53:27Z</dcterms:created>
  <dcterms:modified xsi:type="dcterms:W3CDTF">2026-04-30T16:35:18Z</dcterms:modified>
</cp:coreProperties>
</file>