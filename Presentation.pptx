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0"/>
  </p:notesMasterIdLst>
  <p:sldIdLst>
    <p:sldId id="328" r:id="rId2"/>
    <p:sldId id="343" r:id="rId3"/>
    <p:sldId id="344" r:id="rId4"/>
    <p:sldId id="329" r:id="rId5"/>
    <p:sldId id="333" r:id="rId6"/>
    <p:sldId id="337" r:id="rId7"/>
    <p:sldId id="339" r:id="rId8"/>
    <p:sldId id="338" r:id="rId9"/>
    <p:sldId id="309" r:id="rId10"/>
    <p:sldId id="310" r:id="rId11"/>
    <p:sldId id="299" r:id="rId12"/>
    <p:sldId id="312" r:id="rId13"/>
    <p:sldId id="330" r:id="rId14"/>
    <p:sldId id="313" r:id="rId15"/>
    <p:sldId id="314" r:id="rId16"/>
    <p:sldId id="315" r:id="rId17"/>
    <p:sldId id="316" r:id="rId18"/>
    <p:sldId id="317" r:id="rId19"/>
    <p:sldId id="320" r:id="rId20"/>
    <p:sldId id="318" r:id="rId21"/>
    <p:sldId id="319" r:id="rId22"/>
    <p:sldId id="321" r:id="rId23"/>
    <p:sldId id="322" r:id="rId24"/>
    <p:sldId id="323" r:id="rId25"/>
    <p:sldId id="336" r:id="rId26"/>
    <p:sldId id="335" r:id="rId27"/>
    <p:sldId id="324" r:id="rId28"/>
    <p:sldId id="345" r:id="rId29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D6DD"/>
    <a:srgbClr val="24042A"/>
    <a:srgbClr val="D819FE"/>
    <a:srgbClr val="271008"/>
    <a:srgbClr val="74615F"/>
    <a:srgbClr val="020919"/>
    <a:srgbClr val="64748B"/>
    <a:srgbClr val="22D3EE"/>
    <a:srgbClr val="969696"/>
    <a:srgbClr val="FAFB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93" autoAdjust="0"/>
    <p:restoredTop sz="64149" autoAdjust="0"/>
  </p:normalViewPr>
  <p:slideViewPr>
    <p:cSldViewPr snapToGrid="0">
      <p:cViewPr varScale="1">
        <p:scale>
          <a:sx n="71" d="100"/>
          <a:sy n="71" d="100"/>
        </p:scale>
        <p:origin x="1572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16.10.2026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29368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6C87B-78F1-658C-4814-46D5F7F2E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7EFF84-4ED4-81A7-8C53-7DE89E624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4EE9BA-6673-207C-6C0C-4AD06DE20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Poland lost its independence in </a:t>
            </a:r>
            <a:r>
              <a:rPr lang="en-US" b="1" dirty="0"/>
              <a:t>1795</a:t>
            </a:r>
            <a:r>
              <a:rPr lang="en-US" dirty="0"/>
              <a:t>, the country was divided between </a:t>
            </a:r>
            <a:r>
              <a:rPr lang="en-US" b="1" dirty="0"/>
              <a:t>Russia, Prussia and Austria.</a:t>
            </a:r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Ottoman Empire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 the country to Polish people running from the war in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1842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Polish immigrants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 to leave their homeland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moving to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new country, with a different language, religion, culture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ADAPTED THIS NEW ENVIRONMENT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CHANGED AND BUILT A NEW LIFE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almost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185 years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later, their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village is still there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We're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facing a similar kind of change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We're moving into the new AI era.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 like those Polish settlers, we need to change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way we do reporting.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software developers, we've spent years building applications with forms, filters, dashboards, and reporting tools.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they've worked well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the way people interact with software is changing.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 of navigating through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complicated interfaces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users increasingly expect to simply ask questions and get answers.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that's exactly what I'd like to show you 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E0D5D-053D-80D7-8E63-8B8978502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44198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D718-809A-6FFE-8CA7-38A00CE95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AA0F9-EB22-F88D-F5FF-91F0289EB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403F-80AF-CC17-9B38-85390C8B5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972240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18867-3E77-F3B1-80CE-599092DF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2EBE4-05B0-BC51-8468-11403D1AA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0AC4D-9FEF-FFE1-507C-792815526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826025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FAA1F-33C4-196A-BF68-9DD61609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3D200-640F-1A6D-0D6F-73FABD99C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004F-8193-FE09-BFB3-18B1A462D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076710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2—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3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4—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5—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US" b="1" dirty="0"/>
              <a:t>DDL</a:t>
            </a:r>
            <a:r>
              <a:rPr lang="en-US" dirty="0"/>
              <a:t>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you just saw is inspectable. Testable. Replaceable. You can swap the LLM. You can add a cache in front of it. You can unit-test the validator.</a:t>
            </a:r>
          </a:p>
          <a:p>
            <a:endParaRPr lang="en-US" dirty="0"/>
          </a:p>
          <a:p>
            <a:r>
              <a:rPr lang="en-US" dirty="0"/>
              <a:t>When something goes wrong in production — and it will — you can open a log and see exactly which stage failed.</a:t>
            </a:r>
          </a:p>
          <a:p>
            <a:endParaRPr lang="en-US" dirty="0"/>
          </a:p>
          <a:p>
            <a:r>
              <a:rPr lang="en-US" dirty="0"/>
              <a:t>That is why this works in an enterprise context. Because it stops being AI and starts being software.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console app proved the pipeline works. </a:t>
            </a:r>
          </a:p>
          <a:p>
            <a:r>
              <a:rPr lang="en-US" dirty="0"/>
              <a:t>That demo was a stripped-down version to show the concept in its purest form, without any technological complexities.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Write an MCP also add retry mechanism  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User's intent is unclear, I don't want the AI to guess. So clarify question first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now we are cautious about using AI, just like we did when ATM machines first came out, but in the future AI will be a reliable part of our systems.</a:t>
            </a:r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FDED6-41B6-7052-437E-88CA29C3B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7F369-C5B6-A6EA-79B0-39E605224B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A8CF8B-0AEC-1239-C046-2560E963E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36396-EA7E-4DF4-5968-3F056AD4EE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0901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109440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1CE886C5-2598-F494-A9A1-5E24B33FE50D}"/>
              </a:ext>
            </a:extLst>
          </p:cNvPr>
          <p:cNvGrpSpPr/>
          <p:nvPr userDrawn="1"/>
        </p:nvGrpSpPr>
        <p:grpSpPr>
          <a:xfrm>
            <a:off x="1378291" y="6469052"/>
            <a:ext cx="10702016" cy="262113"/>
            <a:chOff x="654270" y="6494874"/>
            <a:chExt cx="10702016" cy="262113"/>
          </a:xfrm>
        </p:grpSpPr>
        <p:sp>
          <p:nvSpPr>
            <p:cNvPr id="902" name="FooterBrand"/>
            <p:cNvSpPr txBox="1"/>
            <p:nvPr userDrawn="1"/>
          </p:nvSpPr>
          <p:spPr>
            <a:xfrm>
              <a:off x="891486" y="6511337"/>
              <a:ext cx="10464800" cy="219075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l"/>
              <a:r>
                <a:rPr lang="en-US" sz="900" b="0" dirty="0">
                  <a:solidFill>
                    <a:srgbClr val="94A3B8"/>
                  </a:solidFill>
                </a:rPr>
                <a:t>x.com/</a:t>
              </a:r>
              <a:r>
                <a:rPr lang="en-US" sz="900" b="0" kern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alperebicoglu              linkedin.com/in/ebicoglu            </a:t>
              </a:r>
              <a:r>
                <a:rPr lang="en-US" sz="900" b="0" dirty="0">
                  <a:solidFill>
                    <a:srgbClr val="94A3B8"/>
                  </a:solidFill>
                </a:rPr>
                <a:t>github.com/ebicoglu/chat-with-your-data-conference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8725AAA-9B52-3C9A-A7D9-C2C142FC2A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4270" y="6504987"/>
              <a:ext cx="350609" cy="2520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0A8F75C-9B58-C600-54B5-CE0E5D0DA8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17931" y="6511337"/>
              <a:ext cx="216000" cy="216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F4FC347-DD64-638C-015A-7C22311CC7D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8158" y="6494874"/>
              <a:ext cx="252000" cy="252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D6E01B1-894A-0EF4-9580-4FE31CF0E02C}"/>
              </a:ext>
            </a:extLst>
          </p:cNvPr>
          <p:cNvSpPr txBox="1"/>
          <p:nvPr userDrawn="1"/>
        </p:nvSpPr>
        <p:spPr>
          <a:xfrm>
            <a:off x="408843" y="6476999"/>
            <a:ext cx="19591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kern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Alper Ebicoglu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VDivider"/>
          <p:cNvSpPr/>
          <p:nvPr/>
        </p:nvSpPr>
        <p:spPr>
          <a:xfrm>
            <a:off x="7025390" y="0"/>
            <a:ext cx="775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17158" y="2069179"/>
            <a:ext cx="6466306" cy="833882"/>
          </a:xfrm>
        </p:spPr>
        <p:txBody>
          <a:bodyPr wrap="square" lIns="0" tIns="0" rIns="0" bIns="0" anchor="t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</a:rPr>
              <a:t>Chat With Your Data</a:t>
            </a:r>
            <a:br>
              <a:rPr lang="en-US" sz="5400" b="1" dirty="0">
                <a:solidFill>
                  <a:srgbClr val="FFFFFF"/>
                </a:solidFill>
              </a:rPr>
            </a:br>
            <a:endParaRPr lang="en-US" sz="5400" b="1" dirty="0">
              <a:solidFill>
                <a:srgbClr val="22D3EE"/>
              </a:solidFill>
            </a:endParaRPr>
          </a:p>
        </p:txBody>
      </p:sp>
      <p:sp>
        <p:nvSpPr>
          <p:cNvPr id="601" name="SpeakerName"/>
          <p:cNvSpPr txBox="1"/>
          <p:nvPr/>
        </p:nvSpPr>
        <p:spPr>
          <a:xfrm>
            <a:off x="7646604" y="552125"/>
            <a:ext cx="4331829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Alper </a:t>
            </a:r>
            <a:r>
              <a:rPr lang="en-US" sz="4400" b="1" dirty="0">
                <a:solidFill>
                  <a:srgbClr val="0F172A"/>
                </a:solidFill>
              </a:rPr>
              <a:t>Ebicoglu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403389" y="1346200"/>
            <a:ext cx="2534653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Co-founder 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10237" y="222483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ME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</p:cNvCxnSpPr>
          <p:nvPr/>
        </p:nvCxnSpPr>
        <p:spPr>
          <a:xfrm>
            <a:off x="11309350" y="2938864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34921187-6A26-6252-6656-E00ABA11F032}"/>
              </a:ext>
            </a:extLst>
          </p:cNvPr>
          <p:cNvSpPr txBox="1">
            <a:spLocks/>
          </p:cNvSpPr>
          <p:nvPr/>
        </p:nvSpPr>
        <p:spPr>
          <a:xfrm>
            <a:off x="385513" y="3361020"/>
            <a:ext cx="6130716" cy="2939023"/>
          </a:xfrm>
          <a:prstGeom prst="rect">
            <a:avLst/>
          </a:prstGeom>
        </p:spPr>
        <p:txBody>
          <a:bodyPr vert="horz" wrap="square" lIns="0" tIns="0" rIns="0" bIns="0" rtlCol="0" anchor="t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0F172A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969696"/>
                </a:solidFill>
              </a:rPr>
              <a:t>Building an </a:t>
            </a:r>
            <a:br>
              <a:rPr lang="en-US" sz="5400" b="1" dirty="0">
                <a:solidFill>
                  <a:srgbClr val="969696"/>
                </a:solidFill>
              </a:rPr>
            </a:br>
            <a:r>
              <a:rPr lang="en-US" sz="5400" b="1" dirty="0">
                <a:solidFill>
                  <a:srgbClr val="969696"/>
                </a:solidFill>
              </a:rPr>
              <a:t>AI-Powered </a:t>
            </a:r>
            <a:br>
              <a:rPr lang="en-US" sz="5400" b="1" dirty="0">
                <a:solidFill>
                  <a:srgbClr val="969696"/>
                </a:solidFill>
              </a:rPr>
            </a:br>
            <a:r>
              <a:rPr lang="en-US" sz="5400" b="1" dirty="0">
                <a:solidFill>
                  <a:srgbClr val="969696"/>
                </a:solidFill>
              </a:rPr>
              <a:t>Reporting Tool</a:t>
            </a:r>
            <a:br>
              <a:rPr lang="en-US" sz="5400" b="1" dirty="0">
                <a:solidFill>
                  <a:srgbClr val="969696"/>
                </a:solidFill>
              </a:rPr>
            </a:br>
            <a:r>
              <a:rPr lang="en-US" sz="5400" b="1" dirty="0">
                <a:solidFill>
                  <a:srgbClr val="969696"/>
                </a:solidFill>
              </a:rPr>
              <a:t>with </a:t>
            </a:r>
            <a:r>
              <a:rPr lang="en-US" sz="5400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7" name="RightDiv">
            <a:extLst>
              <a:ext uri="{FF2B5EF4-FFF2-40B4-BE49-F238E27FC236}">
                <a16:creationId xmlns:a16="http://schemas.microsoft.com/office/drawing/2014/main" id="{81A336C0-1FD8-9E05-7B05-6AE3DE21009E}"/>
              </a:ext>
            </a:extLst>
          </p:cNvPr>
          <p:cNvSpPr/>
          <p:nvPr/>
        </p:nvSpPr>
        <p:spPr>
          <a:xfrm>
            <a:off x="418496" y="2934854"/>
            <a:ext cx="6064750" cy="45719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DB2DDE6-6D39-EDF6-D985-9347EAFF6141}"/>
              </a:ext>
            </a:extLst>
          </p:cNvPr>
          <p:cNvGrpSpPr/>
          <p:nvPr/>
        </p:nvGrpSpPr>
        <p:grpSpPr>
          <a:xfrm>
            <a:off x="494672" y="434715"/>
            <a:ext cx="3972394" cy="740703"/>
            <a:chOff x="149902" y="434715"/>
            <a:chExt cx="3972394" cy="74070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F262270-2380-BEC7-8F4D-49B39F8C35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561" y="638426"/>
              <a:ext cx="1227183" cy="399548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007C78D5-35CA-9D43-E2D2-46490500DC37}"/>
                </a:ext>
              </a:extLst>
            </p:cNvPr>
            <p:cNvSpPr txBox="1">
              <a:spLocks/>
            </p:cNvSpPr>
            <p:nvPr/>
          </p:nvSpPr>
          <p:spPr>
            <a:xfrm>
              <a:off x="1571266" y="623658"/>
              <a:ext cx="2538072" cy="525741"/>
            </a:xfrm>
            <a:prstGeom prst="rect">
              <a:avLst/>
            </a:prstGeom>
          </p:spPr>
          <p:txBody>
            <a:bodyPr vert="horz" wrap="square" lIns="0" tIns="0" rIns="0" bIns="0" rtlCol="0" anchor="t">
              <a:normAutofit fontScale="375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rgbClr val="0F172A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en-US" sz="5400" b="1" dirty="0" err="1">
                  <a:solidFill>
                    <a:srgbClr val="969696"/>
                  </a:solidFill>
                </a:rPr>
                <a:t>WeAreDevelopers</a:t>
              </a:r>
              <a:r>
                <a:rPr lang="en-US" sz="5400" b="1" dirty="0">
                  <a:solidFill>
                    <a:srgbClr val="969696"/>
                  </a:solidFill>
                </a:rPr>
                <a:t> </a:t>
              </a:r>
              <a:br>
                <a:rPr lang="en-US" sz="5400" b="1" dirty="0">
                  <a:solidFill>
                    <a:srgbClr val="969696"/>
                  </a:solidFill>
                </a:rPr>
              </a:br>
              <a:r>
                <a:rPr lang="en-US" sz="5400" b="1" dirty="0">
                  <a:solidFill>
                    <a:srgbClr val="969696"/>
                  </a:solidFill>
                </a:rPr>
                <a:t>North America</a:t>
              </a:r>
              <a:endParaRPr lang="en-US" sz="5400" b="1" dirty="0">
                <a:solidFill>
                  <a:srgbClr val="22D3EE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12C1A16-269B-F665-0962-C7C913DC5BC1}"/>
                </a:ext>
              </a:extLst>
            </p:cNvPr>
            <p:cNvSpPr/>
            <p:nvPr/>
          </p:nvSpPr>
          <p:spPr>
            <a:xfrm>
              <a:off x="149902" y="434715"/>
              <a:ext cx="3972394" cy="740703"/>
            </a:xfrm>
            <a:prstGeom prst="round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404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ymbol zastępczy numeru slajdu 3">
            <a:extLst>
              <a:ext uri="{FF2B5EF4-FFF2-40B4-BE49-F238E27FC236}">
                <a16:creationId xmlns:a16="http://schemas.microsoft.com/office/drawing/2014/main" id="{794AD4FC-91AF-5AC5-B237-722F1EC739DE}"/>
              </a:ext>
            </a:extLst>
          </p:cNvPr>
          <p:cNvSpPr txBox="1">
            <a:spLocks/>
          </p:cNvSpPr>
          <p:nvPr/>
        </p:nvSpPr>
        <p:spPr>
          <a:xfrm>
            <a:off x="765587" y="6287238"/>
            <a:ext cx="4619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l-PL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D819FE"/>
                </a:solidFill>
              </a:rPr>
              <a:t>Event organized by: Academic Partners Foundation</a:t>
            </a:r>
          </a:p>
        </p:txBody>
      </p:sp>
      <p:pic>
        <p:nvPicPr>
          <p:cNvPr id="12" name="Obraz 8">
            <a:extLst>
              <a:ext uri="{FF2B5EF4-FFF2-40B4-BE49-F238E27FC236}">
                <a16:creationId xmlns:a16="http://schemas.microsoft.com/office/drawing/2014/main" id="{CEDF8E7A-CA84-4FF3-83D6-4C76462F6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21450" y="0"/>
            <a:ext cx="5670546" cy="6857995"/>
          </a:xfrm>
          <a:prstGeom prst="rect">
            <a:avLst/>
          </a:prstGeom>
        </p:spPr>
      </p:pic>
      <p:sp>
        <p:nvSpPr>
          <p:cNvPr id="13" name="Tytuł 1">
            <a:extLst>
              <a:ext uri="{FF2B5EF4-FFF2-40B4-BE49-F238E27FC236}">
                <a16:creationId xmlns:a16="http://schemas.microsoft.com/office/drawing/2014/main" id="{D2C4C345-AFDA-71F7-A892-4976D3B66466}"/>
              </a:ext>
            </a:extLst>
          </p:cNvPr>
          <p:cNvSpPr txBox="1">
            <a:spLocks/>
          </p:cNvSpPr>
          <p:nvPr/>
        </p:nvSpPr>
        <p:spPr>
          <a:xfrm>
            <a:off x="704169" y="468863"/>
            <a:ext cx="5878693" cy="214929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l-PL" sz="8000" b="1" dirty="0">
                <a:solidFill>
                  <a:schemeClr val="bg1"/>
                </a:solidFill>
              </a:rPr>
              <a:t>Chat With </a:t>
            </a:r>
            <a:br>
              <a:rPr lang="en-US" sz="8000" b="1" dirty="0">
                <a:solidFill>
                  <a:schemeClr val="bg1"/>
                </a:solidFill>
              </a:rPr>
            </a:br>
            <a:r>
              <a:rPr lang="pl-PL" sz="8000" b="1" dirty="0">
                <a:solidFill>
                  <a:schemeClr val="bg1"/>
                </a:solidFill>
              </a:rPr>
              <a:t>Your Data</a:t>
            </a:r>
            <a:br>
              <a:rPr lang="pl-PL" sz="8000" b="1" dirty="0">
                <a:solidFill>
                  <a:schemeClr val="bg1"/>
                </a:solidFill>
              </a:rPr>
            </a:br>
            <a:endParaRPr lang="pl-PL" sz="8000" b="1" dirty="0">
              <a:solidFill>
                <a:schemeClr val="bg1"/>
              </a:solidFill>
            </a:endParaRPr>
          </a:p>
        </p:txBody>
      </p:sp>
      <p:sp>
        <p:nvSpPr>
          <p:cNvPr id="14" name="Podtytuł 2">
            <a:extLst>
              <a:ext uri="{FF2B5EF4-FFF2-40B4-BE49-F238E27FC236}">
                <a16:creationId xmlns:a16="http://schemas.microsoft.com/office/drawing/2014/main" id="{538C9D9F-90F4-563B-850C-FBF20819BC10}"/>
              </a:ext>
            </a:extLst>
          </p:cNvPr>
          <p:cNvSpPr txBox="1">
            <a:spLocks/>
          </p:cNvSpPr>
          <p:nvPr/>
        </p:nvSpPr>
        <p:spPr>
          <a:xfrm>
            <a:off x="826999" y="2876097"/>
            <a:ext cx="5755863" cy="11920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solidFill>
                  <a:schemeClr val="bg1"/>
                </a:solidFill>
              </a:rPr>
              <a:t>Building an AI-Powered </a:t>
            </a:r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Reporting Tool with .NET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pl-PL" sz="3200" dirty="0">
              <a:solidFill>
                <a:schemeClr val="bg1"/>
              </a:solidFill>
            </a:endParaRPr>
          </a:p>
        </p:txBody>
      </p:sp>
      <p:sp>
        <p:nvSpPr>
          <p:cNvPr id="15" name="Tytuł 1">
            <a:extLst>
              <a:ext uri="{FF2B5EF4-FFF2-40B4-BE49-F238E27FC236}">
                <a16:creationId xmlns:a16="http://schemas.microsoft.com/office/drawing/2014/main" id="{E052A2BB-62F3-88A8-B640-28F1BBA586D5}"/>
              </a:ext>
            </a:extLst>
          </p:cNvPr>
          <p:cNvSpPr txBox="1">
            <a:spLocks/>
          </p:cNvSpPr>
          <p:nvPr/>
        </p:nvSpPr>
        <p:spPr>
          <a:xfrm>
            <a:off x="826999" y="4326085"/>
            <a:ext cx="5755863" cy="6656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dirty="0">
                <a:solidFill>
                  <a:srgbClr val="D819FE"/>
                </a:solidFill>
              </a:rPr>
              <a:t>Alper Ebicoglu</a:t>
            </a:r>
            <a:endParaRPr lang="pl-PL" sz="2800" dirty="0">
              <a:solidFill>
                <a:srgbClr val="D819FE"/>
              </a:solidFill>
            </a:endParaRPr>
          </a:p>
        </p:txBody>
      </p:sp>
      <p:sp>
        <p:nvSpPr>
          <p:cNvPr id="16" name="Podtytuł 2">
            <a:extLst>
              <a:ext uri="{FF2B5EF4-FFF2-40B4-BE49-F238E27FC236}">
                <a16:creationId xmlns:a16="http://schemas.microsoft.com/office/drawing/2014/main" id="{00938363-FA14-D5AD-3EC5-833FE914BA28}"/>
              </a:ext>
            </a:extLst>
          </p:cNvPr>
          <p:cNvSpPr txBox="1">
            <a:spLocks/>
          </p:cNvSpPr>
          <p:nvPr/>
        </p:nvSpPr>
        <p:spPr>
          <a:xfrm>
            <a:off x="826999" y="4916874"/>
            <a:ext cx="5670547" cy="665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D819FE"/>
                </a:solidFill>
              </a:rPr>
              <a:t>Co-Founder Volosoft</a:t>
            </a:r>
            <a:endParaRPr lang="pl-PL" sz="1800" dirty="0">
              <a:solidFill>
                <a:srgbClr val="D819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095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330CDA6-86B5-0A2D-26D2-F0AC58941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F76ED42-21B9-BD74-6E13-B31C60F81C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83" r="13764"/>
          <a:stretch>
            <a:fillRect/>
          </a:stretch>
        </p:blipFill>
        <p:spPr>
          <a:xfrm>
            <a:off x="0" y="993976"/>
            <a:ext cx="3534771" cy="5935124"/>
          </a:xfrm>
          <a:prstGeom prst="rect">
            <a:avLst/>
          </a:prstGeom>
        </p:spPr>
      </p:pic>
      <p:sp>
        <p:nvSpPr>
          <p:cNvPr id="3" name="SpeakerRole">
            <a:extLst>
              <a:ext uri="{FF2B5EF4-FFF2-40B4-BE49-F238E27FC236}">
                <a16:creationId xmlns:a16="http://schemas.microsoft.com/office/drawing/2014/main" id="{81C12851-9DE8-9574-BB76-7ED1ECFD4B86}"/>
              </a:ext>
            </a:extLst>
          </p:cNvPr>
          <p:cNvSpPr txBox="1"/>
          <p:nvPr/>
        </p:nvSpPr>
        <p:spPr>
          <a:xfrm>
            <a:off x="0" y="0"/>
            <a:ext cx="12259455" cy="993976"/>
          </a:xfrm>
          <a:prstGeom prst="rect">
            <a:avLst/>
          </a:prstGeom>
          <a:solidFill>
            <a:srgbClr val="020919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/>
            <a:r>
              <a:rPr lang="en-US" sz="4000" dirty="0"/>
              <a:t>ADAMPOL: A </a:t>
            </a:r>
            <a:r>
              <a:rPr lang="en-US" sz="4000" b="1" dirty="0"/>
              <a:t>Polish Village</a:t>
            </a:r>
            <a:r>
              <a:rPr lang="en-US" sz="4000" dirty="0"/>
              <a:t> in Istanbul / </a:t>
            </a:r>
            <a:r>
              <a:rPr lang="en-US" sz="4000" b="1" dirty="0"/>
              <a:t>1842</a:t>
            </a:r>
            <a:endParaRPr lang="en-US" sz="4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240E53-2BB7-4EF6-1C8F-630C37F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35" t="41266" r="45988" b="21247"/>
          <a:stretch>
            <a:fillRect/>
          </a:stretch>
        </p:blipFill>
        <p:spPr>
          <a:xfrm>
            <a:off x="3592740" y="4124324"/>
            <a:ext cx="4083291" cy="2752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CEA3EA-2E17-3EE9-B035-529BA990608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022" t="1076" r="21934"/>
          <a:stretch>
            <a:fillRect/>
          </a:stretch>
        </p:blipFill>
        <p:spPr>
          <a:xfrm>
            <a:off x="7722851" y="993976"/>
            <a:ext cx="4429631" cy="58640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C3F2554-82D7-8113-81F9-D1FE8A22BD44}"/>
              </a:ext>
            </a:extLst>
          </p:cNvPr>
          <p:cNvSpPr txBox="1"/>
          <p:nvPr/>
        </p:nvSpPr>
        <p:spPr>
          <a:xfrm>
            <a:off x="8142623" y="6396019"/>
            <a:ext cx="3590086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chemeClr val="bg1"/>
                </a:solidFill>
                <a:effectLst/>
                <a:latin typeface="+mn-lt"/>
              </a:rPr>
              <a:t>Lady of </a:t>
            </a:r>
            <a:r>
              <a:rPr lang="en-US" b="1" i="0" dirty="0" err="1">
                <a:solidFill>
                  <a:schemeClr val="bg1"/>
                </a:solidFill>
                <a:effectLst/>
                <a:latin typeface="+mn-lt"/>
              </a:rPr>
              <a:t>Częstochowa</a:t>
            </a:r>
            <a:r>
              <a:rPr lang="en-US" b="1" i="0" dirty="0">
                <a:solidFill>
                  <a:schemeClr val="bg1"/>
                </a:solidFill>
                <a:effectLst/>
                <a:latin typeface="+mn-lt"/>
              </a:rPr>
              <a:t> Church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CC9526-F38F-47B5-5F72-40AC50337D15}"/>
              </a:ext>
            </a:extLst>
          </p:cNvPr>
          <p:cNvSpPr txBox="1"/>
          <p:nvPr/>
        </p:nvSpPr>
        <p:spPr>
          <a:xfrm>
            <a:off x="4382738" y="6413610"/>
            <a:ext cx="2445299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chemeClr val="bg1"/>
                </a:solidFill>
                <a:effectLst/>
                <a:latin typeface="+mn-lt"/>
              </a:rPr>
              <a:t>Polish Festival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1A29E9-16E6-056C-B0F7-75DF9B0FE44D}"/>
              </a:ext>
            </a:extLst>
          </p:cNvPr>
          <p:cNvSpPr txBox="1"/>
          <p:nvPr/>
        </p:nvSpPr>
        <p:spPr>
          <a:xfrm>
            <a:off x="297536" y="6365241"/>
            <a:ext cx="2583544" cy="40011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000" b="1" i="0" dirty="0">
                <a:solidFill>
                  <a:schemeClr val="bg1"/>
                </a:solidFill>
                <a:effectLst/>
                <a:latin typeface="+mn-lt"/>
              </a:rPr>
              <a:t>Polish Diplomat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DC3485-AB4E-3EF1-7ABB-C1ECF2B4F82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805" t="955" b="25071"/>
          <a:stretch>
            <a:fillRect/>
          </a:stretch>
        </p:blipFill>
        <p:spPr>
          <a:xfrm>
            <a:off x="3568222" y="993976"/>
            <a:ext cx="4107809" cy="306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AF8326-CF85-4C41-80FF-8BE72BE2ECC4}"/>
              </a:ext>
            </a:extLst>
          </p:cNvPr>
          <p:cNvSpPr txBox="1"/>
          <p:nvPr/>
        </p:nvSpPr>
        <p:spPr>
          <a:xfrm>
            <a:off x="4982572" y="3686729"/>
            <a:ext cx="1503954" cy="3077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chemeClr val="bg1"/>
                </a:solidFill>
                <a:effectLst/>
                <a:latin typeface="+mn-lt"/>
              </a:rPr>
              <a:t>Polish </a:t>
            </a:r>
            <a:r>
              <a:rPr lang="en-US" sz="1400" b="1" dirty="0">
                <a:solidFill>
                  <a:schemeClr val="bg1"/>
                </a:solidFill>
              </a:rPr>
              <a:t>House</a:t>
            </a:r>
          </a:p>
        </p:txBody>
      </p:sp>
    </p:spTree>
    <p:extLst>
      <p:ext uri="{BB962C8B-B14F-4D97-AF65-F5344CB8AC3E}">
        <p14:creationId xmlns:p14="http://schemas.microsoft.com/office/powerpoint/2010/main" val="413883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D7786E9-AA5F-3ADF-D26C-1E2338F1F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66" r="10169"/>
          <a:stretch>
            <a:fillRect/>
          </a:stretch>
        </p:blipFill>
        <p:spPr>
          <a:xfrm>
            <a:off x="-1" y="-9975"/>
            <a:ext cx="12192001" cy="715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4D36-88E4-8561-DB5F-997433DD8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68871-A7D5-3A80-30DA-418C6BD4ED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276955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Understanding T</a:t>
            </a:r>
            <a:r>
              <a:rPr lang="en-US" sz="4800" b="1" dirty="0">
                <a:solidFill>
                  <a:srgbClr val="0F172A"/>
                </a:solidFill>
              </a:rPr>
              <a:t>he Problem </a:t>
            </a:r>
            <a:r>
              <a:rPr lang="en-US" sz="4800" dirty="0"/>
              <a:t>🤝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A1D01431-23C4-4A82-5C9E-91BB5EE4E940}"/>
              </a:ext>
            </a:extLst>
          </p:cNvPr>
          <p:cNvSpPr/>
          <p:nvPr/>
        </p:nvSpPr>
        <p:spPr>
          <a:xfrm>
            <a:off x="0" y="1884978"/>
            <a:ext cx="6435524" cy="3678411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180000" tIns="140000" rIns="180000" bIns="140000" anchor="ctr"/>
          <a:lstStyle/>
          <a:p>
            <a:r>
              <a:rPr lang="en-US" sz="3600" dirty="0">
                <a:solidFill>
                  <a:srgbClr val="0F172A"/>
                </a:solidFill>
              </a:rPr>
              <a:t>Are you a .NET dev?</a:t>
            </a:r>
          </a:p>
          <a:p>
            <a:endParaRPr lang="en-US" sz="3600" dirty="0">
              <a:solidFill>
                <a:srgbClr val="0F172A"/>
              </a:solidFill>
            </a:endParaRPr>
          </a:p>
          <a:p>
            <a:r>
              <a:rPr lang="en-US" sz="3600" dirty="0"/>
              <a:t>Have you written SQL before?</a:t>
            </a:r>
          </a:p>
          <a:p>
            <a:endParaRPr lang="en-US" sz="3600" dirty="0">
              <a:solidFill>
                <a:srgbClr val="0F172A"/>
              </a:solidFill>
            </a:endParaRPr>
          </a:p>
          <a:p>
            <a:r>
              <a:rPr lang="en-US" sz="3600" dirty="0"/>
              <a:t>Have you created a reporting screen before?</a:t>
            </a:r>
            <a:endParaRPr lang="en-US" sz="3600" dirty="0">
              <a:solidFill>
                <a:srgbClr val="475569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009FAD-49C2-10C7-DB83-ADDF7122A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706" y="1884978"/>
            <a:ext cx="5161551" cy="3890789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08E12A3-2BEF-D01C-0556-6454325D05EA}"/>
              </a:ext>
            </a:extLst>
          </p:cNvPr>
          <p:cNvSpPr txBox="1"/>
          <p:nvPr/>
        </p:nvSpPr>
        <p:spPr>
          <a:xfrm>
            <a:off x="7749977" y="1684923"/>
            <a:ext cx="3188328" cy="40011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SQL Server Commercial</a:t>
            </a:r>
            <a:endParaRPr lang="en-US" sz="900" dirty="0">
              <a:solidFill>
                <a:schemeClr val="bg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9C3A2B-230C-B53C-9860-FEA754CB078F}"/>
              </a:ext>
            </a:extLst>
          </p:cNvPr>
          <p:cNvCxnSpPr/>
          <p:nvPr/>
        </p:nvCxnSpPr>
        <p:spPr>
          <a:xfrm>
            <a:off x="294968" y="2645621"/>
            <a:ext cx="466459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662828-9628-EF89-9E7F-5EE9C651FDA0}"/>
              </a:ext>
            </a:extLst>
          </p:cNvPr>
          <p:cNvCxnSpPr/>
          <p:nvPr/>
        </p:nvCxnSpPr>
        <p:spPr>
          <a:xfrm>
            <a:off x="294968" y="4372178"/>
            <a:ext cx="466459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336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170C-886C-7A37-EAA7-D9A6EBC3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52452-5C32-4FAA-6F38-AE7C3503AA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21520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AI Era: Adapt or Fall Behind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1D5246-277B-EB8A-64FA-8243DE73A5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84"/>
          <a:stretch>
            <a:fillRect/>
          </a:stretch>
        </p:blipFill>
        <p:spPr>
          <a:xfrm>
            <a:off x="411126" y="1284549"/>
            <a:ext cx="10915025" cy="46954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4EE6060-0E00-07CE-F11A-D891CDBB0B72}"/>
              </a:ext>
            </a:extLst>
          </p:cNvPr>
          <p:cNvSpPr txBox="1"/>
          <p:nvPr/>
        </p:nvSpPr>
        <p:spPr>
          <a:xfrm>
            <a:off x="411126" y="6069026"/>
            <a:ext cx="494625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rgbClr val="969696"/>
                </a:solidFill>
              </a:rPr>
              <a:t>Source: </a:t>
            </a:r>
            <a:r>
              <a:rPr lang="en-US" sz="1100" i="1" dirty="0" err="1">
                <a:solidFill>
                  <a:srgbClr val="969696"/>
                </a:solidFill>
              </a:rPr>
              <a:t>SQLAuthority</a:t>
            </a:r>
            <a:r>
              <a:rPr lang="en-US" sz="1100" i="1" dirty="0">
                <a:solidFill>
                  <a:srgbClr val="969696"/>
                </a:solidFill>
              </a:rPr>
              <a:t> blog, Apr 24, 2026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55DC12-CF3C-4772-AE36-5F1DEC72E869}"/>
              </a:ext>
            </a:extLst>
          </p:cNvPr>
          <p:cNvSpPr/>
          <p:nvPr/>
        </p:nvSpPr>
        <p:spPr>
          <a:xfrm>
            <a:off x="8076023" y="3641416"/>
            <a:ext cx="3366286" cy="240333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Pinal Dave, known for decades of SQL expertise, is now using AI to help people understand and work with data faster</a:t>
            </a:r>
          </a:p>
        </p:txBody>
      </p:sp>
    </p:spTree>
    <p:extLst>
      <p:ext uri="{BB962C8B-B14F-4D97-AF65-F5344CB8AC3E}">
        <p14:creationId xmlns:p14="http://schemas.microsoft.com/office/powerpoint/2010/main" val="4067985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2A3A-127F-A1FE-FD76-B062BC2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0BB39-2910-DC02-6444-5006FB390A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Reporting Challenge</a:t>
            </a:r>
          </a:p>
        </p:txBody>
      </p:sp>
      <p:sp>
        <p:nvSpPr>
          <p:cNvPr id="202" name="Pain202">
            <a:extLst>
              <a:ext uri="{FF2B5EF4-FFF2-40B4-BE49-F238E27FC236}">
                <a16:creationId xmlns:a16="http://schemas.microsoft.com/office/drawing/2014/main" id="{38585C81-7A57-9BAA-AE81-72FD4F1CF738}"/>
              </a:ext>
            </a:extLst>
          </p:cNvPr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Developers: </a:t>
            </a:r>
            <a:r>
              <a:rPr lang="en-US" sz="2400" b="1" dirty="0">
                <a:solidFill>
                  <a:srgbClr val="FF0000"/>
                </a:solidFill>
              </a:rPr>
              <a:t>bottleneck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  <a:br>
              <a:rPr lang="en-US" dirty="0">
                <a:solidFill>
                  <a:srgbClr val="475569"/>
                </a:solidFill>
              </a:rPr>
            </a:b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>
            <a:extLst>
              <a:ext uri="{FF2B5EF4-FFF2-40B4-BE49-F238E27FC236}">
                <a16:creationId xmlns:a16="http://schemas.microsoft.com/office/drawing/2014/main" id="{F8B233AB-A087-BB03-5B42-8A618FE005AE}"/>
              </a:ext>
            </a:extLst>
          </p:cNvPr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tools: </a:t>
            </a:r>
            <a:r>
              <a:rPr lang="en-US" sz="2400" b="1" dirty="0">
                <a:solidFill>
                  <a:srgbClr val="FF0000"/>
                </a:solidFill>
              </a:rPr>
              <a:t>rigid</a:t>
            </a: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Power BI, Salesforce, Qlik, SAP Analytics 👉 Create ticket for a new report</a:t>
            </a:r>
          </a:p>
        </p:txBody>
      </p:sp>
      <p:sp>
        <p:nvSpPr>
          <p:cNvPr id="204" name="Pain204">
            <a:extLst>
              <a:ext uri="{FF2B5EF4-FFF2-40B4-BE49-F238E27FC236}">
                <a16:creationId xmlns:a16="http://schemas.microsoft.com/office/drawing/2014/main" id="{B1AE5642-E23F-DB60-2290-044D86D4438B}"/>
              </a:ext>
            </a:extLst>
          </p:cNvPr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Implementing custom report: </a:t>
            </a:r>
            <a:r>
              <a:rPr lang="en-US" sz="2400" b="1" dirty="0">
                <a:solidFill>
                  <a:srgbClr val="FF0000"/>
                </a:solidFill>
              </a:rPr>
              <a:t>slow</a:t>
            </a:r>
            <a:endParaRPr lang="en-US" sz="2400" b="1" u="sng" dirty="0">
              <a:solidFill>
                <a:srgbClr val="FF0000"/>
              </a:solidFill>
            </a:endParaRPr>
          </a:p>
          <a:p>
            <a:pPr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Writing SQL, Page Design, Testing, Deployment 👉 Needs too much things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C21A7716-41B5-A186-7F6F-1F31AFDDFBF5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DC2E42-54A8-3E94-5F9C-964AE67C2130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2494806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03</a:t>
            </a:r>
          </a:p>
          <a:p>
            <a:pPr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 🤖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756478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bg1">
                    <a:lumMod val="25000"/>
                  </a:schemeClr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4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sz="2000" dirty="0">
                <a:solidFill>
                  <a:srgbClr val="94A3B8"/>
                </a:solidFill>
                <a:latin typeface="Consolas"/>
              </a:rPr>
              <a:t>     </a:t>
            </a:r>
            <a:r>
              <a:rPr lang="en-US" sz="24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6" y="3672191"/>
            <a:ext cx="1746181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chemeClr val="bg1">
                    <a:lumMod val="25000"/>
                  </a:schemeClr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0" y="3323968"/>
            <a:ext cx="4899796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1312758" y="2403904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480300" y="5298131"/>
            <a:ext cx="4191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&amp; System Prompt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3200" i="1" dirty="0">
                <a:solidFill>
                  <a:srgbClr val="334155"/>
                </a:solidFill>
              </a:rPr>
              <a:t>Optional: sample values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95863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6853298" cy="558799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5307013" y="3429000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621274" y="-217358"/>
            <a:ext cx="10379675" cy="68579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EA5717-A111-E735-E4B3-A14B746AAC13}"/>
              </a:ext>
            </a:extLst>
          </p:cNvPr>
          <p:cNvSpPr txBox="1"/>
          <p:nvPr/>
        </p:nvSpPr>
        <p:spPr>
          <a:xfrm>
            <a:off x="621274" y="6153463"/>
            <a:ext cx="761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inspectable |  testable | replaceable | enterprise-friendly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AFE83-7C0D-41CA-9B5E-DAE73D62EBD4}"/>
              </a:ext>
            </a:extLst>
          </p:cNvPr>
          <p:cNvSpPr txBox="1"/>
          <p:nvPr/>
        </p:nvSpPr>
        <p:spPr>
          <a:xfrm>
            <a:off x="11174842" y="366222"/>
            <a:ext cx="492443" cy="6125555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AI starts being a software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65531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26203" y="2045376"/>
            <a:ext cx="107229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but this time </a:t>
            </a:r>
            <a:r>
              <a:rPr lang="en-US" u="sng" dirty="0">
                <a:solidFill>
                  <a:srgbClr val="94A3B8"/>
                </a:solidFill>
              </a:rPr>
              <a:t>with interactive v</a:t>
            </a:r>
            <a:r>
              <a:rPr lang="en-US" sz="1800" u="sng" dirty="0">
                <a:solidFill>
                  <a:srgbClr val="94A3B8"/>
                </a:solidFill>
              </a:rPr>
              <a:t>oice</a:t>
            </a:r>
            <a:r>
              <a:rPr lang="en-US" b="1" u="sng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 | Blazor Server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16000" y="1269999"/>
            <a:ext cx="5442945" cy="853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51010" y="4349088"/>
            <a:ext cx="1679521" cy="457200"/>
            <a:chOff x="6898983" y="1781651"/>
            <a:chExt cx="1493545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3" y="1781651"/>
              <a:ext cx="1493545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6C9AF8B-02B6-3AA4-180D-80CA0C8A3804}"/>
              </a:ext>
            </a:extLst>
          </p:cNvPr>
          <p:cNvSpPr txBox="1"/>
          <p:nvPr/>
        </p:nvSpPr>
        <p:spPr>
          <a:xfrm>
            <a:off x="11327722" y="1072510"/>
            <a:ext cx="400110" cy="4269698"/>
          </a:xfrm>
          <a:prstGeom prst="rect">
            <a:avLst/>
          </a:prstGeom>
          <a:noFill/>
        </p:spPr>
        <p:txBody>
          <a:bodyPr vert="vert" wrap="square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this’s what you'd actually ship to business users</a:t>
            </a:r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33" y="-12263"/>
            <a:ext cx="10515600" cy="100600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486033" y="914400"/>
            <a:ext cx="11219934" cy="530352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200" b="1" dirty="0">
                <a:solidFill>
                  <a:srgbClr val="0F172A"/>
                </a:solidFill>
              </a:rPr>
              <a:t>Multi-tenancy &amp; permissions 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3400" b="1" dirty="0">
                <a:solidFill>
                  <a:srgbClr val="0F172A"/>
                </a:solidFill>
              </a:rPr>
              <a:t>      </a:t>
            </a:r>
            <a:r>
              <a:rPr lang="en-US" sz="2800" dirty="0">
                <a:solidFill>
                  <a:srgbClr val="64748B"/>
                </a:solidFill>
              </a:rPr>
              <a:t>Separate conn-string with roles, sub-</a:t>
            </a:r>
            <a:r>
              <a:rPr lang="en-US" sz="2800" dirty="0" err="1">
                <a:solidFill>
                  <a:srgbClr val="64748B"/>
                </a:solidFill>
              </a:rPr>
              <a:t>db</a:t>
            </a:r>
            <a:r>
              <a:rPr lang="en-US" sz="2800" dirty="0">
                <a:solidFill>
                  <a:srgbClr val="64748B"/>
                </a:solidFill>
              </a:rPr>
              <a:t>, views, </a:t>
            </a:r>
            <a:r>
              <a:rPr lang="en-US" sz="2800" dirty="0" err="1">
                <a:solidFill>
                  <a:srgbClr val="64748B"/>
                </a:solidFill>
              </a:rPr>
              <a:t>TenantId</a:t>
            </a:r>
            <a:endParaRPr lang="en-US" sz="28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Hallucination 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  </a:t>
            </a:r>
            <a:r>
              <a:rPr lang="en-US" sz="2800" dirty="0">
                <a:solidFill>
                  <a:srgbClr val="64748B"/>
                </a:solidFill>
              </a:rPr>
              <a:t>Only tables in the prompt ➡ all others via </a:t>
            </a:r>
            <a:r>
              <a:rPr lang="en-US" sz="2800" i="1" dirty="0">
                <a:solidFill>
                  <a:srgbClr val="64748B"/>
                </a:solidFill>
              </a:rPr>
              <a:t>MCP</a:t>
            </a:r>
            <a:endParaRPr lang="en-US" sz="2800" dirty="0">
              <a:solidFill>
                <a:srgbClr val="64748B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Ambiguous questions </a:t>
            </a:r>
            <a:br>
              <a:rPr lang="en-US" sz="3200" b="1" dirty="0">
                <a:solidFill>
                  <a:srgbClr val="0F172A"/>
                </a:solidFill>
              </a:rPr>
            </a:br>
            <a:r>
              <a:rPr lang="en-US" sz="3200" b="1" dirty="0">
                <a:solidFill>
                  <a:srgbClr val="0F172A"/>
                </a:solidFill>
              </a:rPr>
              <a:t>      </a:t>
            </a:r>
            <a:r>
              <a:rPr lang="en-US" sz="2800" dirty="0">
                <a:solidFill>
                  <a:srgbClr val="64748B"/>
                </a:solidFill>
              </a:rPr>
              <a:t>“best </a:t>
            </a:r>
            <a:r>
              <a:rPr lang="en-US" sz="2800" dirty="0" err="1">
                <a:solidFill>
                  <a:srgbClr val="64748B"/>
                </a:solidFill>
              </a:rPr>
              <a:t>month”,“good</a:t>
            </a:r>
            <a:r>
              <a:rPr lang="en-US" sz="2800" dirty="0">
                <a:solidFill>
                  <a:srgbClr val="64748B"/>
                </a:solidFill>
              </a:rPr>
              <a:t> song”</a:t>
            </a: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Cost &amp; Latency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3400" b="1" dirty="0">
                <a:solidFill>
                  <a:srgbClr val="0F172A"/>
                </a:solidFill>
              </a:rPr>
              <a:t>     </a:t>
            </a:r>
            <a:r>
              <a:rPr lang="en-US" sz="28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Privacy concerns </a:t>
            </a:r>
            <a:br>
              <a:rPr lang="en-US" sz="34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64748B"/>
                </a:solidFill>
              </a:rPr>
              <a:t>      </a:t>
            </a:r>
            <a:r>
              <a:rPr lang="en-US" sz="2800" dirty="0">
                <a:solidFill>
                  <a:srgbClr val="64748B"/>
                </a:solidFill>
              </a:rPr>
              <a:t>Only schema or </a:t>
            </a:r>
            <a:r>
              <a:rPr lang="en-US" sz="2800" dirty="0" err="1">
                <a:solidFill>
                  <a:srgbClr val="64748B"/>
                </a:solidFill>
              </a:rPr>
              <a:t>Ollama</a:t>
            </a:r>
            <a:endParaRPr lang="en-US" sz="280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14" y="102902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460408" y="1199213"/>
            <a:ext cx="11236292" cy="459367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4000" b="1" dirty="0"/>
              <a:t> </a:t>
            </a:r>
            <a:r>
              <a:rPr lang="en-US" sz="3200" b="1" dirty="0">
                <a:solidFill>
                  <a:srgbClr val="0F172A"/>
                </a:solidFill>
              </a:rPr>
              <a:t>Validate queries </a:t>
            </a:r>
            <a:r>
              <a:rPr lang="en-US" sz="2800" dirty="0">
                <a:solidFill>
                  <a:srgbClr val="475569"/>
                </a:solidFill>
              </a:rPr>
              <a:t>block unsafe ones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200" b="1" dirty="0">
                <a:solidFill>
                  <a:srgbClr val="0F172A"/>
                </a:solidFill>
              </a:rPr>
              <a:t>Read-only DB user </a:t>
            </a:r>
            <a:r>
              <a:rPr lang="en-US" sz="2800" dirty="0">
                <a:solidFill>
                  <a:srgbClr val="475569"/>
                </a:solidFill>
              </a:rPr>
              <a:t>for the connection string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3600" b="1" dirty="0">
                <a:solidFill>
                  <a:srgbClr val="00B050"/>
                </a:solidFill>
              </a:rPr>
              <a:t> </a:t>
            </a:r>
            <a:r>
              <a:rPr lang="en-US" sz="3200" b="1" dirty="0"/>
              <a:t>Human in the loop </a:t>
            </a:r>
            <a:r>
              <a:rPr lang="en-US" sz="2800" dirty="0">
                <a:solidFill>
                  <a:srgbClr val="475569"/>
                </a:solidFill>
              </a:rPr>
              <a:t>approval before execution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3200" b="1" dirty="0"/>
              <a:t> Enforce limits </a:t>
            </a:r>
            <a:r>
              <a:rPr lang="en-US" sz="2800" dirty="0">
                <a:solidFill>
                  <a:srgbClr val="475569"/>
                </a:solidFill>
              </a:rPr>
              <a:t>max 9999 records, max 30 seconds</a:t>
            </a:r>
            <a:br>
              <a:rPr lang="en-US" sz="2800" dirty="0">
                <a:solidFill>
                  <a:srgbClr val="475569"/>
                </a:solidFill>
              </a:rPr>
            </a:br>
            <a:r>
              <a:rPr lang="en-US" sz="3200" b="1" dirty="0">
                <a:solidFill>
                  <a:srgbClr val="00B050"/>
                </a:solidFill>
              </a:rPr>
              <a:t>✓ </a:t>
            </a:r>
            <a:r>
              <a:rPr lang="en-US" sz="3200" b="1" dirty="0">
                <a:solidFill>
                  <a:srgbClr val="0F172A"/>
                </a:solidFill>
              </a:rPr>
              <a:t>Log everything </a:t>
            </a:r>
            <a:r>
              <a:rPr lang="en-US" sz="28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200" b="1" dirty="0">
                <a:solidFill>
                  <a:srgbClr val="00B050"/>
                </a:solidFill>
              </a:rPr>
              <a:t>✓ </a:t>
            </a:r>
            <a:r>
              <a:rPr lang="en-US" sz="3200" b="1" dirty="0">
                <a:solidFill>
                  <a:srgbClr val="020919"/>
                </a:solidFill>
              </a:rPr>
              <a:t>Save working queries </a:t>
            </a:r>
            <a:r>
              <a:rPr lang="en-US" sz="2800" dirty="0">
                <a:solidFill>
                  <a:srgbClr val="475569"/>
                </a:solidFill>
              </a:rPr>
              <a:t>set as </a:t>
            </a:r>
            <a:r>
              <a:rPr lang="en-US" sz="2800">
                <a:solidFill>
                  <a:srgbClr val="475569"/>
                </a:solidFill>
              </a:rPr>
              <a:t>shared query or </a:t>
            </a:r>
            <a:r>
              <a:rPr lang="en-US" sz="2800" dirty="0">
                <a:solidFill>
                  <a:srgbClr val="475569"/>
                </a:solidFill>
              </a:rPr>
              <a:t>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200" b="1" dirty="0">
                <a:solidFill>
                  <a:srgbClr val="00B050"/>
                </a:solidFill>
              </a:rPr>
              <a:t>✓</a:t>
            </a:r>
            <a:r>
              <a:rPr lang="en-US" sz="3600" b="1" dirty="0">
                <a:solidFill>
                  <a:srgbClr val="00B050"/>
                </a:solidFill>
              </a:rPr>
              <a:t> </a:t>
            </a:r>
            <a:r>
              <a:rPr lang="en-US" sz="3200" b="1" dirty="0">
                <a:solidFill>
                  <a:srgbClr val="0F172A"/>
                </a:solidFill>
              </a:rPr>
              <a:t>Start small </a:t>
            </a:r>
            <a:r>
              <a:rPr lang="en-US" sz="2800" dirty="0">
                <a:solidFill>
                  <a:srgbClr val="475569"/>
                </a:solidFill>
              </a:rPr>
              <a:t>ship the ugly version first: one table &amp;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67491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9" y="288419"/>
            <a:ext cx="11089008" cy="3842254"/>
            <a:chOff x="1024647" y="3472124"/>
            <a:chExt cx="6360714" cy="1696370"/>
          </a:xfrm>
        </p:grpSpPr>
        <p:sp>
          <p:nvSpPr>
            <p:cNvPr id="1610" name="B"/>
            <p:cNvSpPr/>
            <p:nvPr/>
          </p:nvSpPr>
          <p:spPr>
            <a:xfrm>
              <a:off x="1024647" y="3472124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4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4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849422" y="3644494"/>
              <a:ext cx="253593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4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400" b="1" spc="300" dirty="0">
                  <a:solidFill>
                    <a:srgbClr val="1E293B"/>
                  </a:solidFill>
                </a:rPr>
              </a:br>
              <a:r>
                <a:rPr lang="en-US" sz="5400" b="1" spc="300" dirty="0">
                  <a:solidFill>
                    <a:srgbClr val="1E293B"/>
                  </a:solidFill>
                </a:rPr>
                <a:t>our language</a:t>
              </a:r>
              <a:endParaRPr lang="en-US" sz="5400" b="1" dirty="0">
                <a:solidFill>
                  <a:srgbClr val="1E293B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FAC0482-214E-38A2-5CF3-A0A2910A56E5}"/>
              </a:ext>
            </a:extLst>
          </p:cNvPr>
          <p:cNvGrpSpPr/>
          <p:nvPr/>
        </p:nvGrpSpPr>
        <p:grpSpPr>
          <a:xfrm>
            <a:off x="653929" y="4754027"/>
            <a:ext cx="3953699" cy="1433739"/>
            <a:chOff x="653929" y="3939104"/>
            <a:chExt cx="3953699" cy="1433739"/>
          </a:xfrm>
        </p:grpSpPr>
        <p:sp>
          <p:nvSpPr>
            <p:cNvPr id="2" name="SpeakerName">
              <a:extLst>
                <a:ext uri="{FF2B5EF4-FFF2-40B4-BE49-F238E27FC236}">
                  <a16:creationId xmlns:a16="http://schemas.microsoft.com/office/drawing/2014/main" id="{B67F7C9D-3984-DFAA-4F75-34BC31E06746}"/>
                </a:ext>
              </a:extLst>
            </p:cNvPr>
            <p:cNvSpPr txBox="1"/>
            <p:nvPr/>
          </p:nvSpPr>
          <p:spPr>
            <a:xfrm>
              <a:off x="797562" y="4130673"/>
              <a:ext cx="3778074" cy="1153029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r>
                <a:rPr lang="en-US" sz="4000" b="1" dirty="0">
                  <a:solidFill>
                    <a:schemeClr val="bg1"/>
                  </a:solidFill>
                </a:rPr>
                <a:t>Alper Ebicoglu</a:t>
              </a:r>
            </a:p>
            <a:p>
              <a:r>
                <a:rPr lang="en-US" sz="2800" dirty="0">
                  <a:solidFill>
                    <a:schemeClr val="bg1"/>
                  </a:solidFill>
                </a:rPr>
                <a:t>x.com/</a:t>
              </a:r>
              <a:r>
                <a:rPr lang="en-US" sz="2800" dirty="0">
                  <a:solidFill>
                    <a:srgbClr val="22D3EE"/>
                  </a:solidFill>
                </a:rPr>
                <a:t>alperebicoglu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3B697C2-CD1F-7168-5C03-4D94888C954B}"/>
                </a:ext>
              </a:extLst>
            </p:cNvPr>
            <p:cNvSpPr/>
            <p:nvPr/>
          </p:nvSpPr>
          <p:spPr>
            <a:xfrm>
              <a:off x="653929" y="3939104"/>
              <a:ext cx="3953699" cy="1433739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tr-TR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DC12ACD-B863-2400-8441-AD7DB17CD675}"/>
              </a:ext>
            </a:extLst>
          </p:cNvPr>
          <p:cNvGrpSpPr/>
          <p:nvPr/>
        </p:nvGrpSpPr>
        <p:grpSpPr>
          <a:xfrm>
            <a:off x="4891946" y="4306598"/>
            <a:ext cx="6850991" cy="2348564"/>
            <a:chOff x="4891946" y="4427621"/>
            <a:chExt cx="6850991" cy="234856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DAC7983-4AF8-14A4-A44D-2BB81412E54E}"/>
                </a:ext>
              </a:extLst>
            </p:cNvPr>
            <p:cNvSpPr txBox="1"/>
            <p:nvPr/>
          </p:nvSpPr>
          <p:spPr>
            <a:xfrm>
              <a:off x="6031262" y="5069226"/>
              <a:ext cx="2760087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spc="50" dirty="0">
                  <a:ln w="0"/>
                  <a:solidFill>
                    <a:schemeClr val="bg2"/>
                  </a:solidFill>
                  <a:effectLst>
                    <a:innerShdw blurRad="63500" dist="50800" dir="13500000">
                      <a:srgbClr val="000000">
                        <a:alpha val="50000"/>
                      </a:srgbClr>
                    </a:innerShdw>
                  </a:effectLst>
                </a:rPr>
                <a:t>Presentation Source-code</a:t>
              </a:r>
              <a:endParaRPr lang="tr-TR" sz="24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D0AE1AA-7E4C-A120-28E1-6595708F20F9}"/>
                </a:ext>
              </a:extLst>
            </p:cNvPr>
            <p:cNvSpPr/>
            <p:nvPr/>
          </p:nvSpPr>
          <p:spPr>
            <a:xfrm>
              <a:off x="4891946" y="4427621"/>
              <a:ext cx="6850991" cy="2348564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tr-TR" dirty="0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3C2402-DE54-31FF-8824-B62F72823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70514" y="4521089"/>
              <a:ext cx="1803902" cy="185315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FA4C92A-F9BF-414A-6ECD-B824CFE91314}"/>
                </a:ext>
              </a:extLst>
            </p:cNvPr>
            <p:cNvSpPr txBox="1"/>
            <p:nvPr/>
          </p:nvSpPr>
          <p:spPr>
            <a:xfrm>
              <a:off x="5073229" y="6374243"/>
              <a:ext cx="6539290" cy="3847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github.com/</a:t>
              </a:r>
              <a:r>
                <a:rPr lang="en-US" dirty="0">
                  <a:solidFill>
                    <a:schemeClr val="bg1"/>
                  </a:solidFill>
                </a:rPr>
                <a:t>ebicoglu/</a:t>
              </a:r>
              <a:r>
                <a:rPr lang="en-US" sz="1900" dirty="0">
                  <a:solidFill>
                    <a:schemeClr val="bg1"/>
                  </a:solidFill>
                </a:rPr>
                <a:t>chat-with-your-data-conference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DDE9AFE-CECE-6E48-FDCC-4CEC9698CC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25391" y="5443874"/>
              <a:ext cx="3407020" cy="40850"/>
            </a:xfrm>
            <a:prstGeom prst="straightConnector1">
              <a:avLst/>
            </a:prstGeom>
            <a:ln w="762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404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9EB5A6-6715-BE71-C9C1-36B63DCC3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numeru slajdu 3">
            <a:extLst>
              <a:ext uri="{FF2B5EF4-FFF2-40B4-BE49-F238E27FC236}">
                <a16:creationId xmlns:a16="http://schemas.microsoft.com/office/drawing/2014/main" id="{270B1BE3-9A51-25B8-0251-CBCD24B25AD4}"/>
              </a:ext>
            </a:extLst>
          </p:cNvPr>
          <p:cNvSpPr txBox="1">
            <a:spLocks/>
          </p:cNvSpPr>
          <p:nvPr/>
        </p:nvSpPr>
        <p:spPr>
          <a:xfrm>
            <a:off x="765587" y="6287238"/>
            <a:ext cx="4619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l-PL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D819FE"/>
                </a:solidFill>
              </a:rPr>
              <a:t>Event organized by: Academic Partners Foundation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D1CB7D38-5FAC-1049-3FEF-847B9C9B2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21450" y="0"/>
            <a:ext cx="5670546" cy="6857995"/>
          </a:xfrm>
          <a:prstGeom prst="rect">
            <a:avLst/>
          </a:prstGeom>
        </p:spPr>
      </p:pic>
      <p:sp>
        <p:nvSpPr>
          <p:cNvPr id="10" name="Tytuł 1">
            <a:extLst>
              <a:ext uri="{FF2B5EF4-FFF2-40B4-BE49-F238E27FC236}">
                <a16:creationId xmlns:a16="http://schemas.microsoft.com/office/drawing/2014/main" id="{ADAB0D8A-9FEB-6D02-20B0-3200A7D75BFF}"/>
              </a:ext>
            </a:extLst>
          </p:cNvPr>
          <p:cNvSpPr txBox="1">
            <a:spLocks/>
          </p:cNvSpPr>
          <p:nvPr/>
        </p:nvSpPr>
        <p:spPr>
          <a:xfrm>
            <a:off x="765587" y="496451"/>
            <a:ext cx="5755863" cy="16321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l-PL" sz="5200" dirty="0" err="1">
                <a:solidFill>
                  <a:srgbClr val="D819FE"/>
                </a:solidFill>
              </a:rPr>
              <a:t>Thank</a:t>
            </a:r>
            <a:r>
              <a:rPr lang="pl-PL" sz="5200" dirty="0">
                <a:solidFill>
                  <a:srgbClr val="D819FE"/>
                </a:solidFill>
              </a:rPr>
              <a:t> </a:t>
            </a:r>
            <a:r>
              <a:rPr lang="pl-PL" sz="5200" dirty="0" err="1">
                <a:solidFill>
                  <a:srgbClr val="D819FE"/>
                </a:solidFill>
              </a:rPr>
              <a:t>you</a:t>
            </a:r>
            <a:r>
              <a:rPr lang="pl-PL" sz="5200" dirty="0">
                <a:solidFill>
                  <a:srgbClr val="D819FE"/>
                </a:solidFill>
              </a:rPr>
              <a:t> for </a:t>
            </a:r>
            <a:r>
              <a:rPr lang="pl-PL" sz="5200" dirty="0" err="1">
                <a:solidFill>
                  <a:srgbClr val="D819FE"/>
                </a:solidFill>
              </a:rPr>
              <a:t>watching</a:t>
            </a:r>
            <a:r>
              <a:rPr lang="pl-PL" sz="5200" dirty="0">
                <a:solidFill>
                  <a:srgbClr val="D819FE"/>
                </a:solidFill>
              </a:rPr>
              <a:t>!</a:t>
            </a:r>
          </a:p>
        </p:txBody>
      </p:sp>
      <p:sp>
        <p:nvSpPr>
          <p:cNvPr id="17" name="Podtytuł 2">
            <a:extLst>
              <a:ext uri="{FF2B5EF4-FFF2-40B4-BE49-F238E27FC236}">
                <a16:creationId xmlns:a16="http://schemas.microsoft.com/office/drawing/2014/main" id="{75C3B929-75B3-82CA-EBE1-2EAF121B505B}"/>
              </a:ext>
            </a:extLst>
          </p:cNvPr>
          <p:cNvSpPr txBox="1">
            <a:spLocks/>
          </p:cNvSpPr>
          <p:nvPr/>
        </p:nvSpPr>
        <p:spPr>
          <a:xfrm>
            <a:off x="765587" y="2104305"/>
            <a:ext cx="6912684" cy="10847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D819FE"/>
                </a:solidFill>
              </a:rPr>
              <a:t>Remember to leave your questions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2000" dirty="0">
                <a:solidFill>
                  <a:srgbClr val="D819FE"/>
                </a:solidFill>
              </a:rPr>
              <a:t>and rate the presentation in the section below.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684909-CE62-DED8-0C55-D51FD6F21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587" y="3388072"/>
            <a:ext cx="2757542" cy="283283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769A2EE-65A0-A7CE-C603-2C1E236F6CD6}"/>
              </a:ext>
            </a:extLst>
          </p:cNvPr>
          <p:cNvSpPr txBox="1"/>
          <p:nvPr/>
        </p:nvSpPr>
        <p:spPr>
          <a:xfrm>
            <a:off x="637838" y="2842538"/>
            <a:ext cx="901714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Presentation &amp; Source-code</a:t>
            </a:r>
            <a:endParaRPr lang="tr-TR" sz="3200" b="1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3A427CB7-1D9B-4A1B-4F3D-C93D1E399F25}"/>
              </a:ext>
            </a:extLst>
          </p:cNvPr>
          <p:cNvCxnSpPr>
            <a:cxnSpLocks/>
            <a:stCxn id="21" idx="2"/>
            <a:endCxn id="19" idx="3"/>
          </p:cNvCxnSpPr>
          <p:nvPr/>
        </p:nvCxnSpPr>
        <p:spPr>
          <a:xfrm rot="5400000">
            <a:off x="3646184" y="3304258"/>
            <a:ext cx="1377175" cy="1623284"/>
          </a:xfrm>
          <a:prstGeom prst="curvedConnector2">
            <a:avLst/>
          </a:prstGeom>
          <a:ln w="76200">
            <a:solidFill>
              <a:srgbClr val="D0D6DD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7456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  <wetp:taskpane dockstate="right" visibility="0" width="350" row="5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C759B996-4593-4997-A3F3-C5C7917D0C8B}">
  <we:reference id="wa200005566" version="3.0.1.2" store="en-US" storeType="OMEX"/>
  <we:alternateReferences>
    <we:reference id="WA200005566" version="3.0.1.2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5165</TotalTime>
  <Words>2630</Words>
  <Application>Microsoft Office PowerPoint</Application>
  <PresentationFormat>Widescreen</PresentationFormat>
  <Paragraphs>387</Paragraphs>
  <Slides>28</Slides>
  <Notes>28</Notes>
  <HiddenSlides>9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Chat With Your Data </vt:lpstr>
      <vt:lpstr>PowerPoint Presentation</vt:lpstr>
      <vt:lpstr>PowerPoint Presentation</vt:lpstr>
      <vt:lpstr>PowerPoint Presentation</vt:lpstr>
      <vt:lpstr>PowerPoint Presentation</vt:lpstr>
      <vt:lpstr>Understanding The Problem 🤝</vt:lpstr>
      <vt:lpstr>AI Era: Adapt or Fall Behind</vt:lpstr>
      <vt:lpstr>The Reporting Challenge</vt:lpstr>
      <vt:lpstr>PowerPoint Presentation</vt:lpstr>
      <vt:lpstr>What We'll Build</vt:lpstr>
      <vt:lpstr>The Pipeline</vt:lpstr>
      <vt:lpstr>Schema &amp; System Prompt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437</cp:revision>
  <dcterms:created xsi:type="dcterms:W3CDTF">2026-04-20T12:53:27Z</dcterms:created>
  <dcterms:modified xsi:type="dcterms:W3CDTF">2026-10-16T12:23:52Z</dcterms:modified>
</cp:coreProperties>
</file>