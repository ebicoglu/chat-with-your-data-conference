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sldIdLst>
    <p:sldId id="328" r:id="rId2"/>
    <p:sldId id="329" r:id="rId3"/>
    <p:sldId id="333" r:id="rId4"/>
    <p:sldId id="337" r:id="rId5"/>
    <p:sldId id="339" r:id="rId6"/>
    <p:sldId id="338" r:id="rId7"/>
    <p:sldId id="309" r:id="rId8"/>
    <p:sldId id="310" r:id="rId9"/>
    <p:sldId id="299" r:id="rId10"/>
    <p:sldId id="312" r:id="rId11"/>
    <p:sldId id="330" r:id="rId12"/>
    <p:sldId id="313" r:id="rId13"/>
    <p:sldId id="314" r:id="rId14"/>
    <p:sldId id="315" r:id="rId15"/>
    <p:sldId id="316" r:id="rId16"/>
    <p:sldId id="317" r:id="rId17"/>
    <p:sldId id="320" r:id="rId18"/>
    <p:sldId id="318" r:id="rId19"/>
    <p:sldId id="319" r:id="rId20"/>
    <p:sldId id="321" r:id="rId21"/>
    <p:sldId id="322" r:id="rId22"/>
    <p:sldId id="323" r:id="rId23"/>
    <p:sldId id="336" r:id="rId24"/>
    <p:sldId id="335" r:id="rId25"/>
    <p:sldId id="324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AFBFC"/>
    <a:srgbClr val="FCF8F9"/>
    <a:srgbClr val="020919"/>
    <a:srgbClr val="0F172A"/>
    <a:srgbClr val="0891B2"/>
    <a:srgbClr val="22D3EE"/>
    <a:srgbClr val="1E293B"/>
    <a:srgbClr val="64748B"/>
    <a:srgbClr val="9E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4052" autoAdjust="0"/>
  </p:normalViewPr>
  <p:slideViewPr>
    <p:cSldViewPr snapToGrid="0">
      <p:cViewPr varScale="1">
        <p:scale>
          <a:sx n="60" d="100"/>
          <a:sy n="60" d="100"/>
        </p:scale>
        <p:origin x="1996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20.05.2026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D718-809A-6FFE-8CA7-38A00CE9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AA0F9-EB22-F88D-F5FF-91F0289EB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403F-80AF-CC17-9B38-85390C8B5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9722404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8867-3E77-F3B1-80CE-599092D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2EBE4-05B0-BC51-8468-11403D1A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0AC4D-9FEF-FFE1-507C-792815526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260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FAA1F-33C4-196A-BF68-9DD61609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3D200-640F-1A6D-0D6F-73FABD99C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004F-8193-FE09-BFB3-18B1A462D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7671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DDL: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you just saw is inspectable. Testable. Replaceable. You can swap the LLM. You can add a cache in front of it. You can unit-test the validator.</a:t>
            </a:r>
          </a:p>
          <a:p>
            <a:endParaRPr lang="en-US" dirty="0"/>
          </a:p>
          <a:p>
            <a:r>
              <a:rPr lang="en-US" dirty="0"/>
              <a:t>When something goes wrong in production — and it will — you can open a log and see exactly which stage failed.</a:t>
            </a:r>
          </a:p>
          <a:p>
            <a:endParaRPr lang="en-US" dirty="0"/>
          </a:p>
          <a:p>
            <a:r>
              <a:rPr lang="en-US" dirty="0"/>
              <a:t>That is why this works in an enterprise context. Because it stops being AI and starts being software.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Write an MCP also add retry mechanism  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109440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CE886C5-2598-F494-A9A1-5E24B33FE50D}"/>
              </a:ext>
            </a:extLst>
          </p:cNvPr>
          <p:cNvGrpSpPr/>
          <p:nvPr userDrawn="1"/>
        </p:nvGrpSpPr>
        <p:grpSpPr>
          <a:xfrm>
            <a:off x="1378291" y="6469052"/>
            <a:ext cx="10702016" cy="262113"/>
            <a:chOff x="654270" y="6494874"/>
            <a:chExt cx="10702016" cy="262113"/>
          </a:xfrm>
        </p:grpSpPr>
        <p:sp>
          <p:nvSpPr>
            <p:cNvPr id="902" name="FooterBrand"/>
            <p:cNvSpPr txBox="1"/>
            <p:nvPr userDrawn="1"/>
          </p:nvSpPr>
          <p:spPr>
            <a:xfrm>
              <a:off x="891486" y="6511337"/>
              <a:ext cx="10464800" cy="219075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l"/>
              <a:r>
                <a:rPr lang="en-US" sz="900" b="0" dirty="0">
                  <a:solidFill>
                    <a:srgbClr val="94A3B8"/>
                  </a:solidFill>
                </a:rPr>
                <a:t>x.com/</a:t>
              </a:r>
              <a:r>
                <a:rPr lang="en-US" sz="900" b="0" kern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alperebicoglu              linkedin.com/in/ebicoglu            </a:t>
              </a:r>
              <a:r>
                <a:rPr lang="en-US" sz="900" b="0" dirty="0">
                  <a:solidFill>
                    <a:srgbClr val="94A3B8"/>
                  </a:solidFill>
                </a:rPr>
                <a:t>github.com/ebicoglu/chat-with-your-data-conference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8725AAA-9B52-3C9A-A7D9-C2C142FC2A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270" y="6504987"/>
              <a:ext cx="350609" cy="2520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0A8F75C-9B58-C600-54B5-CE0E5D0DA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17931" y="6511337"/>
              <a:ext cx="216000" cy="216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F4FC347-DD64-638C-015A-7C22311CC7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8158" y="649487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6E01B1-894A-0EF4-9580-4FE31CF0E02C}"/>
              </a:ext>
            </a:extLst>
          </p:cNvPr>
          <p:cNvSpPr txBox="1"/>
          <p:nvPr userDrawn="1"/>
        </p:nvSpPr>
        <p:spPr>
          <a:xfrm>
            <a:off x="408843" y="6476999"/>
            <a:ext cx="19591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kern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Alper Ebicoglu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721718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45511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3903" y="5361379"/>
            <a:ext cx="5256797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D7786E9-AA5F-3ADF-D26C-1E2338F1F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6" r="10169"/>
          <a:stretch>
            <a:fillRect/>
          </a:stretch>
        </p:blipFill>
        <p:spPr>
          <a:xfrm>
            <a:off x="-1" y="-9975"/>
            <a:ext cx="12192001" cy="715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4D36-88E4-8561-DB5F-997433DD8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8871-A7D5-3A80-30DA-418C6BD4ED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A1D01431-23C4-4A82-5C9E-91BB5EE4E940}"/>
              </a:ext>
            </a:extLst>
          </p:cNvPr>
          <p:cNvSpPr/>
          <p:nvPr/>
        </p:nvSpPr>
        <p:spPr>
          <a:xfrm>
            <a:off x="500743" y="1690688"/>
            <a:ext cx="10892843" cy="42633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F172A"/>
                </a:solidFill>
              </a:rPr>
              <a:t>Did you write SQL before? </a:t>
            </a:r>
            <a:r>
              <a:rPr lang="en-US" sz="4400" dirty="0"/>
              <a:t>🙋</a:t>
            </a:r>
            <a:r>
              <a:rPr lang="en-US" sz="4400" dirty="0">
                <a:solidFill>
                  <a:srgbClr val="0F172A"/>
                </a:solidFill>
              </a:rPr>
              <a:t> </a:t>
            </a:r>
            <a:br>
              <a:rPr lang="en-US" sz="4400" dirty="0">
                <a:solidFill>
                  <a:srgbClr val="0F172A"/>
                </a:solidFill>
              </a:rPr>
            </a:br>
            <a:endParaRPr lang="en-US" sz="4400" dirty="0">
              <a:solidFill>
                <a:srgbClr val="0F172A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F172A"/>
                </a:solidFill>
              </a:rPr>
              <a:t>Did you create a reporting screen? </a:t>
            </a:r>
            <a:r>
              <a:rPr lang="en-US" sz="3600" dirty="0"/>
              <a:t>🙋</a:t>
            </a:r>
            <a:endParaRPr lang="en-US" sz="3600" dirty="0">
              <a:solidFill>
                <a:srgbClr val="4755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8336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170C-886C-7A37-EAA7-D9A6EBC3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2452-5C32-4FAA-6F38-AE7C3503AA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1D5246-277B-EB8A-64FA-8243DE73A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84"/>
          <a:stretch>
            <a:fillRect/>
          </a:stretch>
        </p:blipFill>
        <p:spPr>
          <a:xfrm>
            <a:off x="411126" y="1284549"/>
            <a:ext cx="10915025" cy="4695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EE6060-0E00-07CE-F11A-D891CDBB0B72}"/>
              </a:ext>
            </a:extLst>
          </p:cNvPr>
          <p:cNvSpPr txBox="1"/>
          <p:nvPr/>
        </p:nvSpPr>
        <p:spPr>
          <a:xfrm>
            <a:off x="411126" y="6069026"/>
            <a:ext cx="494625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969696"/>
                </a:solidFill>
              </a:rPr>
              <a:t>Source: </a:t>
            </a:r>
            <a:r>
              <a:rPr lang="en-US" sz="1100" i="1" dirty="0" err="1">
                <a:solidFill>
                  <a:srgbClr val="969696"/>
                </a:solidFill>
              </a:rPr>
              <a:t>SQLAuthority</a:t>
            </a:r>
            <a:r>
              <a:rPr lang="en-US" sz="1100" i="1" dirty="0">
                <a:solidFill>
                  <a:srgbClr val="969696"/>
                </a:solidFill>
              </a:rPr>
              <a:t> blog, Apr 24,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55DC12-CF3C-4772-AE36-5F1DEC72E869}"/>
              </a:ext>
            </a:extLst>
          </p:cNvPr>
          <p:cNvSpPr/>
          <p:nvPr/>
        </p:nvSpPr>
        <p:spPr>
          <a:xfrm>
            <a:off x="8076023" y="3641416"/>
            <a:ext cx="3366286" cy="240333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Pinal Dave, known for decades of SQL expertise, is now using AI to help people understand and work with data faster</a:t>
            </a:r>
          </a:p>
        </p:txBody>
      </p:sp>
    </p:spTree>
    <p:extLst>
      <p:ext uri="{BB962C8B-B14F-4D97-AF65-F5344CB8AC3E}">
        <p14:creationId xmlns:p14="http://schemas.microsoft.com/office/powerpoint/2010/main" val="4067985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2A3A-127F-A1FE-FD76-B062BC2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BB39-2910-DC02-6444-5006FB390A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>
            <a:extLst>
              <a:ext uri="{FF2B5EF4-FFF2-40B4-BE49-F238E27FC236}">
                <a16:creationId xmlns:a16="http://schemas.microsoft.com/office/drawing/2014/main" id="{38585C81-7A57-9BAA-AE81-72FD4F1CF738}"/>
              </a:ext>
            </a:extLst>
          </p:cNvPr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Developers: </a:t>
            </a:r>
            <a:r>
              <a:rPr lang="en-US" sz="2400" b="1" dirty="0">
                <a:solidFill>
                  <a:srgbClr val="FF0000"/>
                </a:solidFill>
              </a:rPr>
              <a:t>bottleneck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  <a:br>
              <a:rPr lang="en-US" dirty="0">
                <a:solidFill>
                  <a:srgbClr val="475569"/>
                </a:solidFill>
              </a:rPr>
            </a:b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F8B233AB-A087-BB03-5B42-8A618FE005AE}"/>
              </a:ext>
            </a:extLst>
          </p:cNvPr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tools: </a:t>
            </a:r>
            <a:r>
              <a:rPr lang="en-US" sz="2400" b="1" dirty="0">
                <a:solidFill>
                  <a:srgbClr val="FF0000"/>
                </a:solidFill>
              </a:rPr>
              <a:t>rigid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Power BI, Salesforce, Qlik, SAP Analytics 👉 Create ticket for a new report</a:t>
            </a:r>
          </a:p>
        </p:txBody>
      </p:sp>
      <p:sp>
        <p:nvSpPr>
          <p:cNvPr id="204" name="Pain204">
            <a:extLst>
              <a:ext uri="{FF2B5EF4-FFF2-40B4-BE49-F238E27FC236}">
                <a16:creationId xmlns:a16="http://schemas.microsoft.com/office/drawing/2014/main" id="{B1AE5642-E23F-DB60-2290-044D86D4438B}"/>
              </a:ext>
            </a:extLst>
          </p:cNvPr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Implementing custom report: </a:t>
            </a:r>
            <a:r>
              <a:rPr lang="en-US" sz="2400" b="1" dirty="0">
                <a:solidFill>
                  <a:srgbClr val="FF0000"/>
                </a:solidFill>
              </a:rPr>
              <a:t>slow</a:t>
            </a:r>
            <a:endParaRPr lang="en-US" sz="2400" b="1" u="sng" dirty="0">
              <a:solidFill>
                <a:srgbClr val="FF0000"/>
              </a:solidFill>
            </a:endParaRP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Writing SQL, Page Design, Testing, Deployment 👉 Needs too much things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C21A7716-41B5-A186-7F6F-1F31AFDDFBF5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DC2E42-54A8-3E94-5F9C-964AE67C2130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249480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&amp; System Prompt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i="1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i="1" dirty="0">
                <a:solidFill>
                  <a:srgbClr val="334155"/>
                </a:solidFill>
              </a:rPr>
              <a:t>Optional: 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598908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270500" y="3440924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445740" y="-1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90752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270000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16000" y="1909532"/>
            <a:ext cx="2592173" cy="457200"/>
            <a:chOff x="6898982" y="1781651"/>
            <a:chExt cx="2305137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2" y="1781651"/>
              <a:ext cx="2305137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 DEMO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180245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1309816"/>
            <a:ext cx="11219934" cy="4593946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only tables ➡ </a:t>
            </a:r>
            <a:r>
              <a:rPr lang="en-US" sz="3200" i="1" dirty="0">
                <a:solidFill>
                  <a:srgbClr val="64748B"/>
                </a:solidFill>
              </a:rPr>
              <a:t>MCP (all others)</a:t>
            </a:r>
            <a:endParaRPr lang="en-US" sz="32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commit every prompt change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Privacy concerns </a:t>
            </a:r>
            <a:r>
              <a:rPr lang="en-US" sz="3200" dirty="0">
                <a:solidFill>
                  <a:srgbClr val="64748B"/>
                </a:solidFill>
              </a:rPr>
              <a:t>only schema or </a:t>
            </a:r>
            <a:r>
              <a:rPr lang="en-US" sz="3200" dirty="0" err="1">
                <a:solidFill>
                  <a:srgbClr val="64748B"/>
                </a:solidFill>
              </a:rPr>
              <a:t>Ollama</a:t>
            </a:r>
            <a:endParaRPr lang="en-US" sz="32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30427" y="1057066"/>
            <a:ext cx="11331146" cy="487822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9999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4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400" b="1" spc="300" dirty="0">
                  <a:solidFill>
                    <a:srgbClr val="1E293B"/>
                  </a:solidFill>
                </a:rPr>
              </a:br>
              <a:r>
                <a:rPr lang="en-US" sz="5400" b="1" spc="300" dirty="0">
                  <a:solidFill>
                    <a:srgbClr val="1E293B"/>
                  </a:solidFill>
                </a:rPr>
                <a:t>our language</a:t>
              </a:r>
              <a:endParaRPr lang="en-US" sz="54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566" y="4739254"/>
            <a:ext cx="1803902" cy="185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1566</TotalTime>
  <Words>2445</Words>
  <Application>Microsoft Office PowerPoint</Application>
  <PresentationFormat>Widescreen</PresentationFormat>
  <Paragraphs>373</Paragraphs>
  <Slides>25</Slides>
  <Notes>25</Notes>
  <HiddenSlides>8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The Problem</vt:lpstr>
      <vt:lpstr>The Problem</vt:lpstr>
      <vt:lpstr>PowerPoint Presentation</vt:lpstr>
      <vt:lpstr>What We'll Build</vt:lpstr>
      <vt:lpstr>The Pipeline</vt:lpstr>
      <vt:lpstr>Schema &amp; System Prompt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327</cp:revision>
  <dcterms:created xsi:type="dcterms:W3CDTF">2026-04-20T12:53:27Z</dcterms:created>
  <dcterms:modified xsi:type="dcterms:W3CDTF">2026-05-20T20:01:44Z</dcterms:modified>
</cp:coreProperties>
</file>