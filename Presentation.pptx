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29"/>
  </p:notesMasterIdLst>
  <p:sldIdLst>
    <p:sldId id="328" r:id="rId2"/>
    <p:sldId id="343" r:id="rId3"/>
    <p:sldId id="344" r:id="rId4"/>
    <p:sldId id="329" r:id="rId5"/>
    <p:sldId id="333" r:id="rId6"/>
    <p:sldId id="337" r:id="rId7"/>
    <p:sldId id="339" r:id="rId8"/>
    <p:sldId id="338" r:id="rId9"/>
    <p:sldId id="309" r:id="rId10"/>
    <p:sldId id="310" r:id="rId11"/>
    <p:sldId id="299" r:id="rId12"/>
    <p:sldId id="312" r:id="rId13"/>
    <p:sldId id="330" r:id="rId14"/>
    <p:sldId id="313" r:id="rId15"/>
    <p:sldId id="314" r:id="rId16"/>
    <p:sldId id="315" r:id="rId17"/>
    <p:sldId id="316" r:id="rId18"/>
    <p:sldId id="317" r:id="rId19"/>
    <p:sldId id="320" r:id="rId20"/>
    <p:sldId id="318" r:id="rId21"/>
    <p:sldId id="319" r:id="rId22"/>
    <p:sldId id="321" r:id="rId23"/>
    <p:sldId id="322" r:id="rId24"/>
    <p:sldId id="323" r:id="rId25"/>
    <p:sldId id="336" r:id="rId26"/>
    <p:sldId id="335" r:id="rId27"/>
    <p:sldId id="324" r:id="rId28"/>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042A"/>
    <a:srgbClr val="D819FE"/>
    <a:srgbClr val="271008"/>
    <a:srgbClr val="74615F"/>
    <a:srgbClr val="020919"/>
    <a:srgbClr val="64748B"/>
    <a:srgbClr val="22D3EE"/>
    <a:srgbClr val="969696"/>
    <a:srgbClr val="FAFBFC"/>
    <a:srgbClr val="FCF8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393" autoAdjust="0"/>
    <p:restoredTop sz="79616" autoAdjust="0"/>
  </p:normalViewPr>
  <p:slideViewPr>
    <p:cSldViewPr snapToGrid="0">
      <p:cViewPr varScale="1">
        <p:scale>
          <a:sx n="89" d="100"/>
          <a:sy n="89" d="100"/>
        </p:scale>
        <p:origin x="894" y="72"/>
      </p:cViewPr>
      <p:guideLst/>
    </p:cSldViewPr>
  </p:slideViewPr>
  <p:notesTextViewPr>
    <p:cViewPr>
      <p:scale>
        <a:sx n="3" d="2"/>
        <a:sy n="3" d="2"/>
      </p:scale>
      <p:origin x="0" y="-3612"/>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660078-77E7-46A7-9649-B3FD62DAD7B9}" type="datetimeFigureOut">
              <a:rPr lang="tr-TR" smtClean="0"/>
              <a:t>14.10.2026</a:t>
            </a:fld>
            <a:endParaRPr lang="tr-T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473214-2400-4051-BA10-C1E11D206B4D}" type="slidenum">
              <a:rPr lang="tr-TR" smtClean="0"/>
              <a:t>‹#›</a:t>
            </a:fld>
            <a:endParaRPr lang="tr-TR"/>
          </a:p>
        </p:txBody>
      </p:sp>
    </p:spTree>
    <p:extLst>
      <p:ext uri="{BB962C8B-B14F-4D97-AF65-F5344CB8AC3E}">
        <p14:creationId xmlns:p14="http://schemas.microsoft.com/office/powerpoint/2010/main" val="4728558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s://en.wikipedia.org/wiki/Religious_confirmation" TargetMode="External"/><Relationship Id="rId3" Type="http://schemas.openxmlformats.org/officeDocument/2006/relationships/hyperlink" Target="https://en.wikipedia.org/wiki/Franz_Liszt" TargetMode="External"/><Relationship Id="rId7" Type="http://schemas.openxmlformats.org/officeDocument/2006/relationships/hyperlink" Target="https://en.wikipedia.org/wiki/Pope_John_XXIII"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en.wikipedia.org/wiki/Nuncio" TargetMode="External"/><Relationship Id="rId5" Type="http://schemas.openxmlformats.org/officeDocument/2006/relationships/hyperlink" Target="https://en.wikipedia.org/wiki/Mustafa_Kemal_Atat%C3%BCrk" TargetMode="External"/><Relationship Id="rId10" Type="http://schemas.openxmlformats.org/officeDocument/2006/relationships/hyperlink" Target="https://en.wikipedia.org/wiki/Polish_People's_Republic" TargetMode="External"/><Relationship Id="rId4" Type="http://schemas.openxmlformats.org/officeDocument/2006/relationships/hyperlink" Target="https://en.wikipedia.org/wiki/Gustave_Flaubert" TargetMode="External"/><Relationship Id="rId9" Type="http://schemas.openxmlformats.org/officeDocument/2006/relationships/hyperlink" Target="https://en.wikipedia.org/wiki/Adam_Rapacki"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1473214-2400-4051-BA10-C1E11D206B4D}" type="slidenum">
              <a:rPr lang="tr-TR" smtClean="0"/>
              <a:t>2</a:t>
            </a:fld>
            <a:endParaRPr lang="tr-TR"/>
          </a:p>
        </p:txBody>
      </p:sp>
    </p:spTree>
    <p:extLst>
      <p:ext uri="{BB962C8B-B14F-4D97-AF65-F5344CB8AC3E}">
        <p14:creationId xmlns:p14="http://schemas.microsoft.com/office/powerpoint/2010/main" val="3829368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6C87B-78F1-658C-4814-46D5F7F2EC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7EFF84-4ED4-81A7-8C53-7DE89E6244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4EE9BA-6673-207C-6C0C-4AD06DE2035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This Polish village which was established by the Polish people who were settled in Istanbul during the </a:t>
            </a:r>
            <a:r>
              <a:rPr lang="en-US" sz="1200" b="0" i="0" kern="1200" dirty="0" err="1">
                <a:solidFill>
                  <a:schemeClr val="tx1"/>
                </a:solidFill>
                <a:effectLst/>
                <a:latin typeface="+mn-lt"/>
                <a:ea typeface="+mn-ea"/>
                <a:cs typeface="+mn-cs"/>
              </a:rPr>
              <a:t>invation</a:t>
            </a:r>
            <a:r>
              <a:rPr lang="en-US" sz="1200" b="0" i="0" kern="1200" dirty="0">
                <a:solidFill>
                  <a:schemeClr val="tx1"/>
                </a:solidFill>
                <a:effectLst/>
                <a:latin typeface="+mn-lt"/>
                <a:ea typeface="+mn-ea"/>
                <a:cs typeface="+mn-cs"/>
              </a:rPr>
              <a:t> of Poland in 1842, nowadays brings together both modern life and tradition with its heavenly nature, villas, </a:t>
            </a:r>
            <a:r>
              <a:rPr lang="en-US" sz="1200" b="0" i="0" kern="1200" dirty="0" err="1">
                <a:solidFill>
                  <a:schemeClr val="tx1"/>
                </a:solidFill>
                <a:effectLst/>
                <a:latin typeface="+mn-lt"/>
                <a:ea typeface="+mn-ea"/>
                <a:cs typeface="+mn-cs"/>
              </a:rPr>
              <a:t>hotels&amp;pensions</a:t>
            </a:r>
            <a:r>
              <a:rPr lang="en-US" sz="1200" b="0" i="0" kern="1200" dirty="0">
                <a:solidFill>
                  <a:schemeClr val="tx1"/>
                </a:solidFill>
                <a:effectLst/>
                <a:latin typeface="+mn-lt"/>
                <a:ea typeface="+mn-ea"/>
                <a:cs typeface="+mn-cs"/>
              </a:rPr>
              <a:t>, restaurants and green parks.</a:t>
            </a:r>
            <a:endParaRPr lang="en-US" dirty="0"/>
          </a:p>
          <a:p>
            <a:endParaRPr lang="en-US" dirty="0"/>
          </a:p>
          <a:p>
            <a:r>
              <a:rPr lang="en-US" sz="1200" b="0" i="0" kern="1200" dirty="0">
                <a:solidFill>
                  <a:schemeClr val="tx1"/>
                </a:solidFill>
                <a:effectLst/>
                <a:latin typeface="+mn-lt"/>
                <a:ea typeface="+mn-ea"/>
                <a:cs typeface="+mn-cs"/>
              </a:rPr>
              <a:t>After Polish independence in 1918, many returned to Poland and the remaining inhabitants took Turkish citizenship in 1938. Already before World War II, the first tourists started arriving in the village. Adampol's village chronicles record the visits of famous people such as </a:t>
            </a:r>
            <a:r>
              <a:rPr lang="en-US" sz="1200" b="0" i="0" u="none" strike="noStrike" kern="1200" dirty="0">
                <a:solidFill>
                  <a:schemeClr val="tx1"/>
                </a:solidFill>
                <a:effectLst/>
                <a:latin typeface="+mn-lt"/>
                <a:ea typeface="+mn-ea"/>
                <a:cs typeface="+mn-cs"/>
                <a:hlinkClick r:id="rId3" tooltip="Franz Liszt"/>
              </a:rPr>
              <a:t>Franz Liszt</a:t>
            </a:r>
            <a:r>
              <a:rPr lang="en-US" sz="1200" b="0" i="0" kern="1200" dirty="0">
                <a:solidFill>
                  <a:schemeClr val="tx1"/>
                </a:solidFill>
                <a:effectLst/>
                <a:latin typeface="+mn-lt"/>
                <a:ea typeface="+mn-ea"/>
                <a:cs typeface="+mn-cs"/>
              </a:rPr>
              <a:t> (1847), French writer, </a:t>
            </a:r>
            <a:r>
              <a:rPr lang="en-US" sz="1200" b="0" i="0" u="none" strike="noStrike" kern="1200" dirty="0">
                <a:solidFill>
                  <a:schemeClr val="tx1"/>
                </a:solidFill>
                <a:effectLst/>
                <a:latin typeface="+mn-lt"/>
                <a:ea typeface="+mn-ea"/>
                <a:cs typeface="+mn-cs"/>
                <a:hlinkClick r:id="rId4" tooltip="Gustave Flaubert"/>
              </a:rPr>
              <a:t>Gustave Flaubert</a:t>
            </a:r>
            <a:r>
              <a:rPr lang="en-US" sz="1200" b="0" i="0" kern="1200" dirty="0">
                <a:solidFill>
                  <a:schemeClr val="tx1"/>
                </a:solidFill>
                <a:effectLst/>
                <a:latin typeface="+mn-lt"/>
                <a:ea typeface="+mn-ea"/>
                <a:cs typeface="+mn-cs"/>
              </a:rPr>
              <a:t> (1850), Czech writer, Karel Droz (1904), the first President of the Turkish Republic </a:t>
            </a:r>
            <a:r>
              <a:rPr lang="en-US" sz="1200" b="0" i="0" u="none" strike="noStrike" kern="1200" dirty="0">
                <a:solidFill>
                  <a:schemeClr val="tx1"/>
                </a:solidFill>
                <a:effectLst/>
                <a:latin typeface="+mn-lt"/>
                <a:ea typeface="+mn-ea"/>
                <a:cs typeface="+mn-cs"/>
                <a:hlinkClick r:id="rId5" tooltip="Mustafa Kemal Atatürk"/>
              </a:rPr>
              <a:t>Mustafa Kemal Atatürk</a:t>
            </a:r>
            <a:r>
              <a:rPr lang="en-US" sz="1200" b="0" i="0" kern="1200" dirty="0">
                <a:solidFill>
                  <a:schemeClr val="tx1"/>
                </a:solidFill>
                <a:effectLst/>
                <a:latin typeface="+mn-lt"/>
                <a:ea typeface="+mn-ea"/>
                <a:cs typeface="+mn-cs"/>
              </a:rPr>
              <a:t> (1937), </a:t>
            </a:r>
            <a:r>
              <a:rPr lang="en-US" sz="1200" b="0" i="0" u="none" strike="noStrike" kern="1200" dirty="0">
                <a:solidFill>
                  <a:schemeClr val="tx1"/>
                </a:solidFill>
                <a:effectLst/>
                <a:latin typeface="+mn-lt"/>
                <a:ea typeface="+mn-ea"/>
                <a:cs typeface="+mn-cs"/>
                <a:hlinkClick r:id="rId6" tooltip="Nuncio"/>
              </a:rPr>
              <a:t>Pope Nuncio</a:t>
            </a:r>
            <a:r>
              <a:rPr lang="en-US" sz="1200" b="0" i="0" kern="1200" dirty="0">
                <a:solidFill>
                  <a:schemeClr val="tx1"/>
                </a:solidFill>
                <a:effectLst/>
                <a:latin typeface="+mn-lt"/>
                <a:ea typeface="+mn-ea"/>
                <a:cs typeface="+mn-cs"/>
              </a:rPr>
              <a:t> Angelo Roncalli - the future </a:t>
            </a:r>
            <a:r>
              <a:rPr lang="en-US" sz="1200" b="0" i="0" u="none" strike="noStrike" kern="1200" dirty="0">
                <a:solidFill>
                  <a:schemeClr val="tx1"/>
                </a:solidFill>
                <a:effectLst/>
                <a:latin typeface="+mn-lt"/>
                <a:ea typeface="+mn-ea"/>
                <a:cs typeface="+mn-cs"/>
                <a:hlinkClick r:id="rId7" tooltip="Pope John XXIII"/>
              </a:rPr>
              <a:t>Pope John XXIII</a:t>
            </a:r>
            <a:r>
              <a:rPr lang="en-US" sz="1200" b="0" i="0" kern="1200" dirty="0">
                <a:solidFill>
                  <a:schemeClr val="tx1"/>
                </a:solidFill>
                <a:effectLst/>
                <a:latin typeface="+mn-lt"/>
                <a:ea typeface="+mn-ea"/>
                <a:cs typeface="+mn-cs"/>
              </a:rPr>
              <a:t>. During his visit in 1941 he gave </a:t>
            </a:r>
            <a:r>
              <a:rPr lang="en-US" sz="1200" b="0" i="0" u="none" strike="noStrike" kern="1200" dirty="0">
                <a:solidFill>
                  <a:schemeClr val="tx1"/>
                </a:solidFill>
                <a:effectLst/>
                <a:latin typeface="+mn-lt"/>
                <a:ea typeface="+mn-ea"/>
                <a:cs typeface="+mn-cs"/>
                <a:hlinkClick r:id="rId8" tooltip="Religious confirmation"/>
              </a:rPr>
              <a:t>religious confirmation</a:t>
            </a:r>
            <a:r>
              <a:rPr lang="en-US" sz="1200" b="0" i="0" kern="1200" dirty="0">
                <a:solidFill>
                  <a:schemeClr val="tx1"/>
                </a:solidFill>
                <a:effectLst/>
                <a:latin typeface="+mn-lt"/>
                <a:ea typeface="+mn-ea"/>
                <a:cs typeface="+mn-cs"/>
              </a:rPr>
              <a:t> to local children. The first Polish politician to visit after the Second World War was </a:t>
            </a:r>
            <a:r>
              <a:rPr lang="en-US" sz="1200" b="0" i="0" u="none" strike="noStrike" kern="1200" dirty="0">
                <a:solidFill>
                  <a:schemeClr val="tx1"/>
                </a:solidFill>
                <a:effectLst/>
                <a:latin typeface="+mn-lt"/>
                <a:ea typeface="+mn-ea"/>
                <a:cs typeface="+mn-cs"/>
                <a:hlinkClick r:id="rId9" tooltip="Adam Rapacki"/>
              </a:rPr>
              <a:t>Adam Rapacki</a:t>
            </a:r>
            <a:r>
              <a:rPr lang="en-US" sz="1200" b="0" i="0" kern="1200" dirty="0">
                <a:solidFill>
                  <a:schemeClr val="tx1"/>
                </a:solidFill>
                <a:effectLst/>
                <a:latin typeface="+mn-lt"/>
                <a:ea typeface="+mn-ea"/>
                <a:cs typeface="+mn-cs"/>
              </a:rPr>
              <a:t>, then the Minister of Foreign Affairs of the </a:t>
            </a:r>
            <a:r>
              <a:rPr lang="en-US" sz="1200" b="0" i="0" u="none" strike="noStrike" kern="1200" dirty="0">
                <a:solidFill>
                  <a:schemeClr val="tx1"/>
                </a:solidFill>
                <a:effectLst/>
                <a:latin typeface="+mn-lt"/>
                <a:ea typeface="+mn-ea"/>
                <a:cs typeface="+mn-cs"/>
                <a:hlinkClick r:id="rId10" tooltip="Polish People's Republic"/>
              </a:rPr>
              <a:t>Polish Republic</a:t>
            </a:r>
            <a:r>
              <a:rPr lang="en-US" sz="1200" b="0" i="0" kern="1200" dirty="0">
                <a:solidFill>
                  <a:schemeClr val="tx1"/>
                </a:solidFill>
                <a:effectLst/>
                <a:latin typeface="+mn-lt"/>
                <a:ea typeface="+mn-ea"/>
                <a:cs typeface="+mn-cs"/>
              </a:rPr>
              <a:t>, accompanied by Turkish dignitaries (1961).</a:t>
            </a:r>
          </a:p>
          <a:p>
            <a:endParaRPr lang="en-US" sz="1200" b="0" i="0" kern="1200" dirty="0">
              <a:solidFill>
                <a:schemeClr val="tx1"/>
              </a:solidFill>
              <a:effectLst/>
              <a:latin typeface="+mn-lt"/>
              <a:ea typeface="+mn-ea"/>
              <a:cs typeface="+mn-cs"/>
            </a:endParaRPr>
          </a:p>
          <a:p>
            <a:endParaRPr lang="en-US" dirty="0"/>
          </a:p>
          <a:p>
            <a:r>
              <a:rPr lang="en-US" dirty="0"/>
              <a:t>https://en.wikipedia.org/wiki/Polonezk%C3%B6y</a:t>
            </a:r>
          </a:p>
          <a:p>
            <a:endParaRPr lang="en-US" dirty="0"/>
          </a:p>
          <a:p>
            <a:endParaRPr lang="en-US" dirty="0"/>
          </a:p>
          <a:p>
            <a:r>
              <a:rPr lang="en-US" sz="1200" b="0" i="0" kern="1200" dirty="0" err="1">
                <a:solidFill>
                  <a:schemeClr val="tx1"/>
                </a:solidFill>
                <a:effectLst/>
                <a:latin typeface="+mn-lt"/>
                <a:ea typeface="+mn-ea"/>
                <a:cs typeface="+mn-cs"/>
              </a:rPr>
              <a:t>Polonezköy’ün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tarihi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Osmanlı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zamanına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kadar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gidiyor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Polonya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bağımsızlığını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kaybedince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ülkeden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büyük</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göçler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başlar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Ayaklanmalarda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başarısızlığa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uğrayan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bazı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liderler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Osmanlı’ya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sığınır</a:t>
            </a:r>
            <a:r>
              <a:rPr lang="en-US" sz="1200" b="0" i="0" kern="1200" dirty="0">
                <a:solidFill>
                  <a:schemeClr val="tx1"/>
                </a:solidFill>
                <a:effectLst/>
                <a:latin typeface="+mn-lt"/>
                <a:ea typeface="+mn-ea"/>
                <a:cs typeface="+mn-cs"/>
              </a:rPr>
              <a:t> ve </a:t>
            </a:r>
            <a:r>
              <a:rPr lang="en-US" sz="1200" b="0" i="0" kern="1200" dirty="0" err="1">
                <a:solidFill>
                  <a:schemeClr val="tx1"/>
                </a:solidFill>
                <a:effectLst/>
                <a:latin typeface="+mn-lt"/>
                <a:ea typeface="+mn-ea"/>
                <a:cs typeface="+mn-cs"/>
              </a:rPr>
              <a:t>mücadelelerine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buradan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devam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ederler</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Daha </a:t>
            </a:r>
            <a:r>
              <a:rPr lang="en-US" sz="1200" b="0" i="0" kern="1200" dirty="0" err="1">
                <a:solidFill>
                  <a:schemeClr val="tx1"/>
                </a:solidFill>
                <a:effectLst/>
                <a:latin typeface="+mn-lt"/>
                <a:ea typeface="+mn-ea"/>
                <a:cs typeface="+mn-cs"/>
              </a:rPr>
              <a:t>sonraki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süreçte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Tanzimat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Fermanı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ile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birlikte</a:t>
            </a:r>
            <a:r>
              <a:rPr lang="en-US" sz="1200" b="0" i="0" kern="1200" dirty="0">
                <a:solidFill>
                  <a:schemeClr val="tx1"/>
                </a:solidFill>
                <a:effectLst/>
                <a:latin typeface="+mn-lt"/>
                <a:ea typeface="+mn-ea"/>
                <a:cs typeface="+mn-cs"/>
              </a:rPr>
              <a:t> Polonyalı </a:t>
            </a:r>
            <a:r>
              <a:rPr lang="en-US" sz="1200" b="0" i="0" kern="1200" dirty="0" err="1">
                <a:solidFill>
                  <a:schemeClr val="tx1"/>
                </a:solidFill>
                <a:effectLst/>
                <a:latin typeface="+mn-lt"/>
                <a:ea typeface="+mn-ea"/>
                <a:cs typeface="+mn-cs"/>
              </a:rPr>
              <a:t>göçmenlerin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faaliyetleri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için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uygun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şartlar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yaratılır</a:t>
            </a:r>
            <a:r>
              <a:rPr lang="en-US" sz="1200" b="0" i="0" kern="1200" dirty="0">
                <a:solidFill>
                  <a:schemeClr val="tx1"/>
                </a:solidFill>
                <a:effectLst/>
                <a:latin typeface="+mn-lt"/>
                <a:ea typeface="+mn-ea"/>
                <a:cs typeface="+mn-cs"/>
              </a:rPr>
              <a:t>.</a:t>
            </a:r>
          </a:p>
          <a:p>
            <a:r>
              <a:rPr lang="en-US" sz="1200" b="0" i="0" kern="1200" dirty="0" err="1">
                <a:solidFill>
                  <a:schemeClr val="tx1"/>
                </a:solidFill>
                <a:effectLst/>
                <a:latin typeface="+mn-lt"/>
                <a:ea typeface="+mn-ea"/>
                <a:cs typeface="+mn-cs"/>
              </a:rPr>
              <a:t>Polonya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devlet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adamı</a:t>
            </a:r>
            <a:r>
              <a:rPr lang="en-US" sz="1200" b="0" i="0" kern="1200" dirty="0">
                <a:solidFill>
                  <a:schemeClr val="tx1"/>
                </a:solidFill>
                <a:effectLst/>
                <a:latin typeface="+mn-lt"/>
                <a:ea typeface="+mn-ea"/>
                <a:cs typeface="+mn-cs"/>
              </a:rPr>
              <a:t> ve </a:t>
            </a:r>
            <a:r>
              <a:rPr lang="en-US" sz="1200" b="0" i="0" kern="1200" dirty="0" err="1">
                <a:solidFill>
                  <a:schemeClr val="tx1"/>
                </a:solidFill>
                <a:effectLst/>
                <a:latin typeface="+mn-lt"/>
                <a:ea typeface="+mn-ea"/>
                <a:cs typeface="+mn-cs"/>
              </a:rPr>
              <a:t>göçmen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topluluğu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önderi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Prens</a:t>
            </a:r>
            <a:r>
              <a:rPr lang="en-US" sz="1200" b="0" i="0" kern="1200" dirty="0">
                <a:solidFill>
                  <a:schemeClr val="tx1"/>
                </a:solidFill>
                <a:effectLst/>
                <a:latin typeface="+mn-lt"/>
                <a:ea typeface="+mn-ea"/>
                <a:cs typeface="+mn-cs"/>
              </a:rPr>
              <a:t> Adam Czartoryski </a:t>
            </a:r>
            <a:r>
              <a:rPr lang="en-US" sz="1200" b="0" i="0" kern="1200" dirty="0" err="1">
                <a:solidFill>
                  <a:schemeClr val="tx1"/>
                </a:solidFill>
                <a:effectLst/>
                <a:latin typeface="+mn-lt"/>
                <a:ea typeface="+mn-ea"/>
                <a:cs typeface="+mn-cs"/>
              </a:rPr>
              <a:t>merkezini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Paris’te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kurduğu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siyasi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göçmen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birliğine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bağlı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İstanbul’da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bir</a:t>
            </a:r>
            <a:r>
              <a:rPr lang="en-US" sz="1200" b="0" i="0" kern="1200" dirty="0">
                <a:solidFill>
                  <a:schemeClr val="tx1"/>
                </a:solidFill>
                <a:effectLst/>
                <a:latin typeface="+mn-lt"/>
                <a:ea typeface="+mn-ea"/>
                <a:cs typeface="+mn-cs"/>
              </a:rPr>
              <a:t> Doğu </a:t>
            </a:r>
            <a:r>
              <a:rPr lang="en-US" sz="1200" b="0" i="0" kern="1200" dirty="0" err="1">
                <a:solidFill>
                  <a:schemeClr val="tx1"/>
                </a:solidFill>
                <a:effectLst/>
                <a:latin typeface="+mn-lt"/>
                <a:ea typeface="+mn-ea"/>
                <a:cs typeface="+mn-cs"/>
              </a:rPr>
              <a:t>Ajansı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açar</a:t>
            </a:r>
            <a:r>
              <a:rPr lang="en-US" sz="1200" b="0" i="0" kern="1200" dirty="0">
                <a:solidFill>
                  <a:schemeClr val="tx1"/>
                </a:solidFill>
                <a:effectLst/>
                <a:latin typeface="+mn-lt"/>
                <a:ea typeface="+mn-ea"/>
                <a:cs typeface="+mn-cs"/>
              </a:rPr>
              <a:t> ve </a:t>
            </a:r>
            <a:r>
              <a:rPr lang="en-US" sz="1200" b="0" i="0" kern="1200" dirty="0" err="1">
                <a:solidFill>
                  <a:schemeClr val="tx1"/>
                </a:solidFill>
                <a:effectLst/>
                <a:latin typeface="+mn-lt"/>
                <a:ea typeface="+mn-ea"/>
                <a:cs typeface="+mn-cs"/>
              </a:rPr>
              <a:t>yöneticiliğini</a:t>
            </a:r>
            <a:r>
              <a:rPr lang="en-US" sz="1200" b="0" i="0" kern="1200" dirty="0">
                <a:solidFill>
                  <a:schemeClr val="tx1"/>
                </a:solidFill>
                <a:effectLst/>
                <a:latin typeface="+mn-lt"/>
                <a:ea typeface="+mn-ea"/>
                <a:cs typeface="+mn-cs"/>
              </a:rPr>
              <a:t> Michal </a:t>
            </a:r>
            <a:r>
              <a:rPr lang="en-US" sz="1200" b="0" i="0" kern="1200" dirty="0" err="1">
                <a:solidFill>
                  <a:schemeClr val="tx1"/>
                </a:solidFill>
                <a:effectLst/>
                <a:latin typeface="+mn-lt"/>
                <a:ea typeface="+mn-ea"/>
                <a:cs typeface="+mn-cs"/>
              </a:rPr>
              <a:t>Czajkowski’ye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Yönetici</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İstanbul’un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yakınında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bulunan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Lazaryen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rahiplerin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sahip</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oldukları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çiftlik</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topraklarında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Polonyalılar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için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sığınak</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oluşturulmasını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gündeme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getirir</a:t>
            </a:r>
            <a:r>
              <a:rPr lang="en-US" sz="1200" b="0" i="0" kern="1200" dirty="0">
                <a:solidFill>
                  <a:schemeClr val="tx1"/>
                </a:solidFill>
                <a:effectLst/>
                <a:latin typeface="+mn-lt"/>
                <a:ea typeface="+mn-ea"/>
                <a:cs typeface="+mn-cs"/>
              </a:rPr>
              <a:t>. Bu durum </a:t>
            </a:r>
            <a:r>
              <a:rPr lang="en-US" sz="1200" b="0" i="0" kern="1200" dirty="0" err="1">
                <a:solidFill>
                  <a:schemeClr val="tx1"/>
                </a:solidFill>
                <a:effectLst/>
                <a:latin typeface="+mn-lt"/>
                <a:ea typeface="+mn-ea"/>
                <a:cs typeface="+mn-cs"/>
              </a:rPr>
              <a:t>sonuç</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verir</a:t>
            </a:r>
            <a:r>
              <a:rPr lang="en-US" sz="1200" b="0" i="0" kern="1200" dirty="0">
                <a:solidFill>
                  <a:schemeClr val="tx1"/>
                </a:solidFill>
                <a:effectLst/>
                <a:latin typeface="+mn-lt"/>
                <a:ea typeface="+mn-ea"/>
                <a:cs typeface="+mn-cs"/>
              </a:rPr>
              <a:t>, 1842 </a:t>
            </a:r>
            <a:r>
              <a:rPr lang="en-US" sz="1200" b="0" i="0" kern="1200" dirty="0" err="1">
                <a:solidFill>
                  <a:schemeClr val="tx1"/>
                </a:solidFill>
                <a:effectLst/>
                <a:latin typeface="+mn-lt"/>
                <a:ea typeface="+mn-ea"/>
                <a:cs typeface="+mn-cs"/>
              </a:rPr>
              <a:t>yılında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anlaşmayla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topraklar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süresiz</a:t>
            </a:r>
            <a:r>
              <a:rPr lang="en-US" sz="1200" b="0" i="0" kern="1200" dirty="0">
                <a:solidFill>
                  <a:schemeClr val="tx1"/>
                </a:solidFill>
                <a:effectLst/>
                <a:latin typeface="+mn-lt"/>
                <a:ea typeface="+mn-ea"/>
                <a:cs typeface="+mn-cs"/>
              </a:rPr>
              <a:t> olarak </a:t>
            </a:r>
            <a:r>
              <a:rPr lang="en-US" sz="1200" b="0" i="0" kern="1200" dirty="0" err="1">
                <a:solidFill>
                  <a:schemeClr val="tx1"/>
                </a:solidFill>
                <a:effectLst/>
                <a:latin typeface="+mn-lt"/>
                <a:ea typeface="+mn-ea"/>
                <a:cs typeface="+mn-cs"/>
              </a:rPr>
              <a:t>kiralanır</a:t>
            </a:r>
            <a:r>
              <a:rPr lang="en-US" sz="1200" b="0" i="0" kern="1200" dirty="0">
                <a:solidFill>
                  <a:schemeClr val="tx1"/>
                </a:solidFill>
                <a:effectLst/>
                <a:latin typeface="+mn-lt"/>
                <a:ea typeface="+mn-ea"/>
                <a:cs typeface="+mn-cs"/>
              </a:rPr>
              <a:t> ve Polonyalı </a:t>
            </a:r>
            <a:r>
              <a:rPr lang="en-US" sz="1200" b="0" i="0" kern="1200" dirty="0" err="1">
                <a:solidFill>
                  <a:schemeClr val="tx1"/>
                </a:solidFill>
                <a:effectLst/>
                <a:latin typeface="+mn-lt"/>
                <a:ea typeface="+mn-ea"/>
                <a:cs typeface="+mn-cs"/>
              </a:rPr>
              <a:t>yerleşimcilerin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kullanımına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verilir</a:t>
            </a:r>
            <a:r>
              <a:rPr lang="en-US" sz="1200" b="0" i="0" kern="1200" dirty="0">
                <a:solidFill>
                  <a:schemeClr val="tx1"/>
                </a:solidFill>
                <a:effectLst/>
                <a:latin typeface="+mn-lt"/>
                <a:ea typeface="+mn-ea"/>
                <a:cs typeface="+mn-cs"/>
              </a:rPr>
              <a:t>.</a:t>
            </a:r>
          </a:p>
          <a:p>
            <a:r>
              <a:rPr lang="en-US" sz="1200" b="0" i="0" kern="1200" dirty="0" err="1">
                <a:solidFill>
                  <a:schemeClr val="tx1"/>
                </a:solidFill>
                <a:effectLst/>
                <a:latin typeface="+mn-lt"/>
                <a:ea typeface="+mn-ea"/>
                <a:cs typeface="+mn-cs"/>
              </a:rPr>
              <a:t>Köye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Adam’ın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tarlası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anlamına</a:t>
            </a:r>
            <a:r>
              <a:rPr lang="en-US" sz="1200" b="0" i="0" kern="1200" dirty="0">
                <a:solidFill>
                  <a:schemeClr val="tx1"/>
                </a:solidFill>
                <a:effectLst/>
                <a:latin typeface="+mn-lt"/>
                <a:ea typeface="+mn-ea"/>
                <a:cs typeface="+mn-cs"/>
              </a:rPr>
              <a:t> gelen </a:t>
            </a:r>
            <a:r>
              <a:rPr lang="en-US" sz="1200" b="1" i="0" kern="1200" dirty="0">
                <a:solidFill>
                  <a:schemeClr val="tx1"/>
                </a:solidFill>
                <a:effectLst/>
                <a:latin typeface="+mn-lt"/>
                <a:ea typeface="+mn-ea"/>
                <a:cs typeface="+mn-cs"/>
              </a:rPr>
              <a:t>Adampol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verilir</a:t>
            </a:r>
            <a:r>
              <a:rPr lang="en-US" sz="1200" b="0" i="0" kern="1200" dirty="0">
                <a:solidFill>
                  <a:schemeClr val="tx1"/>
                </a:solidFill>
                <a:effectLst/>
                <a:latin typeface="+mn-lt"/>
                <a:ea typeface="+mn-ea"/>
                <a:cs typeface="+mn-cs"/>
              </a:rPr>
              <a:t>. 1883 </a:t>
            </a:r>
            <a:r>
              <a:rPr lang="en-US" sz="1200" b="0" i="0" kern="1200" dirty="0" err="1">
                <a:solidFill>
                  <a:schemeClr val="tx1"/>
                </a:solidFill>
                <a:effectLst/>
                <a:latin typeface="+mn-lt"/>
                <a:ea typeface="+mn-ea"/>
                <a:cs typeface="+mn-cs"/>
              </a:rPr>
              <a:t>senesine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gelindiğinde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köy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Lazeryanlardan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Adam’ın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oğlu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olan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Prens</a:t>
            </a:r>
            <a:r>
              <a:rPr lang="en-US" sz="1200" b="0" i="0" kern="1200" dirty="0">
                <a:solidFill>
                  <a:schemeClr val="tx1"/>
                </a:solidFill>
                <a:effectLst/>
                <a:latin typeface="+mn-lt"/>
                <a:ea typeface="+mn-ea"/>
                <a:cs typeface="+mn-cs"/>
              </a:rPr>
              <a:t> Wladyslaw Czartoryski </a:t>
            </a:r>
            <a:r>
              <a:rPr lang="en-US" sz="1200" b="0" i="0" kern="1200" dirty="0" err="1">
                <a:solidFill>
                  <a:schemeClr val="tx1"/>
                </a:solidFill>
                <a:effectLst/>
                <a:latin typeface="+mn-lt"/>
                <a:ea typeface="+mn-ea"/>
                <a:cs typeface="+mn-cs"/>
              </a:rPr>
              <a:t>satın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alınır</a:t>
            </a:r>
            <a:r>
              <a:rPr lang="en-US" sz="1200" b="0" i="0" kern="1200" dirty="0">
                <a:solidFill>
                  <a:schemeClr val="tx1"/>
                </a:solidFill>
                <a:effectLst/>
                <a:latin typeface="+mn-lt"/>
                <a:ea typeface="+mn-ea"/>
                <a:cs typeface="+mn-cs"/>
              </a:rPr>
              <a:t>. 1918 </a:t>
            </a:r>
            <a:r>
              <a:rPr lang="en-US" sz="1200" b="0" i="0" kern="1200" dirty="0" err="1">
                <a:solidFill>
                  <a:schemeClr val="tx1"/>
                </a:solidFill>
                <a:effectLst/>
                <a:latin typeface="+mn-lt"/>
                <a:ea typeface="+mn-ea"/>
                <a:cs typeface="+mn-cs"/>
              </a:rPr>
              <a:t>senesinde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Polonya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bağımsızlığını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tekrar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kazandıktan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sonra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Türkiye’deki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siyasi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göçmenlerden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Polonya’ya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geri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dönenler</a:t>
            </a:r>
            <a:r>
              <a:rPr lang="en-US" sz="1200" b="0" i="0" kern="1200" dirty="0">
                <a:solidFill>
                  <a:schemeClr val="tx1"/>
                </a:solidFill>
                <a:effectLst/>
                <a:latin typeface="+mn-lt"/>
                <a:ea typeface="+mn-ea"/>
                <a:cs typeface="+mn-cs"/>
              </a:rPr>
              <a:t> de olur, </a:t>
            </a:r>
            <a:r>
              <a:rPr lang="en-US" sz="1200" b="0" i="0" kern="1200" dirty="0" err="1">
                <a:solidFill>
                  <a:schemeClr val="tx1"/>
                </a:solidFill>
                <a:effectLst/>
                <a:latin typeface="+mn-lt"/>
                <a:ea typeface="+mn-ea"/>
                <a:cs typeface="+mn-cs"/>
              </a:rPr>
              <a:t>kalanlar</a:t>
            </a:r>
            <a:r>
              <a:rPr lang="en-US" sz="1200" b="0" i="0" kern="1200" dirty="0">
                <a:solidFill>
                  <a:schemeClr val="tx1"/>
                </a:solidFill>
                <a:effectLst/>
                <a:latin typeface="+mn-lt"/>
                <a:ea typeface="+mn-ea"/>
                <a:cs typeface="+mn-cs"/>
              </a:rPr>
              <a:t> da…</a:t>
            </a:r>
          </a:p>
          <a:p>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Cumhuriyet’in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ilanından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sonra</a:t>
            </a:r>
            <a:r>
              <a:rPr lang="en-US" sz="1200" b="1" i="0" kern="1200" dirty="0">
                <a:solidFill>
                  <a:schemeClr val="tx1"/>
                </a:solidFill>
                <a:effectLst/>
                <a:latin typeface="+mn-lt"/>
                <a:ea typeface="+mn-ea"/>
                <a:cs typeface="+mn-cs"/>
              </a:rPr>
              <a:t> “Adampol” </a:t>
            </a:r>
            <a:r>
              <a:rPr lang="en-US" sz="1200" b="1" i="0" kern="1200" dirty="0" err="1">
                <a:solidFill>
                  <a:schemeClr val="tx1"/>
                </a:solidFill>
                <a:effectLst/>
                <a:latin typeface="+mn-lt"/>
                <a:ea typeface="+mn-ea"/>
                <a:cs typeface="+mn-cs"/>
              </a:rPr>
              <a:t>resmi</a:t>
            </a:r>
            <a:r>
              <a:rPr lang="en-US" sz="1200" b="1" i="0" kern="1200" dirty="0">
                <a:solidFill>
                  <a:schemeClr val="tx1"/>
                </a:solidFill>
                <a:effectLst/>
                <a:latin typeface="+mn-lt"/>
                <a:ea typeface="+mn-ea"/>
                <a:cs typeface="+mn-cs"/>
              </a:rPr>
              <a:t> olarak “</a:t>
            </a:r>
            <a:r>
              <a:rPr lang="en-US" sz="1200" b="1" i="0" kern="1200" dirty="0" err="1">
                <a:solidFill>
                  <a:schemeClr val="tx1"/>
                </a:solidFill>
                <a:effectLst/>
                <a:latin typeface="+mn-lt"/>
                <a:ea typeface="+mn-ea"/>
                <a:cs typeface="+mn-cs"/>
              </a:rPr>
              <a:t>Polonezköy</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adını</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alır</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köy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sakinlerine</a:t>
            </a:r>
            <a:r>
              <a:rPr lang="en-US" sz="1200" b="0" i="0" kern="1200" dirty="0">
                <a:solidFill>
                  <a:schemeClr val="tx1"/>
                </a:solidFill>
                <a:effectLst/>
                <a:latin typeface="+mn-lt"/>
                <a:ea typeface="+mn-ea"/>
                <a:cs typeface="+mn-cs"/>
              </a:rPr>
              <a:t> de Türkiye </a:t>
            </a:r>
            <a:r>
              <a:rPr lang="en-US" sz="1200" b="0" i="0" kern="1200" dirty="0" err="1">
                <a:solidFill>
                  <a:schemeClr val="tx1"/>
                </a:solidFill>
                <a:effectLst/>
                <a:latin typeface="+mn-lt"/>
                <a:ea typeface="+mn-ea"/>
                <a:cs typeface="+mn-cs"/>
              </a:rPr>
              <a:t>Cumhuriyeti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vatandaşlığı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verilir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Prens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Adam’ın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mirasçıları</a:t>
            </a:r>
            <a:r>
              <a:rPr lang="en-US" sz="1200" b="0" i="0" kern="1200" dirty="0">
                <a:solidFill>
                  <a:schemeClr val="tx1"/>
                </a:solidFill>
                <a:effectLst/>
                <a:latin typeface="+mn-lt"/>
                <a:ea typeface="+mn-ea"/>
                <a:cs typeface="+mn-cs"/>
              </a:rPr>
              <a:t> da </a:t>
            </a:r>
            <a:r>
              <a:rPr lang="en-US" sz="1200" b="0" i="0" kern="1200" dirty="0" err="1">
                <a:solidFill>
                  <a:schemeClr val="tx1"/>
                </a:solidFill>
                <a:effectLst/>
                <a:latin typeface="+mn-lt"/>
                <a:ea typeface="+mn-ea"/>
                <a:cs typeface="+mn-cs"/>
              </a:rPr>
              <a:t>haklarından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vazgeçince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köydeki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topraklar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alım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satım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yoluyla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farklı</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halklara</a:t>
            </a:r>
            <a:r>
              <a:rPr lang="en-US" sz="1200" b="0" i="0" kern="1200" dirty="0">
                <a:solidFill>
                  <a:schemeClr val="tx1"/>
                </a:solidFill>
                <a:effectLst/>
                <a:latin typeface="+mn-lt"/>
                <a:ea typeface="+mn-ea"/>
                <a:cs typeface="+mn-cs"/>
              </a:rPr>
              <a:t> da </a:t>
            </a:r>
            <a:r>
              <a:rPr lang="en-US" sz="1200" b="0" i="0" kern="1200" dirty="0" err="1">
                <a:solidFill>
                  <a:schemeClr val="tx1"/>
                </a:solidFill>
                <a:effectLst/>
                <a:latin typeface="+mn-lt"/>
                <a:ea typeface="+mn-ea"/>
                <a:cs typeface="+mn-cs"/>
              </a:rPr>
              <a:t>açık</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hâle</a:t>
            </a:r>
            <a:r>
              <a:rPr lang="en-US" sz="1200" b="0" i="0" kern="1200" dirty="0">
                <a:solidFill>
                  <a:schemeClr val="tx1"/>
                </a:solidFill>
                <a:effectLst/>
                <a:latin typeface="+mn-lt"/>
                <a:ea typeface="+mn-ea"/>
                <a:cs typeface="+mn-cs"/>
              </a:rPr>
              <a:t> gelir.</a:t>
            </a:r>
          </a:p>
          <a:p>
            <a:endParaRPr lang="en-US" dirty="0"/>
          </a:p>
          <a:p>
            <a:endParaRPr lang="en-US"/>
          </a:p>
          <a:p>
            <a:endParaRPr lang="en-US" dirty="0"/>
          </a:p>
        </p:txBody>
      </p:sp>
      <p:sp>
        <p:nvSpPr>
          <p:cNvPr id="4" name="Slide Number Placeholder 3">
            <a:extLst>
              <a:ext uri="{FF2B5EF4-FFF2-40B4-BE49-F238E27FC236}">
                <a16:creationId xmlns:a16="http://schemas.microsoft.com/office/drawing/2014/main" id="{2E7E0D5D-053D-80D7-8E63-8B89785022D7}"/>
              </a:ext>
            </a:extLst>
          </p:cNvPr>
          <p:cNvSpPr>
            <a:spLocks noGrp="1"/>
          </p:cNvSpPr>
          <p:nvPr>
            <p:ph type="sldNum" sz="quarter" idx="5"/>
          </p:nvPr>
        </p:nvSpPr>
        <p:spPr/>
        <p:txBody>
          <a:bodyPr/>
          <a:lstStyle/>
          <a:p>
            <a:fld id="{D1473214-2400-4051-BA10-C1E11D206B4D}" type="slidenum">
              <a:rPr lang="tr-TR" smtClean="0"/>
              <a:t>3</a:t>
            </a:fld>
            <a:endParaRPr lang="tr-TR"/>
          </a:p>
        </p:txBody>
      </p:sp>
    </p:spTree>
    <p:extLst>
      <p:ext uri="{BB962C8B-B14F-4D97-AF65-F5344CB8AC3E}">
        <p14:creationId xmlns:p14="http://schemas.microsoft.com/office/powerpoint/2010/main" val="224419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dirty="0"/>
          </a:p>
        </p:txBody>
      </p:sp>
      <p:sp>
        <p:nvSpPr>
          <p:cNvPr id="4" name="Slide Number Placeholder 3"/>
          <p:cNvSpPr>
            <a:spLocks noGrp="1"/>
          </p:cNvSpPr>
          <p:nvPr>
            <p:ph type="sldNum" sz="quarter" idx="5"/>
          </p:nvPr>
        </p:nvSpPr>
        <p:spPr/>
        <p:txBody>
          <a:bodyPr/>
          <a:lstStyle/>
          <a:p>
            <a:fld id="{D1473214-2400-4051-BA10-C1E11D206B4D}" type="slidenum">
              <a:rPr lang="tr-TR" smtClean="0"/>
              <a:t>4</a:t>
            </a:fld>
            <a:endParaRPr lang="tr-TR"/>
          </a:p>
        </p:txBody>
      </p:sp>
    </p:spTree>
    <p:extLst>
      <p:ext uri="{BB962C8B-B14F-4D97-AF65-F5344CB8AC3E}">
        <p14:creationId xmlns:p14="http://schemas.microsoft.com/office/powerpoint/2010/main" val="3010510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1473214-2400-4051-BA10-C1E11D206B4D}" type="slidenum">
              <a:rPr lang="tr-TR" smtClean="0"/>
              <a:t>5</a:t>
            </a:fld>
            <a:endParaRPr lang="tr-TR"/>
          </a:p>
        </p:txBody>
      </p:sp>
    </p:spTree>
    <p:extLst>
      <p:ext uri="{BB962C8B-B14F-4D97-AF65-F5344CB8AC3E}">
        <p14:creationId xmlns:p14="http://schemas.microsoft.com/office/powerpoint/2010/main" val="1444670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7D718-809A-6FFE-8CA7-38A00CE952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AA0F9-EB22-F88D-F5FF-91F0289EB6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2403F-80AF-CC17-9B38-85390C8B5855}"/>
              </a:ext>
            </a:extLst>
          </p:cNvPr>
          <p:cNvSpPr>
            <a:spLocks noGrp="1"/>
          </p:cNvSpPr>
          <p:nvPr>
            <p:ph type="body" idx="1"/>
          </p:nvPr>
        </p:nvSpPr>
        <p:spPr/>
        <p:txBody>
          <a:bodyPr/>
          <a:lstStyle/>
          <a:p>
            <a:endParaRPr lang="en-US" b="0" dirty="0"/>
          </a:p>
        </p:txBody>
      </p:sp>
    </p:spTree>
    <p:extLst>
      <p:ext uri="{BB962C8B-B14F-4D97-AF65-F5344CB8AC3E}">
        <p14:creationId xmlns:p14="http://schemas.microsoft.com/office/powerpoint/2010/main" val="19722404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18867-3E77-F3B1-80CE-599092DF8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2EBE4-05B0-BC51-8468-11403D1AA8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0AC4D-9FEF-FFE1-507C-792815526BED}"/>
              </a:ext>
            </a:extLst>
          </p:cNvPr>
          <p:cNvSpPr>
            <a:spLocks noGrp="1"/>
          </p:cNvSpPr>
          <p:nvPr>
            <p:ph type="body" idx="1"/>
          </p:nvPr>
        </p:nvSpPr>
        <p:spPr/>
        <p:txBody>
          <a:bodyPr/>
          <a:lstStyle/>
          <a:p>
            <a:endParaRPr lang="en-US" b="0" dirty="0"/>
          </a:p>
        </p:txBody>
      </p:sp>
    </p:spTree>
    <p:extLst>
      <p:ext uri="{BB962C8B-B14F-4D97-AF65-F5344CB8AC3E}">
        <p14:creationId xmlns:p14="http://schemas.microsoft.com/office/powerpoint/2010/main" val="8260259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FAA1F-33C4-196A-BF68-9DD61609DC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E3D200-640F-1A6D-0D6F-73FABD99C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C004F-8193-FE09-BFB3-18B1A462DBC8}"/>
              </a:ext>
            </a:extLst>
          </p:cNvPr>
          <p:cNvSpPr>
            <a:spLocks noGrp="1"/>
          </p:cNvSpPr>
          <p:nvPr>
            <p:ph type="body" idx="1"/>
          </p:nvPr>
        </p:nvSpPr>
        <p:spPr/>
        <p:txBody>
          <a:bodyPr/>
          <a:lstStyle/>
          <a:p>
            <a:endParaRPr lang="en-US" b="0" dirty="0"/>
          </a:p>
        </p:txBody>
      </p:sp>
    </p:spTree>
    <p:extLst>
      <p:ext uri="{BB962C8B-B14F-4D97-AF65-F5344CB8AC3E}">
        <p14:creationId xmlns:p14="http://schemas.microsoft.com/office/powerpoint/2010/main" val="3076710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
            </a:r>
            <a:r>
              <a:rPr lang="en-US" b="1" dirty="0"/>
              <a:t>parse what the user actually asked</a:t>
            </a:r>
          </a:p>
          <a:p>
            <a:r>
              <a:rPr lang="en-US" dirty="0"/>
              <a:t>2— </a:t>
            </a:r>
            <a:r>
              <a:rPr lang="en-US" b="1" dirty="0"/>
              <a:t>the LLM has to know your tables</a:t>
            </a:r>
          </a:p>
          <a:p>
            <a:r>
              <a:rPr lang="en-US" dirty="0"/>
              <a:t>3 — </a:t>
            </a:r>
            <a:r>
              <a:rPr lang="en-US" b="1" dirty="0"/>
              <a:t>with validation, not blind trust</a:t>
            </a:r>
          </a:p>
          <a:p>
            <a:r>
              <a:rPr lang="en-US" dirty="0"/>
              <a:t>4— </a:t>
            </a:r>
            <a:r>
              <a:rPr lang="en-US" b="1" dirty="0"/>
              <a:t>run it against the real database</a:t>
            </a:r>
          </a:p>
          <a:p>
            <a:r>
              <a:rPr lang="en-US" dirty="0"/>
              <a:t>5— </a:t>
            </a:r>
            <a:r>
              <a:rPr lang="en-US" b="1" dirty="0"/>
              <a:t>Excel and generating charts, because that is what people actually do with results</a:t>
            </a:r>
          </a:p>
          <a:p>
            <a:endParaRPr lang="en-US" dirty="0"/>
          </a:p>
          <a:p>
            <a:r>
              <a:rPr lang="en-US" dirty="0"/>
              <a:t>[EMPHASIZE] 'Each one of these is boring on its own. The magic is the chain.'</a:t>
            </a:r>
          </a:p>
          <a:p>
            <a:endParaRPr lang="en-US" dirty="0"/>
          </a:p>
          <a:p>
            <a:r>
              <a:rPr lang="en-US" dirty="0"/>
              <a:t>[TRANSITION] 'Here is how we will walk through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n-US" b="1" dirty="0"/>
              <a:t>DDL</a:t>
            </a:r>
            <a:r>
              <a:rPr lang="en-US" dirty="0"/>
              <a:t>: </a:t>
            </a:r>
            <a:r>
              <a:rPr lang="en-US" sz="1200" b="0" i="0" kern="1200" dirty="0">
                <a:solidFill>
                  <a:schemeClr val="tx1"/>
                </a:solidFill>
                <a:effectLst/>
                <a:latin typeface="+mn-lt"/>
                <a:ea typeface="+mn-ea"/>
                <a:cs typeface="+mn-cs"/>
              </a:rPr>
              <a:t>Data Definition Language</a:t>
            </a:r>
          </a:p>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0EC0F-DA0D-0A76-E806-8E6CBDDFF5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61CA3-11A4-AE5B-BC7E-4E722A78C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DEF67-09CC-E136-C2C8-BC26E99D71A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97547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Console] Alt-tab to Visual Studio. Make sure Chat.Console.OpenAI is already loaded and the font is LARGE.</a:t>
            </a:r>
          </a:p>
          <a:p>
            <a:endParaRPr lang="en-US" dirty="0"/>
          </a:p>
          <a:p>
            <a:r>
              <a:rPr lang="en-US" dirty="0"/>
              <a:t>Step 1: Start the app. Let them see the prompt blink.</a:t>
            </a:r>
          </a:p>
          <a:p>
            <a:r>
              <a:rPr lang="en-US" dirty="0"/>
              <a:t>Step 2: Type 'top 10 customers by revenue' slowly, so people can read.</a:t>
            </a:r>
          </a:p>
          <a:p>
            <a:r>
              <a:rPr lang="en-US" dirty="0"/>
              <a:t>Step 3: Pause before hitting enter. Ask: 'What SQL do you expect?'</a:t>
            </a:r>
          </a:p>
          <a:p>
            <a:r>
              <a:rPr lang="en-US" dirty="0"/>
              <a:t>Step 4: Hit enter. The generated SQL appears.</a:t>
            </a:r>
          </a:p>
          <a:p>
            <a:endParaRPr lang="en-US" dirty="0"/>
          </a:p>
          <a:p>
            <a:r>
              <a:rPr lang="en-US" dirty="0"/>
              <a:t>[TRUST MOMENT] Stop. Read the SQL out loud. Then ask the audience:</a:t>
            </a:r>
          </a:p>
          <a:p>
            <a:r>
              <a:rPr lang="en-US" dirty="0"/>
              <a:t>'Would you run this in production?'</a:t>
            </a:r>
          </a:p>
          <a:p>
            <a:endParaRPr lang="en-US" dirty="0"/>
          </a:p>
          <a:p>
            <a:r>
              <a:rPr lang="en-US" dirty="0"/>
              <a:t>[PAUSE 3s] Let them sit with it. Some will say yes, some no.</a:t>
            </a:r>
          </a:p>
          <a:p>
            <a:endParaRPr lang="en-US" dirty="0"/>
          </a:p>
          <a:p>
            <a:r>
              <a:rPr lang="en-US" dirty="0"/>
              <a:t>Then: 'Right — we would not trust it blindly. That is why the next stage is validation.'</a:t>
            </a:r>
          </a:p>
          <a:p>
            <a:endParaRPr lang="en-US" dirty="0"/>
          </a:p>
          <a:p>
            <a:r>
              <a:rPr lang="en-US" dirty="0"/>
              <a:t>[CUE] Point back to the pipeline slide mentally: we just completed Schema → Prompt → LLM → SQL. Validation is next.</a:t>
            </a:r>
          </a:p>
          <a:p>
            <a:endParaRPr lang="en-US" dirty="0"/>
          </a:p>
          <a:p>
            <a:r>
              <a:rPr lang="en-US" dirty="0"/>
              <a:t>Keep the console running — we'll use the same session for validation + execution.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you just saw is inspectable. Testable. Replaceable. You can swap the LLM. You can add a cache in front of it. You can unit-test the validator.</a:t>
            </a:r>
          </a:p>
          <a:p>
            <a:endParaRPr lang="en-US" dirty="0"/>
          </a:p>
          <a:p>
            <a:r>
              <a:rPr lang="en-US" dirty="0"/>
              <a:t>When something goes wrong in production — and it will — you can open a log and see exactly which stage failed.</a:t>
            </a:r>
          </a:p>
          <a:p>
            <a:endParaRPr lang="en-US" dirty="0"/>
          </a:p>
          <a:p>
            <a:r>
              <a:rPr lang="en-US" dirty="0"/>
              <a:t>That is why this works in an enterprise context. Because it stops being AI and starts being software.</a:t>
            </a:r>
          </a:p>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Architects in the room, this slide is for you.</a:t>
            </a:r>
          </a:p>
          <a:p>
            <a:endParaRPr lang="en-US" dirty="0"/>
          </a:p>
          <a:p>
            <a:r>
              <a:rPr lang="en-US" dirty="0"/>
              <a:t>Three layers. Walk through top to bottom:</a:t>
            </a:r>
          </a:p>
          <a:p>
            <a:endParaRPr lang="en-US" dirty="0"/>
          </a:p>
          <a:p>
            <a:r>
              <a:rPr lang="en-US" dirty="0"/>
              <a:t>Layer 1 — Intake. The only layer that touches the user and the database schema. It answers: 'What did they ask, and what do we know about the data?'</a:t>
            </a:r>
          </a:p>
          <a:p>
            <a:endParaRPr lang="en-US" dirty="0"/>
          </a:p>
          <a:p>
            <a:r>
              <a:rPr lang="en-US" dirty="0"/>
              <a:t>Layer 2 — Brain. The LLM lives here, and so does the validator. Input: user intent plus schema. Output: safe SQL. Nothing else gets in or out.</a:t>
            </a:r>
          </a:p>
          <a:p>
            <a:endParaRPr lang="en-US" dirty="0"/>
          </a:p>
          <a:p>
            <a:r>
              <a:rPr lang="en-US" dirty="0"/>
              <a:t>Layer 3 — Output. Runs the query, formats the results, feeds downstream consumers like Excel or charts.</a:t>
            </a:r>
          </a:p>
          <a:p>
            <a:endParaRPr lang="en-US" dirty="0"/>
          </a:p>
          <a:p>
            <a:r>
              <a:rPr lang="en-US" dirty="0"/>
              <a:t>[EMPHASIZE] Read the bottom strip: 'Swap the LLM, swap the database, swap the UI — the contract between layers stays the same.'</a:t>
            </a:r>
          </a:p>
          <a:p>
            <a:endParaRPr lang="en-US" dirty="0"/>
          </a:p>
          <a:p>
            <a:r>
              <a:rPr lang="en-US" dirty="0"/>
              <a:t>'Which means when OpenAI releases a better model next week, you change one class. When you move from SQL Server to Postgres, you change one class. That is the win.'</a:t>
            </a:r>
          </a:p>
          <a:p>
            <a:endParaRPr lang="en-US" dirty="0"/>
          </a:p>
          <a:p>
            <a:r>
              <a:rPr lang="en-US" dirty="0"/>
              <a:t>[TRANSITION] 'And because the layers are clean, this whole thing fits in one NuGet module.'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Switch to the Blazor browser window. Make sure the mic permission is already granted before the talk.</a:t>
            </a:r>
          </a:p>
          <a:p>
            <a:endParaRPr lang="en-US" dirty="0"/>
          </a:p>
          <a:p>
            <a:r>
              <a:rPr lang="en-US" dirty="0"/>
              <a:t>Demo script — roughly 4 minutes total:</a:t>
            </a:r>
          </a:p>
          <a:p>
            <a:endParaRPr lang="en-US" dirty="0"/>
          </a:p>
          <a:p>
            <a:r>
              <a:rPr lang="en-US" dirty="0"/>
              <a:t>1. Click the mic button. Say clearly: 'Show me sales trends for the last six months.'</a:t>
            </a:r>
          </a:p>
          <a:p>
            <a:r>
              <a:rPr lang="en-US" dirty="0"/>
              <a:t>2. Let the audience watch the transcription appear.</a:t>
            </a:r>
          </a:p>
          <a:p>
            <a:r>
              <a:rPr lang="en-US" dirty="0"/>
              <a:t>3. Show the SQL it generated (same pipeline as before — point this out).</a:t>
            </a:r>
          </a:p>
          <a:p>
            <a:r>
              <a:rPr lang="en-US" dirty="0"/>
              <a:t>4. Watch the table render.</a:t>
            </a:r>
          </a:p>
          <a:p>
            <a:r>
              <a:rPr lang="en-US" dirty="0"/>
              <a:t>5. Switch to the chart tab — the 'wow' moment.</a:t>
            </a:r>
          </a:p>
          <a:p>
            <a:r>
              <a:rPr lang="en-US" dirty="0"/>
              <a:t>6. Click Export to Excel. Open the file briefly so they see it's real.</a:t>
            </a:r>
          </a:p>
          <a:p>
            <a:endParaRPr lang="en-US" dirty="0"/>
          </a:p>
          <a:p>
            <a:r>
              <a:rPr lang="en-US" dirty="0"/>
              <a:t>[EMPHASIZE] 'Voice in. Chart out. Spreadsheet in my downloads folder. Zero SQL.'</a:t>
            </a:r>
          </a:p>
          <a:p>
            <a:endParaRPr lang="en-US" dirty="0"/>
          </a:p>
          <a:p>
            <a:r>
              <a:rPr lang="en-US" dirty="0"/>
              <a:t>[FALLBACK] If the mic fails, just type the query. Don't panic. Say: 'Let me type this instead.'</a:t>
            </a:r>
          </a:p>
          <a:p>
            <a:endParaRPr lang="en-US" dirty="0"/>
          </a:p>
          <a:p>
            <a:r>
              <a:rPr lang="en-US" dirty="0"/>
              <a:t>[TRANSITION] Return to slides. 'Why does this feel different from the console? Let's talk about UX.'</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demo: the product. Same backend, but now with voice input, live charts, and Excel export. This is what you'd actually ship to business users.'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app proved the pipeline works. </a:t>
            </a:r>
          </a:p>
          <a:p>
            <a:r>
              <a:rPr lang="en-US" dirty="0"/>
              <a:t>That demo was a stripped-down version to show the concept in its purest form, without any technological complexities.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Slow down here. The audience just saw something cool — give them a moment to integrate it.</a:t>
            </a:r>
          </a:p>
          <a:p>
            <a:endParaRPr lang="en-US" dirty="0"/>
          </a:p>
          <a:p>
            <a:r>
              <a:rPr lang="en-US" dirty="0"/>
              <a:t>Three UX truths this project taught me:</a:t>
            </a:r>
          </a:p>
          <a:p>
            <a:endParaRPr lang="en-US" dirty="0"/>
          </a:p>
          <a:p>
            <a:r>
              <a:rPr lang="en-US" dirty="0"/>
              <a:t>- Simplicity wins. The user types or speaks. That's it. No dropdowns, no filters, no form fields.</a:t>
            </a:r>
          </a:p>
          <a:p>
            <a:r>
              <a:rPr lang="en-US" dirty="0"/>
              <a:t>- Instant feedback. Show the SQL. Show the table. Show the chart. Never leave the user staring at a spinner with no context.</a:t>
            </a:r>
          </a:p>
          <a:p>
            <a:r>
              <a:rPr lang="en-US" dirty="0"/>
              <a:t>- Trust in results. Every answer can be inspected — show me the query, show me the row count, let me verify.</a:t>
            </a:r>
          </a:p>
          <a:p>
            <a:endParaRPr lang="en-US" dirty="0"/>
          </a:p>
          <a:p>
            <a:r>
              <a:rPr lang="en-US" dirty="0"/>
              <a:t>[EMPHASIZE] 'The tech is the LLM. The product is the trust.'</a:t>
            </a:r>
          </a:p>
          <a:p>
            <a:endParaRPr lang="en-US" dirty="0"/>
          </a:p>
          <a:p>
            <a:r>
              <a:rPr lang="en-US" dirty="0"/>
              <a:t>[TRANSITION] 'So where does this actually fit in the real world?'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This is where you connect the demo to their day job. Tailor the examples to the room if you can — if you know someone works in finance, lean on that one.</a:t>
            </a:r>
          </a:p>
          <a:p>
            <a:endParaRPr lang="en-US" dirty="0"/>
          </a:p>
          <a:p>
            <a:r>
              <a:rPr lang="en-US" dirty="0"/>
              <a:t>Four places this pattern ships today:</a:t>
            </a:r>
          </a:p>
          <a:p>
            <a:endParaRPr lang="en-US" dirty="0"/>
          </a:p>
          <a:p>
            <a:r>
              <a:rPr lang="en-US" dirty="0"/>
              <a:t>- Admin dashboards — internal tools where PMs, ops, and support staff self-serve data</a:t>
            </a:r>
          </a:p>
          <a:p>
            <a:r>
              <a:rPr lang="en-US" dirty="0"/>
              <a:t>- Customer support — '/lookup everything for account 1234' without a Slack ticket to engineering</a:t>
            </a:r>
          </a:p>
          <a:p>
            <a:r>
              <a:rPr lang="en-US" dirty="0"/>
              <a:t>- Finance and BI — replacing half-built Power BI reports that nobody maintains</a:t>
            </a:r>
          </a:p>
          <a:p>
            <a:r>
              <a:rPr lang="en-US" dirty="0"/>
              <a:t>- Sales ops — 'what's my pipeline this quarter?' asked and answered in five seconds</a:t>
            </a:r>
          </a:p>
          <a:p>
            <a:endParaRPr lang="en-US" dirty="0"/>
          </a:p>
          <a:p>
            <a:r>
              <a:rPr lang="en-US" dirty="0"/>
              <a:t>[EMPHASIZE] 'Every company you've worked at had this need. You just didn't have the tools to solve it cheaply. Now you do.’</a:t>
            </a:r>
          </a:p>
          <a:p>
            <a:endParaRPr lang="en-US" dirty="0"/>
          </a:p>
          <a:p>
            <a:r>
              <a:rPr lang="en-US" b="1" dirty="0"/>
              <a:t>ACTIONS:</a:t>
            </a:r>
          </a:p>
          <a:p>
            <a:pPr marL="171450" indent="-171450">
              <a:buFont typeface="Arial" panose="020B0604020202020204" pitchFamily="34" charset="0"/>
              <a:buChar char="•"/>
            </a:pPr>
            <a:r>
              <a:rPr lang="en-US" dirty="0"/>
              <a:t>Create reservations </a:t>
            </a:r>
          </a:p>
          <a:p>
            <a:pPr marL="171450" indent="-171450">
              <a:buFont typeface="Arial" panose="020B0604020202020204" pitchFamily="34" charset="0"/>
              <a:buChar char="•"/>
            </a:pPr>
            <a:r>
              <a:rPr lang="en-US" dirty="0"/>
              <a:t>Remove spam users </a:t>
            </a:r>
          </a:p>
          <a:p>
            <a:pPr marL="171450" indent="-171450">
              <a:buFont typeface="Arial" panose="020B0604020202020204" pitchFamily="34" charset="0"/>
              <a:buChar char="•"/>
            </a:pPr>
            <a:r>
              <a:rPr lang="en-US" dirty="0"/>
              <a:t>Add/update products</a:t>
            </a:r>
          </a:p>
          <a:p>
            <a:pPr marL="171450" indent="-171450">
              <a:buFont typeface="Arial" panose="020B0604020202020204" pitchFamily="34" charset="0"/>
              <a:buChar char="•"/>
            </a:pPr>
            <a:r>
              <a:rPr lang="en-US" dirty="0"/>
              <a:t>merge duplicate records</a:t>
            </a:r>
          </a:p>
          <a:p>
            <a:pPr marL="171450" indent="-171450">
              <a:buFont typeface="Arial" panose="020B0604020202020204" pitchFamily="34" charset="0"/>
              <a:buChar char="•"/>
            </a:pPr>
            <a:r>
              <a:rPr lang="en-US" dirty="0"/>
              <a:t>Fix invalid phone numbers</a:t>
            </a:r>
          </a:p>
          <a:p>
            <a:pPr marL="171450" indent="-171450">
              <a:buFont typeface="Arial" panose="020B0604020202020204" pitchFamily="34" charset="0"/>
              <a:buChar char="•"/>
            </a:pPr>
            <a:r>
              <a:rPr lang="en-US" dirty="0"/>
              <a:t>Auto create campaigns based on my sales</a:t>
            </a:r>
          </a:p>
          <a:p>
            <a:endParaRPr lang="en-US" dirty="0"/>
          </a:p>
          <a:p>
            <a:r>
              <a:rPr lang="en-US" dirty="0"/>
              <a:t>[TRANSITION] 'Before you go build one — the real talk.'</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b="1" dirty="0"/>
              <a:t>Multi-tenancy &amp; permissions:</a:t>
            </a:r>
            <a:r>
              <a:rPr lang="en-US" dirty="0"/>
              <a:t> </a:t>
            </a:r>
          </a:p>
          <a:p>
            <a:pPr marL="628650" lvl="1" indent="-171450">
              <a:buFontTx/>
              <a:buChar char="-"/>
            </a:pPr>
            <a:r>
              <a:rPr lang="en-US" dirty="0"/>
              <a:t>Give each user separate </a:t>
            </a:r>
            <a:r>
              <a:rPr lang="en-US" u="sng" dirty="0"/>
              <a:t>connection string &amp; permissions </a:t>
            </a:r>
            <a:r>
              <a:rPr lang="en-US" u="none" dirty="0"/>
              <a:t>so you can configure their roles</a:t>
            </a:r>
          </a:p>
          <a:p>
            <a:pPr marL="628650" lvl="1" indent="-171450">
              <a:buFontTx/>
              <a:buChar char="-"/>
            </a:pPr>
            <a:r>
              <a:rPr lang="en-US" dirty="0"/>
              <a:t>Separate </a:t>
            </a:r>
            <a:r>
              <a:rPr lang="en-US" u="sng" dirty="0"/>
              <a:t>sub databases</a:t>
            </a:r>
            <a:r>
              <a:rPr lang="en-US" dirty="0"/>
              <a:t> for specific user groups</a:t>
            </a:r>
          </a:p>
          <a:p>
            <a:pPr marL="628650" lvl="1" indent="-171450">
              <a:buFontTx/>
              <a:buChar char="-"/>
            </a:pPr>
            <a:r>
              <a:rPr lang="en-US" dirty="0"/>
              <a:t>Create &amp; send only </a:t>
            </a:r>
            <a:r>
              <a:rPr lang="en-US" u="sng" dirty="0"/>
              <a:t>views</a:t>
            </a:r>
            <a:r>
              <a:rPr lang="en-US" dirty="0"/>
              <a:t> to AI</a:t>
            </a:r>
          </a:p>
          <a:p>
            <a:pPr marL="628650" lvl="1" indent="-171450">
              <a:buFontTx/>
              <a:buChar char="-"/>
            </a:pPr>
            <a:r>
              <a:rPr lang="en-US" dirty="0"/>
              <a:t>Add </a:t>
            </a:r>
            <a:r>
              <a:rPr lang="en-US" u="sng" dirty="0" err="1"/>
              <a:t>TenantId</a:t>
            </a:r>
            <a:r>
              <a:rPr lang="en-US" dirty="0"/>
              <a:t> to each select query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dirty="0">
                <a:solidFill>
                  <a:srgbClr val="0F172A"/>
                </a:solidFill>
              </a:rPr>
              <a:t>Hallucination:</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b="0" dirty="0">
                <a:solidFill>
                  <a:srgbClr val="0F172A"/>
                </a:solidFill>
              </a:rPr>
              <a:t>Write an MCP also add retry mechanism  </a:t>
            </a:r>
            <a:endParaRPr lang="en-US" dirty="0"/>
          </a:p>
          <a:p>
            <a:pPr marL="171450" lvl="0" indent="-171450">
              <a:buFontTx/>
              <a:buChar char="-"/>
            </a:pPr>
            <a:r>
              <a:rPr lang="en-US" b="1" dirty="0"/>
              <a:t>Ambigous questions:</a:t>
            </a:r>
          </a:p>
          <a:p>
            <a:pPr marL="628650" lvl="1" indent="-171450">
              <a:buFontTx/>
              <a:buChar char="-"/>
            </a:pPr>
            <a:r>
              <a:rPr lang="tr-TR" dirty="0"/>
              <a:t>Most production </a:t>
            </a:r>
            <a:r>
              <a:rPr lang="tr-TR" u="sng" dirty="0"/>
              <a:t>issues are not SQL errors</a:t>
            </a:r>
            <a:r>
              <a:rPr lang="tr-TR" dirty="0"/>
              <a:t>.</a:t>
            </a:r>
            <a:r>
              <a:rPr lang="en-US" dirty="0"/>
              <a:t> </a:t>
            </a:r>
            <a:br>
              <a:rPr lang="en-US" dirty="0"/>
            </a:br>
            <a:r>
              <a:rPr lang="en-US" dirty="0"/>
              <a:t>User's intent is unclear, I don't want the AI to guess. So clarify question first</a:t>
            </a:r>
          </a:p>
          <a:p>
            <a:pPr marL="171450" lvl="0" indent="-171450">
              <a:buFontTx/>
              <a:buChar char="-"/>
            </a:pPr>
            <a:r>
              <a:rPr lang="en-US" sz="1200" b="1" dirty="0">
                <a:solidFill>
                  <a:srgbClr val="0F172A"/>
                </a:solidFill>
              </a:rPr>
              <a:t>Cost &amp; Latency:</a:t>
            </a:r>
          </a:p>
          <a:p>
            <a:pPr marL="628650" lvl="1" indent="-171450">
              <a:buFontTx/>
              <a:buChar char="-"/>
            </a:pPr>
            <a:r>
              <a:rPr lang="en-US" dirty="0"/>
              <a:t>LLM latency + query latency compounds. Cache aggressively.</a:t>
            </a:r>
          </a:p>
          <a:p>
            <a:pPr marL="171450" lvl="0" indent="-171450">
              <a:buFontTx/>
              <a:buChar char="-"/>
            </a:pPr>
            <a:r>
              <a:rPr lang="en-US" sz="1200" b="1" dirty="0"/>
              <a:t>Confidential data </a:t>
            </a:r>
          </a:p>
          <a:p>
            <a:pPr marL="628650" lvl="1" indent="-171450">
              <a:buFontTx/>
              <a:buChar char="-"/>
            </a:pPr>
            <a:r>
              <a:rPr lang="en-US" b="0" dirty="0"/>
              <a:t>You’ll send only your </a:t>
            </a:r>
            <a:r>
              <a:rPr lang="en-US" b="0" dirty="0" err="1"/>
              <a:t>table,column</a:t>
            </a:r>
            <a:r>
              <a:rPr lang="en-US" b="0" dirty="0"/>
              <a:t> names not the data. But if still an issue, use local LLM</a:t>
            </a:r>
          </a:p>
          <a:p>
            <a:pPr marL="171450" lvl="0" indent="-171450">
              <a:buFontTx/>
              <a:buChar char="-"/>
            </a:pPr>
            <a:endParaRPr 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E6FE7-4DB1-C986-0D9D-A9F7F9D968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B0D34D-AE0E-95FA-F928-940DA51947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0C2184-F1D6-D5AB-4837-38DFF2D26EDC}"/>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600" b="1" dirty="0">
                <a:solidFill>
                  <a:srgbClr val="0F172A"/>
                </a:solidFill>
              </a:rPr>
              <a:t>Validate queries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600" b="0" dirty="0"/>
              <a:t>Block unsafe queries before execution.</a:t>
            </a:r>
            <a:r>
              <a:rPr lang="en-US" sz="1600" dirty="0"/>
              <a:t> Allow only SELECT </a:t>
            </a:r>
          </a:p>
          <a:p>
            <a:pPr marL="171450" lvl="0" indent="-171450">
              <a:buFontTx/>
              <a:buChar char="-"/>
            </a:pPr>
            <a:r>
              <a:rPr lang="en-US" sz="1200" b="1" dirty="0">
                <a:solidFill>
                  <a:srgbClr val="0F172A"/>
                </a:solidFill>
              </a:rPr>
              <a:t>Read-only DB user </a:t>
            </a:r>
          </a:p>
          <a:p>
            <a:pPr marL="628650" lvl="1" indent="-171450">
              <a:buFontTx/>
              <a:buChar char="-"/>
            </a:pPr>
            <a:r>
              <a:rPr lang="en-US" sz="1200" b="0" dirty="0">
                <a:solidFill>
                  <a:srgbClr val="0F172A"/>
                </a:solidFill>
              </a:rPr>
              <a:t>Set connection string read-only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600" b="1" dirty="0"/>
              <a:t>Human in the loop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475569"/>
                </a:solidFill>
              </a:rPr>
              <a:t>First versions require human-approved queries</a:t>
            </a:r>
            <a:endParaRPr lang="en-US" b="1" dirty="0"/>
          </a:p>
          <a:p>
            <a:pPr marL="171450" lvl="0" indent="-171450">
              <a:buFontTx/>
              <a:buChar char="-"/>
            </a:pPr>
            <a:r>
              <a:rPr lang="en-US" sz="1200" b="1" dirty="0">
                <a:solidFill>
                  <a:srgbClr val="0F172A"/>
                </a:solidFill>
              </a:rPr>
              <a:t>Enforce limits:</a:t>
            </a:r>
          </a:p>
          <a:p>
            <a:pPr marL="628650" lvl="1" indent="-171450">
              <a:buFontTx/>
              <a:buChar char="-"/>
            </a:pPr>
            <a:r>
              <a:rPr lang="en-US" sz="1200" b="0" dirty="0">
                <a:solidFill>
                  <a:srgbClr val="0F172A"/>
                </a:solidFill>
              </a:rPr>
              <a:t>Limit row count and set a timeout</a:t>
            </a:r>
            <a:endParaRPr lang="en-US" sz="1200" b="1" dirty="0">
              <a:solidFill>
                <a:srgbClr val="0F172A"/>
              </a:solidFill>
            </a:endParaRPr>
          </a:p>
          <a:p>
            <a:pPr marL="171450" lvl="0" indent="-171450">
              <a:buFontTx/>
              <a:buChar char="-"/>
            </a:pPr>
            <a:r>
              <a:rPr lang="en-US" sz="1200" b="1" dirty="0">
                <a:solidFill>
                  <a:srgbClr val="0F172A"/>
                </a:solidFill>
              </a:rPr>
              <a:t>Log everything </a:t>
            </a:r>
          </a:p>
          <a:p>
            <a:pPr marL="628650" lvl="1" indent="-171450">
              <a:buFontTx/>
              <a:buChar char="-"/>
            </a:pPr>
            <a:r>
              <a:rPr lang="en-US" sz="1200" b="0" dirty="0">
                <a:solidFill>
                  <a:srgbClr val="0F172A"/>
                </a:solidFill>
              </a:rPr>
              <a:t>For debugging and improve the system </a:t>
            </a:r>
          </a:p>
          <a:p>
            <a:pPr marL="171450" lvl="0" indent="-171450">
              <a:buFontTx/>
              <a:buChar char="-"/>
            </a:pPr>
            <a:r>
              <a:rPr lang="en-US" sz="1200" b="1" dirty="0">
                <a:solidFill>
                  <a:srgbClr val="0F172A"/>
                </a:solidFill>
              </a:rPr>
              <a:t>Save working queries</a:t>
            </a:r>
          </a:p>
          <a:p>
            <a:pPr marL="628650" lvl="1" indent="-171450">
              <a:buFontTx/>
              <a:buChar char="-"/>
            </a:pPr>
            <a:r>
              <a:rPr lang="en-US" sz="1200" b="0" dirty="0">
                <a:solidFill>
                  <a:srgbClr val="0F172A"/>
                </a:solidFill>
              </a:rPr>
              <a:t>Save user queries and SQL so people can re-run, they can share the working queries</a:t>
            </a:r>
          </a:p>
          <a:p>
            <a:pPr marL="171450" lvl="0" indent="-171450">
              <a:buFontTx/>
              <a:buChar char="-"/>
            </a:pPr>
            <a:r>
              <a:rPr lang="en-US" sz="1200" b="1" dirty="0">
                <a:solidFill>
                  <a:srgbClr val="0F172A"/>
                </a:solidFill>
              </a:rPr>
              <a:t>Start small </a:t>
            </a:r>
            <a:endParaRPr lang="en-US" dirty="0"/>
          </a:p>
          <a:p>
            <a:pPr marL="628650" lvl="1" indent="-171450">
              <a:buFontTx/>
              <a:buChar char="-"/>
            </a:pPr>
            <a:r>
              <a:rPr lang="en-US" dirty="0"/>
              <a:t>Ship the ugly version first.</a:t>
            </a:r>
          </a:p>
        </p:txBody>
      </p:sp>
    </p:spTree>
    <p:extLst>
      <p:ext uri="{BB962C8B-B14F-4D97-AF65-F5344CB8AC3E}">
        <p14:creationId xmlns:p14="http://schemas.microsoft.com/office/powerpoint/2010/main" val="414703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DACCD-50D9-449C-5E0D-B9DC76464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8E7DD-B1D7-47D1-28A9-EACCEF105D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E8918-788F-0C91-29DB-7E2A9BB9AD78}"/>
              </a:ext>
            </a:extLst>
          </p:cNvPr>
          <p:cNvSpPr>
            <a:spLocks noGrp="1"/>
          </p:cNvSpPr>
          <p:nvPr>
            <p:ph type="body" idx="1"/>
          </p:nvPr>
        </p:nvSpPr>
        <p:spPr/>
        <p:txBody>
          <a:bodyPr/>
          <a:lstStyle/>
          <a:p>
            <a:r>
              <a:rPr lang="en-US" dirty="0"/>
              <a:t>Right now we are cautious about using AI, just like we did when ATM machines first came out, but in the future AI will be a reliable part of our systems.</a:t>
            </a:r>
          </a:p>
        </p:txBody>
      </p:sp>
    </p:spTree>
    <p:extLst>
      <p:ext uri="{BB962C8B-B14F-4D97-AF65-F5344CB8AC3E}">
        <p14:creationId xmlns:p14="http://schemas.microsoft.com/office/powerpoint/2010/main" val="5761463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08987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277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Tree>
    <p:extLst>
      <p:ext uri="{BB962C8B-B14F-4D97-AF65-F5344CB8AC3E}">
        <p14:creationId xmlns:p14="http://schemas.microsoft.com/office/powerpoint/2010/main" val="5492620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21F5F-D53B-EC38-2AA3-5FE1BA2511F7}"/>
              </a:ext>
            </a:extLst>
          </p:cNvPr>
          <p:cNvSpPr>
            <a:spLocks noGrp="1"/>
          </p:cNvSpPr>
          <p:nvPr>
            <p:ph type="title"/>
          </p:nvPr>
        </p:nvSpPr>
        <p:spPr/>
        <p:txBody>
          <a:bodyPr/>
          <a:lstStyle/>
          <a:p>
            <a:r>
              <a:rPr lang="en-US" dirty="0"/>
              <a:t>Click to edit Master title style</a:t>
            </a:r>
            <a:endParaRPr lang="tr-TR" dirty="0"/>
          </a:p>
        </p:txBody>
      </p:sp>
    </p:spTree>
    <p:extLst>
      <p:ext uri="{BB962C8B-B14F-4D97-AF65-F5344CB8AC3E}">
        <p14:creationId xmlns:p14="http://schemas.microsoft.com/office/powerpoint/2010/main" val="3744813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72972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image" Target="../media/image4.png"/><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05570F-08DF-C25C-7EA2-5D2EAFC9C5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tr-TR"/>
          </a:p>
        </p:txBody>
      </p:sp>
      <p:sp>
        <p:nvSpPr>
          <p:cNvPr id="3" name="Text Placeholder 2">
            <a:extLst>
              <a:ext uri="{FF2B5EF4-FFF2-40B4-BE49-F238E27FC236}">
                <a16:creationId xmlns:a16="http://schemas.microsoft.com/office/drawing/2014/main" id="{5C334B50-5538-83C8-3AA5-0C3617709D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
        <p:nvSpPr>
          <p:cNvPr id="900" name="AccentBar"/>
          <p:cNvSpPr/>
          <p:nvPr userDrawn="1"/>
        </p:nvSpPr>
        <p:spPr>
          <a:xfrm>
            <a:off x="0" y="0"/>
            <a:ext cx="76200" cy="6858000"/>
          </a:xfrm>
          <a:prstGeom prst="rect">
            <a:avLst/>
          </a:prstGeom>
          <a:solidFill>
            <a:srgbClr val="22D3EE"/>
          </a:solidFill>
          <a:ln>
            <a:noFill/>
          </a:ln>
        </p:spPr>
        <p:txBody>
          <a:bodyPr/>
          <a:lstStyle/>
          <a:p>
            <a:endParaRPr lang="en-US"/>
          </a:p>
        </p:txBody>
      </p:sp>
      <p:sp>
        <p:nvSpPr>
          <p:cNvPr id="901" name="FooterLine"/>
          <p:cNvSpPr/>
          <p:nvPr userDrawn="1"/>
        </p:nvSpPr>
        <p:spPr>
          <a:xfrm>
            <a:off x="457200" y="6400800"/>
            <a:ext cx="10944000" cy="12700"/>
          </a:xfrm>
          <a:prstGeom prst="rect">
            <a:avLst/>
          </a:prstGeom>
          <a:solidFill>
            <a:srgbClr val="E2E8F0"/>
          </a:solidFill>
          <a:ln>
            <a:noFill/>
          </a:ln>
        </p:spPr>
        <p:txBody>
          <a:bodyPr/>
          <a:lstStyle/>
          <a:p>
            <a:endParaRPr lang="en-US"/>
          </a:p>
        </p:txBody>
      </p:sp>
      <p:pic>
        <p:nvPicPr>
          <p:cNvPr id="8" name="Picture 7">
            <a:extLst>
              <a:ext uri="{FF2B5EF4-FFF2-40B4-BE49-F238E27FC236}">
                <a16:creationId xmlns:a16="http://schemas.microsoft.com/office/drawing/2014/main" id="{A7FED691-C0E0-6840-99E9-4DBDDDE0DA22}"/>
              </a:ext>
            </a:extLst>
          </p:cNvPr>
          <p:cNvPicPr>
            <a:picLocks noChangeAspect="1"/>
          </p:cNvPicPr>
          <p:nvPr userDrawn="1"/>
        </p:nvPicPr>
        <p:blipFill>
          <a:blip r:embed="rId7"/>
          <a:stretch>
            <a:fillRect/>
          </a:stretch>
        </p:blipFill>
        <p:spPr>
          <a:xfrm>
            <a:off x="11506200" y="6162963"/>
            <a:ext cx="609600" cy="628073"/>
          </a:xfrm>
          <a:prstGeom prst="rect">
            <a:avLst/>
          </a:prstGeom>
        </p:spPr>
      </p:pic>
      <p:grpSp>
        <p:nvGrpSpPr>
          <p:cNvPr id="18" name="Group 17">
            <a:extLst>
              <a:ext uri="{FF2B5EF4-FFF2-40B4-BE49-F238E27FC236}">
                <a16:creationId xmlns:a16="http://schemas.microsoft.com/office/drawing/2014/main" id="{1CE886C5-2598-F494-A9A1-5E24B33FE50D}"/>
              </a:ext>
            </a:extLst>
          </p:cNvPr>
          <p:cNvGrpSpPr/>
          <p:nvPr userDrawn="1"/>
        </p:nvGrpSpPr>
        <p:grpSpPr>
          <a:xfrm>
            <a:off x="1378291" y="6469052"/>
            <a:ext cx="10702016" cy="262113"/>
            <a:chOff x="654270" y="6494874"/>
            <a:chExt cx="10702016" cy="262113"/>
          </a:xfrm>
        </p:grpSpPr>
        <p:sp>
          <p:nvSpPr>
            <p:cNvPr id="902" name="FooterBrand"/>
            <p:cNvSpPr txBox="1"/>
            <p:nvPr userDrawn="1"/>
          </p:nvSpPr>
          <p:spPr>
            <a:xfrm>
              <a:off x="891486" y="6511337"/>
              <a:ext cx="10464800" cy="219075"/>
            </a:xfrm>
            <a:prstGeom prst="rect">
              <a:avLst/>
            </a:prstGeom>
            <a:noFill/>
          </p:spPr>
          <p:txBody>
            <a:bodyPr wrap="square" rtlCol="0" anchor="ctr"/>
            <a:lstStyle/>
            <a:p>
              <a:pPr algn="l"/>
              <a:r>
                <a:rPr lang="en-US" sz="900" b="0" dirty="0">
                  <a:solidFill>
                    <a:srgbClr val="94A3B8"/>
                  </a:solidFill>
                </a:rPr>
                <a:t>x.com/</a:t>
              </a:r>
              <a:r>
                <a:rPr lang="en-US" sz="900" b="0" kern="1200" dirty="0">
                  <a:solidFill>
                    <a:srgbClr val="94A3B8"/>
                  </a:solidFill>
                  <a:latin typeface="+mn-lt"/>
                  <a:ea typeface="+mn-ea"/>
                  <a:cs typeface="+mn-cs"/>
                </a:rPr>
                <a:t>alperebicoglu              linkedin.com/in/ebicoglu            </a:t>
              </a:r>
              <a:r>
                <a:rPr lang="en-US" sz="900" b="0" dirty="0">
                  <a:solidFill>
                    <a:srgbClr val="94A3B8"/>
                  </a:solidFill>
                </a:rPr>
                <a:t>github.com/ebicoglu/chat-with-your-data-conference</a:t>
              </a:r>
            </a:p>
          </p:txBody>
        </p:sp>
        <p:pic>
          <p:nvPicPr>
            <p:cNvPr id="5" name="Picture 4">
              <a:extLst>
                <a:ext uri="{FF2B5EF4-FFF2-40B4-BE49-F238E27FC236}">
                  <a16:creationId xmlns:a16="http://schemas.microsoft.com/office/drawing/2014/main" id="{E8725AAA-9B52-3C9A-A7D9-C2C142FC2ADC}"/>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654270" y="6504987"/>
              <a:ext cx="350609" cy="252000"/>
            </a:xfrm>
            <a:prstGeom prst="rect">
              <a:avLst/>
            </a:prstGeom>
          </p:spPr>
        </p:pic>
        <p:pic>
          <p:nvPicPr>
            <p:cNvPr id="15" name="Picture 14">
              <a:extLst>
                <a:ext uri="{FF2B5EF4-FFF2-40B4-BE49-F238E27FC236}">
                  <a16:creationId xmlns:a16="http://schemas.microsoft.com/office/drawing/2014/main" id="{40A8F75C-9B58-C600-54B5-CE0E5D0DA8D8}"/>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3917931" y="6511337"/>
              <a:ext cx="216000" cy="216000"/>
            </a:xfrm>
            <a:prstGeom prst="rect">
              <a:avLst/>
            </a:prstGeom>
          </p:spPr>
        </p:pic>
        <p:pic>
          <p:nvPicPr>
            <p:cNvPr id="17" name="Picture 16">
              <a:extLst>
                <a:ext uri="{FF2B5EF4-FFF2-40B4-BE49-F238E27FC236}">
                  <a16:creationId xmlns:a16="http://schemas.microsoft.com/office/drawing/2014/main" id="{DF4FC347-DD64-638C-015A-7C22311CC7D4}"/>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2198158" y="6494874"/>
              <a:ext cx="252000" cy="252000"/>
            </a:xfrm>
            <a:prstGeom prst="rect">
              <a:avLst/>
            </a:prstGeom>
          </p:spPr>
        </p:pic>
      </p:grpSp>
      <p:sp>
        <p:nvSpPr>
          <p:cNvPr id="20" name="TextBox 19">
            <a:extLst>
              <a:ext uri="{FF2B5EF4-FFF2-40B4-BE49-F238E27FC236}">
                <a16:creationId xmlns:a16="http://schemas.microsoft.com/office/drawing/2014/main" id="{0D6E01B1-894A-0EF4-9580-4FE31CF0E02C}"/>
              </a:ext>
            </a:extLst>
          </p:cNvPr>
          <p:cNvSpPr txBox="1"/>
          <p:nvPr userDrawn="1"/>
        </p:nvSpPr>
        <p:spPr>
          <a:xfrm>
            <a:off x="408843" y="6476999"/>
            <a:ext cx="1959137" cy="246221"/>
          </a:xfrm>
          <a:prstGeom prst="rect">
            <a:avLst/>
          </a:prstGeom>
          <a:noFill/>
        </p:spPr>
        <p:txBody>
          <a:bodyPr wrap="square">
            <a:spAutoFit/>
          </a:bodyPr>
          <a:lstStyle/>
          <a:p>
            <a:r>
              <a:rPr lang="en-US" sz="1000" b="0" kern="1200" dirty="0">
                <a:solidFill>
                  <a:srgbClr val="94A3B8"/>
                </a:solidFill>
                <a:latin typeface="+mn-lt"/>
                <a:ea typeface="+mn-ea"/>
                <a:cs typeface="+mn-cs"/>
              </a:rPr>
              <a:t>Alper Ebicoglu</a:t>
            </a:r>
            <a:endParaRPr lang="en-US" sz="1000" dirty="0"/>
          </a:p>
        </p:txBody>
      </p:sp>
    </p:spTree>
    <p:extLst>
      <p:ext uri="{BB962C8B-B14F-4D97-AF65-F5344CB8AC3E}">
        <p14:creationId xmlns:p14="http://schemas.microsoft.com/office/powerpoint/2010/main" val="350937625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90" r:id="rId4"/>
    <p:sldLayoutId id="2147483691" r:id="rId5"/>
  </p:sldLayoutIdLst>
  <p:txStyles>
    <p:titleStyle>
      <a:lvl1pPr algn="l" defTabSz="914400" rtl="0" eaLnBrk="1" latinLnBrk="0" hangingPunct="1">
        <a:lnSpc>
          <a:spcPct val="90000"/>
        </a:lnSpc>
        <a:spcBef>
          <a:spcPct val="0"/>
        </a:spcBef>
        <a:buNone/>
        <a:defRPr sz="4400" kern="1200">
          <a:solidFill>
            <a:srgbClr val="0F172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34155"/>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0" name="BG"/>
          <p:cNvSpPr/>
          <p:nvPr/>
        </p:nvSpPr>
        <p:spPr>
          <a:xfrm>
            <a:off x="0" y="0"/>
            <a:ext cx="12192000" cy="6858000"/>
          </a:xfrm>
          <a:prstGeom prst="rect">
            <a:avLst/>
          </a:prstGeom>
          <a:solidFill>
            <a:srgbClr val="FAFBFC"/>
          </a:solidFill>
          <a:ln>
            <a:noFill/>
          </a:ln>
        </p:spPr>
        <p:txBody>
          <a:bodyPr/>
          <a:lstStyle/>
          <a:p>
            <a:endParaRPr lang="en-US"/>
          </a:p>
        </p:txBody>
      </p:sp>
      <p:sp>
        <p:nvSpPr>
          <p:cNvPr id="101" name="LeftPanel"/>
          <p:cNvSpPr/>
          <p:nvPr/>
        </p:nvSpPr>
        <p:spPr>
          <a:xfrm>
            <a:off x="0" y="0"/>
            <a:ext cx="7061200" cy="6858000"/>
          </a:xfrm>
          <a:prstGeom prst="rect">
            <a:avLst/>
          </a:prstGeom>
          <a:solidFill>
            <a:srgbClr val="0F172A"/>
          </a:solidFill>
          <a:ln>
            <a:noFill/>
          </a:ln>
        </p:spPr>
        <p:txBody>
          <a:bodyPr/>
          <a:lstStyle/>
          <a:p>
            <a:endParaRPr lang="en-US" dirty="0"/>
          </a:p>
        </p:txBody>
      </p:sp>
      <p:sp>
        <p:nvSpPr>
          <p:cNvPr id="103" name="VDivider"/>
          <p:cNvSpPr/>
          <p:nvPr/>
        </p:nvSpPr>
        <p:spPr>
          <a:xfrm>
            <a:off x="7025390" y="0"/>
            <a:ext cx="77536" cy="6858000"/>
          </a:xfrm>
          <a:prstGeom prst="rect">
            <a:avLst/>
          </a:prstGeom>
          <a:solidFill>
            <a:srgbClr val="22D3EE"/>
          </a:solidFill>
          <a:ln>
            <a:noFill/>
          </a:ln>
        </p:spPr>
        <p:txBody>
          <a:bodyPr/>
          <a:lstStyle/>
          <a:p>
            <a:endParaRPr lang="en-US"/>
          </a:p>
        </p:txBody>
      </p:sp>
      <p:sp>
        <p:nvSpPr>
          <p:cNvPr id="2" name="Title 1"/>
          <p:cNvSpPr>
            <a:spLocks noGrp="1"/>
          </p:cNvSpPr>
          <p:nvPr>
            <p:ph type="title" idx="4294967295"/>
          </p:nvPr>
        </p:nvSpPr>
        <p:spPr>
          <a:xfrm>
            <a:off x="417158" y="2069179"/>
            <a:ext cx="6466306" cy="833882"/>
          </a:xfrm>
        </p:spPr>
        <p:txBody>
          <a:bodyPr wrap="square" lIns="0" tIns="0" rIns="0" bIns="0" anchor="t">
            <a:normAutofit fontScale="90000"/>
          </a:bodyPr>
          <a:lstStyle/>
          <a:p>
            <a:pPr>
              <a:lnSpc>
                <a:spcPct val="100000"/>
              </a:lnSpc>
            </a:pPr>
            <a:r>
              <a:rPr lang="en-US" sz="5400" b="1" dirty="0">
                <a:solidFill>
                  <a:srgbClr val="FFFFFF"/>
                </a:solidFill>
              </a:rPr>
              <a:t>Chat With Your Data</a:t>
            </a:r>
            <a:br>
              <a:rPr lang="en-US" sz="5400" b="1" dirty="0">
                <a:solidFill>
                  <a:srgbClr val="FFFFFF"/>
                </a:solidFill>
              </a:rPr>
            </a:br>
            <a:endParaRPr lang="en-US" sz="5400" b="1" dirty="0">
              <a:solidFill>
                <a:srgbClr val="22D3EE"/>
              </a:solidFill>
            </a:endParaRPr>
          </a:p>
        </p:txBody>
      </p:sp>
      <p:sp>
        <p:nvSpPr>
          <p:cNvPr id="601" name="SpeakerName"/>
          <p:cNvSpPr txBox="1"/>
          <p:nvPr/>
        </p:nvSpPr>
        <p:spPr>
          <a:xfrm>
            <a:off x="7646604" y="552125"/>
            <a:ext cx="4331829" cy="645028"/>
          </a:xfrm>
          <a:prstGeom prst="rect">
            <a:avLst/>
          </a:prstGeom>
          <a:noFill/>
        </p:spPr>
        <p:txBody>
          <a:bodyPr wrap="square" lIns="0" tIns="0" rIns="0" bIns="0" anchor="t"/>
          <a:lstStyle/>
          <a:p>
            <a:pPr algn="l"/>
            <a:r>
              <a:rPr lang="en-US" sz="4800" b="1" dirty="0">
                <a:solidFill>
                  <a:srgbClr val="0F172A"/>
                </a:solidFill>
              </a:rPr>
              <a:t>Alper </a:t>
            </a:r>
            <a:r>
              <a:rPr lang="en-US" sz="4400" b="1" dirty="0">
                <a:solidFill>
                  <a:srgbClr val="0F172A"/>
                </a:solidFill>
              </a:rPr>
              <a:t>Ebicoglu</a:t>
            </a:r>
            <a:endParaRPr lang="en-US" sz="4800" b="1" dirty="0">
              <a:solidFill>
                <a:srgbClr val="0F172A"/>
              </a:solidFill>
            </a:endParaRPr>
          </a:p>
        </p:txBody>
      </p:sp>
      <p:sp>
        <p:nvSpPr>
          <p:cNvPr id="602" name="SpeakerRole"/>
          <p:cNvSpPr txBox="1"/>
          <p:nvPr/>
        </p:nvSpPr>
        <p:spPr>
          <a:xfrm>
            <a:off x="8403389" y="1346200"/>
            <a:ext cx="2534653" cy="449178"/>
          </a:xfrm>
          <a:prstGeom prst="rect">
            <a:avLst/>
          </a:prstGeom>
          <a:noFill/>
        </p:spPr>
        <p:txBody>
          <a:bodyPr wrap="square" lIns="0" tIns="0" rIns="0" bIns="0" anchor="t"/>
          <a:lstStyle/>
          <a:p>
            <a:pPr algn="l"/>
            <a:r>
              <a:rPr lang="en-US" sz="2000" dirty="0">
                <a:solidFill>
                  <a:srgbClr val="475569"/>
                </a:solidFill>
              </a:rPr>
              <a:t>Co-founder Volosoft</a:t>
            </a:r>
          </a:p>
        </p:txBody>
      </p:sp>
      <p:sp>
        <p:nvSpPr>
          <p:cNvPr id="610" name="RightDiv"/>
          <p:cNvSpPr/>
          <p:nvPr/>
        </p:nvSpPr>
        <p:spPr>
          <a:xfrm>
            <a:off x="7510237" y="2224839"/>
            <a:ext cx="4191000" cy="38100"/>
          </a:xfrm>
          <a:prstGeom prst="rect">
            <a:avLst/>
          </a:prstGeom>
          <a:solidFill>
            <a:srgbClr val="E2E8F0"/>
          </a:solidFill>
          <a:ln>
            <a:noFill/>
          </a:ln>
        </p:spPr>
        <p:txBody>
          <a:bodyPr/>
          <a:lstStyle/>
          <a:p>
            <a:endParaRPr lang="en-US"/>
          </a:p>
        </p:txBody>
      </p:sp>
      <p:sp>
        <p:nvSpPr>
          <p:cNvPr id="620" name="QRLabel"/>
          <p:cNvSpPr txBox="1"/>
          <p:nvPr/>
        </p:nvSpPr>
        <p:spPr>
          <a:xfrm>
            <a:off x="8140700" y="2730500"/>
            <a:ext cx="3048000" cy="279400"/>
          </a:xfrm>
          <a:prstGeom prst="rect">
            <a:avLst/>
          </a:prstGeom>
          <a:noFill/>
        </p:spPr>
        <p:txBody>
          <a:bodyPr wrap="square" lIns="0" tIns="0" rIns="0" bIns="0" anchor="t"/>
          <a:lstStyle/>
          <a:p>
            <a:pPr algn="ctr"/>
            <a:r>
              <a:rPr lang="en-US" sz="1600" b="1" spc="200" dirty="0">
                <a:solidFill>
                  <a:srgbClr val="64748B"/>
                </a:solidFill>
              </a:rPr>
              <a:t>FOLLOW ME on TWITTER</a:t>
            </a:r>
          </a:p>
        </p:txBody>
      </p:sp>
      <p:pic>
        <p:nvPicPr>
          <p:cNvPr id="621" name="QRCode"/>
          <p:cNvPicPr>
            <a:picLocks noChangeAspect="1"/>
          </p:cNvPicPr>
          <p:nvPr/>
        </p:nvPicPr>
        <p:blipFill>
          <a:blip r:embed="rId3"/>
          <a:stretch>
            <a:fillRect/>
          </a:stretch>
        </p:blipFill>
        <p:spPr>
          <a:xfrm>
            <a:off x="8140700" y="3048000"/>
            <a:ext cx="3048000" cy="3048000"/>
          </a:xfrm>
          <a:prstGeom prst="rect">
            <a:avLst/>
          </a:prstGeom>
        </p:spPr>
      </p:pic>
      <p:sp>
        <p:nvSpPr>
          <p:cNvPr id="622" name="QRUrl"/>
          <p:cNvSpPr txBox="1"/>
          <p:nvPr/>
        </p:nvSpPr>
        <p:spPr>
          <a:xfrm>
            <a:off x="7886700" y="6096000"/>
            <a:ext cx="3556000" cy="304800"/>
          </a:xfrm>
          <a:prstGeom prst="rect">
            <a:avLst/>
          </a:prstGeom>
          <a:noFill/>
        </p:spPr>
        <p:txBody>
          <a:bodyPr wrap="square" lIns="0" tIns="0" rIns="0" bIns="0" anchor="t"/>
          <a:lstStyle/>
          <a:p>
            <a:pPr algn="ctr"/>
            <a:r>
              <a:rPr lang="en-US" dirty="0"/>
              <a:t>x.com/</a:t>
            </a:r>
            <a:r>
              <a:rPr lang="en-US" b="1" dirty="0"/>
              <a:t>alperebicoglu</a:t>
            </a:r>
          </a:p>
        </p:txBody>
      </p:sp>
      <p:cxnSp>
        <p:nvCxnSpPr>
          <p:cNvPr id="5" name="Connector: Curved 4">
            <a:extLst>
              <a:ext uri="{FF2B5EF4-FFF2-40B4-BE49-F238E27FC236}">
                <a16:creationId xmlns:a16="http://schemas.microsoft.com/office/drawing/2014/main" id="{2DF1F1EF-0A50-6D19-3F17-37567905D655}"/>
              </a:ext>
            </a:extLst>
          </p:cNvPr>
          <p:cNvCxnSpPr>
            <a:cxnSpLocks/>
          </p:cNvCxnSpPr>
          <p:nvPr/>
        </p:nvCxnSpPr>
        <p:spPr>
          <a:xfrm>
            <a:off x="11309350" y="2938864"/>
            <a:ext cx="12700" cy="1701800"/>
          </a:xfrm>
          <a:prstGeom prst="curvedConnector3">
            <a:avLst>
              <a:gd name="adj1" fmla="val 4392000"/>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4" name="Title 1">
            <a:extLst>
              <a:ext uri="{FF2B5EF4-FFF2-40B4-BE49-F238E27FC236}">
                <a16:creationId xmlns:a16="http://schemas.microsoft.com/office/drawing/2014/main" id="{34921187-6A26-6252-6656-E00ABA11F032}"/>
              </a:ext>
            </a:extLst>
          </p:cNvPr>
          <p:cNvSpPr txBox="1">
            <a:spLocks/>
          </p:cNvSpPr>
          <p:nvPr/>
        </p:nvSpPr>
        <p:spPr>
          <a:xfrm>
            <a:off x="385513" y="3361020"/>
            <a:ext cx="6130716" cy="2939023"/>
          </a:xfrm>
          <a:prstGeom prst="rect">
            <a:avLst/>
          </a:prstGeom>
        </p:spPr>
        <p:txBody>
          <a:bodyPr vert="horz" wrap="square" lIns="0" tIns="0" rIns="0" bIns="0" rtlCol="0" anchor="t">
            <a:normAutofit fontScale="90000" lnSpcReduction="10000"/>
          </a:bodyPr>
          <a:lstStyle>
            <a:lvl1pPr algn="l" defTabSz="914400" rtl="0" eaLnBrk="1" latinLnBrk="0" hangingPunct="1">
              <a:lnSpc>
                <a:spcPct val="90000"/>
              </a:lnSpc>
              <a:spcBef>
                <a:spcPct val="0"/>
              </a:spcBef>
              <a:buNone/>
              <a:defRPr sz="4400" kern="1200">
                <a:solidFill>
                  <a:srgbClr val="0F172A"/>
                </a:solidFill>
                <a:latin typeface="+mj-lt"/>
                <a:ea typeface="+mj-ea"/>
                <a:cs typeface="+mj-cs"/>
              </a:defRPr>
            </a:lvl1pPr>
          </a:lstStyle>
          <a:p>
            <a:pPr>
              <a:lnSpc>
                <a:spcPct val="100000"/>
              </a:lnSpc>
            </a:pPr>
            <a:r>
              <a:rPr lang="en-US" sz="5400" b="1" dirty="0">
                <a:solidFill>
                  <a:srgbClr val="969696"/>
                </a:solidFill>
              </a:rPr>
              <a:t>Building an </a:t>
            </a:r>
            <a:br>
              <a:rPr lang="en-US" sz="5400" b="1" dirty="0">
                <a:solidFill>
                  <a:srgbClr val="969696"/>
                </a:solidFill>
              </a:rPr>
            </a:br>
            <a:r>
              <a:rPr lang="en-US" sz="5400" b="1" dirty="0">
                <a:solidFill>
                  <a:srgbClr val="969696"/>
                </a:solidFill>
              </a:rPr>
              <a:t>AI-Powered </a:t>
            </a:r>
            <a:br>
              <a:rPr lang="en-US" sz="5400" b="1" dirty="0">
                <a:solidFill>
                  <a:srgbClr val="969696"/>
                </a:solidFill>
              </a:rPr>
            </a:br>
            <a:r>
              <a:rPr lang="en-US" sz="5400" b="1" dirty="0">
                <a:solidFill>
                  <a:srgbClr val="969696"/>
                </a:solidFill>
              </a:rPr>
              <a:t>Reporting Tool</a:t>
            </a:r>
            <a:br>
              <a:rPr lang="en-US" sz="5400" b="1" dirty="0">
                <a:solidFill>
                  <a:srgbClr val="969696"/>
                </a:solidFill>
              </a:rPr>
            </a:br>
            <a:r>
              <a:rPr lang="en-US" sz="5400" b="1" dirty="0">
                <a:solidFill>
                  <a:srgbClr val="969696"/>
                </a:solidFill>
              </a:rPr>
              <a:t>with </a:t>
            </a:r>
            <a:r>
              <a:rPr lang="en-US" sz="5400" b="1" dirty="0">
                <a:solidFill>
                  <a:srgbClr val="22D3EE"/>
                </a:solidFill>
              </a:rPr>
              <a:t>.NET</a:t>
            </a:r>
          </a:p>
        </p:txBody>
      </p:sp>
      <p:sp>
        <p:nvSpPr>
          <p:cNvPr id="7" name="RightDiv">
            <a:extLst>
              <a:ext uri="{FF2B5EF4-FFF2-40B4-BE49-F238E27FC236}">
                <a16:creationId xmlns:a16="http://schemas.microsoft.com/office/drawing/2014/main" id="{81A336C0-1FD8-9E05-7B05-6AE3DE21009E}"/>
              </a:ext>
            </a:extLst>
          </p:cNvPr>
          <p:cNvSpPr/>
          <p:nvPr/>
        </p:nvSpPr>
        <p:spPr>
          <a:xfrm>
            <a:off x="418496" y="2934854"/>
            <a:ext cx="6064750" cy="45719"/>
          </a:xfrm>
          <a:prstGeom prst="rect">
            <a:avLst/>
          </a:prstGeom>
          <a:solidFill>
            <a:srgbClr val="64748B"/>
          </a:solidFill>
          <a:ln>
            <a:noFill/>
          </a:ln>
        </p:spPr>
        <p:txBody>
          <a:bodyPr/>
          <a:lstStyle/>
          <a:p>
            <a:endParaRPr lang="en-US"/>
          </a:p>
        </p:txBody>
      </p:sp>
      <p:grpSp>
        <p:nvGrpSpPr>
          <p:cNvPr id="15" name="Group 14">
            <a:extLst>
              <a:ext uri="{FF2B5EF4-FFF2-40B4-BE49-F238E27FC236}">
                <a16:creationId xmlns:a16="http://schemas.microsoft.com/office/drawing/2014/main" id="{4DB2DDE6-6D39-EDF6-D985-9347EAFF6141}"/>
              </a:ext>
            </a:extLst>
          </p:cNvPr>
          <p:cNvGrpSpPr/>
          <p:nvPr/>
        </p:nvGrpSpPr>
        <p:grpSpPr>
          <a:xfrm>
            <a:off x="494672" y="434715"/>
            <a:ext cx="3972394" cy="740703"/>
            <a:chOff x="149902" y="434715"/>
            <a:chExt cx="3972394" cy="740703"/>
          </a:xfrm>
        </p:grpSpPr>
        <p:pic>
          <p:nvPicPr>
            <p:cNvPr id="9" name="Picture 8">
              <a:extLst>
                <a:ext uri="{FF2B5EF4-FFF2-40B4-BE49-F238E27FC236}">
                  <a16:creationId xmlns:a16="http://schemas.microsoft.com/office/drawing/2014/main" id="{4F262270-2380-BEC7-8F4D-49B39F8C35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6561" y="638426"/>
              <a:ext cx="1227183" cy="399548"/>
            </a:xfrm>
            <a:prstGeom prst="rect">
              <a:avLst/>
            </a:prstGeom>
          </p:spPr>
        </p:pic>
        <p:sp>
          <p:nvSpPr>
            <p:cNvPr id="11" name="Title 1">
              <a:extLst>
                <a:ext uri="{FF2B5EF4-FFF2-40B4-BE49-F238E27FC236}">
                  <a16:creationId xmlns:a16="http://schemas.microsoft.com/office/drawing/2014/main" id="{007C78D5-35CA-9D43-E2D2-46490500DC37}"/>
                </a:ext>
              </a:extLst>
            </p:cNvPr>
            <p:cNvSpPr txBox="1">
              <a:spLocks/>
            </p:cNvSpPr>
            <p:nvPr/>
          </p:nvSpPr>
          <p:spPr>
            <a:xfrm>
              <a:off x="1571266" y="623658"/>
              <a:ext cx="2538072" cy="525741"/>
            </a:xfrm>
            <a:prstGeom prst="rect">
              <a:avLst/>
            </a:prstGeom>
          </p:spPr>
          <p:txBody>
            <a:bodyPr vert="horz" wrap="square" lIns="0" tIns="0" rIns="0" bIns="0" rtlCol="0" anchor="t">
              <a:normAutofit fontScale="37500" lnSpcReduction="20000"/>
            </a:bodyPr>
            <a:lstStyle>
              <a:lvl1pPr algn="l" defTabSz="914400" rtl="0" eaLnBrk="1" latinLnBrk="0" hangingPunct="1">
                <a:lnSpc>
                  <a:spcPct val="90000"/>
                </a:lnSpc>
                <a:spcBef>
                  <a:spcPct val="0"/>
                </a:spcBef>
                <a:buNone/>
                <a:defRPr sz="4400" kern="1200">
                  <a:solidFill>
                    <a:srgbClr val="0F172A"/>
                  </a:solidFill>
                  <a:latin typeface="+mj-lt"/>
                  <a:ea typeface="+mj-ea"/>
                  <a:cs typeface="+mj-cs"/>
                </a:defRPr>
              </a:lvl1pPr>
            </a:lstStyle>
            <a:p>
              <a:pPr>
                <a:lnSpc>
                  <a:spcPct val="100000"/>
                </a:lnSpc>
              </a:pPr>
              <a:r>
                <a:rPr lang="en-US" sz="5400" b="1" dirty="0" err="1">
                  <a:solidFill>
                    <a:srgbClr val="969696"/>
                  </a:solidFill>
                </a:rPr>
                <a:t>WeAreDevelopers</a:t>
              </a:r>
              <a:r>
                <a:rPr lang="en-US" sz="5400" b="1" dirty="0">
                  <a:solidFill>
                    <a:srgbClr val="969696"/>
                  </a:solidFill>
                </a:rPr>
                <a:t> </a:t>
              </a:r>
              <a:br>
                <a:rPr lang="en-US" sz="5400" b="1" dirty="0">
                  <a:solidFill>
                    <a:srgbClr val="969696"/>
                  </a:solidFill>
                </a:rPr>
              </a:br>
              <a:r>
                <a:rPr lang="en-US" sz="5400" b="1" dirty="0">
                  <a:solidFill>
                    <a:srgbClr val="969696"/>
                  </a:solidFill>
                </a:rPr>
                <a:t>North America</a:t>
              </a:r>
              <a:endParaRPr lang="en-US" sz="5400" b="1" dirty="0">
                <a:solidFill>
                  <a:srgbClr val="22D3EE"/>
                </a:solidFill>
              </a:endParaRPr>
            </a:p>
          </p:txBody>
        </p:sp>
        <p:sp>
          <p:nvSpPr>
            <p:cNvPr id="13" name="Rectangle: Rounded Corners 12">
              <a:extLst>
                <a:ext uri="{FF2B5EF4-FFF2-40B4-BE49-F238E27FC236}">
                  <a16:creationId xmlns:a16="http://schemas.microsoft.com/office/drawing/2014/main" id="{712C1A16-269B-F665-0962-C7C913DC5BC1}"/>
                </a:ext>
              </a:extLst>
            </p:cNvPr>
            <p:cNvSpPr/>
            <p:nvPr/>
          </p:nvSpPr>
          <p:spPr>
            <a:xfrm>
              <a:off x="149902" y="434715"/>
              <a:ext cx="3972394" cy="74070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2810746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24042A"/>
        </a:solidFill>
        <a:effectLst/>
      </p:bgPr>
    </p:bg>
    <p:spTree>
      <p:nvGrpSpPr>
        <p:cNvPr id="1" name=""/>
        <p:cNvGrpSpPr/>
        <p:nvPr/>
      </p:nvGrpSpPr>
      <p:grpSpPr>
        <a:xfrm>
          <a:off x="0" y="0"/>
          <a:ext cx="0" cy="0"/>
          <a:chOff x="0" y="0"/>
          <a:chExt cx="0" cy="0"/>
        </a:xfrm>
      </p:grpSpPr>
      <p:sp>
        <p:nvSpPr>
          <p:cNvPr id="11" name="Symbol zastępczy numeru slajdu 3">
            <a:extLst>
              <a:ext uri="{FF2B5EF4-FFF2-40B4-BE49-F238E27FC236}">
                <a16:creationId xmlns:a16="http://schemas.microsoft.com/office/drawing/2014/main" id="{794AD4FC-91AF-5AC5-B237-722F1EC739DE}"/>
              </a:ext>
            </a:extLst>
          </p:cNvPr>
          <p:cNvSpPr txBox="1">
            <a:spLocks/>
          </p:cNvSpPr>
          <p:nvPr/>
        </p:nvSpPr>
        <p:spPr>
          <a:xfrm>
            <a:off x="765587" y="6287238"/>
            <a:ext cx="4619804" cy="365125"/>
          </a:xfrm>
          <a:prstGeom prst="rect">
            <a:avLst/>
          </a:prstGeom>
        </p:spPr>
        <p:txBody>
          <a:bodyPr vert="horz" lIns="91440" tIns="45720" rIns="91440" bIns="45720" rtlCol="0" anchor="ctr"/>
          <a:lstStyle>
            <a:defPPr>
              <a:defRPr lang="pl-PL"/>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dirty="0">
                <a:solidFill>
                  <a:srgbClr val="D819FE"/>
                </a:solidFill>
              </a:rPr>
              <a:t>Event organized by: Academic Partners Foundation</a:t>
            </a:r>
          </a:p>
        </p:txBody>
      </p:sp>
      <p:pic>
        <p:nvPicPr>
          <p:cNvPr id="12" name="Obraz 8">
            <a:extLst>
              <a:ext uri="{FF2B5EF4-FFF2-40B4-BE49-F238E27FC236}">
                <a16:creationId xmlns:a16="http://schemas.microsoft.com/office/drawing/2014/main" id="{CEDF8E7A-CA84-4FF3-83D6-4C76462F6E9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21450" y="0"/>
            <a:ext cx="5670546" cy="6857995"/>
          </a:xfrm>
          <a:prstGeom prst="rect">
            <a:avLst/>
          </a:prstGeom>
        </p:spPr>
      </p:pic>
      <p:sp>
        <p:nvSpPr>
          <p:cNvPr id="13" name="Tytuł 1">
            <a:extLst>
              <a:ext uri="{FF2B5EF4-FFF2-40B4-BE49-F238E27FC236}">
                <a16:creationId xmlns:a16="http://schemas.microsoft.com/office/drawing/2014/main" id="{D2C4C345-AFDA-71F7-A892-4976D3B66466}"/>
              </a:ext>
            </a:extLst>
          </p:cNvPr>
          <p:cNvSpPr txBox="1">
            <a:spLocks/>
          </p:cNvSpPr>
          <p:nvPr/>
        </p:nvSpPr>
        <p:spPr>
          <a:xfrm>
            <a:off x="704169" y="468863"/>
            <a:ext cx="5878693" cy="2149294"/>
          </a:xfrm>
          <a:prstGeom prst="rect">
            <a:avLst/>
          </a:prstGeom>
        </p:spPr>
        <p:txBody>
          <a:bodyPr vert="horz" lIns="91440" tIns="45720" rIns="91440" bIns="4572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pl-PL" sz="8000" b="1" dirty="0">
                <a:solidFill>
                  <a:schemeClr val="bg1"/>
                </a:solidFill>
              </a:rPr>
              <a:t>Chat With </a:t>
            </a:r>
            <a:br>
              <a:rPr lang="en-US" sz="8000" b="1" dirty="0">
                <a:solidFill>
                  <a:schemeClr val="bg1"/>
                </a:solidFill>
              </a:rPr>
            </a:br>
            <a:r>
              <a:rPr lang="pl-PL" sz="8000" b="1" dirty="0">
                <a:solidFill>
                  <a:schemeClr val="bg1"/>
                </a:solidFill>
              </a:rPr>
              <a:t>Your Data</a:t>
            </a:r>
            <a:br>
              <a:rPr lang="pl-PL" sz="8000" b="1" dirty="0">
                <a:solidFill>
                  <a:schemeClr val="bg1"/>
                </a:solidFill>
              </a:rPr>
            </a:br>
            <a:endParaRPr lang="pl-PL" sz="8000" b="1" dirty="0">
              <a:solidFill>
                <a:schemeClr val="bg1"/>
              </a:solidFill>
            </a:endParaRPr>
          </a:p>
        </p:txBody>
      </p:sp>
      <p:sp>
        <p:nvSpPr>
          <p:cNvPr id="14" name="Podtytuł 2">
            <a:extLst>
              <a:ext uri="{FF2B5EF4-FFF2-40B4-BE49-F238E27FC236}">
                <a16:creationId xmlns:a16="http://schemas.microsoft.com/office/drawing/2014/main" id="{538C9D9F-90F4-563B-850C-FBF20819BC10}"/>
              </a:ext>
            </a:extLst>
          </p:cNvPr>
          <p:cNvSpPr txBox="1">
            <a:spLocks/>
          </p:cNvSpPr>
          <p:nvPr/>
        </p:nvSpPr>
        <p:spPr>
          <a:xfrm>
            <a:off x="826999" y="2876097"/>
            <a:ext cx="5755863" cy="1192048"/>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0"/>
              </a:spcBef>
            </a:pPr>
            <a:r>
              <a:rPr lang="en-US" sz="3200" dirty="0">
                <a:solidFill>
                  <a:schemeClr val="bg1"/>
                </a:solidFill>
              </a:rPr>
              <a:t>Building an AI-Powered </a:t>
            </a:r>
            <a:br>
              <a:rPr lang="en-US" sz="3200" dirty="0">
                <a:solidFill>
                  <a:schemeClr val="bg1"/>
                </a:solidFill>
              </a:rPr>
            </a:br>
            <a:r>
              <a:rPr lang="en-US" sz="3200" dirty="0">
                <a:solidFill>
                  <a:schemeClr val="bg1"/>
                </a:solidFill>
              </a:rPr>
              <a:t>Reporting Tool with .NET</a:t>
            </a:r>
          </a:p>
          <a:p>
            <a:pPr algn="l">
              <a:lnSpc>
                <a:spcPct val="100000"/>
              </a:lnSpc>
              <a:spcBef>
                <a:spcPts val="0"/>
              </a:spcBef>
            </a:pPr>
            <a:endParaRPr lang="pl-PL" sz="3200" dirty="0">
              <a:solidFill>
                <a:schemeClr val="bg1"/>
              </a:solidFill>
            </a:endParaRPr>
          </a:p>
        </p:txBody>
      </p:sp>
      <p:sp>
        <p:nvSpPr>
          <p:cNvPr id="15" name="Tytuł 1">
            <a:extLst>
              <a:ext uri="{FF2B5EF4-FFF2-40B4-BE49-F238E27FC236}">
                <a16:creationId xmlns:a16="http://schemas.microsoft.com/office/drawing/2014/main" id="{E052A2BB-62F3-88A8-B640-28F1BBA586D5}"/>
              </a:ext>
            </a:extLst>
          </p:cNvPr>
          <p:cNvSpPr txBox="1">
            <a:spLocks/>
          </p:cNvSpPr>
          <p:nvPr/>
        </p:nvSpPr>
        <p:spPr>
          <a:xfrm>
            <a:off x="826999" y="4326085"/>
            <a:ext cx="5755863" cy="665699"/>
          </a:xfrm>
          <a:prstGeom prst="rect">
            <a:avLst/>
          </a:prstGeom>
        </p:spPr>
        <p:txBody>
          <a:bodyPr vert="horz" lIns="91440" tIns="45720" rIns="91440" bIns="45720" rtlCol="0" anchor="t">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dirty="0">
                <a:solidFill>
                  <a:srgbClr val="D819FE"/>
                </a:solidFill>
              </a:rPr>
              <a:t>Alper Ebicoglu</a:t>
            </a:r>
            <a:endParaRPr lang="pl-PL" sz="2800" dirty="0">
              <a:solidFill>
                <a:srgbClr val="D819FE"/>
              </a:solidFill>
            </a:endParaRPr>
          </a:p>
        </p:txBody>
      </p:sp>
      <p:sp>
        <p:nvSpPr>
          <p:cNvPr id="16" name="Podtytuł 2">
            <a:extLst>
              <a:ext uri="{FF2B5EF4-FFF2-40B4-BE49-F238E27FC236}">
                <a16:creationId xmlns:a16="http://schemas.microsoft.com/office/drawing/2014/main" id="{00938363-FA14-D5AD-3EC5-833FE914BA28}"/>
              </a:ext>
            </a:extLst>
          </p:cNvPr>
          <p:cNvSpPr txBox="1">
            <a:spLocks/>
          </p:cNvSpPr>
          <p:nvPr/>
        </p:nvSpPr>
        <p:spPr>
          <a:xfrm>
            <a:off x="826999" y="4916874"/>
            <a:ext cx="5670547" cy="665699"/>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0"/>
              </a:spcBef>
            </a:pPr>
            <a:r>
              <a:rPr lang="en-US" sz="1800" dirty="0">
                <a:solidFill>
                  <a:srgbClr val="D819FE"/>
                </a:solidFill>
              </a:rPr>
              <a:t>Co-Founder Volosoft</a:t>
            </a:r>
            <a:endParaRPr lang="pl-PL" sz="1800" dirty="0">
              <a:solidFill>
                <a:srgbClr val="D819FE"/>
              </a:solidFill>
            </a:endParaRPr>
          </a:p>
        </p:txBody>
      </p:sp>
    </p:spTree>
    <p:extLst>
      <p:ext uri="{BB962C8B-B14F-4D97-AF65-F5344CB8AC3E}">
        <p14:creationId xmlns:p14="http://schemas.microsoft.com/office/powerpoint/2010/main" val="3650958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330CDA6-86B5-0A2D-26D2-F0AC58941C32}"/>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BCD4718D-4C82-A326-64D0-134F00F55B42}"/>
              </a:ext>
            </a:extLst>
          </p:cNvPr>
          <p:cNvPicPr>
            <a:picLocks noChangeAspect="1"/>
          </p:cNvPicPr>
          <p:nvPr/>
        </p:nvPicPr>
        <p:blipFill>
          <a:blip r:embed="rId3"/>
          <a:srcRect l="21352" t="22413" r="21095" b="41610"/>
          <a:stretch>
            <a:fillRect/>
          </a:stretch>
        </p:blipFill>
        <p:spPr>
          <a:xfrm>
            <a:off x="3568225" y="930148"/>
            <a:ext cx="3992838" cy="2498852"/>
          </a:xfrm>
          <a:prstGeom prst="rect">
            <a:avLst/>
          </a:prstGeom>
        </p:spPr>
      </p:pic>
      <p:pic>
        <p:nvPicPr>
          <p:cNvPr id="9" name="Picture 8">
            <a:extLst>
              <a:ext uri="{FF2B5EF4-FFF2-40B4-BE49-F238E27FC236}">
                <a16:creationId xmlns:a16="http://schemas.microsoft.com/office/drawing/2014/main" id="{4F76ED42-21B9-BD74-6E13-B31C60F81C9E}"/>
              </a:ext>
            </a:extLst>
          </p:cNvPr>
          <p:cNvPicPr>
            <a:picLocks noChangeAspect="1"/>
          </p:cNvPicPr>
          <p:nvPr/>
        </p:nvPicPr>
        <p:blipFill>
          <a:blip r:embed="rId4"/>
          <a:srcRect l="9483" r="13764"/>
          <a:stretch>
            <a:fillRect/>
          </a:stretch>
        </p:blipFill>
        <p:spPr>
          <a:xfrm>
            <a:off x="0" y="993976"/>
            <a:ext cx="3534771" cy="5935124"/>
          </a:xfrm>
          <a:prstGeom prst="rect">
            <a:avLst/>
          </a:prstGeom>
        </p:spPr>
      </p:pic>
      <p:sp>
        <p:nvSpPr>
          <p:cNvPr id="3" name="SpeakerRole">
            <a:extLst>
              <a:ext uri="{FF2B5EF4-FFF2-40B4-BE49-F238E27FC236}">
                <a16:creationId xmlns:a16="http://schemas.microsoft.com/office/drawing/2014/main" id="{81C12851-9DE8-9574-BB76-7ED1ECFD4B86}"/>
              </a:ext>
            </a:extLst>
          </p:cNvPr>
          <p:cNvSpPr txBox="1"/>
          <p:nvPr/>
        </p:nvSpPr>
        <p:spPr>
          <a:xfrm>
            <a:off x="0" y="0"/>
            <a:ext cx="12259455" cy="993976"/>
          </a:xfrm>
          <a:prstGeom prst="rect">
            <a:avLst/>
          </a:prstGeom>
          <a:solidFill>
            <a:srgbClr val="020919"/>
          </a:solidFill>
        </p:spPr>
        <p:style>
          <a:lnRef idx="3">
            <a:schemeClr val="lt1"/>
          </a:lnRef>
          <a:fillRef idx="1">
            <a:schemeClr val="accent6"/>
          </a:fillRef>
          <a:effectRef idx="1">
            <a:schemeClr val="accent6"/>
          </a:effectRef>
          <a:fontRef idx="minor">
            <a:schemeClr val="lt1"/>
          </a:fontRef>
        </p:style>
        <p:txBody>
          <a:bodyPr wrap="square" lIns="0" tIns="0" rIns="0" bIns="0" anchor="ctr"/>
          <a:lstStyle/>
          <a:p>
            <a:pPr algn="ctr"/>
            <a:r>
              <a:rPr lang="en-US" sz="4000" dirty="0"/>
              <a:t>A </a:t>
            </a:r>
            <a:r>
              <a:rPr lang="en-US" sz="4000" b="1" dirty="0"/>
              <a:t>Polish Village</a:t>
            </a:r>
            <a:r>
              <a:rPr lang="en-US" sz="4000" dirty="0"/>
              <a:t> in Istanbul / Founded </a:t>
            </a:r>
            <a:r>
              <a:rPr lang="en-US" sz="4000" b="1" dirty="0"/>
              <a:t>1842</a:t>
            </a:r>
            <a:endParaRPr lang="en-US" sz="4000" b="1" dirty="0">
              <a:solidFill>
                <a:schemeClr val="bg1"/>
              </a:solidFill>
            </a:endParaRPr>
          </a:p>
        </p:txBody>
      </p:sp>
      <p:pic>
        <p:nvPicPr>
          <p:cNvPr id="7" name="Picture 6">
            <a:extLst>
              <a:ext uri="{FF2B5EF4-FFF2-40B4-BE49-F238E27FC236}">
                <a16:creationId xmlns:a16="http://schemas.microsoft.com/office/drawing/2014/main" id="{D4240E53-2BB7-4EF6-1C8F-630C37F04F64}"/>
              </a:ext>
            </a:extLst>
          </p:cNvPr>
          <p:cNvPicPr>
            <a:picLocks noChangeAspect="1"/>
          </p:cNvPicPr>
          <p:nvPr/>
        </p:nvPicPr>
        <p:blipFill>
          <a:blip r:embed="rId5"/>
          <a:srcRect l="22735" t="32260" r="45988" b="19774"/>
          <a:stretch>
            <a:fillRect/>
          </a:stretch>
        </p:blipFill>
        <p:spPr>
          <a:xfrm>
            <a:off x="3563756" y="3462544"/>
            <a:ext cx="3997306" cy="3448133"/>
          </a:xfrm>
          <a:prstGeom prst="rect">
            <a:avLst/>
          </a:prstGeom>
        </p:spPr>
      </p:pic>
      <p:pic>
        <p:nvPicPr>
          <p:cNvPr id="5" name="Picture 4">
            <a:extLst>
              <a:ext uri="{FF2B5EF4-FFF2-40B4-BE49-F238E27FC236}">
                <a16:creationId xmlns:a16="http://schemas.microsoft.com/office/drawing/2014/main" id="{E6CEA3EA-2E17-3EE9-B035-529BA990608B}"/>
              </a:ext>
            </a:extLst>
          </p:cNvPr>
          <p:cNvPicPr>
            <a:picLocks noChangeAspect="1"/>
          </p:cNvPicPr>
          <p:nvPr/>
        </p:nvPicPr>
        <p:blipFill>
          <a:blip r:embed="rId6"/>
          <a:srcRect l="22022" t="1076" r="18957"/>
          <a:stretch>
            <a:fillRect/>
          </a:stretch>
        </p:blipFill>
        <p:spPr>
          <a:xfrm>
            <a:off x="7594515" y="993976"/>
            <a:ext cx="4664940" cy="5864024"/>
          </a:xfrm>
          <a:prstGeom prst="rect">
            <a:avLst/>
          </a:prstGeom>
        </p:spPr>
      </p:pic>
      <p:sp>
        <p:nvSpPr>
          <p:cNvPr id="17" name="TextBox 16">
            <a:extLst>
              <a:ext uri="{FF2B5EF4-FFF2-40B4-BE49-F238E27FC236}">
                <a16:creationId xmlns:a16="http://schemas.microsoft.com/office/drawing/2014/main" id="{FC3F2554-82D7-8113-81F9-D1FE8A22BD44}"/>
              </a:ext>
            </a:extLst>
          </p:cNvPr>
          <p:cNvSpPr txBox="1"/>
          <p:nvPr/>
        </p:nvSpPr>
        <p:spPr>
          <a:xfrm>
            <a:off x="7590047" y="6285568"/>
            <a:ext cx="4658264" cy="461665"/>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pPr algn="ctr"/>
            <a:r>
              <a:rPr lang="en-US" sz="2400" b="1" i="0" dirty="0">
                <a:solidFill>
                  <a:schemeClr val="bg1"/>
                </a:solidFill>
                <a:effectLst/>
                <a:latin typeface="+mn-lt"/>
              </a:rPr>
              <a:t>Lady of </a:t>
            </a:r>
            <a:r>
              <a:rPr lang="en-US" sz="2400" b="1" i="0" dirty="0" err="1">
                <a:solidFill>
                  <a:schemeClr val="bg1"/>
                </a:solidFill>
                <a:effectLst/>
                <a:latin typeface="+mn-lt"/>
              </a:rPr>
              <a:t>Częstochowa</a:t>
            </a:r>
            <a:r>
              <a:rPr lang="en-US" sz="2400" b="1" i="0" dirty="0">
                <a:solidFill>
                  <a:schemeClr val="bg1"/>
                </a:solidFill>
                <a:effectLst/>
                <a:latin typeface="+mn-lt"/>
              </a:rPr>
              <a:t> Church</a:t>
            </a:r>
            <a:endParaRPr lang="en-US" sz="2400" b="1" dirty="0">
              <a:solidFill>
                <a:schemeClr val="bg1"/>
              </a:solidFill>
            </a:endParaRPr>
          </a:p>
        </p:txBody>
      </p:sp>
      <p:sp>
        <p:nvSpPr>
          <p:cNvPr id="21" name="TextBox 20">
            <a:extLst>
              <a:ext uri="{FF2B5EF4-FFF2-40B4-BE49-F238E27FC236}">
                <a16:creationId xmlns:a16="http://schemas.microsoft.com/office/drawing/2014/main" id="{38CC9526-F38F-47B5-5F72-40AC50337D15}"/>
              </a:ext>
            </a:extLst>
          </p:cNvPr>
          <p:cNvSpPr txBox="1"/>
          <p:nvPr/>
        </p:nvSpPr>
        <p:spPr>
          <a:xfrm>
            <a:off x="4341993" y="6285568"/>
            <a:ext cx="2445299" cy="461665"/>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pPr algn="ctr"/>
            <a:r>
              <a:rPr lang="en-US" sz="2400" b="1" i="0" dirty="0">
                <a:solidFill>
                  <a:schemeClr val="bg1"/>
                </a:solidFill>
                <a:effectLst/>
                <a:latin typeface="+mn-lt"/>
              </a:rPr>
              <a:t>Polish Festival</a:t>
            </a:r>
            <a:endParaRPr lang="en-US" sz="2400" b="1" dirty="0">
              <a:solidFill>
                <a:schemeClr val="bg1"/>
              </a:solidFill>
            </a:endParaRPr>
          </a:p>
        </p:txBody>
      </p:sp>
      <p:sp>
        <p:nvSpPr>
          <p:cNvPr id="23" name="TextBox 22">
            <a:extLst>
              <a:ext uri="{FF2B5EF4-FFF2-40B4-BE49-F238E27FC236}">
                <a16:creationId xmlns:a16="http://schemas.microsoft.com/office/drawing/2014/main" id="{341A29E9-16E6-056C-B0F7-75DF9B0FE44D}"/>
              </a:ext>
            </a:extLst>
          </p:cNvPr>
          <p:cNvSpPr txBox="1"/>
          <p:nvPr/>
        </p:nvSpPr>
        <p:spPr>
          <a:xfrm>
            <a:off x="71602" y="5916236"/>
            <a:ext cx="3391566" cy="830997"/>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pPr algn="ctr"/>
            <a:r>
              <a:rPr lang="en-US" sz="2400" b="1" i="0" dirty="0">
                <a:solidFill>
                  <a:schemeClr val="bg1"/>
                </a:solidFill>
                <a:effectLst/>
                <a:latin typeface="+mn-lt"/>
              </a:rPr>
              <a:t>Polish Diplomat in Russian Empire Time</a:t>
            </a:r>
            <a:endParaRPr lang="en-US" sz="2400" b="1" dirty="0">
              <a:solidFill>
                <a:schemeClr val="bg1"/>
              </a:solidFill>
            </a:endParaRPr>
          </a:p>
        </p:txBody>
      </p:sp>
    </p:spTree>
    <p:extLst>
      <p:ext uri="{BB962C8B-B14F-4D97-AF65-F5344CB8AC3E}">
        <p14:creationId xmlns:p14="http://schemas.microsoft.com/office/powerpoint/2010/main" val="4138838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C0D9473-061D-C9E9-4B55-5C81CD2FBAC1}"/>
              </a:ext>
            </a:extLst>
          </p:cNvPr>
          <p:cNvGrpSpPr/>
          <p:nvPr/>
        </p:nvGrpSpPr>
        <p:grpSpPr>
          <a:xfrm>
            <a:off x="292607" y="500775"/>
            <a:ext cx="5781675" cy="5826874"/>
            <a:chOff x="5851726" y="316952"/>
            <a:chExt cx="5400000" cy="6392899"/>
          </a:xfrm>
        </p:grpSpPr>
        <p:cxnSp>
          <p:nvCxnSpPr>
            <p:cNvPr id="5" name="Straight Connector 4">
              <a:extLst>
                <a:ext uri="{FF2B5EF4-FFF2-40B4-BE49-F238E27FC236}">
                  <a16:creationId xmlns:a16="http://schemas.microsoft.com/office/drawing/2014/main" id="{B05BF955-0262-9FFC-A3DF-B392C75BB70E}"/>
                </a:ext>
              </a:extLst>
            </p:cNvPr>
            <p:cNvCxnSpPr>
              <a:cxnSpLocks/>
            </p:cNvCxnSpPr>
            <p:nvPr/>
          </p:nvCxnSpPr>
          <p:spPr>
            <a:xfrm>
              <a:off x="6601026" y="405089"/>
              <a:ext cx="0" cy="6064007"/>
            </a:xfrm>
            <a:prstGeom prst="line">
              <a:avLst/>
            </a:prstGeom>
            <a:ln w="28575">
              <a:solidFill>
                <a:srgbClr val="D9D9D9"/>
              </a:solidFill>
            </a:ln>
          </p:spPr>
          <p:style>
            <a:lnRef idx="1">
              <a:schemeClr val="dk1"/>
            </a:lnRef>
            <a:fillRef idx="0">
              <a:schemeClr val="dk1"/>
            </a:fillRef>
            <a:effectRef idx="0">
              <a:schemeClr val="dk1"/>
            </a:effectRef>
            <a:fontRef idx="minor">
              <a:schemeClr val="tx1"/>
            </a:fontRef>
          </p:style>
        </p:cxnSp>
        <p:grpSp>
          <p:nvGrpSpPr>
            <p:cNvPr id="6" name="Group 5">
              <a:extLst>
                <a:ext uri="{FF2B5EF4-FFF2-40B4-BE49-F238E27FC236}">
                  <a16:creationId xmlns:a16="http://schemas.microsoft.com/office/drawing/2014/main" id="{7EA45590-D411-FBCF-8031-68C9298C8D68}"/>
                </a:ext>
              </a:extLst>
            </p:cNvPr>
            <p:cNvGrpSpPr/>
            <p:nvPr/>
          </p:nvGrpSpPr>
          <p:grpSpPr>
            <a:xfrm>
              <a:off x="5851726" y="316952"/>
              <a:ext cx="5400000" cy="1080000"/>
              <a:chOff x="5177173" y="285179"/>
              <a:chExt cx="6302970" cy="1096566"/>
            </a:xfrm>
          </p:grpSpPr>
          <p:sp>
            <p:nvSpPr>
              <p:cNvPr id="23" name="Shape 1">
                <a:extLst>
                  <a:ext uri="{FF2B5EF4-FFF2-40B4-BE49-F238E27FC236}">
                    <a16:creationId xmlns:a16="http://schemas.microsoft.com/office/drawing/2014/main" id="{831188E9-0791-5F7D-6BF7-EAD5BE1BB0BC}"/>
                  </a:ext>
                </a:extLst>
              </p:cNvPr>
              <p:cNvSpPr/>
              <p:nvPr/>
            </p:nvSpPr>
            <p:spPr>
              <a:xfrm>
                <a:off x="5177173" y="285179"/>
                <a:ext cx="6302970" cy="1096566"/>
              </a:xfrm>
              <a:prstGeom prst="roundRect">
                <a:avLst>
                  <a:gd name="adj" fmla="val 7206"/>
                </a:avLst>
              </a:prstGeom>
              <a:solidFill>
                <a:schemeClr val="bg1">
                  <a:lumMod val="95000"/>
                </a:schemeClr>
              </a:solidFill>
              <a:ln w="7620">
                <a:solidFill>
                  <a:srgbClr val="C7C7D0"/>
                </a:solidFill>
                <a:prstDash val="solid"/>
              </a:ln>
            </p:spPr>
            <p:txBody>
              <a:bodyPr/>
              <a:lstStyle/>
              <a:p>
                <a:endParaRPr lang="en-US" dirty="0"/>
              </a:p>
            </p:txBody>
          </p:sp>
          <p:sp>
            <p:nvSpPr>
              <p:cNvPr id="24" name="Text 2">
                <a:extLst>
                  <a:ext uri="{FF2B5EF4-FFF2-40B4-BE49-F238E27FC236}">
                    <a16:creationId xmlns:a16="http://schemas.microsoft.com/office/drawing/2014/main" id="{991C0F6F-36D1-2F0B-79ED-5ED4B250F002}"/>
                  </a:ext>
                </a:extLst>
              </p:cNvPr>
              <p:cNvSpPr/>
              <p:nvPr/>
            </p:nvSpPr>
            <p:spPr>
              <a:xfrm>
                <a:off x="5371641" y="479648"/>
                <a:ext cx="2351882" cy="293886"/>
              </a:xfrm>
              <a:prstGeom prst="rect">
                <a:avLst/>
              </a:prstGeom>
              <a:noFill/>
              <a:ln/>
            </p:spPr>
            <p:txBody>
              <a:bodyPr wrap="none" lIns="0" tIns="0" rIns="0" bIns="0" rtlCol="0" anchor="t"/>
              <a:lstStyle/>
              <a:p>
                <a:pPr>
                  <a:lnSpc>
                    <a:spcPts val="2292"/>
                  </a:lnSpc>
                </a:pPr>
                <a:r>
                  <a:rPr lang="en-US" sz="2000" b="1" dirty="0">
                    <a:solidFill>
                      <a:srgbClr val="3C3939"/>
                    </a:solidFill>
                    <a:latin typeface="Raleway" pitchFamily="34" charset="0"/>
                    <a:ea typeface="Raleway" pitchFamily="34" charset="-122"/>
                    <a:cs typeface="Raleway" pitchFamily="34" charset="-120"/>
                  </a:rPr>
                  <a:t>1997</a:t>
                </a:r>
                <a:endParaRPr lang="en-US" sz="2000" b="1" dirty="0"/>
              </a:p>
            </p:txBody>
          </p:sp>
          <p:sp>
            <p:nvSpPr>
              <p:cNvPr id="25" name="Text 3">
                <a:extLst>
                  <a:ext uri="{FF2B5EF4-FFF2-40B4-BE49-F238E27FC236}">
                    <a16:creationId xmlns:a16="http://schemas.microsoft.com/office/drawing/2014/main" id="{411362A0-933C-F13E-1EF5-47E195758EF2}"/>
                  </a:ext>
                </a:extLst>
              </p:cNvPr>
              <p:cNvSpPr/>
              <p:nvPr/>
            </p:nvSpPr>
            <p:spPr>
              <a:xfrm>
                <a:off x="5371642" y="932767"/>
                <a:ext cx="5914034" cy="300931"/>
              </a:xfrm>
              <a:prstGeom prst="rect">
                <a:avLst/>
              </a:prstGeom>
              <a:noFill/>
              <a:ln/>
            </p:spPr>
            <p:txBody>
              <a:bodyPr wrap="none" lIns="0" tIns="0" rIns="0" bIns="0" rtlCol="0" anchor="t"/>
              <a:lstStyle/>
              <a:p>
                <a:pPr>
                  <a:lnSpc>
                    <a:spcPts val="2333"/>
                  </a:lnSpc>
                </a:pPr>
                <a:r>
                  <a:rPr lang="en-US" dirty="0">
                    <a:solidFill>
                      <a:srgbClr val="3C3939"/>
                    </a:solidFill>
                    <a:latin typeface="Roboto" pitchFamily="34" charset="0"/>
                    <a:ea typeface="Roboto" pitchFamily="34" charset="-122"/>
                    <a:cs typeface="Roboto" pitchFamily="34" charset="-120"/>
                  </a:rPr>
                  <a:t>Intel i386 processor with Q-Basic programming</a:t>
                </a:r>
                <a:endParaRPr lang="en-US" dirty="0"/>
              </a:p>
            </p:txBody>
          </p:sp>
        </p:grpSp>
        <p:grpSp>
          <p:nvGrpSpPr>
            <p:cNvPr id="7" name="Group 6">
              <a:extLst>
                <a:ext uri="{FF2B5EF4-FFF2-40B4-BE49-F238E27FC236}">
                  <a16:creationId xmlns:a16="http://schemas.microsoft.com/office/drawing/2014/main" id="{39CA6E73-D44A-6BFB-D3D4-1BFC5245F81C}"/>
                </a:ext>
              </a:extLst>
            </p:cNvPr>
            <p:cNvGrpSpPr/>
            <p:nvPr/>
          </p:nvGrpSpPr>
          <p:grpSpPr>
            <a:xfrm>
              <a:off x="5851726" y="1645177"/>
              <a:ext cx="5400000" cy="1080000"/>
              <a:chOff x="5230515" y="2673450"/>
              <a:chExt cx="6302970" cy="1096566"/>
            </a:xfrm>
            <a:solidFill>
              <a:schemeClr val="bg1">
                <a:lumMod val="95000"/>
              </a:schemeClr>
            </a:solidFill>
          </p:grpSpPr>
          <p:sp>
            <p:nvSpPr>
              <p:cNvPr id="20" name="Shape 4">
                <a:extLst>
                  <a:ext uri="{FF2B5EF4-FFF2-40B4-BE49-F238E27FC236}">
                    <a16:creationId xmlns:a16="http://schemas.microsoft.com/office/drawing/2014/main" id="{5BC4C0BA-2604-C2C7-F93D-5085287EFA6D}"/>
                  </a:ext>
                </a:extLst>
              </p:cNvPr>
              <p:cNvSpPr/>
              <p:nvPr/>
            </p:nvSpPr>
            <p:spPr>
              <a:xfrm>
                <a:off x="5230515" y="2673450"/>
                <a:ext cx="6302970" cy="1096566"/>
              </a:xfrm>
              <a:prstGeom prst="roundRect">
                <a:avLst>
                  <a:gd name="adj" fmla="val 7206"/>
                </a:avLst>
              </a:prstGeom>
              <a:grpFill/>
              <a:ln w="7620">
                <a:solidFill>
                  <a:srgbClr val="C7C7D0"/>
                </a:solidFill>
                <a:prstDash val="solid"/>
              </a:ln>
            </p:spPr>
            <p:txBody>
              <a:bodyPr/>
              <a:lstStyle/>
              <a:p>
                <a:endParaRPr lang="tr-TR"/>
              </a:p>
            </p:txBody>
          </p:sp>
          <p:sp>
            <p:nvSpPr>
              <p:cNvPr id="21" name="Text 5">
                <a:extLst>
                  <a:ext uri="{FF2B5EF4-FFF2-40B4-BE49-F238E27FC236}">
                    <a16:creationId xmlns:a16="http://schemas.microsoft.com/office/drawing/2014/main" id="{EBB25F70-73A0-FEFE-A786-32FF1B4E9B78}"/>
                  </a:ext>
                </a:extLst>
              </p:cNvPr>
              <p:cNvSpPr/>
              <p:nvPr/>
            </p:nvSpPr>
            <p:spPr>
              <a:xfrm>
                <a:off x="5424983" y="2867919"/>
                <a:ext cx="2351882" cy="293886"/>
              </a:xfrm>
              <a:prstGeom prst="rect">
                <a:avLst/>
              </a:prstGeom>
              <a:grpFill/>
              <a:ln/>
            </p:spPr>
            <p:txBody>
              <a:bodyPr wrap="none" lIns="0" tIns="0" rIns="0" bIns="0" rtlCol="0" anchor="t"/>
              <a:lstStyle/>
              <a:p>
                <a:pPr>
                  <a:lnSpc>
                    <a:spcPts val="2292"/>
                  </a:lnSpc>
                </a:pPr>
                <a:r>
                  <a:rPr lang="en-US" sz="2000" b="1" dirty="0">
                    <a:solidFill>
                      <a:srgbClr val="3C3939"/>
                    </a:solidFill>
                    <a:latin typeface="Raleway" pitchFamily="34" charset="0"/>
                    <a:ea typeface="Raleway" pitchFamily="34" charset="-122"/>
                    <a:cs typeface="Raleway" pitchFamily="34" charset="-120"/>
                  </a:rPr>
                  <a:t>2004</a:t>
                </a:r>
                <a:endParaRPr lang="en-US" sz="2000" b="1" dirty="0"/>
              </a:p>
            </p:txBody>
          </p:sp>
          <p:sp>
            <p:nvSpPr>
              <p:cNvPr id="22" name="Text 6">
                <a:extLst>
                  <a:ext uri="{FF2B5EF4-FFF2-40B4-BE49-F238E27FC236}">
                    <a16:creationId xmlns:a16="http://schemas.microsoft.com/office/drawing/2014/main" id="{C449CDC2-4399-87A6-A3E4-996D15FD91FA}"/>
                  </a:ext>
                </a:extLst>
              </p:cNvPr>
              <p:cNvSpPr/>
              <p:nvPr/>
            </p:nvSpPr>
            <p:spPr>
              <a:xfrm>
                <a:off x="5424984" y="3321037"/>
                <a:ext cx="5914034" cy="300931"/>
              </a:xfrm>
              <a:prstGeom prst="rect">
                <a:avLst/>
              </a:prstGeom>
              <a:grpFill/>
              <a:ln/>
            </p:spPr>
            <p:txBody>
              <a:bodyPr wrap="none" lIns="0" tIns="0" rIns="0" bIns="0" rtlCol="0" anchor="t"/>
              <a:lstStyle/>
              <a:p>
                <a:pPr>
                  <a:lnSpc>
                    <a:spcPts val="2333"/>
                  </a:lnSpc>
                </a:pPr>
                <a:r>
                  <a:rPr lang="en-US" dirty="0">
                    <a:solidFill>
                      <a:srgbClr val="3C3939"/>
                    </a:solidFill>
                    <a:latin typeface="Roboto" pitchFamily="34" charset="0"/>
                    <a:ea typeface="Roboto" pitchFamily="34" charset="-122"/>
                    <a:cs typeface="Roboto" pitchFamily="34" charset="-120"/>
                  </a:rPr>
                  <a:t>First .NET App developed on .NET Framework 1.0</a:t>
                </a:r>
                <a:endParaRPr lang="en-US" dirty="0"/>
              </a:p>
            </p:txBody>
          </p:sp>
        </p:grpSp>
        <p:grpSp>
          <p:nvGrpSpPr>
            <p:cNvPr id="8" name="Group 7">
              <a:extLst>
                <a:ext uri="{FF2B5EF4-FFF2-40B4-BE49-F238E27FC236}">
                  <a16:creationId xmlns:a16="http://schemas.microsoft.com/office/drawing/2014/main" id="{D9368E19-B3A9-2795-9019-97B699D13410}"/>
                </a:ext>
              </a:extLst>
            </p:cNvPr>
            <p:cNvGrpSpPr/>
            <p:nvPr/>
          </p:nvGrpSpPr>
          <p:grpSpPr>
            <a:xfrm>
              <a:off x="5851726" y="2973402"/>
              <a:ext cx="5400000" cy="1080000"/>
              <a:chOff x="5230515" y="2673450"/>
              <a:chExt cx="6302970" cy="1096566"/>
            </a:xfrm>
            <a:solidFill>
              <a:schemeClr val="bg1">
                <a:lumMod val="95000"/>
              </a:schemeClr>
            </a:solidFill>
          </p:grpSpPr>
          <p:sp>
            <p:nvSpPr>
              <p:cNvPr id="17" name="Shape 4">
                <a:extLst>
                  <a:ext uri="{FF2B5EF4-FFF2-40B4-BE49-F238E27FC236}">
                    <a16:creationId xmlns:a16="http://schemas.microsoft.com/office/drawing/2014/main" id="{D16B007F-95E4-096C-B4D2-B551E00648EC}"/>
                  </a:ext>
                </a:extLst>
              </p:cNvPr>
              <p:cNvSpPr/>
              <p:nvPr/>
            </p:nvSpPr>
            <p:spPr>
              <a:xfrm>
                <a:off x="5230515" y="2673450"/>
                <a:ext cx="6302970" cy="1096566"/>
              </a:xfrm>
              <a:prstGeom prst="roundRect">
                <a:avLst>
                  <a:gd name="adj" fmla="val 7206"/>
                </a:avLst>
              </a:prstGeom>
              <a:grpFill/>
              <a:ln w="7620">
                <a:solidFill>
                  <a:srgbClr val="C7C7D0"/>
                </a:solidFill>
                <a:prstDash val="solid"/>
              </a:ln>
            </p:spPr>
            <p:txBody>
              <a:bodyPr/>
              <a:lstStyle/>
              <a:p>
                <a:endParaRPr lang="tr-TR"/>
              </a:p>
            </p:txBody>
          </p:sp>
          <p:sp>
            <p:nvSpPr>
              <p:cNvPr id="18" name="Text 5">
                <a:extLst>
                  <a:ext uri="{FF2B5EF4-FFF2-40B4-BE49-F238E27FC236}">
                    <a16:creationId xmlns:a16="http://schemas.microsoft.com/office/drawing/2014/main" id="{101D7DDF-139A-655D-7394-E1B2CEDDC195}"/>
                  </a:ext>
                </a:extLst>
              </p:cNvPr>
              <p:cNvSpPr/>
              <p:nvPr/>
            </p:nvSpPr>
            <p:spPr>
              <a:xfrm>
                <a:off x="5424983" y="2867919"/>
                <a:ext cx="2351882" cy="293886"/>
              </a:xfrm>
              <a:prstGeom prst="rect">
                <a:avLst/>
              </a:prstGeom>
              <a:grpFill/>
              <a:ln/>
            </p:spPr>
            <p:txBody>
              <a:bodyPr wrap="none" lIns="0" tIns="0" rIns="0" bIns="0" rtlCol="0" anchor="t"/>
              <a:lstStyle/>
              <a:p>
                <a:pPr>
                  <a:lnSpc>
                    <a:spcPts val="2292"/>
                  </a:lnSpc>
                </a:pPr>
                <a:r>
                  <a:rPr lang="en-US" sz="2000" b="1" dirty="0">
                    <a:solidFill>
                      <a:srgbClr val="3C3939"/>
                    </a:solidFill>
                    <a:latin typeface="Raleway" pitchFamily="34" charset="0"/>
                    <a:ea typeface="Raleway" pitchFamily="34" charset="-122"/>
                    <a:cs typeface="Raleway" pitchFamily="34" charset="-120"/>
                  </a:rPr>
                  <a:t>2006</a:t>
                </a:r>
                <a:endParaRPr lang="en-US" sz="2000" b="1" dirty="0"/>
              </a:p>
            </p:txBody>
          </p:sp>
          <p:sp>
            <p:nvSpPr>
              <p:cNvPr id="19" name="Text 6">
                <a:extLst>
                  <a:ext uri="{FF2B5EF4-FFF2-40B4-BE49-F238E27FC236}">
                    <a16:creationId xmlns:a16="http://schemas.microsoft.com/office/drawing/2014/main" id="{6115236A-0980-4BD4-0346-BF8810FE6EF8}"/>
                  </a:ext>
                </a:extLst>
              </p:cNvPr>
              <p:cNvSpPr/>
              <p:nvPr/>
            </p:nvSpPr>
            <p:spPr>
              <a:xfrm>
                <a:off x="5424984" y="3321037"/>
                <a:ext cx="5914034" cy="300931"/>
              </a:xfrm>
              <a:prstGeom prst="rect">
                <a:avLst/>
              </a:prstGeom>
              <a:grpFill/>
              <a:ln/>
            </p:spPr>
            <p:txBody>
              <a:bodyPr wrap="none" lIns="0" tIns="0" rIns="0" bIns="0" rtlCol="0" anchor="t"/>
              <a:lstStyle/>
              <a:p>
                <a:pPr>
                  <a:lnSpc>
                    <a:spcPts val="2333"/>
                  </a:lnSpc>
                </a:pPr>
                <a:r>
                  <a:rPr lang="en-US" dirty="0">
                    <a:solidFill>
                      <a:srgbClr val="3C3939"/>
                    </a:solidFill>
                    <a:latin typeface="Roboto" pitchFamily="34" charset="0"/>
                    <a:ea typeface="Roboto" pitchFamily="34" charset="-122"/>
                    <a:cs typeface="Roboto" pitchFamily="34" charset="-120"/>
                  </a:rPr>
                  <a:t>Computer Engineering</a:t>
                </a:r>
                <a:endParaRPr lang="en-US" dirty="0"/>
              </a:p>
            </p:txBody>
          </p:sp>
        </p:grpSp>
        <p:grpSp>
          <p:nvGrpSpPr>
            <p:cNvPr id="9" name="Group 8">
              <a:extLst>
                <a:ext uri="{FF2B5EF4-FFF2-40B4-BE49-F238E27FC236}">
                  <a16:creationId xmlns:a16="http://schemas.microsoft.com/office/drawing/2014/main" id="{72606A69-A8D4-0FF1-DB83-BF0A95A7DAA5}"/>
                </a:ext>
              </a:extLst>
            </p:cNvPr>
            <p:cNvGrpSpPr/>
            <p:nvPr/>
          </p:nvGrpSpPr>
          <p:grpSpPr>
            <a:xfrm>
              <a:off x="5851726" y="4301627"/>
              <a:ext cx="5400000" cy="1080000"/>
              <a:chOff x="5230515" y="2673450"/>
              <a:chExt cx="6302970" cy="1096566"/>
            </a:xfrm>
            <a:solidFill>
              <a:schemeClr val="bg1">
                <a:lumMod val="95000"/>
              </a:schemeClr>
            </a:solidFill>
          </p:grpSpPr>
          <p:sp>
            <p:nvSpPr>
              <p:cNvPr id="14" name="Shape 4">
                <a:extLst>
                  <a:ext uri="{FF2B5EF4-FFF2-40B4-BE49-F238E27FC236}">
                    <a16:creationId xmlns:a16="http://schemas.microsoft.com/office/drawing/2014/main" id="{559EB20F-10AF-CF0E-CE4A-AAC63F7776EF}"/>
                  </a:ext>
                </a:extLst>
              </p:cNvPr>
              <p:cNvSpPr/>
              <p:nvPr/>
            </p:nvSpPr>
            <p:spPr>
              <a:xfrm>
                <a:off x="5230515" y="2673450"/>
                <a:ext cx="6302970" cy="1096566"/>
              </a:xfrm>
              <a:prstGeom prst="roundRect">
                <a:avLst>
                  <a:gd name="adj" fmla="val 7206"/>
                </a:avLst>
              </a:prstGeom>
              <a:grpFill/>
              <a:ln w="7620">
                <a:solidFill>
                  <a:srgbClr val="C7C7D0"/>
                </a:solidFill>
                <a:prstDash val="solid"/>
              </a:ln>
            </p:spPr>
            <p:txBody>
              <a:bodyPr/>
              <a:lstStyle/>
              <a:p>
                <a:endParaRPr lang="tr-TR"/>
              </a:p>
            </p:txBody>
          </p:sp>
          <p:sp>
            <p:nvSpPr>
              <p:cNvPr id="15" name="Text 5">
                <a:extLst>
                  <a:ext uri="{FF2B5EF4-FFF2-40B4-BE49-F238E27FC236}">
                    <a16:creationId xmlns:a16="http://schemas.microsoft.com/office/drawing/2014/main" id="{BAEC6D8F-BF48-4931-69ED-A9C573705E96}"/>
                  </a:ext>
                </a:extLst>
              </p:cNvPr>
              <p:cNvSpPr/>
              <p:nvPr/>
            </p:nvSpPr>
            <p:spPr>
              <a:xfrm>
                <a:off x="5424983" y="2867919"/>
                <a:ext cx="2351882" cy="293886"/>
              </a:xfrm>
              <a:prstGeom prst="rect">
                <a:avLst/>
              </a:prstGeom>
              <a:grpFill/>
              <a:ln/>
            </p:spPr>
            <p:txBody>
              <a:bodyPr wrap="none" lIns="0" tIns="0" rIns="0" bIns="0" rtlCol="0" anchor="t"/>
              <a:lstStyle/>
              <a:p>
                <a:pPr>
                  <a:lnSpc>
                    <a:spcPts val="2292"/>
                  </a:lnSpc>
                </a:pPr>
                <a:r>
                  <a:rPr lang="en-US" sz="2000" b="1" dirty="0">
                    <a:solidFill>
                      <a:srgbClr val="3C3939"/>
                    </a:solidFill>
                    <a:latin typeface="Raleway" pitchFamily="34" charset="0"/>
                    <a:ea typeface="Raleway" pitchFamily="34" charset="-122"/>
                    <a:cs typeface="Raleway" pitchFamily="34" charset="-120"/>
                  </a:rPr>
                  <a:t>2010</a:t>
                </a:r>
                <a:endParaRPr lang="en-US" sz="2000" b="1" dirty="0"/>
              </a:p>
            </p:txBody>
          </p:sp>
          <p:sp>
            <p:nvSpPr>
              <p:cNvPr id="16" name="Text 6">
                <a:extLst>
                  <a:ext uri="{FF2B5EF4-FFF2-40B4-BE49-F238E27FC236}">
                    <a16:creationId xmlns:a16="http://schemas.microsoft.com/office/drawing/2014/main" id="{6A15A1CC-CE87-34E1-E797-06EB7D6F0604}"/>
                  </a:ext>
                </a:extLst>
              </p:cNvPr>
              <p:cNvSpPr/>
              <p:nvPr/>
            </p:nvSpPr>
            <p:spPr>
              <a:xfrm>
                <a:off x="5424984" y="3321037"/>
                <a:ext cx="5914034" cy="300931"/>
              </a:xfrm>
              <a:prstGeom prst="rect">
                <a:avLst/>
              </a:prstGeom>
              <a:grpFill/>
              <a:ln/>
            </p:spPr>
            <p:txBody>
              <a:bodyPr wrap="none" lIns="0" tIns="0" rIns="0" bIns="0" rtlCol="0" anchor="t"/>
              <a:lstStyle/>
              <a:p>
                <a:pPr>
                  <a:lnSpc>
                    <a:spcPts val="2333"/>
                  </a:lnSpc>
                </a:pPr>
                <a:r>
                  <a:rPr lang="en-US" dirty="0">
                    <a:solidFill>
                      <a:srgbClr val="3C3939"/>
                    </a:solidFill>
                    <a:latin typeface="Roboto" pitchFamily="34" charset="0"/>
                    <a:ea typeface="Roboto" pitchFamily="34" charset="-122"/>
                    <a:cs typeface="Roboto" pitchFamily="34" charset="-120"/>
                  </a:rPr>
                  <a:t>Master Degree</a:t>
                </a:r>
                <a:endParaRPr lang="en-US" dirty="0"/>
              </a:p>
            </p:txBody>
          </p:sp>
        </p:grpSp>
        <p:grpSp>
          <p:nvGrpSpPr>
            <p:cNvPr id="10" name="Group 9">
              <a:extLst>
                <a:ext uri="{FF2B5EF4-FFF2-40B4-BE49-F238E27FC236}">
                  <a16:creationId xmlns:a16="http://schemas.microsoft.com/office/drawing/2014/main" id="{1958AEF2-AE2A-FE87-8C7E-5EE447A2C096}"/>
                </a:ext>
              </a:extLst>
            </p:cNvPr>
            <p:cNvGrpSpPr/>
            <p:nvPr/>
          </p:nvGrpSpPr>
          <p:grpSpPr>
            <a:xfrm>
              <a:off x="5851726" y="5629851"/>
              <a:ext cx="5400000" cy="1080000"/>
              <a:chOff x="5230515" y="5242819"/>
              <a:chExt cx="6302970" cy="1096566"/>
            </a:xfrm>
            <a:solidFill>
              <a:schemeClr val="bg1">
                <a:lumMod val="95000"/>
              </a:schemeClr>
            </a:solidFill>
          </p:grpSpPr>
          <p:sp>
            <p:nvSpPr>
              <p:cNvPr id="11" name="Shape 10">
                <a:extLst>
                  <a:ext uri="{FF2B5EF4-FFF2-40B4-BE49-F238E27FC236}">
                    <a16:creationId xmlns:a16="http://schemas.microsoft.com/office/drawing/2014/main" id="{C632B7D7-2D83-58B0-D98A-FA6BCD5DD109}"/>
                  </a:ext>
                </a:extLst>
              </p:cNvPr>
              <p:cNvSpPr/>
              <p:nvPr/>
            </p:nvSpPr>
            <p:spPr>
              <a:xfrm>
                <a:off x="5230515" y="5242819"/>
                <a:ext cx="6302970" cy="1096566"/>
              </a:xfrm>
              <a:prstGeom prst="roundRect">
                <a:avLst>
                  <a:gd name="adj" fmla="val 7206"/>
                </a:avLst>
              </a:prstGeom>
              <a:grpFill/>
              <a:ln w="7620">
                <a:solidFill>
                  <a:srgbClr val="C7C7D0"/>
                </a:solidFill>
                <a:prstDash val="solid"/>
              </a:ln>
            </p:spPr>
            <p:txBody>
              <a:bodyPr/>
              <a:lstStyle/>
              <a:p>
                <a:endParaRPr lang="tr-TR"/>
              </a:p>
            </p:txBody>
          </p:sp>
          <p:sp>
            <p:nvSpPr>
              <p:cNvPr id="12" name="Text 11">
                <a:extLst>
                  <a:ext uri="{FF2B5EF4-FFF2-40B4-BE49-F238E27FC236}">
                    <a16:creationId xmlns:a16="http://schemas.microsoft.com/office/drawing/2014/main" id="{51FE5208-DAB9-60D1-EE8F-58A82ABCF6F8}"/>
                  </a:ext>
                </a:extLst>
              </p:cNvPr>
              <p:cNvSpPr/>
              <p:nvPr/>
            </p:nvSpPr>
            <p:spPr>
              <a:xfrm>
                <a:off x="5424983" y="5437287"/>
                <a:ext cx="2351882" cy="293886"/>
              </a:xfrm>
              <a:prstGeom prst="rect">
                <a:avLst/>
              </a:prstGeom>
              <a:grpFill/>
              <a:ln/>
            </p:spPr>
            <p:txBody>
              <a:bodyPr wrap="none" lIns="0" tIns="0" rIns="0" bIns="0" rtlCol="0" anchor="t"/>
              <a:lstStyle/>
              <a:p>
                <a:pPr>
                  <a:lnSpc>
                    <a:spcPts val="2292"/>
                  </a:lnSpc>
                </a:pPr>
                <a:r>
                  <a:rPr lang="en-US" sz="2000" b="1" dirty="0">
                    <a:solidFill>
                      <a:srgbClr val="3C3939"/>
                    </a:solidFill>
                    <a:latin typeface="Raleway" pitchFamily="34" charset="0"/>
                    <a:ea typeface="Raleway" pitchFamily="34" charset="-122"/>
                    <a:cs typeface="Raleway" pitchFamily="34" charset="-120"/>
                  </a:rPr>
                  <a:t>2017</a:t>
                </a:r>
                <a:endParaRPr lang="en-US" sz="2000" b="1" dirty="0"/>
              </a:p>
            </p:txBody>
          </p:sp>
          <p:sp>
            <p:nvSpPr>
              <p:cNvPr id="13" name="Text 12">
                <a:extLst>
                  <a:ext uri="{FF2B5EF4-FFF2-40B4-BE49-F238E27FC236}">
                    <a16:creationId xmlns:a16="http://schemas.microsoft.com/office/drawing/2014/main" id="{4FDEF6FE-D278-30FA-FF00-F8BB60B3EA3B}"/>
                  </a:ext>
                </a:extLst>
              </p:cNvPr>
              <p:cNvSpPr/>
              <p:nvPr/>
            </p:nvSpPr>
            <p:spPr>
              <a:xfrm>
                <a:off x="5424984" y="5890406"/>
                <a:ext cx="5914034" cy="300931"/>
              </a:xfrm>
              <a:prstGeom prst="rect">
                <a:avLst/>
              </a:prstGeom>
              <a:grpFill/>
              <a:ln/>
            </p:spPr>
            <p:txBody>
              <a:bodyPr wrap="none" lIns="0" tIns="0" rIns="0" bIns="0" rtlCol="0" anchor="t"/>
              <a:lstStyle/>
              <a:p>
                <a:pPr>
                  <a:lnSpc>
                    <a:spcPts val="2333"/>
                  </a:lnSpc>
                </a:pPr>
                <a:r>
                  <a:rPr lang="en-US" dirty="0">
                    <a:solidFill>
                      <a:srgbClr val="3C3939"/>
                    </a:solidFill>
                    <a:latin typeface="Roboto" pitchFamily="34" charset="0"/>
                    <a:ea typeface="Roboto" pitchFamily="34" charset="-122"/>
                    <a:cs typeface="Roboto" pitchFamily="34" charset="-120"/>
                  </a:rPr>
                  <a:t>Co-Founder of Volosoft</a:t>
                </a:r>
              </a:p>
            </p:txBody>
          </p:sp>
        </p:grpSp>
      </p:grpSp>
      <p:pic>
        <p:nvPicPr>
          <p:cNvPr id="65" name="Picture 64">
            <a:extLst>
              <a:ext uri="{FF2B5EF4-FFF2-40B4-BE49-F238E27FC236}">
                <a16:creationId xmlns:a16="http://schemas.microsoft.com/office/drawing/2014/main" id="{0278EBE5-0553-A4BC-FEF9-28E3AAB4D37D}"/>
              </a:ext>
            </a:extLst>
          </p:cNvPr>
          <p:cNvPicPr>
            <a:picLocks noChangeAspect="1"/>
          </p:cNvPicPr>
          <p:nvPr/>
        </p:nvPicPr>
        <p:blipFill>
          <a:blip r:embed="rId3"/>
          <a:stretch>
            <a:fillRect/>
          </a:stretch>
        </p:blipFill>
        <p:spPr>
          <a:xfrm>
            <a:off x="6289738" y="0"/>
            <a:ext cx="5781675" cy="6829425"/>
          </a:xfrm>
          <a:prstGeom prst="rect">
            <a:avLst/>
          </a:prstGeom>
        </p:spPr>
      </p:pic>
      <p:pic>
        <p:nvPicPr>
          <p:cNvPr id="41" name="Picture 40">
            <a:extLst>
              <a:ext uri="{FF2B5EF4-FFF2-40B4-BE49-F238E27FC236}">
                <a16:creationId xmlns:a16="http://schemas.microsoft.com/office/drawing/2014/main" id="{7D7786E9-AA5F-3ADF-D26C-1E2338F1F366}"/>
              </a:ext>
            </a:extLst>
          </p:cNvPr>
          <p:cNvPicPr>
            <a:picLocks noChangeAspect="1"/>
          </p:cNvPicPr>
          <p:nvPr/>
        </p:nvPicPr>
        <p:blipFill>
          <a:blip r:embed="rId4"/>
          <a:srcRect l="3966" r="10169"/>
          <a:stretch>
            <a:fillRect/>
          </a:stretch>
        </p:blipFill>
        <p:spPr>
          <a:xfrm>
            <a:off x="-1" y="-9975"/>
            <a:ext cx="12192001" cy="7153664"/>
          </a:xfrm>
          <a:prstGeom prst="rect">
            <a:avLst/>
          </a:prstGeom>
        </p:spPr>
      </p:pic>
    </p:spTree>
    <p:extLst>
      <p:ext uri="{BB962C8B-B14F-4D97-AF65-F5344CB8AC3E}">
        <p14:creationId xmlns:p14="http://schemas.microsoft.com/office/powerpoint/2010/main" val="41955467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fade">
                                      <p:cBhvr>
                                        <p:cTn id="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bg>
      <p:bgPr>
        <a:pattFill prst="pct5">
          <a:fgClr>
            <a:srgbClr val="FAFBFC"/>
          </a:fgClr>
          <a:bgClr>
            <a:schemeClr val="bg1"/>
          </a:bgClr>
        </a:patt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D5AF6E-89B6-877C-7960-D5F8849F6877}"/>
              </a:ext>
            </a:extLst>
          </p:cNvPr>
          <p:cNvPicPr>
            <a:picLocks noChangeAspect="1"/>
          </p:cNvPicPr>
          <p:nvPr/>
        </p:nvPicPr>
        <p:blipFill>
          <a:blip r:embed="rId3"/>
          <a:srcRect l="9172" t="6988" r="8671" b="58988"/>
          <a:stretch>
            <a:fillRect/>
          </a:stretch>
        </p:blipFill>
        <p:spPr>
          <a:xfrm>
            <a:off x="523415" y="1828800"/>
            <a:ext cx="11051757" cy="2875631"/>
          </a:xfrm>
          <a:prstGeom prst="rect">
            <a:avLst/>
          </a:prstGeom>
        </p:spPr>
      </p:pic>
    </p:spTree>
    <p:extLst>
      <p:ext uri="{BB962C8B-B14F-4D97-AF65-F5344CB8AC3E}">
        <p14:creationId xmlns:p14="http://schemas.microsoft.com/office/powerpoint/2010/main" val="1413440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04D36-88E4-8561-DB5F-997433DD8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F68871-A7D5-3A80-30DA-418C6BD4ED2C}"/>
              </a:ext>
            </a:extLst>
          </p:cNvPr>
          <p:cNvSpPr>
            <a:spLocks noGrp="1"/>
          </p:cNvSpPr>
          <p:nvPr>
            <p:ph type="title" idx="4294967295"/>
          </p:nvPr>
        </p:nvSpPr>
        <p:spPr>
          <a:xfrm>
            <a:off x="294968" y="276955"/>
            <a:ext cx="10515600" cy="1325563"/>
          </a:xfrm>
        </p:spPr>
        <p:txBody>
          <a:bodyPr>
            <a:normAutofit/>
          </a:bodyPr>
          <a:lstStyle/>
          <a:p>
            <a:r>
              <a:rPr lang="en-US" sz="4800" b="1" dirty="0"/>
              <a:t>Understanding T</a:t>
            </a:r>
            <a:r>
              <a:rPr lang="en-US" sz="4800" b="1" dirty="0">
                <a:solidFill>
                  <a:srgbClr val="0F172A"/>
                </a:solidFill>
              </a:rPr>
              <a:t>he Problem </a:t>
            </a:r>
            <a:r>
              <a:rPr lang="en-US" sz="4800" dirty="0"/>
              <a:t>🤝</a:t>
            </a:r>
            <a:endParaRPr lang="en-US" sz="4800" b="1" dirty="0">
              <a:solidFill>
                <a:srgbClr val="0F172A"/>
              </a:solidFill>
            </a:endParaRPr>
          </a:p>
        </p:txBody>
      </p:sp>
      <p:sp>
        <p:nvSpPr>
          <p:cNvPr id="203" name="Pain203">
            <a:extLst>
              <a:ext uri="{FF2B5EF4-FFF2-40B4-BE49-F238E27FC236}">
                <a16:creationId xmlns:a16="http://schemas.microsoft.com/office/drawing/2014/main" id="{A1D01431-23C4-4A82-5C9E-91BB5EE4E940}"/>
              </a:ext>
            </a:extLst>
          </p:cNvPr>
          <p:cNvSpPr/>
          <p:nvPr/>
        </p:nvSpPr>
        <p:spPr>
          <a:xfrm>
            <a:off x="0" y="1884978"/>
            <a:ext cx="6435524" cy="3678411"/>
          </a:xfrm>
          <a:prstGeom prst="roundRect">
            <a:avLst>
              <a:gd name="adj" fmla="val 8000"/>
            </a:avLst>
          </a:prstGeom>
          <a:noFill/>
          <a:ln w="12700">
            <a:noFill/>
          </a:ln>
        </p:spPr>
        <p:txBody>
          <a:bodyPr wrap="square" lIns="180000" tIns="140000" rIns="180000" bIns="140000" anchor="ctr"/>
          <a:lstStyle/>
          <a:p>
            <a:r>
              <a:rPr lang="en-US" sz="3600" dirty="0">
                <a:solidFill>
                  <a:srgbClr val="0F172A"/>
                </a:solidFill>
              </a:rPr>
              <a:t>Are you a .NET dev?</a:t>
            </a:r>
          </a:p>
          <a:p>
            <a:endParaRPr lang="en-US" sz="3600" dirty="0">
              <a:solidFill>
                <a:srgbClr val="0F172A"/>
              </a:solidFill>
            </a:endParaRPr>
          </a:p>
          <a:p>
            <a:r>
              <a:rPr lang="en-US" sz="3600" dirty="0"/>
              <a:t>Have you written SQL before?</a:t>
            </a:r>
          </a:p>
          <a:p>
            <a:endParaRPr lang="en-US" sz="3600" dirty="0">
              <a:solidFill>
                <a:srgbClr val="0F172A"/>
              </a:solidFill>
            </a:endParaRPr>
          </a:p>
          <a:p>
            <a:r>
              <a:rPr lang="en-US" sz="3600" dirty="0"/>
              <a:t>Have you created a reporting screen before?</a:t>
            </a:r>
            <a:endParaRPr lang="en-US" sz="3600" dirty="0">
              <a:solidFill>
                <a:srgbClr val="475569"/>
              </a:solidFill>
            </a:endParaRPr>
          </a:p>
        </p:txBody>
      </p:sp>
      <p:pic>
        <p:nvPicPr>
          <p:cNvPr id="6" name="Picture 5">
            <a:extLst>
              <a:ext uri="{FF2B5EF4-FFF2-40B4-BE49-F238E27FC236}">
                <a16:creationId xmlns:a16="http://schemas.microsoft.com/office/drawing/2014/main" id="{70009FAD-49C2-10C7-DB83-ADDF7122AD6C}"/>
              </a:ext>
            </a:extLst>
          </p:cNvPr>
          <p:cNvPicPr>
            <a:picLocks noChangeAspect="1"/>
          </p:cNvPicPr>
          <p:nvPr/>
        </p:nvPicPr>
        <p:blipFill>
          <a:blip r:embed="rId3"/>
          <a:stretch>
            <a:fillRect/>
          </a:stretch>
        </p:blipFill>
        <p:spPr>
          <a:xfrm>
            <a:off x="6529706" y="1884978"/>
            <a:ext cx="5161551" cy="3890789"/>
          </a:xfrm>
          <a:prstGeom prst="rect">
            <a:avLst/>
          </a:prstGeom>
          <a:ln w="57150">
            <a:solidFill>
              <a:schemeClr val="tx1"/>
            </a:solidFill>
          </a:ln>
        </p:spPr>
      </p:pic>
      <p:sp>
        <p:nvSpPr>
          <p:cNvPr id="8" name="TextBox 7">
            <a:extLst>
              <a:ext uri="{FF2B5EF4-FFF2-40B4-BE49-F238E27FC236}">
                <a16:creationId xmlns:a16="http://schemas.microsoft.com/office/drawing/2014/main" id="{C08E12A3-2BEF-D01C-0556-6454325D05EA}"/>
              </a:ext>
            </a:extLst>
          </p:cNvPr>
          <p:cNvSpPr txBox="1"/>
          <p:nvPr/>
        </p:nvSpPr>
        <p:spPr>
          <a:xfrm>
            <a:off x="7749977" y="1684923"/>
            <a:ext cx="3188328"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a:spAutoFit/>
          </a:bodyPr>
          <a:lstStyle/>
          <a:p>
            <a:r>
              <a:rPr lang="en-US" sz="2000" b="1" dirty="0">
                <a:solidFill>
                  <a:schemeClr val="bg1"/>
                </a:solidFill>
              </a:rPr>
              <a:t>SQL Server Commercial</a:t>
            </a:r>
            <a:endParaRPr lang="en-US" sz="900" dirty="0">
              <a:solidFill>
                <a:schemeClr val="bg1"/>
              </a:solidFill>
            </a:endParaRPr>
          </a:p>
        </p:txBody>
      </p:sp>
      <p:cxnSp>
        <p:nvCxnSpPr>
          <p:cNvPr id="10" name="Straight Connector 9">
            <a:extLst>
              <a:ext uri="{FF2B5EF4-FFF2-40B4-BE49-F238E27FC236}">
                <a16:creationId xmlns:a16="http://schemas.microsoft.com/office/drawing/2014/main" id="{9F9C3A2B-230C-B53C-9860-FEA754CB078F}"/>
              </a:ext>
            </a:extLst>
          </p:cNvPr>
          <p:cNvCxnSpPr/>
          <p:nvPr/>
        </p:nvCxnSpPr>
        <p:spPr>
          <a:xfrm>
            <a:off x="294968" y="2645621"/>
            <a:ext cx="46645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CB662828-9628-EF89-9E7F-5EE9C651FDA0}"/>
              </a:ext>
            </a:extLst>
          </p:cNvPr>
          <p:cNvCxnSpPr/>
          <p:nvPr/>
        </p:nvCxnSpPr>
        <p:spPr>
          <a:xfrm>
            <a:off x="294968" y="4372178"/>
            <a:ext cx="466459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336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5170C-886C-7A37-EAA7-D9A6EBC328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652452-5C32-4FAA-6F38-AE7C3503AAEE}"/>
              </a:ext>
            </a:extLst>
          </p:cNvPr>
          <p:cNvSpPr>
            <a:spLocks noGrp="1"/>
          </p:cNvSpPr>
          <p:nvPr>
            <p:ph type="title" idx="4294967295"/>
          </p:nvPr>
        </p:nvSpPr>
        <p:spPr>
          <a:xfrm>
            <a:off x="294968" y="215204"/>
            <a:ext cx="10515600" cy="1325563"/>
          </a:xfrm>
        </p:spPr>
        <p:txBody>
          <a:bodyPr>
            <a:normAutofit/>
          </a:bodyPr>
          <a:lstStyle/>
          <a:p>
            <a:pPr algn="l"/>
            <a:r>
              <a:rPr lang="en-US" sz="4800" b="1" dirty="0">
                <a:solidFill>
                  <a:srgbClr val="0F172A"/>
                </a:solidFill>
              </a:rPr>
              <a:t>AI Era: Adapt or Fall Behind</a:t>
            </a:r>
          </a:p>
        </p:txBody>
      </p:sp>
      <p:pic>
        <p:nvPicPr>
          <p:cNvPr id="6" name="Picture 5">
            <a:extLst>
              <a:ext uri="{FF2B5EF4-FFF2-40B4-BE49-F238E27FC236}">
                <a16:creationId xmlns:a16="http://schemas.microsoft.com/office/drawing/2014/main" id="{DB1D5246-277B-EB8A-64FA-8243DE73A5CB}"/>
              </a:ext>
            </a:extLst>
          </p:cNvPr>
          <p:cNvPicPr>
            <a:picLocks noChangeAspect="1"/>
          </p:cNvPicPr>
          <p:nvPr/>
        </p:nvPicPr>
        <p:blipFill>
          <a:blip r:embed="rId3"/>
          <a:srcRect b="2684"/>
          <a:stretch>
            <a:fillRect/>
          </a:stretch>
        </p:blipFill>
        <p:spPr>
          <a:xfrm>
            <a:off x="411126" y="1284549"/>
            <a:ext cx="10915025" cy="4695465"/>
          </a:xfrm>
          <a:prstGeom prst="rect">
            <a:avLst/>
          </a:prstGeom>
        </p:spPr>
      </p:pic>
      <p:sp>
        <p:nvSpPr>
          <p:cNvPr id="8" name="TextBox 7">
            <a:extLst>
              <a:ext uri="{FF2B5EF4-FFF2-40B4-BE49-F238E27FC236}">
                <a16:creationId xmlns:a16="http://schemas.microsoft.com/office/drawing/2014/main" id="{84EE6060-0E00-07CE-F11A-D891CDBB0B72}"/>
              </a:ext>
            </a:extLst>
          </p:cNvPr>
          <p:cNvSpPr txBox="1"/>
          <p:nvPr/>
        </p:nvSpPr>
        <p:spPr>
          <a:xfrm>
            <a:off x="411126" y="6069026"/>
            <a:ext cx="4946257" cy="261610"/>
          </a:xfrm>
          <a:prstGeom prst="rect">
            <a:avLst/>
          </a:prstGeom>
          <a:noFill/>
        </p:spPr>
        <p:txBody>
          <a:bodyPr wrap="square">
            <a:spAutoFit/>
          </a:bodyPr>
          <a:lstStyle/>
          <a:p>
            <a:r>
              <a:rPr lang="en-US" sz="1100" i="1" dirty="0">
                <a:solidFill>
                  <a:srgbClr val="969696"/>
                </a:solidFill>
              </a:rPr>
              <a:t>Source: </a:t>
            </a:r>
            <a:r>
              <a:rPr lang="en-US" sz="1100" i="1" dirty="0" err="1">
                <a:solidFill>
                  <a:srgbClr val="969696"/>
                </a:solidFill>
              </a:rPr>
              <a:t>SQLAuthority</a:t>
            </a:r>
            <a:r>
              <a:rPr lang="en-US" sz="1100" i="1" dirty="0">
                <a:solidFill>
                  <a:srgbClr val="969696"/>
                </a:solidFill>
              </a:rPr>
              <a:t> blog, Apr 24, 2026</a:t>
            </a:r>
          </a:p>
        </p:txBody>
      </p:sp>
      <p:sp>
        <p:nvSpPr>
          <p:cNvPr id="11" name="Rectangle 10">
            <a:extLst>
              <a:ext uri="{FF2B5EF4-FFF2-40B4-BE49-F238E27FC236}">
                <a16:creationId xmlns:a16="http://schemas.microsoft.com/office/drawing/2014/main" id="{F255DC12-CF3C-4772-AE36-5F1DEC72E869}"/>
              </a:ext>
            </a:extLst>
          </p:cNvPr>
          <p:cNvSpPr/>
          <p:nvPr/>
        </p:nvSpPr>
        <p:spPr>
          <a:xfrm>
            <a:off x="8076023" y="3641416"/>
            <a:ext cx="3366286" cy="2403334"/>
          </a:xfrm>
          <a:prstGeom prst="rect">
            <a:avLst/>
          </a:prstGeom>
          <a:effectLst>
            <a:outerShdw blurRad="63500" sx="102000" sy="102000" algn="ctr" rotWithShape="0">
              <a:prstClr val="black">
                <a:alpha val="40000"/>
              </a:prstClr>
            </a:outerShd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000" dirty="0"/>
              <a:t>Pinal Dave, known for decades of SQL expertise, is now using AI to help people understand and work with data faster</a:t>
            </a:r>
          </a:p>
        </p:txBody>
      </p:sp>
    </p:spTree>
    <p:extLst>
      <p:ext uri="{BB962C8B-B14F-4D97-AF65-F5344CB8AC3E}">
        <p14:creationId xmlns:p14="http://schemas.microsoft.com/office/powerpoint/2010/main" val="4067985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02A3A-127F-A1FE-FD76-B062BC24DD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0BB39-2910-DC02-6444-5006FB390AB6}"/>
              </a:ext>
            </a:extLst>
          </p:cNvPr>
          <p:cNvSpPr>
            <a:spLocks noGrp="1"/>
          </p:cNvSpPr>
          <p:nvPr>
            <p:ph type="title" idx="4294967295"/>
          </p:nvPr>
        </p:nvSpPr>
        <p:spPr>
          <a:xfrm>
            <a:off x="294968" y="365125"/>
            <a:ext cx="10515600" cy="1325563"/>
          </a:xfrm>
        </p:spPr>
        <p:txBody>
          <a:bodyPr>
            <a:normAutofit/>
          </a:bodyPr>
          <a:lstStyle/>
          <a:p>
            <a:pPr algn="l"/>
            <a:r>
              <a:rPr lang="en-US" sz="4800" b="1" dirty="0">
                <a:solidFill>
                  <a:srgbClr val="0F172A"/>
                </a:solidFill>
              </a:rPr>
              <a:t>The Reporting Challenge</a:t>
            </a:r>
          </a:p>
        </p:txBody>
      </p:sp>
      <p:sp>
        <p:nvSpPr>
          <p:cNvPr id="202" name="Pain202">
            <a:extLst>
              <a:ext uri="{FF2B5EF4-FFF2-40B4-BE49-F238E27FC236}">
                <a16:creationId xmlns:a16="http://schemas.microsoft.com/office/drawing/2014/main" id="{38585C81-7A57-9BAA-AE81-72FD4F1CF738}"/>
              </a:ext>
            </a:extLst>
          </p:cNvPr>
          <p:cNvSpPr/>
          <p:nvPr/>
        </p:nvSpPr>
        <p:spPr>
          <a:xfrm>
            <a:off x="294970" y="4362335"/>
            <a:ext cx="9000000" cy="1143000"/>
          </a:xfrm>
          <a:prstGeom prst="roundRect">
            <a:avLst>
              <a:gd name="adj" fmla="val 8000"/>
            </a:avLst>
          </a:prstGeom>
          <a:solidFill>
            <a:srgbClr val="FFFFFF"/>
          </a:solidFill>
          <a:ln w="12700">
            <a:solidFill>
              <a:srgbClr val="E2E8F0"/>
            </a:solidFill>
          </a:ln>
        </p:spPr>
        <p:txBody>
          <a:bodyPr wrap="square" lIns="180000" tIns="140000" rIns="180000" bIns="140000" anchor="ctr"/>
          <a:lstStyle/>
          <a:p>
            <a:pPr algn="l"/>
            <a:r>
              <a:rPr lang="en-US" sz="2400" b="1" dirty="0">
                <a:solidFill>
                  <a:srgbClr val="0F172A"/>
                </a:solidFill>
              </a:rPr>
              <a:t>Developers: </a:t>
            </a:r>
            <a:r>
              <a:rPr lang="en-US" sz="2400" b="1" dirty="0">
                <a:solidFill>
                  <a:srgbClr val="FF0000"/>
                </a:solidFill>
              </a:rPr>
              <a:t>bottleneck</a:t>
            </a:r>
          </a:p>
          <a:p>
            <a:pPr>
              <a:spcBef>
                <a:spcPts val="400"/>
              </a:spcBef>
            </a:pPr>
            <a:r>
              <a:rPr lang="en-US" dirty="0">
                <a:solidFill>
                  <a:srgbClr val="475569"/>
                </a:solidFill>
              </a:rPr>
              <a:t>The real value is trapped behind technical gatekeepers</a:t>
            </a:r>
            <a:br>
              <a:rPr lang="en-US" dirty="0">
                <a:solidFill>
                  <a:srgbClr val="475569"/>
                </a:solidFill>
              </a:rPr>
            </a:br>
            <a:r>
              <a:rPr lang="en-US" dirty="0">
                <a:solidFill>
                  <a:srgbClr val="475569"/>
                </a:solidFill>
              </a:rPr>
              <a:t>Business waits on engineers</a:t>
            </a:r>
          </a:p>
        </p:txBody>
      </p:sp>
      <p:sp>
        <p:nvSpPr>
          <p:cNvPr id="203" name="Pain203">
            <a:extLst>
              <a:ext uri="{FF2B5EF4-FFF2-40B4-BE49-F238E27FC236}">
                <a16:creationId xmlns:a16="http://schemas.microsoft.com/office/drawing/2014/main" id="{F8B233AB-A087-BB03-5B42-8A618FE005AE}"/>
              </a:ext>
            </a:extLst>
          </p:cNvPr>
          <p:cNvSpPr/>
          <p:nvPr/>
        </p:nvSpPr>
        <p:spPr>
          <a:xfrm>
            <a:off x="294968" y="1690688"/>
            <a:ext cx="9000000" cy="1143000"/>
          </a:xfrm>
          <a:prstGeom prst="roundRect">
            <a:avLst>
              <a:gd name="adj" fmla="val 8000"/>
            </a:avLst>
          </a:prstGeom>
          <a:solidFill>
            <a:srgbClr val="FFFFFF"/>
          </a:solidFill>
          <a:ln w="12700">
            <a:solidFill>
              <a:srgbClr val="E2E8F0"/>
            </a:solidFill>
          </a:ln>
        </p:spPr>
        <p:txBody>
          <a:bodyPr wrap="square" lIns="180000" tIns="140000" rIns="180000" bIns="140000" anchor="ctr"/>
          <a:lstStyle/>
          <a:p>
            <a:pPr algn="l"/>
            <a:r>
              <a:rPr lang="en-US" sz="2400" b="1" dirty="0">
                <a:solidFill>
                  <a:srgbClr val="0F172A"/>
                </a:solidFill>
              </a:rPr>
              <a:t>Reporting tools: </a:t>
            </a:r>
            <a:r>
              <a:rPr lang="en-US" sz="2400" b="1" dirty="0">
                <a:solidFill>
                  <a:srgbClr val="FF0000"/>
                </a:solidFill>
              </a:rPr>
              <a:t>rigid</a:t>
            </a:r>
          </a:p>
          <a:p>
            <a:pPr>
              <a:spcBef>
                <a:spcPts val="400"/>
              </a:spcBef>
            </a:pPr>
            <a:r>
              <a:rPr lang="en-US" dirty="0">
                <a:solidFill>
                  <a:srgbClr val="475569"/>
                </a:solidFill>
              </a:rPr>
              <a:t>Power BI, Salesforce, Qlik, SAP Analytics 👉 Create ticket for a new report</a:t>
            </a:r>
          </a:p>
        </p:txBody>
      </p:sp>
      <p:sp>
        <p:nvSpPr>
          <p:cNvPr id="204" name="Pain204">
            <a:extLst>
              <a:ext uri="{FF2B5EF4-FFF2-40B4-BE49-F238E27FC236}">
                <a16:creationId xmlns:a16="http://schemas.microsoft.com/office/drawing/2014/main" id="{B1AE5642-E23F-DB60-2290-044D86D4438B}"/>
              </a:ext>
            </a:extLst>
          </p:cNvPr>
          <p:cNvSpPr/>
          <p:nvPr/>
        </p:nvSpPr>
        <p:spPr>
          <a:xfrm>
            <a:off x="294968" y="3026511"/>
            <a:ext cx="9000000" cy="1143000"/>
          </a:xfrm>
          <a:prstGeom prst="roundRect">
            <a:avLst>
              <a:gd name="adj" fmla="val 8000"/>
            </a:avLst>
          </a:prstGeom>
          <a:solidFill>
            <a:srgbClr val="FFFFFF"/>
          </a:solidFill>
          <a:ln w="12700">
            <a:solidFill>
              <a:srgbClr val="E2E8F0"/>
            </a:solidFill>
          </a:ln>
        </p:spPr>
        <p:txBody>
          <a:bodyPr wrap="square" lIns="180000" tIns="140000" rIns="180000" bIns="140000" anchor="ctr"/>
          <a:lstStyle/>
          <a:p>
            <a:pPr algn="l"/>
            <a:r>
              <a:rPr lang="en-US" sz="2400" b="1" dirty="0">
                <a:solidFill>
                  <a:srgbClr val="0F172A"/>
                </a:solidFill>
              </a:rPr>
              <a:t>Implementing custom report: </a:t>
            </a:r>
            <a:r>
              <a:rPr lang="en-US" sz="2400" b="1" dirty="0">
                <a:solidFill>
                  <a:srgbClr val="FF0000"/>
                </a:solidFill>
              </a:rPr>
              <a:t>slow</a:t>
            </a:r>
            <a:endParaRPr lang="en-US" sz="2400" b="1" u="sng" dirty="0">
              <a:solidFill>
                <a:srgbClr val="FF0000"/>
              </a:solidFill>
            </a:endParaRPr>
          </a:p>
          <a:p>
            <a:pPr>
              <a:spcBef>
                <a:spcPts val="400"/>
              </a:spcBef>
            </a:pPr>
            <a:r>
              <a:rPr lang="en-US" dirty="0">
                <a:solidFill>
                  <a:srgbClr val="475569"/>
                </a:solidFill>
              </a:rPr>
              <a:t>Writing SQL, Page Design, Testing, Deployment 👉 Needs too much things</a:t>
            </a:r>
          </a:p>
        </p:txBody>
      </p:sp>
      <p:sp>
        <p:nvSpPr>
          <p:cNvPr id="3" name="HookCard">
            <a:extLst>
              <a:ext uri="{FF2B5EF4-FFF2-40B4-BE49-F238E27FC236}">
                <a16:creationId xmlns:a16="http://schemas.microsoft.com/office/drawing/2014/main" id="{C21A7716-41B5-A186-7F6F-1F31AFDDFBF5}"/>
              </a:ext>
            </a:extLst>
          </p:cNvPr>
          <p:cNvSpPr/>
          <p:nvPr/>
        </p:nvSpPr>
        <p:spPr>
          <a:xfrm>
            <a:off x="9438968" y="1606339"/>
            <a:ext cx="2458062" cy="3983344"/>
          </a:xfrm>
          <a:prstGeom prst="roundRect">
            <a:avLst>
              <a:gd name="adj" fmla="val 6000"/>
            </a:avLst>
          </a:prstGeom>
          <a:solidFill>
            <a:srgbClr val="ECFEFF"/>
          </a:solidFill>
          <a:ln w="12700">
            <a:solidFill>
              <a:srgbClr val="A5F3FC"/>
            </a:solidFill>
          </a:ln>
        </p:spPr>
        <p:txBody>
          <a:bodyPr wrap="square" lIns="260000" tIns="140000" rIns="260000" bIns="140000" anchor="ctr"/>
          <a:lstStyle/>
          <a:p>
            <a:pPr algn="r"/>
            <a:endParaRPr lang="en-US" sz="3600" b="1" dirty="0">
              <a:solidFill>
                <a:srgbClr val="0F172A"/>
              </a:solidFill>
            </a:endParaRPr>
          </a:p>
        </p:txBody>
      </p:sp>
      <p:sp>
        <p:nvSpPr>
          <p:cNvPr id="5" name="TextBox 4">
            <a:extLst>
              <a:ext uri="{FF2B5EF4-FFF2-40B4-BE49-F238E27FC236}">
                <a16:creationId xmlns:a16="http://schemas.microsoft.com/office/drawing/2014/main" id="{6DDC2E42-54A8-3E94-5F9C-964AE67C2130}"/>
              </a:ext>
            </a:extLst>
          </p:cNvPr>
          <p:cNvSpPr txBox="1"/>
          <p:nvPr/>
        </p:nvSpPr>
        <p:spPr>
          <a:xfrm>
            <a:off x="9438968" y="2166850"/>
            <a:ext cx="2602062" cy="2862322"/>
          </a:xfrm>
          <a:prstGeom prst="rect">
            <a:avLst/>
          </a:prstGeom>
          <a:noFill/>
        </p:spPr>
        <p:txBody>
          <a:bodyPr wrap="square">
            <a:spAutoFit/>
          </a:bodyPr>
          <a:lstStyle/>
          <a:p>
            <a:pPr algn="ctr"/>
            <a:r>
              <a:rPr lang="en-US" sz="3600" b="1" dirty="0">
                <a:solidFill>
                  <a:srgbClr val="0F172A"/>
                </a:solidFill>
              </a:rPr>
              <a:t>Data is </a:t>
            </a:r>
            <a:r>
              <a:rPr lang="en-US" sz="3600" b="1" dirty="0">
                <a:solidFill>
                  <a:srgbClr val="FF0000"/>
                </a:solidFill>
              </a:rPr>
              <a:t>locked</a:t>
            </a:r>
            <a:r>
              <a:rPr lang="en-US" sz="3600" b="1" dirty="0">
                <a:solidFill>
                  <a:srgbClr val="0F172A"/>
                </a:solidFill>
              </a:rPr>
              <a:t> behind technical curtains!</a:t>
            </a:r>
          </a:p>
        </p:txBody>
      </p:sp>
    </p:spTree>
    <p:extLst>
      <p:ext uri="{BB962C8B-B14F-4D97-AF65-F5344CB8AC3E}">
        <p14:creationId xmlns:p14="http://schemas.microsoft.com/office/powerpoint/2010/main" val="2494806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a:extLst>
              <a:ext uri="{FF2B5EF4-FFF2-40B4-BE49-F238E27FC236}">
                <a16:creationId xmlns:a16="http://schemas.microsoft.com/office/drawing/2014/main" id="{74421564-AFB6-A882-9D32-6CFD32A6A777}"/>
              </a:ext>
            </a:extLst>
          </p:cNvPr>
          <p:cNvSpPr/>
          <p:nvPr/>
        </p:nvSpPr>
        <p:spPr>
          <a:xfrm>
            <a:off x="73744" y="911168"/>
            <a:ext cx="12118256" cy="4527732"/>
          </a:xfrm>
          <a:prstGeom prst="rect">
            <a:avLst/>
          </a:prstGeom>
          <a:solidFill>
            <a:srgbClr val="0F172A"/>
          </a:solidFill>
          <a:ln>
            <a:noFill/>
          </a:ln>
        </p:spPr>
        <p:txBody>
          <a:bodyPr/>
          <a:lstStyle/>
          <a:p>
            <a:endParaRPr lang="en-US" sz="3200"/>
          </a:p>
        </p:txBody>
      </p:sp>
      <p:sp>
        <p:nvSpPr>
          <p:cNvPr id="301" name="Quote"/>
          <p:cNvSpPr txBox="1"/>
          <p:nvPr/>
        </p:nvSpPr>
        <p:spPr>
          <a:xfrm>
            <a:off x="1006078" y="1856426"/>
            <a:ext cx="7876665" cy="3145147"/>
          </a:xfrm>
          <a:prstGeom prst="rect">
            <a:avLst/>
          </a:prstGeom>
          <a:noFill/>
        </p:spPr>
        <p:txBody>
          <a:bodyPr wrap="square" anchor="t"/>
          <a:lstStyle/>
          <a:p>
            <a:pPr algn="l">
              <a:lnSpc>
                <a:spcPct val="105000"/>
              </a:lnSpc>
            </a:pPr>
            <a:r>
              <a:rPr lang="en-US" sz="6600" b="1" dirty="0">
                <a:solidFill>
                  <a:schemeClr val="bg1"/>
                </a:solidFill>
              </a:rPr>
              <a:t>What if you could </a:t>
            </a:r>
            <a:br>
              <a:rPr lang="en-US" sz="6600" b="1" dirty="0">
                <a:solidFill>
                  <a:schemeClr val="bg1"/>
                </a:solidFill>
              </a:rPr>
            </a:br>
            <a:r>
              <a:rPr lang="en-US" sz="6600" b="1" dirty="0">
                <a:solidFill>
                  <a:schemeClr val="bg1"/>
                </a:solidFill>
              </a:rPr>
              <a:t>just </a:t>
            </a:r>
            <a:r>
              <a:rPr lang="en-US" sz="6600" b="1" dirty="0">
                <a:solidFill>
                  <a:srgbClr val="0891B2"/>
                </a:solidFill>
              </a:rPr>
              <a:t>ask</a:t>
            </a:r>
            <a:r>
              <a:rPr lang="en-US" sz="6600" b="1" dirty="0">
                <a:solidFill>
                  <a:srgbClr val="0F172A"/>
                </a:solidFill>
              </a:rPr>
              <a:t> </a:t>
            </a:r>
            <a:br>
              <a:rPr lang="en-US" sz="6600" b="1" dirty="0">
                <a:solidFill>
                  <a:srgbClr val="0F172A"/>
                </a:solidFill>
              </a:rPr>
            </a:br>
            <a:r>
              <a:rPr lang="en-US" sz="6600" b="1" dirty="0">
                <a:solidFill>
                  <a:schemeClr val="bg1"/>
                </a:solidFill>
              </a:rPr>
              <a:t>your database?</a:t>
            </a:r>
          </a:p>
        </p:txBody>
      </p:sp>
    </p:spTree>
    <p:extLst>
      <p:ext uri="{BB962C8B-B14F-4D97-AF65-F5344CB8AC3E}">
        <p14:creationId xmlns:p14="http://schemas.microsoft.com/office/powerpoint/2010/main" val="3092366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3DC06-12C5-EEFA-9FCF-9D0C6B920073}"/>
              </a:ext>
            </a:extLst>
          </p:cNvPr>
          <p:cNvSpPr>
            <a:spLocks noGrp="1"/>
          </p:cNvSpPr>
          <p:nvPr>
            <p:ph type="title" idx="4294967295"/>
          </p:nvPr>
        </p:nvSpPr>
        <p:spPr>
          <a:xfrm>
            <a:off x="838200" y="365125"/>
            <a:ext cx="10515600" cy="1325563"/>
          </a:xfrm>
        </p:spPr>
        <p:txBody>
          <a:bodyPr>
            <a:normAutofit/>
          </a:bodyPr>
          <a:lstStyle/>
          <a:p>
            <a:pPr algn="l"/>
            <a:r>
              <a:rPr lang="en-US" sz="4800" b="1" dirty="0">
                <a:solidFill>
                  <a:srgbClr val="0F172A"/>
                </a:solidFill>
              </a:rPr>
              <a:t>What We'll Build</a:t>
            </a:r>
          </a:p>
        </p:txBody>
      </p:sp>
      <p:sp>
        <p:nvSpPr>
          <p:cNvPr id="400" name="Sub"/>
          <p:cNvSpPr txBox="1"/>
          <p:nvPr/>
        </p:nvSpPr>
        <p:spPr>
          <a:xfrm>
            <a:off x="889000" y="1371600"/>
            <a:ext cx="10414000" cy="431800"/>
          </a:xfrm>
          <a:prstGeom prst="rect">
            <a:avLst/>
          </a:prstGeom>
          <a:noFill/>
        </p:spPr>
        <p:txBody>
          <a:bodyPr wrap="square" anchor="t"/>
          <a:lstStyle/>
          <a:p>
            <a:pPr algn="l"/>
            <a:r>
              <a:rPr lang="en-US" sz="1800" dirty="0">
                <a:solidFill>
                  <a:srgbClr val="475569"/>
                </a:solidFill>
              </a:rPr>
              <a:t>Main steps of </a:t>
            </a:r>
            <a:r>
              <a:rPr lang="en-US" dirty="0">
                <a:solidFill>
                  <a:srgbClr val="475569"/>
                </a:solidFill>
              </a:rPr>
              <a:t>the </a:t>
            </a:r>
            <a:r>
              <a:rPr lang="en-US" sz="1800" dirty="0">
                <a:solidFill>
                  <a:srgbClr val="475569"/>
                </a:solidFill>
              </a:rPr>
              <a:t>solution</a:t>
            </a:r>
          </a:p>
        </p:txBody>
      </p:sp>
      <p:sp>
        <p:nvSpPr>
          <p:cNvPr id="410" name="N410"/>
          <p:cNvSpPr/>
          <p:nvPr/>
        </p:nvSpPr>
        <p:spPr>
          <a:xfrm>
            <a:off x="889000" y="2032000"/>
            <a:ext cx="660400" cy="660400"/>
          </a:xfrm>
          <a:prstGeom prst="ellipse">
            <a:avLst/>
          </a:prstGeom>
          <a:solidFill>
            <a:srgbClr val="0891B2"/>
          </a:solidFill>
          <a:ln>
            <a:noFill/>
          </a:ln>
        </p:spPr>
        <p:txBody>
          <a:bodyPr wrap="none" lIns="0" tIns="0" rIns="0" bIns="0" anchor="ctr"/>
          <a:lstStyle/>
          <a:p>
            <a:pPr algn="ctr"/>
            <a:r>
              <a:rPr lang="en-US" sz="2400" b="1" dirty="0">
                <a:solidFill>
                  <a:srgbClr val="FFFFFF"/>
                </a:solidFill>
              </a:rPr>
              <a:t>1</a:t>
            </a:r>
          </a:p>
        </p:txBody>
      </p:sp>
      <p:sp>
        <p:nvSpPr>
          <p:cNvPr id="411" name="L410"/>
          <p:cNvSpPr txBox="1"/>
          <p:nvPr/>
        </p:nvSpPr>
        <p:spPr>
          <a:xfrm>
            <a:off x="1778000" y="2032000"/>
            <a:ext cx="9525000" cy="660400"/>
          </a:xfrm>
          <a:prstGeom prst="rect">
            <a:avLst/>
          </a:prstGeom>
          <a:noFill/>
        </p:spPr>
        <p:txBody>
          <a:bodyPr wrap="square" anchor="ctr"/>
          <a:lstStyle/>
          <a:p>
            <a:pPr algn="l"/>
            <a:r>
              <a:rPr lang="en-US" sz="2400" b="1" dirty="0">
                <a:solidFill>
                  <a:srgbClr val="0F172A"/>
                </a:solidFill>
              </a:rPr>
              <a:t>Understand user intent</a:t>
            </a:r>
            <a:r>
              <a:rPr lang="en-US" dirty="0">
                <a:solidFill>
                  <a:srgbClr val="64748B"/>
                </a:solidFill>
              </a:rPr>
              <a:t>   parse the natural-language question</a:t>
            </a:r>
          </a:p>
        </p:txBody>
      </p:sp>
      <p:sp>
        <p:nvSpPr>
          <p:cNvPr id="420" name="N420"/>
          <p:cNvSpPr/>
          <p:nvPr/>
        </p:nvSpPr>
        <p:spPr>
          <a:xfrm>
            <a:off x="889000" y="2794000"/>
            <a:ext cx="660400" cy="660400"/>
          </a:xfrm>
          <a:prstGeom prst="ellipse">
            <a:avLst/>
          </a:prstGeom>
          <a:solidFill>
            <a:srgbClr val="22D3EE"/>
          </a:solidFill>
          <a:ln>
            <a:noFill/>
          </a:ln>
        </p:spPr>
        <p:txBody>
          <a:bodyPr wrap="none" lIns="0" tIns="0" rIns="0" bIns="0" anchor="ctr"/>
          <a:lstStyle/>
          <a:p>
            <a:pPr algn="ctr"/>
            <a:r>
              <a:rPr lang="en-US" sz="2400" b="1" dirty="0">
                <a:solidFill>
                  <a:srgbClr val="FFFFFF"/>
                </a:solidFill>
              </a:rPr>
              <a:t>2</a:t>
            </a:r>
          </a:p>
        </p:txBody>
      </p:sp>
      <p:sp>
        <p:nvSpPr>
          <p:cNvPr id="421" name="L420"/>
          <p:cNvSpPr txBox="1"/>
          <p:nvPr/>
        </p:nvSpPr>
        <p:spPr>
          <a:xfrm>
            <a:off x="1778000" y="2794000"/>
            <a:ext cx="9525000" cy="660400"/>
          </a:xfrm>
          <a:prstGeom prst="rect">
            <a:avLst/>
          </a:prstGeom>
          <a:noFill/>
        </p:spPr>
        <p:txBody>
          <a:bodyPr wrap="square" anchor="ctr"/>
          <a:lstStyle/>
          <a:p>
            <a:pPr algn="l"/>
            <a:r>
              <a:rPr lang="en-US" sz="2400" b="1" dirty="0">
                <a:solidFill>
                  <a:srgbClr val="0F172A"/>
                </a:solidFill>
              </a:rPr>
              <a:t>Read the schema</a:t>
            </a:r>
            <a:r>
              <a:rPr lang="en-US" dirty="0">
                <a:solidFill>
                  <a:srgbClr val="64748B"/>
                </a:solidFill>
              </a:rPr>
              <a:t>   tables, columns, relationships</a:t>
            </a:r>
          </a:p>
        </p:txBody>
      </p:sp>
      <p:sp>
        <p:nvSpPr>
          <p:cNvPr id="430" name="N430"/>
          <p:cNvSpPr/>
          <p:nvPr/>
        </p:nvSpPr>
        <p:spPr>
          <a:xfrm>
            <a:off x="889000" y="3556000"/>
            <a:ext cx="660400" cy="660400"/>
          </a:xfrm>
          <a:prstGeom prst="ellipse">
            <a:avLst/>
          </a:prstGeom>
          <a:solidFill>
            <a:srgbClr val="10B981"/>
          </a:solidFill>
          <a:ln>
            <a:noFill/>
          </a:ln>
        </p:spPr>
        <p:txBody>
          <a:bodyPr wrap="none" lIns="0" tIns="0" rIns="0" bIns="0" anchor="ctr"/>
          <a:lstStyle/>
          <a:p>
            <a:pPr algn="ctr"/>
            <a:r>
              <a:rPr lang="en-US" sz="2400" b="1" dirty="0">
                <a:solidFill>
                  <a:srgbClr val="FFFFFF"/>
                </a:solidFill>
              </a:rPr>
              <a:t>3</a:t>
            </a:r>
          </a:p>
        </p:txBody>
      </p:sp>
      <p:sp>
        <p:nvSpPr>
          <p:cNvPr id="431" name="L430"/>
          <p:cNvSpPr txBox="1"/>
          <p:nvPr/>
        </p:nvSpPr>
        <p:spPr>
          <a:xfrm>
            <a:off x="1778000" y="3556000"/>
            <a:ext cx="9525000" cy="660400"/>
          </a:xfrm>
          <a:prstGeom prst="rect">
            <a:avLst/>
          </a:prstGeom>
          <a:noFill/>
        </p:spPr>
        <p:txBody>
          <a:bodyPr wrap="square" anchor="ctr"/>
          <a:lstStyle/>
          <a:p>
            <a:pPr algn="l"/>
            <a:r>
              <a:rPr lang="en-US" sz="2400" b="1" dirty="0">
                <a:solidFill>
                  <a:srgbClr val="0F172A"/>
                </a:solidFill>
              </a:rPr>
              <a:t>Generate SQL safely</a:t>
            </a:r>
            <a:r>
              <a:rPr lang="en-US" dirty="0">
                <a:solidFill>
                  <a:srgbClr val="64748B"/>
                </a:solidFill>
              </a:rPr>
              <a:t>   LLM + strict prompt + validator</a:t>
            </a:r>
          </a:p>
        </p:txBody>
      </p:sp>
      <p:sp>
        <p:nvSpPr>
          <p:cNvPr id="440" name="N440"/>
          <p:cNvSpPr/>
          <p:nvPr/>
        </p:nvSpPr>
        <p:spPr>
          <a:xfrm>
            <a:off x="889000" y="4318000"/>
            <a:ext cx="660400" cy="660400"/>
          </a:xfrm>
          <a:prstGeom prst="ellipse">
            <a:avLst/>
          </a:prstGeom>
          <a:solidFill>
            <a:srgbClr val="F59E0B"/>
          </a:solidFill>
          <a:ln>
            <a:noFill/>
          </a:ln>
        </p:spPr>
        <p:txBody>
          <a:bodyPr wrap="none" lIns="0" tIns="0" rIns="0" bIns="0" anchor="ctr"/>
          <a:lstStyle/>
          <a:p>
            <a:pPr algn="ctr"/>
            <a:r>
              <a:rPr lang="en-US" sz="2400" b="1" dirty="0">
                <a:solidFill>
                  <a:srgbClr val="FFFFFF"/>
                </a:solidFill>
              </a:rPr>
              <a:t>4</a:t>
            </a:r>
          </a:p>
        </p:txBody>
      </p:sp>
      <p:sp>
        <p:nvSpPr>
          <p:cNvPr id="441" name="L440"/>
          <p:cNvSpPr txBox="1"/>
          <p:nvPr/>
        </p:nvSpPr>
        <p:spPr>
          <a:xfrm>
            <a:off x="1778000" y="4318000"/>
            <a:ext cx="9525000" cy="660400"/>
          </a:xfrm>
          <a:prstGeom prst="rect">
            <a:avLst/>
          </a:prstGeom>
          <a:noFill/>
        </p:spPr>
        <p:txBody>
          <a:bodyPr wrap="square" anchor="ctr"/>
          <a:lstStyle/>
          <a:p>
            <a:pPr algn="l"/>
            <a:r>
              <a:rPr lang="en-US" sz="2400" b="1" dirty="0">
                <a:solidFill>
                  <a:srgbClr val="0F172A"/>
                </a:solidFill>
              </a:rPr>
              <a:t>Execute the query</a:t>
            </a:r>
            <a:r>
              <a:rPr lang="en-US" dirty="0">
                <a:solidFill>
                  <a:srgbClr val="64748B"/>
                </a:solidFill>
              </a:rPr>
              <a:t>   return structured results</a:t>
            </a:r>
          </a:p>
        </p:txBody>
      </p:sp>
      <p:sp>
        <p:nvSpPr>
          <p:cNvPr id="450" name="N450"/>
          <p:cNvSpPr/>
          <p:nvPr/>
        </p:nvSpPr>
        <p:spPr>
          <a:xfrm>
            <a:off x="889000" y="5080000"/>
            <a:ext cx="660400" cy="660400"/>
          </a:xfrm>
          <a:prstGeom prst="ellipse">
            <a:avLst/>
          </a:prstGeom>
          <a:solidFill>
            <a:srgbClr val="F43F5E"/>
          </a:solidFill>
          <a:ln>
            <a:noFill/>
          </a:ln>
        </p:spPr>
        <p:txBody>
          <a:bodyPr wrap="none" lIns="0" tIns="0" rIns="0" bIns="0" anchor="ctr"/>
          <a:lstStyle/>
          <a:p>
            <a:pPr algn="ctr"/>
            <a:r>
              <a:rPr lang="en-US" sz="2400" b="1" dirty="0">
                <a:solidFill>
                  <a:srgbClr val="FFFFFF"/>
                </a:solidFill>
              </a:rPr>
              <a:t>5</a:t>
            </a:r>
          </a:p>
        </p:txBody>
      </p:sp>
      <p:sp>
        <p:nvSpPr>
          <p:cNvPr id="451" name="L450"/>
          <p:cNvSpPr txBox="1"/>
          <p:nvPr/>
        </p:nvSpPr>
        <p:spPr>
          <a:xfrm>
            <a:off x="1778000" y="5080000"/>
            <a:ext cx="9525000" cy="660400"/>
          </a:xfrm>
          <a:prstGeom prst="rect">
            <a:avLst/>
          </a:prstGeom>
          <a:noFill/>
        </p:spPr>
        <p:txBody>
          <a:bodyPr wrap="square" anchor="ctr"/>
          <a:lstStyle/>
          <a:p>
            <a:pPr algn="l"/>
            <a:r>
              <a:rPr lang="en-US" sz="2400" b="1" dirty="0">
                <a:solidFill>
                  <a:srgbClr val="0F172A"/>
                </a:solidFill>
              </a:rPr>
              <a:t>Export to Excel &amp; Visualization</a:t>
            </a:r>
            <a:r>
              <a:rPr lang="en-US" dirty="0">
                <a:solidFill>
                  <a:srgbClr val="64748B"/>
                </a:solidFill>
              </a:rPr>
              <a:t>   turn data into decisions</a:t>
            </a:r>
          </a:p>
        </p:txBody>
      </p:sp>
    </p:spTree>
    <p:extLst>
      <p:ext uri="{BB962C8B-B14F-4D97-AF65-F5344CB8AC3E}">
        <p14:creationId xmlns:p14="http://schemas.microsoft.com/office/powerpoint/2010/main" val="2200040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tage0">
            <a:extLst>
              <a:ext uri="{FF2B5EF4-FFF2-40B4-BE49-F238E27FC236}">
                <a16:creationId xmlns:a16="http://schemas.microsoft.com/office/drawing/2014/main" id="{C88B0937-7522-BCEA-AD17-C53A61AD7815}"/>
              </a:ext>
            </a:extLst>
          </p:cNvPr>
          <p:cNvSpPr/>
          <p:nvPr/>
        </p:nvSpPr>
        <p:spPr>
          <a:xfrm>
            <a:off x="9804400" y="3323967"/>
            <a:ext cx="2106862" cy="1519881"/>
          </a:xfrm>
          <a:prstGeom prst="roundRect">
            <a:avLst>
              <a:gd name="adj" fmla="val 10000"/>
            </a:avLst>
          </a:prstGeom>
          <a:solidFill>
            <a:srgbClr val="FEF3C7"/>
          </a:solidFill>
          <a:ln>
            <a:noFill/>
          </a:ln>
        </p:spPr>
        <p:style>
          <a:lnRef idx="0">
            <a:scrgbClr r="0" g="0" b="0"/>
          </a:lnRef>
          <a:fillRef idx="0">
            <a:scrgbClr r="0" g="0" b="0"/>
          </a:fillRef>
          <a:effectRef idx="0">
            <a:scrgbClr r="0" g="0" b="0"/>
          </a:effectRef>
          <a:fontRef idx="minor">
            <a:schemeClr val="lt1"/>
          </a:fontRef>
        </p:style>
        <p:txBody>
          <a:bodyPr wrap="square" lIns="90000" tIns="90000" rIns="90000" bIns="90000" anchor="t"/>
          <a:lstStyle/>
          <a:p>
            <a:pPr algn="l"/>
            <a:endParaRPr lang="en-US" sz="1100" dirty="0">
              <a:solidFill>
                <a:srgbClr val="64748B"/>
              </a:solidFill>
            </a:endParaRPr>
          </a:p>
        </p:txBody>
      </p:sp>
      <p:sp>
        <p:nvSpPr>
          <p:cNvPr id="3" name="Stage0">
            <a:extLst>
              <a:ext uri="{FF2B5EF4-FFF2-40B4-BE49-F238E27FC236}">
                <a16:creationId xmlns:a16="http://schemas.microsoft.com/office/drawing/2014/main" id="{8861DE56-5964-C0B4-16CE-5227DA7D9A2C}"/>
              </a:ext>
            </a:extLst>
          </p:cNvPr>
          <p:cNvSpPr/>
          <p:nvPr/>
        </p:nvSpPr>
        <p:spPr>
          <a:xfrm>
            <a:off x="279399" y="1779372"/>
            <a:ext cx="11631863" cy="1791731"/>
          </a:xfrm>
          <a:prstGeom prst="roundRect">
            <a:avLst>
              <a:gd name="adj" fmla="val 10000"/>
            </a:avLst>
          </a:prstGeom>
          <a:solidFill>
            <a:srgbClr val="FEF3C7"/>
          </a:solidFill>
          <a:ln>
            <a:noFill/>
          </a:ln>
        </p:spPr>
        <p:style>
          <a:lnRef idx="0">
            <a:scrgbClr r="0" g="0" b="0"/>
          </a:lnRef>
          <a:fillRef idx="0">
            <a:scrgbClr r="0" g="0" b="0"/>
          </a:fillRef>
          <a:effectRef idx="0">
            <a:scrgbClr r="0" g="0" b="0"/>
          </a:effectRef>
          <a:fontRef idx="minor">
            <a:schemeClr val="lt1"/>
          </a:fontRef>
        </p:style>
        <p:txBody>
          <a:bodyPr wrap="square" lIns="90000" tIns="90000" rIns="90000" bIns="90000" anchor="t"/>
          <a:lstStyle/>
          <a:p>
            <a:pPr algn="l"/>
            <a:endParaRPr lang="en-US" sz="1100" dirty="0">
              <a:solidFill>
                <a:srgbClr val="64748B"/>
              </a:solidFill>
            </a:endParaRPr>
          </a:p>
        </p:txBody>
      </p:sp>
      <p:sp>
        <p:nvSpPr>
          <p:cNvPr id="2" name="Title 1">
            <a:extLst>
              <a:ext uri="{FF2B5EF4-FFF2-40B4-BE49-F238E27FC236}">
                <a16:creationId xmlns:a16="http://schemas.microsoft.com/office/drawing/2014/main" id="{586D80D3-1267-47C8-5022-51711533C2A1}"/>
              </a:ext>
            </a:extLst>
          </p:cNvPr>
          <p:cNvSpPr>
            <a:spLocks noGrp="1"/>
          </p:cNvSpPr>
          <p:nvPr>
            <p:ph type="title"/>
          </p:nvPr>
        </p:nvSpPr>
        <p:spPr>
          <a:xfrm>
            <a:off x="342231" y="306214"/>
            <a:ext cx="10515600" cy="1325563"/>
          </a:xfrm>
        </p:spPr>
        <p:txBody>
          <a:bodyPr>
            <a:normAutofit/>
          </a:bodyPr>
          <a:lstStyle/>
          <a:p>
            <a:pPr algn="l"/>
            <a:r>
              <a:rPr lang="en-US" sz="4800" b="1" dirty="0">
                <a:solidFill>
                  <a:srgbClr val="0F172A"/>
                </a:solidFill>
              </a:rPr>
              <a:t>The Pipeline</a:t>
            </a:r>
            <a:endParaRPr lang="en-US" sz="4800" b="1" dirty="0">
              <a:solidFill>
                <a:srgbClr val="94A3B8"/>
              </a:solidFill>
            </a:endParaRPr>
          </a:p>
        </p:txBody>
      </p:sp>
      <p:sp>
        <p:nvSpPr>
          <p:cNvPr id="800" name="Stage0"/>
          <p:cNvSpPr/>
          <p:nvPr/>
        </p:nvSpPr>
        <p:spPr>
          <a:xfrm>
            <a:off x="508000" y="2033372"/>
            <a:ext cx="1651000" cy="1290596"/>
          </a:xfrm>
          <a:prstGeom prst="roundRect">
            <a:avLst>
              <a:gd name="adj" fmla="val 10000"/>
            </a:avLst>
          </a:prstGeom>
          <a:solidFill>
            <a:srgbClr val="FFFFFF"/>
          </a:solidFill>
          <a:ln w="19050">
            <a:solidFill>
              <a:srgbClr val="0891B2"/>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01</a:t>
            </a:r>
          </a:p>
          <a:p>
            <a:pPr algn="l">
              <a:spcBef>
                <a:spcPts val="400"/>
              </a:spcBef>
            </a:pPr>
            <a:r>
              <a:rPr lang="en-US" sz="2400" b="1" dirty="0">
                <a:solidFill>
                  <a:srgbClr val="0F172A"/>
                </a:solidFill>
              </a:rPr>
              <a:t>User</a:t>
            </a:r>
          </a:p>
          <a:p>
            <a:pPr algn="l">
              <a:spcBef>
                <a:spcPts val="300"/>
              </a:spcBef>
            </a:pPr>
            <a:r>
              <a:rPr lang="en-US" sz="1200" dirty="0">
                <a:solidFill>
                  <a:srgbClr val="64748B"/>
                </a:solidFill>
              </a:rPr>
              <a:t>natural language</a:t>
            </a:r>
          </a:p>
        </p:txBody>
      </p:sp>
      <p:sp>
        <p:nvSpPr>
          <p:cNvPr id="850" name="Arr0"/>
          <p:cNvSpPr/>
          <p:nvPr/>
        </p:nvSpPr>
        <p:spPr>
          <a:xfrm>
            <a:off x="2184400" y="2668372"/>
            <a:ext cx="203200" cy="254000"/>
          </a:xfrm>
          <a:prstGeom prst="rightArrow">
            <a:avLst>
              <a:gd name="adj1" fmla="val 50000"/>
              <a:gd name="adj2" fmla="val 50000"/>
            </a:avLst>
          </a:prstGeom>
          <a:solidFill>
            <a:srgbClr val="CBD5E1"/>
          </a:solidFill>
          <a:ln>
            <a:noFill/>
          </a:ln>
        </p:spPr>
        <p:txBody>
          <a:bodyPr/>
          <a:lstStyle/>
          <a:p>
            <a:endParaRPr lang="en-US"/>
          </a:p>
        </p:txBody>
      </p:sp>
      <p:sp>
        <p:nvSpPr>
          <p:cNvPr id="801" name="Stage1"/>
          <p:cNvSpPr/>
          <p:nvPr/>
        </p:nvSpPr>
        <p:spPr>
          <a:xfrm>
            <a:off x="2413000" y="2033372"/>
            <a:ext cx="1651000" cy="1290596"/>
          </a:xfrm>
          <a:prstGeom prst="roundRect">
            <a:avLst>
              <a:gd name="adj" fmla="val 10000"/>
            </a:avLst>
          </a:prstGeom>
          <a:solidFill>
            <a:srgbClr val="FFFFFF"/>
          </a:solidFill>
          <a:ln w="19050">
            <a:solidFill>
              <a:srgbClr val="0891B2"/>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02</a:t>
            </a:r>
          </a:p>
          <a:p>
            <a:pPr algn="l">
              <a:spcBef>
                <a:spcPts val="400"/>
              </a:spcBef>
            </a:pPr>
            <a:r>
              <a:rPr lang="en-US" sz="2400" b="1" dirty="0"/>
              <a:t>Prompt</a:t>
            </a:r>
          </a:p>
          <a:p>
            <a:pPr algn="l">
              <a:spcBef>
                <a:spcPts val="300"/>
              </a:spcBef>
            </a:pPr>
            <a:r>
              <a:rPr lang="en-US" sz="1200" dirty="0">
                <a:solidFill>
                  <a:srgbClr val="64748B"/>
                </a:solidFill>
              </a:rPr>
              <a:t>schema + rules</a:t>
            </a:r>
          </a:p>
        </p:txBody>
      </p:sp>
      <p:sp>
        <p:nvSpPr>
          <p:cNvPr id="851" name="Arr1"/>
          <p:cNvSpPr/>
          <p:nvPr/>
        </p:nvSpPr>
        <p:spPr>
          <a:xfrm>
            <a:off x="4089400" y="2668372"/>
            <a:ext cx="203200" cy="254000"/>
          </a:xfrm>
          <a:prstGeom prst="rightArrow">
            <a:avLst>
              <a:gd name="adj1" fmla="val 50000"/>
              <a:gd name="adj2" fmla="val 50000"/>
            </a:avLst>
          </a:prstGeom>
          <a:solidFill>
            <a:srgbClr val="CBD5E1"/>
          </a:solidFill>
          <a:ln>
            <a:noFill/>
          </a:ln>
        </p:spPr>
        <p:txBody>
          <a:bodyPr/>
          <a:lstStyle/>
          <a:p>
            <a:endParaRPr lang="en-US"/>
          </a:p>
        </p:txBody>
      </p:sp>
      <p:sp>
        <p:nvSpPr>
          <p:cNvPr id="802" name="Stage2"/>
          <p:cNvSpPr/>
          <p:nvPr/>
        </p:nvSpPr>
        <p:spPr>
          <a:xfrm>
            <a:off x="4318000" y="2033372"/>
            <a:ext cx="1651000" cy="1290596"/>
          </a:xfrm>
          <a:prstGeom prst="roundRect">
            <a:avLst>
              <a:gd name="adj" fmla="val 10000"/>
            </a:avLst>
          </a:prstGeom>
          <a:solidFill>
            <a:srgbClr val="FFFFFF"/>
          </a:solidFill>
          <a:ln w="19050">
            <a:solidFill>
              <a:srgbClr val="22D3EE"/>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03</a:t>
            </a:r>
          </a:p>
          <a:p>
            <a:pPr>
              <a:spcBef>
                <a:spcPts val="400"/>
              </a:spcBef>
            </a:pPr>
            <a:r>
              <a:rPr lang="en-US" sz="2400" b="1" dirty="0">
                <a:solidFill>
                  <a:srgbClr val="0F172A"/>
                </a:solidFill>
              </a:rPr>
              <a:t>LLM 🤖</a:t>
            </a:r>
          </a:p>
          <a:p>
            <a:pPr algn="l">
              <a:spcBef>
                <a:spcPts val="300"/>
              </a:spcBef>
            </a:pPr>
            <a:r>
              <a:rPr lang="en-US" sz="1200" dirty="0">
                <a:solidFill>
                  <a:srgbClr val="64748B"/>
                </a:solidFill>
              </a:rPr>
              <a:t>reasoning</a:t>
            </a:r>
          </a:p>
        </p:txBody>
      </p:sp>
      <p:sp>
        <p:nvSpPr>
          <p:cNvPr id="852" name="Arr2"/>
          <p:cNvSpPr/>
          <p:nvPr/>
        </p:nvSpPr>
        <p:spPr>
          <a:xfrm>
            <a:off x="5994400" y="2668372"/>
            <a:ext cx="203200" cy="254000"/>
          </a:xfrm>
          <a:prstGeom prst="rightArrow">
            <a:avLst>
              <a:gd name="adj1" fmla="val 50000"/>
              <a:gd name="adj2" fmla="val 50000"/>
            </a:avLst>
          </a:prstGeom>
          <a:solidFill>
            <a:srgbClr val="CBD5E1"/>
          </a:solidFill>
          <a:ln>
            <a:noFill/>
          </a:ln>
        </p:spPr>
        <p:txBody>
          <a:bodyPr/>
          <a:lstStyle/>
          <a:p>
            <a:endParaRPr lang="en-US"/>
          </a:p>
        </p:txBody>
      </p:sp>
      <p:sp>
        <p:nvSpPr>
          <p:cNvPr id="803" name="Stage3"/>
          <p:cNvSpPr/>
          <p:nvPr/>
        </p:nvSpPr>
        <p:spPr>
          <a:xfrm>
            <a:off x="6223000" y="2033372"/>
            <a:ext cx="1651000" cy="1290596"/>
          </a:xfrm>
          <a:prstGeom prst="roundRect">
            <a:avLst>
              <a:gd name="adj" fmla="val 10000"/>
            </a:avLst>
          </a:prstGeom>
          <a:solidFill>
            <a:srgbClr val="FFFFFF"/>
          </a:solidFill>
          <a:ln w="19050">
            <a:solidFill>
              <a:srgbClr val="10B981"/>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04</a:t>
            </a:r>
          </a:p>
          <a:p>
            <a:pPr algn="l">
              <a:spcBef>
                <a:spcPts val="400"/>
              </a:spcBef>
            </a:pPr>
            <a:r>
              <a:rPr lang="en-US" sz="2400" b="1" dirty="0">
                <a:solidFill>
                  <a:srgbClr val="0F172A"/>
                </a:solidFill>
              </a:rPr>
              <a:t>SQL</a:t>
            </a:r>
          </a:p>
          <a:p>
            <a:pPr algn="l">
              <a:spcBef>
                <a:spcPts val="300"/>
              </a:spcBef>
            </a:pPr>
            <a:r>
              <a:rPr lang="en-US" sz="1200" dirty="0">
                <a:solidFill>
                  <a:srgbClr val="64748B"/>
                </a:solidFill>
              </a:rPr>
              <a:t>generated query</a:t>
            </a:r>
          </a:p>
        </p:txBody>
      </p:sp>
      <p:sp>
        <p:nvSpPr>
          <p:cNvPr id="853" name="Arr3"/>
          <p:cNvSpPr/>
          <p:nvPr/>
        </p:nvSpPr>
        <p:spPr>
          <a:xfrm>
            <a:off x="7899400" y="2668372"/>
            <a:ext cx="203200" cy="254000"/>
          </a:xfrm>
          <a:prstGeom prst="rightArrow">
            <a:avLst>
              <a:gd name="adj1" fmla="val 50000"/>
              <a:gd name="adj2" fmla="val 50000"/>
            </a:avLst>
          </a:prstGeom>
          <a:solidFill>
            <a:srgbClr val="CBD5E1"/>
          </a:solidFill>
          <a:ln>
            <a:noFill/>
          </a:ln>
        </p:spPr>
        <p:txBody>
          <a:bodyPr/>
          <a:lstStyle/>
          <a:p>
            <a:endParaRPr lang="en-US"/>
          </a:p>
        </p:txBody>
      </p:sp>
      <p:sp>
        <p:nvSpPr>
          <p:cNvPr id="804" name="Stage4"/>
          <p:cNvSpPr/>
          <p:nvPr/>
        </p:nvSpPr>
        <p:spPr>
          <a:xfrm>
            <a:off x="8128000" y="2033372"/>
            <a:ext cx="1651000" cy="1290596"/>
          </a:xfrm>
          <a:prstGeom prst="roundRect">
            <a:avLst>
              <a:gd name="adj" fmla="val 10000"/>
            </a:avLst>
          </a:prstGeom>
          <a:solidFill>
            <a:srgbClr val="FFFFFF"/>
          </a:solidFill>
          <a:ln w="19050">
            <a:solidFill>
              <a:schemeClr val="accent3">
                <a:lumMod val="75000"/>
              </a:schemeClr>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05</a:t>
            </a:r>
          </a:p>
          <a:p>
            <a:pPr algn="l">
              <a:spcBef>
                <a:spcPts val="400"/>
              </a:spcBef>
            </a:pPr>
            <a:r>
              <a:rPr lang="en-US" sz="2400" b="1" dirty="0">
                <a:solidFill>
                  <a:srgbClr val="0F172A"/>
                </a:solidFill>
              </a:rPr>
              <a:t>Validator</a:t>
            </a:r>
          </a:p>
          <a:p>
            <a:pPr algn="l">
              <a:spcBef>
                <a:spcPts val="300"/>
              </a:spcBef>
            </a:pPr>
            <a:r>
              <a:rPr lang="en-US" sz="1200" dirty="0">
                <a:solidFill>
                  <a:srgbClr val="64748B"/>
                </a:solidFill>
              </a:rPr>
              <a:t>safety gate</a:t>
            </a:r>
          </a:p>
        </p:txBody>
      </p:sp>
      <p:sp>
        <p:nvSpPr>
          <p:cNvPr id="854" name="Arr4"/>
          <p:cNvSpPr/>
          <p:nvPr/>
        </p:nvSpPr>
        <p:spPr>
          <a:xfrm>
            <a:off x="9804400" y="2668372"/>
            <a:ext cx="203200" cy="254000"/>
          </a:xfrm>
          <a:prstGeom prst="rightArrow">
            <a:avLst>
              <a:gd name="adj1" fmla="val 50000"/>
              <a:gd name="adj2" fmla="val 50000"/>
            </a:avLst>
          </a:prstGeom>
          <a:solidFill>
            <a:srgbClr val="CBD5E1"/>
          </a:solidFill>
          <a:ln>
            <a:noFill/>
          </a:ln>
        </p:spPr>
        <p:txBody>
          <a:bodyPr/>
          <a:lstStyle/>
          <a:p>
            <a:endParaRPr lang="en-US"/>
          </a:p>
        </p:txBody>
      </p:sp>
      <p:sp>
        <p:nvSpPr>
          <p:cNvPr id="805" name="Stage5"/>
          <p:cNvSpPr/>
          <p:nvPr/>
        </p:nvSpPr>
        <p:spPr>
          <a:xfrm>
            <a:off x="10033000" y="2033372"/>
            <a:ext cx="1756478" cy="1290596"/>
          </a:xfrm>
          <a:prstGeom prst="roundRect">
            <a:avLst>
              <a:gd name="adj" fmla="val 10000"/>
            </a:avLst>
          </a:prstGeom>
          <a:solidFill>
            <a:srgbClr val="FFFFFF"/>
          </a:solidFill>
          <a:ln w="19050">
            <a:solidFill>
              <a:srgbClr val="F59E0B"/>
            </a:solidFill>
          </a:ln>
          <a:effectLst>
            <a:outerShdw blurRad="50000" dist="15000" dir="5400000" algn="t" rotWithShape="0">
              <a:srgbClr val="0F172A">
                <a:alpha val="10000"/>
              </a:srgbClr>
            </a:outerShdw>
          </a:effectLst>
        </p:spPr>
        <p:txBody>
          <a:bodyPr wrap="square" lIns="90000" tIns="90000" rIns="90000" bIns="90000" anchor="t"/>
          <a:lstStyle/>
          <a:p>
            <a:pPr algn="l"/>
            <a:r>
              <a:rPr lang="en-US" sz="1200" b="1" spc="300" dirty="0">
                <a:solidFill>
                  <a:schemeClr val="bg1">
                    <a:lumMod val="25000"/>
                  </a:schemeClr>
                </a:solidFill>
              </a:rPr>
              <a:t>06</a:t>
            </a:r>
          </a:p>
          <a:p>
            <a:pPr algn="l">
              <a:spcBef>
                <a:spcPts val="400"/>
              </a:spcBef>
            </a:pPr>
            <a:r>
              <a:rPr lang="en-US" sz="2400" b="1" dirty="0">
                <a:solidFill>
                  <a:srgbClr val="0F172A"/>
                </a:solidFill>
              </a:rPr>
              <a:t>Execute</a:t>
            </a:r>
          </a:p>
          <a:p>
            <a:pPr algn="l">
              <a:spcBef>
                <a:spcPts val="300"/>
              </a:spcBef>
            </a:pPr>
            <a:r>
              <a:rPr lang="en-US" sz="1200" dirty="0">
                <a:solidFill>
                  <a:srgbClr val="64748B"/>
                </a:solidFill>
              </a:rPr>
              <a:t>results </a:t>
            </a:r>
          </a:p>
        </p:txBody>
      </p:sp>
      <p:sp>
        <p:nvSpPr>
          <p:cNvPr id="880" name="Ex"/>
          <p:cNvSpPr/>
          <p:nvPr/>
        </p:nvSpPr>
        <p:spPr>
          <a:xfrm>
            <a:off x="507330" y="4999681"/>
            <a:ext cx="11176000" cy="1016000"/>
          </a:xfrm>
          <a:prstGeom prst="roundRect">
            <a:avLst>
              <a:gd name="adj" fmla="val 8000"/>
            </a:avLst>
          </a:prstGeom>
          <a:solidFill>
            <a:srgbClr val="0F172A"/>
          </a:solidFill>
          <a:ln>
            <a:noFill/>
          </a:ln>
        </p:spPr>
        <p:txBody>
          <a:bodyPr wrap="square" lIns="240000" tIns="140000" rIns="240000" bIns="140000" anchor="ctr"/>
          <a:lstStyle/>
          <a:p>
            <a:r>
              <a:rPr lang="en-US" sz="2400" b="1" dirty="0">
                <a:solidFill>
                  <a:srgbClr val="22D3EE"/>
                </a:solidFill>
                <a:latin typeface="Consolas"/>
              </a:rPr>
              <a:t>"top 10 customers by revenue this year"</a:t>
            </a:r>
            <a:r>
              <a:rPr lang="en-US" sz="2000" dirty="0">
                <a:solidFill>
                  <a:srgbClr val="94A3B8"/>
                </a:solidFill>
                <a:latin typeface="Consolas"/>
              </a:rPr>
              <a:t>     </a:t>
            </a:r>
            <a:r>
              <a:rPr lang="en-US" sz="2400" b="1" dirty="0">
                <a:solidFill>
                  <a:srgbClr val="10B981"/>
                </a:solidFill>
                <a:latin typeface="Consolas"/>
              </a:rPr>
              <a:t>SELECT TOP 10 ...</a:t>
            </a:r>
          </a:p>
        </p:txBody>
      </p:sp>
      <p:sp>
        <p:nvSpPr>
          <p:cNvPr id="5" name="Stage5">
            <a:extLst>
              <a:ext uri="{FF2B5EF4-FFF2-40B4-BE49-F238E27FC236}">
                <a16:creationId xmlns:a16="http://schemas.microsoft.com/office/drawing/2014/main" id="{169C684F-9C26-86A6-AC1E-ECE5050DAC37}"/>
              </a:ext>
            </a:extLst>
          </p:cNvPr>
          <p:cNvSpPr/>
          <p:nvPr/>
        </p:nvSpPr>
        <p:spPr>
          <a:xfrm>
            <a:off x="10043296" y="3672191"/>
            <a:ext cx="1746181" cy="920578"/>
          </a:xfrm>
          <a:prstGeom prst="roundRect">
            <a:avLst>
              <a:gd name="adj" fmla="val 10000"/>
            </a:avLst>
          </a:prstGeom>
          <a:solidFill>
            <a:srgbClr val="FFFFFF"/>
          </a:solidFill>
          <a:ln w="19050">
            <a:solidFill>
              <a:srgbClr val="22D3EE"/>
            </a:solidFill>
            <a:prstDash val="sysDash"/>
          </a:ln>
          <a:effectLst>
            <a:outerShdw blurRad="50000" dist="15000" dir="5400000" algn="t" rotWithShape="0">
              <a:srgbClr val="0F172A">
                <a:alpha val="10000"/>
              </a:srgbClr>
            </a:outerShdw>
          </a:effectLst>
        </p:spPr>
        <p:txBody>
          <a:bodyPr wrap="square" lIns="90000" tIns="90000" rIns="90000" bIns="90000" anchor="t"/>
          <a:lstStyle/>
          <a:p>
            <a:r>
              <a:rPr lang="en-US" sz="1400" b="1" spc="300" dirty="0">
                <a:solidFill>
                  <a:schemeClr val="bg1">
                    <a:lumMod val="25000"/>
                  </a:schemeClr>
                </a:solidFill>
              </a:rPr>
              <a:t>07</a:t>
            </a:r>
            <a:br>
              <a:rPr lang="en-US" sz="1400" b="1" spc="300" dirty="0">
                <a:solidFill>
                  <a:srgbClr val="F59E0B"/>
                </a:solidFill>
              </a:rPr>
            </a:br>
            <a:r>
              <a:rPr lang="en-US" sz="2400" b="1" dirty="0">
                <a:solidFill>
                  <a:schemeClr val="accent5"/>
                </a:solidFill>
              </a:rPr>
              <a:t>Error</a:t>
            </a:r>
            <a:endParaRPr lang="en-US" sz="2800" b="1" dirty="0">
              <a:solidFill>
                <a:schemeClr val="accent5"/>
              </a:solidFill>
            </a:endParaRPr>
          </a:p>
          <a:p>
            <a:pPr algn="l">
              <a:spcBef>
                <a:spcPts val="300"/>
              </a:spcBef>
            </a:pPr>
            <a:endParaRPr lang="en-US" sz="1400" dirty="0">
              <a:solidFill>
                <a:srgbClr val="64748B"/>
              </a:solidFill>
            </a:endParaRPr>
          </a:p>
        </p:txBody>
      </p:sp>
      <p:cxnSp>
        <p:nvCxnSpPr>
          <p:cNvPr id="14" name="Connector: Elbow 13">
            <a:extLst>
              <a:ext uri="{FF2B5EF4-FFF2-40B4-BE49-F238E27FC236}">
                <a16:creationId xmlns:a16="http://schemas.microsoft.com/office/drawing/2014/main" id="{50E5E794-A4F8-C1F4-5248-9B689CAD8735}"/>
              </a:ext>
            </a:extLst>
          </p:cNvPr>
          <p:cNvCxnSpPr>
            <a:cxnSpLocks/>
            <a:stCxn id="5" idx="1"/>
            <a:endCxn id="802" idx="2"/>
          </p:cNvCxnSpPr>
          <p:nvPr/>
        </p:nvCxnSpPr>
        <p:spPr>
          <a:xfrm rot="10800000">
            <a:off x="5143500" y="3323968"/>
            <a:ext cx="4899796" cy="808512"/>
          </a:xfrm>
          <a:prstGeom prst="bentConnector2">
            <a:avLst/>
          </a:prstGeom>
          <a:ln w="98425">
            <a:solidFill>
              <a:srgbClr val="CBD5E1"/>
            </a:solidFill>
            <a:tailEnd type="triangle"/>
          </a:ln>
        </p:spPr>
        <p:style>
          <a:lnRef idx="2">
            <a:schemeClr val="accent1"/>
          </a:lnRef>
          <a:fillRef idx="0">
            <a:schemeClr val="accent1"/>
          </a:fillRef>
          <a:effectRef idx="1">
            <a:schemeClr val="accent1"/>
          </a:effectRef>
          <a:fontRef idx="minor">
            <a:schemeClr val="tx1"/>
          </a:fontRef>
        </p:style>
      </p:cxnSp>
      <p:sp>
        <p:nvSpPr>
          <p:cNvPr id="18" name="Arr4">
            <a:extLst>
              <a:ext uri="{FF2B5EF4-FFF2-40B4-BE49-F238E27FC236}">
                <a16:creationId xmlns:a16="http://schemas.microsoft.com/office/drawing/2014/main" id="{9286CF5E-7314-85A6-D4EF-063F9CE387DD}"/>
              </a:ext>
            </a:extLst>
          </p:cNvPr>
          <p:cNvSpPr/>
          <p:nvPr/>
        </p:nvSpPr>
        <p:spPr>
          <a:xfrm rot="5400000">
            <a:off x="10710070" y="3359987"/>
            <a:ext cx="321230" cy="278370"/>
          </a:xfrm>
          <a:prstGeom prst="rightArrow">
            <a:avLst>
              <a:gd name="adj1" fmla="val 50000"/>
              <a:gd name="adj2" fmla="val 50000"/>
            </a:avLst>
          </a:prstGeom>
          <a:solidFill>
            <a:srgbClr val="CBD5E1"/>
          </a:solidFill>
          <a:ln>
            <a:noFill/>
          </a:ln>
        </p:spPr>
        <p:txBody>
          <a:bodyPr/>
          <a:lstStyle/>
          <a:p>
            <a:endParaRPr lang="en-US"/>
          </a:p>
        </p:txBody>
      </p:sp>
      <p:sp>
        <p:nvSpPr>
          <p:cNvPr id="10" name="TextBox 9">
            <a:extLst>
              <a:ext uri="{FF2B5EF4-FFF2-40B4-BE49-F238E27FC236}">
                <a16:creationId xmlns:a16="http://schemas.microsoft.com/office/drawing/2014/main" id="{BB4B9F97-4E80-486C-FE7C-DC6DC5520893}"/>
              </a:ext>
            </a:extLst>
          </p:cNvPr>
          <p:cNvSpPr txBox="1"/>
          <p:nvPr/>
        </p:nvSpPr>
        <p:spPr>
          <a:xfrm>
            <a:off x="11312758" y="2403904"/>
            <a:ext cx="580808" cy="369332"/>
          </a:xfrm>
          <a:prstGeom prst="rect">
            <a:avLst/>
          </a:prstGeom>
          <a:noFill/>
        </p:spPr>
        <p:txBody>
          <a:bodyPr wrap="square">
            <a:spAutoFit/>
          </a:bodyPr>
          <a:lstStyle/>
          <a:p>
            <a:r>
              <a:rPr lang="en-US" b="0" i="0" dirty="0">
                <a:solidFill>
                  <a:srgbClr val="F3F4F6"/>
                </a:solidFill>
                <a:effectLst/>
                <a:latin typeface="Apple Color Emoji"/>
              </a:rPr>
              <a:t>✅</a:t>
            </a:r>
            <a:endParaRPr lang="en-US" dirty="0"/>
          </a:p>
        </p:txBody>
      </p:sp>
      <p:sp>
        <p:nvSpPr>
          <p:cNvPr id="15" name="TextBox 14">
            <a:extLst>
              <a:ext uri="{FF2B5EF4-FFF2-40B4-BE49-F238E27FC236}">
                <a16:creationId xmlns:a16="http://schemas.microsoft.com/office/drawing/2014/main" id="{1539840D-3579-C6D4-75CA-F1F3C5465DE1}"/>
              </a:ext>
            </a:extLst>
          </p:cNvPr>
          <p:cNvSpPr txBox="1"/>
          <p:nvPr/>
        </p:nvSpPr>
        <p:spPr>
          <a:xfrm>
            <a:off x="10892548" y="4006502"/>
            <a:ext cx="580808" cy="369332"/>
          </a:xfrm>
          <a:prstGeom prst="rect">
            <a:avLst/>
          </a:prstGeom>
          <a:noFill/>
        </p:spPr>
        <p:txBody>
          <a:bodyPr wrap="square">
            <a:spAutoFit/>
          </a:bodyPr>
          <a:lstStyle/>
          <a:p>
            <a:r>
              <a:rPr lang="en-US" dirty="0"/>
              <a:t>❌</a:t>
            </a:r>
          </a:p>
        </p:txBody>
      </p:sp>
      <p:sp>
        <p:nvSpPr>
          <p:cNvPr id="4" name="Arr1">
            <a:extLst>
              <a:ext uri="{FF2B5EF4-FFF2-40B4-BE49-F238E27FC236}">
                <a16:creationId xmlns:a16="http://schemas.microsoft.com/office/drawing/2014/main" id="{CC055861-FBC1-3080-75B8-5020F7F83ED8}"/>
              </a:ext>
            </a:extLst>
          </p:cNvPr>
          <p:cNvSpPr/>
          <p:nvPr/>
        </p:nvSpPr>
        <p:spPr>
          <a:xfrm>
            <a:off x="7480300" y="5298131"/>
            <a:ext cx="419100" cy="419099"/>
          </a:xfrm>
          <a:prstGeom prst="rightArrow">
            <a:avLst>
              <a:gd name="adj1" fmla="val 50000"/>
              <a:gd name="adj2" fmla="val 50000"/>
            </a:avLst>
          </a:prstGeom>
          <a:solidFill>
            <a:srgbClr val="CBD5E1"/>
          </a:solidFill>
          <a:ln>
            <a:noFill/>
          </a:ln>
        </p:spPr>
        <p:txBody>
          <a:bodyPr/>
          <a:lstStyle/>
          <a:p>
            <a:endParaRPr lang="en-US"/>
          </a:p>
        </p:txBody>
      </p:sp>
    </p:spTree>
    <p:extLst>
      <p:ext uri="{BB962C8B-B14F-4D97-AF65-F5344CB8AC3E}">
        <p14:creationId xmlns:p14="http://schemas.microsoft.com/office/powerpoint/2010/main" val="4110728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719D-6174-6E05-E935-B77F706A866C}"/>
              </a:ext>
            </a:extLst>
          </p:cNvPr>
          <p:cNvSpPr>
            <a:spLocks noGrp="1"/>
          </p:cNvSpPr>
          <p:nvPr>
            <p:ph type="title"/>
          </p:nvPr>
        </p:nvSpPr>
        <p:spPr>
          <a:xfrm>
            <a:off x="635000" y="141287"/>
            <a:ext cx="10515600" cy="1325563"/>
          </a:xfrm>
        </p:spPr>
        <p:txBody>
          <a:bodyPr>
            <a:normAutofit/>
          </a:bodyPr>
          <a:lstStyle/>
          <a:p>
            <a:pPr algn="l"/>
            <a:r>
              <a:rPr lang="en-US" sz="4800" b="1" dirty="0">
                <a:solidFill>
                  <a:srgbClr val="0F172A"/>
                </a:solidFill>
              </a:rPr>
              <a:t>Schema &amp; System Prompt</a:t>
            </a:r>
          </a:p>
        </p:txBody>
      </p:sp>
      <p:sp>
        <p:nvSpPr>
          <p:cNvPr id="400" name="LeftCard"/>
          <p:cNvSpPr/>
          <p:nvPr/>
        </p:nvSpPr>
        <p:spPr>
          <a:xfrm>
            <a:off x="406400" y="1479550"/>
            <a:ext cx="6667500" cy="4035600"/>
          </a:xfrm>
          <a:prstGeom prst="roundRect">
            <a:avLst>
              <a:gd name="adj" fmla="val 6000"/>
            </a:avLst>
          </a:prstGeom>
          <a:solidFill>
            <a:srgbClr val="FFFFFF"/>
          </a:solidFill>
          <a:ln w="6350">
            <a:solidFill>
              <a:srgbClr val="0F172A"/>
            </a:solidFill>
          </a:ln>
        </p:spPr>
        <p:txBody>
          <a:bodyPr wrap="square" lIns="240000" tIns="200000" rIns="240000" bIns="200000" anchor="t"/>
          <a:lstStyle/>
          <a:p>
            <a:pPr algn="l">
              <a:spcBef>
                <a:spcPts val="400"/>
              </a:spcBef>
            </a:pPr>
            <a:r>
              <a:rPr lang="en-US" sz="3200" b="1" dirty="0">
                <a:solidFill>
                  <a:srgbClr val="0891B2"/>
                </a:solidFill>
              </a:rPr>
              <a:t>TEACH THE AI YOUR DATA</a:t>
            </a:r>
          </a:p>
          <a:p>
            <a:pPr marL="228600" indent="-228600">
              <a:spcBef>
                <a:spcPts val="800"/>
              </a:spcBef>
              <a:buFont typeface="Arial"/>
              <a:buChar char="•"/>
            </a:pPr>
            <a:r>
              <a:rPr lang="en-US" sz="3200" dirty="0">
                <a:solidFill>
                  <a:srgbClr val="334155"/>
                </a:solidFill>
              </a:rPr>
              <a:t>Tables &amp; columns</a:t>
            </a:r>
          </a:p>
          <a:p>
            <a:pPr marL="228600" indent="-228600">
              <a:spcBef>
                <a:spcPts val="400"/>
              </a:spcBef>
              <a:buFont typeface="Arial"/>
              <a:buChar char="•"/>
            </a:pPr>
            <a:r>
              <a:rPr lang="en-US" sz="3200" dirty="0">
                <a:solidFill>
                  <a:srgbClr val="334155"/>
                </a:solidFill>
              </a:rPr>
              <a:t>Relationships &amp; keys</a:t>
            </a:r>
          </a:p>
          <a:p>
            <a:pPr marL="228600" indent="-228600">
              <a:spcBef>
                <a:spcPts val="400"/>
              </a:spcBef>
              <a:buFont typeface="Arial"/>
              <a:buChar char="•"/>
            </a:pPr>
            <a:r>
              <a:rPr lang="en-US" sz="3200" dirty="0">
                <a:solidFill>
                  <a:srgbClr val="334155"/>
                </a:solidFill>
              </a:rPr>
              <a:t>Data types</a:t>
            </a:r>
          </a:p>
          <a:p>
            <a:pPr marL="228600" indent="-228600">
              <a:spcBef>
                <a:spcPts val="400"/>
              </a:spcBef>
              <a:buFont typeface="Arial"/>
              <a:buChar char="•"/>
            </a:pPr>
            <a:r>
              <a:rPr lang="en-US" sz="3200" dirty="0">
                <a:solidFill>
                  <a:srgbClr val="334155"/>
                </a:solidFill>
              </a:rPr>
              <a:t>Enum Values</a:t>
            </a:r>
          </a:p>
          <a:p>
            <a:pPr marL="228600" indent="-228600">
              <a:spcBef>
                <a:spcPts val="400"/>
              </a:spcBef>
              <a:buFont typeface="Arial"/>
              <a:buChar char="•"/>
            </a:pPr>
            <a:r>
              <a:rPr lang="en-US" sz="3200" i="1" dirty="0">
                <a:solidFill>
                  <a:srgbClr val="334155"/>
                </a:solidFill>
              </a:rPr>
              <a:t>Optional: sample values</a:t>
            </a:r>
            <a:br>
              <a:rPr lang="en-US" sz="2800" dirty="0">
                <a:solidFill>
                  <a:srgbClr val="334155"/>
                </a:solidFill>
              </a:rPr>
            </a:br>
            <a:endParaRPr lang="en-US" sz="2800" dirty="0">
              <a:solidFill>
                <a:srgbClr val="334155"/>
              </a:solidFill>
            </a:endParaRPr>
          </a:p>
        </p:txBody>
      </p:sp>
      <p:sp>
        <p:nvSpPr>
          <p:cNvPr id="401" name="RightCard"/>
          <p:cNvSpPr/>
          <p:nvPr/>
        </p:nvSpPr>
        <p:spPr>
          <a:xfrm>
            <a:off x="6223000" y="1479550"/>
            <a:ext cx="5562600" cy="4042800"/>
          </a:xfrm>
          <a:prstGeom prst="roundRect">
            <a:avLst>
              <a:gd name="adj" fmla="val 6000"/>
            </a:avLst>
          </a:prstGeom>
          <a:solidFill>
            <a:srgbClr val="0F172A"/>
          </a:solidFill>
          <a:ln>
            <a:noFill/>
          </a:ln>
        </p:spPr>
        <p:txBody>
          <a:bodyPr wrap="square" lIns="240000" tIns="200000" rIns="240000" bIns="200000" anchor="t"/>
          <a:lstStyle/>
          <a:p>
            <a:pPr algn="l"/>
            <a:r>
              <a:rPr lang="en-US" sz="3200" b="1" spc="300" dirty="0">
                <a:solidFill>
                  <a:srgbClr val="22D3EE"/>
                </a:solidFill>
              </a:rPr>
              <a:t>WRITE THE RULES</a:t>
            </a:r>
            <a:endParaRPr lang="en-US" sz="3200" b="1" dirty="0">
              <a:solidFill>
                <a:srgbClr val="FFFFFF"/>
              </a:solidFill>
            </a:endParaRPr>
          </a:p>
          <a:p>
            <a:pPr>
              <a:spcBef>
                <a:spcPts val="800"/>
              </a:spcBef>
            </a:pPr>
            <a:r>
              <a:rPr lang="en-US" sz="2000" dirty="0">
                <a:solidFill>
                  <a:srgbClr val="64748B"/>
                </a:solidFill>
                <a:latin typeface="Consolas"/>
              </a:rPr>
              <a:t>// system prompt</a:t>
            </a:r>
          </a:p>
          <a:p>
            <a:pPr>
              <a:spcBef>
                <a:spcPts val="300"/>
              </a:spcBef>
            </a:pPr>
            <a:r>
              <a:rPr lang="en-US" sz="2400" dirty="0">
                <a:solidFill>
                  <a:srgbClr val="E2E8F0"/>
                </a:solidFill>
                <a:latin typeface="Consolas"/>
              </a:rPr>
              <a:t>You are a SQL assistant.</a:t>
            </a:r>
          </a:p>
          <a:p>
            <a:pPr>
              <a:spcBef>
                <a:spcPts val="200"/>
              </a:spcBef>
            </a:pPr>
            <a:r>
              <a:rPr lang="en-US" sz="2400" dirty="0">
                <a:solidFill>
                  <a:srgbClr val="22D3EE"/>
                </a:solidFill>
                <a:latin typeface="Consolas"/>
              </a:rPr>
              <a:t>RULES:</a:t>
            </a:r>
          </a:p>
          <a:p>
            <a:pPr>
              <a:spcBef>
                <a:spcPts val="200"/>
              </a:spcBef>
            </a:pPr>
            <a:r>
              <a:rPr lang="en-US" sz="2400" dirty="0">
                <a:solidFill>
                  <a:srgbClr val="E2E8F0"/>
                </a:solidFill>
                <a:latin typeface="Consolas"/>
              </a:rPr>
              <a:t>• SELECT only</a:t>
            </a:r>
          </a:p>
          <a:p>
            <a:pPr>
              <a:spcBef>
                <a:spcPts val="200"/>
              </a:spcBef>
            </a:pPr>
            <a:r>
              <a:rPr lang="en-US" sz="2400" dirty="0">
                <a:solidFill>
                  <a:srgbClr val="E2E8F0"/>
                </a:solidFill>
                <a:latin typeface="Consolas"/>
              </a:rPr>
              <a:t>• No DELETE/UPDATE/DROP</a:t>
            </a:r>
          </a:p>
          <a:p>
            <a:pPr>
              <a:spcBef>
                <a:spcPts val="200"/>
              </a:spcBef>
            </a:pPr>
            <a:r>
              <a:rPr lang="en-US" sz="2400" dirty="0">
                <a:solidFill>
                  <a:srgbClr val="E2E8F0"/>
                </a:solidFill>
                <a:latin typeface="Consolas"/>
              </a:rPr>
              <a:t>• Return SQL only</a:t>
            </a:r>
          </a:p>
          <a:p>
            <a:pPr>
              <a:spcBef>
                <a:spcPts val="200"/>
              </a:spcBef>
            </a:pPr>
            <a:r>
              <a:rPr lang="en-US" sz="2400" dirty="0">
                <a:solidFill>
                  <a:srgbClr val="E2E8F0"/>
                </a:solidFill>
                <a:latin typeface="Consolas"/>
              </a:rPr>
              <a:t>• Use the schema above</a:t>
            </a:r>
          </a:p>
        </p:txBody>
      </p:sp>
      <p:sp>
        <p:nvSpPr>
          <p:cNvPr id="4" name="TextBox 3">
            <a:extLst>
              <a:ext uri="{FF2B5EF4-FFF2-40B4-BE49-F238E27FC236}">
                <a16:creationId xmlns:a16="http://schemas.microsoft.com/office/drawing/2014/main" id="{0260B58A-A411-8E7E-C1B6-7B7E005995DA}"/>
              </a:ext>
            </a:extLst>
          </p:cNvPr>
          <p:cNvSpPr txBox="1"/>
          <p:nvPr/>
        </p:nvSpPr>
        <p:spPr>
          <a:xfrm>
            <a:off x="406400" y="5720834"/>
            <a:ext cx="11270938" cy="400110"/>
          </a:xfrm>
          <a:prstGeom prst="rect">
            <a:avLst/>
          </a:prstGeom>
          <a:noFill/>
        </p:spPr>
        <p:txBody>
          <a:bodyPr wrap="square">
            <a:spAutoFit/>
          </a:bodyPr>
          <a:lstStyle/>
          <a:p>
            <a:pPr algn="ctr">
              <a:spcBef>
                <a:spcPts val="800"/>
              </a:spcBef>
            </a:pPr>
            <a:r>
              <a:rPr lang="en-US" sz="2000" i="1" dirty="0">
                <a:solidFill>
                  <a:srgbClr val="64748B"/>
                </a:solidFill>
              </a:rPr>
              <a:t>Without schema, the LLM will guess!</a:t>
            </a:r>
          </a:p>
        </p:txBody>
      </p:sp>
    </p:spTree>
    <p:extLst>
      <p:ext uri="{BB962C8B-B14F-4D97-AF65-F5344CB8AC3E}">
        <p14:creationId xmlns:p14="http://schemas.microsoft.com/office/powerpoint/2010/main" val="28192774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C07A3-A506-91E2-776A-A29FCBDFCAB7}"/>
            </a:ext>
          </a:extLst>
        </p:cNvPr>
        <p:cNvGrpSpPr/>
        <p:nvPr/>
      </p:nvGrpSpPr>
      <p:grpSpPr>
        <a:xfrm>
          <a:off x="0" y="0"/>
          <a:ext cx="0" cy="0"/>
          <a:chOff x="0" y="0"/>
          <a:chExt cx="0" cy="0"/>
        </a:xfrm>
      </p:grpSpPr>
      <p:sp>
        <p:nvSpPr>
          <p:cNvPr id="700" name="Panel">
            <a:extLst>
              <a:ext uri="{FF2B5EF4-FFF2-40B4-BE49-F238E27FC236}">
                <a16:creationId xmlns:a16="http://schemas.microsoft.com/office/drawing/2014/main" id="{18B2B528-04D2-2150-B806-041B393ED26A}"/>
              </a:ext>
            </a:extLst>
          </p:cNvPr>
          <p:cNvSpPr/>
          <p:nvPr/>
        </p:nvSpPr>
        <p:spPr>
          <a:xfrm>
            <a:off x="73026" y="1270000"/>
            <a:ext cx="12118974" cy="4318000"/>
          </a:xfrm>
          <a:prstGeom prst="rect">
            <a:avLst/>
          </a:prstGeom>
          <a:solidFill>
            <a:srgbClr val="0F172A"/>
          </a:solidFill>
          <a:ln>
            <a:noFill/>
          </a:ln>
        </p:spPr>
        <p:txBody>
          <a:bodyPr/>
          <a:lstStyle/>
          <a:p>
            <a:endParaRPr lang="en-US" sz="3200"/>
          </a:p>
        </p:txBody>
      </p:sp>
      <p:sp>
        <p:nvSpPr>
          <p:cNvPr id="701" name="AccentBar">
            <a:extLst>
              <a:ext uri="{FF2B5EF4-FFF2-40B4-BE49-F238E27FC236}">
                <a16:creationId xmlns:a16="http://schemas.microsoft.com/office/drawing/2014/main" id="{C728586D-EB19-12D4-4F3F-29D6CB3CC6F8}"/>
              </a:ext>
            </a:extLst>
          </p:cNvPr>
          <p:cNvSpPr/>
          <p:nvPr/>
        </p:nvSpPr>
        <p:spPr>
          <a:xfrm>
            <a:off x="929325" y="1911350"/>
            <a:ext cx="4752000" cy="76200"/>
          </a:xfrm>
          <a:prstGeom prst="rect">
            <a:avLst/>
          </a:prstGeom>
          <a:solidFill>
            <a:srgbClr val="22D3EE"/>
          </a:solidFill>
          <a:ln>
            <a:noFill/>
          </a:ln>
        </p:spPr>
        <p:txBody>
          <a:bodyPr/>
          <a:lstStyle/>
          <a:p>
            <a:endParaRPr lang="en-US"/>
          </a:p>
        </p:txBody>
      </p:sp>
      <p:sp>
        <p:nvSpPr>
          <p:cNvPr id="2" name="Title 1">
            <a:extLst>
              <a:ext uri="{FF2B5EF4-FFF2-40B4-BE49-F238E27FC236}">
                <a16:creationId xmlns:a16="http://schemas.microsoft.com/office/drawing/2014/main" id="{11C53B48-EF36-6340-82E8-458E3E0A9C22}"/>
              </a:ext>
            </a:extLst>
          </p:cNvPr>
          <p:cNvSpPr>
            <a:spLocks noGrp="1"/>
          </p:cNvSpPr>
          <p:nvPr>
            <p:ph type="title" idx="4294967295"/>
          </p:nvPr>
        </p:nvSpPr>
        <p:spPr>
          <a:xfrm>
            <a:off x="831850" y="2330062"/>
            <a:ext cx="10515600" cy="2958630"/>
          </a:xfrm>
        </p:spPr>
        <p:txBody>
          <a:bodyPr>
            <a:normAutofit/>
          </a:bodyPr>
          <a:lstStyle/>
          <a:p>
            <a:pPr algn="l">
              <a:lnSpc>
                <a:spcPct val="100000"/>
              </a:lnSpc>
            </a:pPr>
            <a:r>
              <a:rPr lang="en-US" sz="11500" b="1" dirty="0">
                <a:solidFill>
                  <a:srgbClr val="FFFFFF"/>
                </a:solidFill>
              </a:rPr>
              <a:t>Demo</a:t>
            </a:r>
          </a:p>
          <a:p>
            <a:pPr algn="l">
              <a:buNone/>
            </a:pPr>
            <a:r>
              <a:rPr lang="en-US" sz="4000" dirty="0">
                <a:solidFill>
                  <a:srgbClr val="94A3B8"/>
                </a:solidFill>
              </a:rPr>
              <a:t>A Simple .NET Console App </a:t>
            </a:r>
          </a:p>
        </p:txBody>
      </p:sp>
      <p:sp>
        <p:nvSpPr>
          <p:cNvPr id="3" name="Text Placeholder 2">
            <a:extLst>
              <a:ext uri="{FF2B5EF4-FFF2-40B4-BE49-F238E27FC236}">
                <a16:creationId xmlns:a16="http://schemas.microsoft.com/office/drawing/2014/main" id="{CE123229-FD34-7833-06A8-F4C0CCC872CD}"/>
              </a:ext>
            </a:extLst>
          </p:cNvPr>
          <p:cNvSpPr>
            <a:spLocks noGrp="1"/>
          </p:cNvSpPr>
          <p:nvPr>
            <p:ph type="body" idx="4294967295"/>
          </p:nvPr>
        </p:nvSpPr>
        <p:spPr>
          <a:xfrm>
            <a:off x="831850" y="2050663"/>
            <a:ext cx="6853298" cy="558799"/>
          </a:xfrm>
        </p:spPr>
        <p:txBody>
          <a:bodyPr>
            <a:normAutofit/>
          </a:bodyPr>
          <a:lstStyle/>
          <a:p>
            <a:pPr algn="l">
              <a:buNone/>
            </a:pPr>
            <a:r>
              <a:rPr lang="en-US" sz="3200" b="1" spc="400" dirty="0">
                <a:solidFill>
                  <a:srgbClr val="22D3EE"/>
                </a:solidFill>
              </a:rPr>
              <a:t>CHAT WITH YOUR DATA</a:t>
            </a:r>
          </a:p>
        </p:txBody>
      </p:sp>
      <p:grpSp>
        <p:nvGrpSpPr>
          <p:cNvPr id="11" name="Group 10">
            <a:extLst>
              <a:ext uri="{FF2B5EF4-FFF2-40B4-BE49-F238E27FC236}">
                <a16:creationId xmlns:a16="http://schemas.microsoft.com/office/drawing/2014/main" id="{88BF4189-844E-C8D9-D73B-DD7B8585FBE3}"/>
              </a:ext>
            </a:extLst>
          </p:cNvPr>
          <p:cNvGrpSpPr/>
          <p:nvPr/>
        </p:nvGrpSpPr>
        <p:grpSpPr>
          <a:xfrm>
            <a:off x="5307013" y="3429000"/>
            <a:ext cx="1651000" cy="457200"/>
            <a:chOff x="889000" y="1429656"/>
            <a:chExt cx="1651000" cy="457200"/>
          </a:xfrm>
        </p:grpSpPr>
        <p:sp>
          <p:nvSpPr>
            <p:cNvPr id="12" name="LiveBadge">
              <a:extLst>
                <a:ext uri="{FF2B5EF4-FFF2-40B4-BE49-F238E27FC236}">
                  <a16:creationId xmlns:a16="http://schemas.microsoft.com/office/drawing/2014/main" id="{B1DE4706-7C9E-FB03-11A8-AD13184D2821}"/>
                </a:ext>
              </a:extLst>
            </p:cNvPr>
            <p:cNvSpPr/>
            <p:nvPr/>
          </p:nvSpPr>
          <p:spPr>
            <a:xfrm>
              <a:off x="889000" y="1429656"/>
              <a:ext cx="1651000" cy="457200"/>
            </a:xfrm>
            <a:prstGeom prst="roundRect">
              <a:avLst>
                <a:gd name="adj" fmla="val 50000"/>
              </a:avLst>
            </a:prstGeom>
            <a:solidFill>
              <a:srgbClr val="F43F5E"/>
            </a:solidFill>
            <a:ln>
              <a:noFill/>
            </a:ln>
          </p:spPr>
          <p:txBody>
            <a:bodyPr wrap="square" lIns="91440" tIns="0" rIns="91440" bIns="0" anchor="ctr"/>
            <a:lstStyle/>
            <a:p>
              <a:pPr algn="ctr"/>
              <a:r>
                <a:rPr lang="en-US" b="1" spc="300" dirty="0">
                  <a:solidFill>
                    <a:srgbClr val="FFFFFF"/>
                  </a:solidFill>
                </a:rPr>
                <a:t>    LIVE</a:t>
              </a:r>
            </a:p>
          </p:txBody>
        </p:sp>
        <p:pic>
          <p:nvPicPr>
            <p:cNvPr id="13" name="Graphic 12" descr="Presentation with media with solid fill">
              <a:extLst>
                <a:ext uri="{FF2B5EF4-FFF2-40B4-BE49-F238E27FC236}">
                  <a16:creationId xmlns:a16="http://schemas.microsoft.com/office/drawing/2014/main" id="{37193B5B-7B8B-D404-8310-414F52FF0D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503" y="1476895"/>
              <a:ext cx="394735" cy="394735"/>
            </a:xfrm>
            <a:prstGeom prst="rect">
              <a:avLst/>
            </a:prstGeom>
          </p:spPr>
        </p:pic>
      </p:grpSp>
    </p:spTree>
    <p:extLst>
      <p:ext uri="{BB962C8B-B14F-4D97-AF65-F5344CB8AC3E}">
        <p14:creationId xmlns:p14="http://schemas.microsoft.com/office/powerpoint/2010/main" val="3914748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C9AD2-1B67-A3D7-680A-E00FA44CAED6}"/>
              </a:ext>
            </a:extLst>
          </p:cNvPr>
          <p:cNvSpPr>
            <a:spLocks noGrp="1"/>
          </p:cNvSpPr>
          <p:nvPr>
            <p:ph type="title"/>
          </p:nvPr>
        </p:nvSpPr>
        <p:spPr>
          <a:xfrm>
            <a:off x="838200" y="365125"/>
            <a:ext cx="6588211" cy="1325563"/>
          </a:xfrm>
        </p:spPr>
        <p:txBody>
          <a:bodyPr>
            <a:normAutofit fontScale="90000"/>
          </a:bodyPr>
          <a:lstStyle/>
          <a:p>
            <a:pPr algn="l"/>
            <a:r>
              <a:rPr lang="en-US" sz="4800" b="1" dirty="0">
                <a:solidFill>
                  <a:srgbClr val="0F172A"/>
                </a:solidFill>
              </a:rPr>
              <a:t>Live Demo — Console</a:t>
            </a:r>
          </a:p>
        </p:txBody>
      </p:sp>
      <p:sp>
        <p:nvSpPr>
          <p:cNvPr id="501" name="DemoSub"/>
          <p:cNvSpPr txBox="1"/>
          <p:nvPr/>
        </p:nvSpPr>
        <p:spPr>
          <a:xfrm>
            <a:off x="2794000" y="1429656"/>
            <a:ext cx="8890000" cy="457200"/>
          </a:xfrm>
          <a:prstGeom prst="rect">
            <a:avLst/>
          </a:prstGeom>
          <a:noFill/>
        </p:spPr>
        <p:txBody>
          <a:bodyPr wrap="square" anchor="ctr"/>
          <a:lstStyle/>
          <a:p>
            <a:pPr algn="l"/>
            <a:r>
              <a:rPr lang="en-US" sz="2400" dirty="0">
                <a:solidFill>
                  <a:srgbClr val="475569"/>
                </a:solidFill>
              </a:rPr>
              <a:t>Visual Studio  &gt;  Chat.Console.OpenAI</a:t>
            </a:r>
          </a:p>
        </p:txBody>
      </p:sp>
      <p:sp>
        <p:nvSpPr>
          <p:cNvPr id="510" name="Terminal"/>
          <p:cNvSpPr/>
          <p:nvPr/>
        </p:nvSpPr>
        <p:spPr>
          <a:xfrm>
            <a:off x="508000" y="2342240"/>
            <a:ext cx="7112000" cy="3365500"/>
          </a:xfrm>
          <a:prstGeom prst="roundRect">
            <a:avLst>
              <a:gd name="adj" fmla="val 4000"/>
            </a:avLst>
          </a:prstGeom>
          <a:solidFill>
            <a:srgbClr val="0F172A"/>
          </a:solidFill>
          <a:ln>
            <a:noFill/>
          </a:ln>
          <a:effectLst>
            <a:outerShdw blurRad="80000" dist="20000" dir="5400000" algn="t" rotWithShape="0">
              <a:srgbClr val="0F172A">
                <a:alpha val="20000"/>
              </a:srgbClr>
            </a:outerShdw>
          </a:effectLst>
        </p:spPr>
        <p:txBody>
          <a:bodyPr wrap="square" lIns="240000" tIns="200000" rIns="240000" bIns="200000" anchor="t"/>
          <a:lstStyle/>
          <a:p>
            <a:pPr algn="l"/>
            <a:r>
              <a:rPr lang="en-US" sz="1600" dirty="0">
                <a:solidFill>
                  <a:srgbClr val="64748B"/>
                </a:solidFill>
                <a:latin typeface="Consolas"/>
              </a:rPr>
              <a:t>$ dotnet run</a:t>
            </a:r>
          </a:p>
          <a:p>
            <a:pPr>
              <a:spcBef>
                <a:spcPts val="400"/>
              </a:spcBef>
            </a:pPr>
            <a:r>
              <a:rPr lang="en-US" sz="1600" dirty="0">
                <a:solidFill>
                  <a:srgbClr val="94A3B8"/>
                </a:solidFill>
                <a:latin typeface="Consolas"/>
              </a:rPr>
              <a:t>Ask your database &gt; </a:t>
            </a:r>
            <a:r>
              <a:rPr lang="en-US" sz="2000" b="1" dirty="0">
                <a:solidFill>
                  <a:srgbClr val="22D3EE"/>
                </a:solidFill>
                <a:latin typeface="Consolas"/>
              </a:rPr>
              <a:t>top 10 customers by revenue</a:t>
            </a:r>
          </a:p>
          <a:p>
            <a:pPr>
              <a:spcBef>
                <a:spcPts val="600"/>
              </a:spcBef>
            </a:pPr>
            <a:r>
              <a:rPr lang="en-US" sz="1600" dirty="0">
                <a:solidFill>
                  <a:srgbClr val="64748B"/>
                </a:solidFill>
                <a:latin typeface="Consolas"/>
              </a:rPr>
              <a:t>// generated SQL</a:t>
            </a:r>
          </a:p>
          <a:p>
            <a:pPr>
              <a:spcBef>
                <a:spcPts val="300"/>
              </a:spcBef>
            </a:pPr>
            <a:r>
              <a:rPr lang="en-US" dirty="0">
                <a:solidFill>
                  <a:srgbClr val="10B981"/>
                </a:solidFill>
                <a:latin typeface="Consolas"/>
              </a:rPr>
              <a:t>SELECT TOP 10 c.Name,</a:t>
            </a:r>
          </a:p>
          <a:p>
            <a:pPr>
              <a:spcBef>
                <a:spcPts val="100"/>
              </a:spcBef>
            </a:pPr>
            <a:r>
              <a:rPr lang="en-US" dirty="0">
                <a:solidFill>
                  <a:srgbClr val="10B981"/>
                </a:solidFill>
                <a:latin typeface="Consolas"/>
              </a:rPr>
              <a:t>       SUM(o.Total) AS Revenue</a:t>
            </a:r>
          </a:p>
          <a:p>
            <a:pPr>
              <a:spcBef>
                <a:spcPts val="100"/>
              </a:spcBef>
            </a:pPr>
            <a:r>
              <a:rPr lang="en-US" dirty="0">
                <a:solidFill>
                  <a:srgbClr val="10B981"/>
                </a:solidFill>
                <a:latin typeface="Consolas"/>
              </a:rPr>
              <a:t>FROM Customers c</a:t>
            </a:r>
          </a:p>
          <a:p>
            <a:pPr>
              <a:spcBef>
                <a:spcPts val="100"/>
              </a:spcBef>
            </a:pPr>
            <a:r>
              <a:rPr lang="en-US" dirty="0">
                <a:solidFill>
                  <a:srgbClr val="10B981"/>
                </a:solidFill>
                <a:latin typeface="Consolas"/>
              </a:rPr>
              <a:t>JOIN Orders o ON o.CustomerId=c.Id</a:t>
            </a:r>
          </a:p>
          <a:p>
            <a:pPr>
              <a:spcBef>
                <a:spcPts val="100"/>
              </a:spcBef>
            </a:pPr>
            <a:r>
              <a:rPr lang="en-US" dirty="0">
                <a:solidFill>
                  <a:srgbClr val="10B981"/>
                </a:solidFill>
                <a:latin typeface="Consolas"/>
              </a:rPr>
              <a:t>GROUP BY c.Name</a:t>
            </a:r>
          </a:p>
          <a:p>
            <a:pPr>
              <a:spcBef>
                <a:spcPts val="100"/>
              </a:spcBef>
            </a:pPr>
            <a:r>
              <a:rPr lang="en-US" dirty="0">
                <a:solidFill>
                  <a:srgbClr val="10B981"/>
                </a:solidFill>
                <a:latin typeface="Consolas"/>
              </a:rPr>
              <a:t>ORDER BY Revenue DESC;</a:t>
            </a:r>
          </a:p>
        </p:txBody>
      </p:sp>
      <p:sp>
        <p:nvSpPr>
          <p:cNvPr id="520" name="Trust"/>
          <p:cNvSpPr/>
          <p:nvPr/>
        </p:nvSpPr>
        <p:spPr>
          <a:xfrm>
            <a:off x="7874000" y="2342240"/>
            <a:ext cx="3810000" cy="3365500"/>
          </a:xfrm>
          <a:prstGeom prst="roundRect">
            <a:avLst>
              <a:gd name="adj" fmla="val 6000"/>
            </a:avLst>
          </a:prstGeom>
          <a:solidFill>
            <a:srgbClr val="FEF3C7"/>
          </a:solidFill>
          <a:ln w="12700">
            <a:solidFill>
              <a:srgbClr val="FCD34D"/>
            </a:solidFill>
          </a:ln>
        </p:spPr>
        <p:txBody>
          <a:bodyPr wrap="square" lIns="220000" tIns="200000" rIns="220000" bIns="200000" anchor="t"/>
          <a:lstStyle/>
          <a:p>
            <a:pPr>
              <a:spcBef>
                <a:spcPts val="800"/>
              </a:spcBef>
            </a:pPr>
            <a:r>
              <a:rPr lang="en-US" sz="3200" b="1" spc="300" dirty="0">
                <a:solidFill>
                  <a:srgbClr val="92400E"/>
                </a:solidFill>
              </a:rPr>
              <a:t>⏸</a:t>
            </a:r>
            <a:r>
              <a:rPr lang="en-US" sz="2800" b="1" dirty="0">
                <a:solidFill>
                  <a:srgbClr val="0F172A"/>
                </a:solidFill>
              </a:rPr>
              <a:t>Would you </a:t>
            </a:r>
            <a:br>
              <a:rPr lang="en-US" sz="2800" b="1" dirty="0">
                <a:solidFill>
                  <a:srgbClr val="0F172A"/>
                </a:solidFill>
              </a:rPr>
            </a:br>
            <a:r>
              <a:rPr lang="en-US" sz="2800" b="1" dirty="0">
                <a:solidFill>
                  <a:srgbClr val="0F172A"/>
                </a:solidFill>
              </a:rPr>
              <a:t>     run this </a:t>
            </a:r>
            <a:br>
              <a:rPr lang="en-US" sz="2800" b="1" dirty="0">
                <a:solidFill>
                  <a:srgbClr val="0F172A"/>
                </a:solidFill>
              </a:rPr>
            </a:br>
            <a:r>
              <a:rPr lang="en-US" sz="2800" b="1" dirty="0">
                <a:solidFill>
                  <a:srgbClr val="0F172A"/>
                </a:solidFill>
              </a:rPr>
              <a:t>     in production?</a:t>
            </a:r>
            <a:endParaRPr lang="en-US" sz="3200" b="1" dirty="0">
              <a:solidFill>
                <a:srgbClr val="0F172A"/>
              </a:solidFill>
            </a:endParaRPr>
          </a:p>
          <a:p>
            <a:pPr algn="l">
              <a:spcBef>
                <a:spcPts val="400"/>
              </a:spcBef>
            </a:pPr>
            <a:br>
              <a:rPr lang="en-US" dirty="0">
                <a:solidFill>
                  <a:srgbClr val="78350F"/>
                </a:solidFill>
              </a:rPr>
            </a:br>
            <a:br>
              <a:rPr lang="en-US" dirty="0">
                <a:solidFill>
                  <a:srgbClr val="78350F"/>
                </a:solidFill>
              </a:rPr>
            </a:br>
            <a:r>
              <a:rPr lang="en-US" dirty="0">
                <a:solidFill>
                  <a:srgbClr val="78350F"/>
                </a:solidFill>
              </a:rPr>
              <a:t>        </a:t>
            </a:r>
            <a:r>
              <a:rPr lang="en-US" sz="2400" b="1" dirty="0">
                <a:solidFill>
                  <a:srgbClr val="78350F"/>
                </a:solidFill>
              </a:rPr>
              <a:t>The validator → </a:t>
            </a:r>
            <a:endParaRPr lang="en-US" b="1" dirty="0">
              <a:solidFill>
                <a:srgbClr val="78350F"/>
              </a:solidFill>
            </a:endParaRPr>
          </a:p>
        </p:txBody>
      </p:sp>
      <p:grpSp>
        <p:nvGrpSpPr>
          <p:cNvPr id="9" name="Group 8">
            <a:extLst>
              <a:ext uri="{FF2B5EF4-FFF2-40B4-BE49-F238E27FC236}">
                <a16:creationId xmlns:a16="http://schemas.microsoft.com/office/drawing/2014/main" id="{3FE91529-23A7-B9D9-91A9-CD0F5AB4D505}"/>
              </a:ext>
            </a:extLst>
          </p:cNvPr>
          <p:cNvGrpSpPr/>
          <p:nvPr/>
        </p:nvGrpSpPr>
        <p:grpSpPr>
          <a:xfrm>
            <a:off x="889000" y="1429656"/>
            <a:ext cx="1651000" cy="457200"/>
            <a:chOff x="889000" y="1429656"/>
            <a:chExt cx="1651000" cy="457200"/>
          </a:xfrm>
        </p:grpSpPr>
        <p:sp>
          <p:nvSpPr>
            <p:cNvPr id="500" name="LiveBadge"/>
            <p:cNvSpPr/>
            <p:nvPr/>
          </p:nvSpPr>
          <p:spPr>
            <a:xfrm>
              <a:off x="889000" y="1429656"/>
              <a:ext cx="1651000" cy="457200"/>
            </a:xfrm>
            <a:prstGeom prst="roundRect">
              <a:avLst>
                <a:gd name="adj" fmla="val 50000"/>
              </a:avLst>
            </a:prstGeom>
            <a:solidFill>
              <a:srgbClr val="F43F5E"/>
            </a:solidFill>
            <a:ln>
              <a:noFill/>
            </a:ln>
          </p:spPr>
          <p:txBody>
            <a:bodyPr wrap="square" lIns="91440" tIns="0" rIns="91440" bIns="0" anchor="ctr"/>
            <a:lstStyle/>
            <a:p>
              <a:pPr algn="ctr"/>
              <a:r>
                <a:rPr lang="en-US" b="1" spc="300" dirty="0">
                  <a:solidFill>
                    <a:srgbClr val="FFFFFF"/>
                  </a:solidFill>
                </a:rPr>
                <a:t>    LIVE</a:t>
              </a:r>
            </a:p>
          </p:txBody>
        </p:sp>
        <p:pic>
          <p:nvPicPr>
            <p:cNvPr id="8" name="Graphic 7" descr="Presentation with media with solid fill">
              <a:extLst>
                <a:ext uri="{FF2B5EF4-FFF2-40B4-BE49-F238E27FC236}">
                  <a16:creationId xmlns:a16="http://schemas.microsoft.com/office/drawing/2014/main" id="{09202127-A8D4-A00F-7BBA-CB4879194B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503" y="1476895"/>
              <a:ext cx="394735" cy="394735"/>
            </a:xfrm>
            <a:prstGeom prst="rect">
              <a:avLst/>
            </a:prstGeom>
          </p:spPr>
        </p:pic>
      </p:grpSp>
      <p:sp>
        <p:nvSpPr>
          <p:cNvPr id="4" name="TextBox 3">
            <a:extLst>
              <a:ext uri="{FF2B5EF4-FFF2-40B4-BE49-F238E27FC236}">
                <a16:creationId xmlns:a16="http://schemas.microsoft.com/office/drawing/2014/main" id="{198970D3-6DAB-B756-8ED7-860209BBE762}"/>
              </a:ext>
            </a:extLst>
          </p:cNvPr>
          <p:cNvSpPr txBox="1"/>
          <p:nvPr/>
        </p:nvSpPr>
        <p:spPr>
          <a:xfrm>
            <a:off x="11076710" y="3590941"/>
            <a:ext cx="442356" cy="584775"/>
          </a:xfrm>
          <a:prstGeom prst="rect">
            <a:avLst/>
          </a:prstGeom>
          <a:noFill/>
        </p:spPr>
        <p:txBody>
          <a:bodyPr wrap="square">
            <a:spAutoFit/>
          </a:bodyPr>
          <a:lstStyle/>
          <a:p>
            <a:r>
              <a:rPr lang="en-US" sz="3200" b="1" spc="300" dirty="0">
                <a:solidFill>
                  <a:srgbClr val="92400E"/>
                </a:solidFill>
              </a:rPr>
              <a:t>⏸</a:t>
            </a:r>
            <a:endParaRPr lang="en-US" sz="3200" dirty="0"/>
          </a:p>
        </p:txBody>
      </p:sp>
    </p:spTree>
    <p:extLst>
      <p:ext uri="{BB962C8B-B14F-4D97-AF65-F5344CB8AC3E}">
        <p14:creationId xmlns:p14="http://schemas.microsoft.com/office/powerpoint/2010/main" val="3575431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FBEB7-C36F-15BC-7D87-2E120220B3F8}"/>
              </a:ext>
            </a:extLst>
          </p:cNvPr>
          <p:cNvSpPr>
            <a:spLocks noGrp="1"/>
          </p:cNvSpPr>
          <p:nvPr>
            <p:ph type="title"/>
          </p:nvPr>
        </p:nvSpPr>
        <p:spPr>
          <a:xfrm>
            <a:off x="635000" y="343577"/>
            <a:ext cx="10515600" cy="1325563"/>
          </a:xfrm>
        </p:spPr>
        <p:txBody>
          <a:bodyPr>
            <a:normAutofit/>
          </a:bodyPr>
          <a:lstStyle/>
          <a:p>
            <a:pPr algn="l"/>
            <a:r>
              <a:rPr lang="en-US" sz="4800" b="1" dirty="0">
                <a:solidFill>
                  <a:srgbClr val="0F172A"/>
                </a:solidFill>
              </a:rPr>
              <a:t>Validation + Execution</a:t>
            </a:r>
          </a:p>
        </p:txBody>
      </p:sp>
      <p:sp>
        <p:nvSpPr>
          <p:cNvPr id="600" name="Validator"/>
          <p:cNvSpPr/>
          <p:nvPr/>
        </p:nvSpPr>
        <p:spPr>
          <a:xfrm>
            <a:off x="635000" y="1669140"/>
            <a:ext cx="5461000" cy="4191000"/>
          </a:xfrm>
          <a:prstGeom prst="roundRect">
            <a:avLst>
              <a:gd name="adj" fmla="val 6000"/>
            </a:avLst>
          </a:prstGeom>
          <a:solidFill>
            <a:srgbClr val="FFFFFF"/>
          </a:solidFill>
          <a:ln w="12700">
            <a:solidFill>
              <a:srgbClr val="FECDD3"/>
            </a:solidFill>
          </a:ln>
        </p:spPr>
        <p:txBody>
          <a:bodyPr wrap="square" lIns="240000" tIns="200000" rIns="240000" bIns="200000" anchor="t"/>
          <a:lstStyle/>
          <a:p>
            <a:pPr algn="l"/>
            <a:r>
              <a:rPr lang="en-US" sz="3600" b="1" dirty="0">
                <a:solidFill>
                  <a:srgbClr val="F43F5E"/>
                </a:solidFill>
              </a:rPr>
              <a:t>🛡</a:t>
            </a:r>
            <a:r>
              <a:rPr lang="en-US" b="1" spc="300" dirty="0">
                <a:solidFill>
                  <a:srgbClr val="9F1239"/>
                </a:solidFill>
              </a:rPr>
              <a:t>  </a:t>
            </a:r>
            <a:r>
              <a:rPr lang="en-US" sz="2800" b="1" spc="300" dirty="0">
                <a:solidFill>
                  <a:srgbClr val="9F1239"/>
                </a:solidFill>
              </a:rPr>
              <a:t>VALIDATE</a:t>
            </a:r>
            <a:endParaRPr lang="en-US" b="1" spc="300" dirty="0">
              <a:solidFill>
                <a:srgbClr val="9F1239"/>
              </a:solidFill>
            </a:endParaRPr>
          </a:p>
          <a:p>
            <a:pPr algn="l">
              <a:spcBef>
                <a:spcPts val="400"/>
              </a:spcBef>
            </a:pPr>
            <a:r>
              <a:rPr lang="en-US" sz="3600" b="1" dirty="0">
                <a:solidFill>
                  <a:srgbClr val="0F172A"/>
                </a:solidFill>
              </a:rPr>
              <a:t>Never trust the LLM</a:t>
            </a:r>
          </a:p>
          <a:p>
            <a:pPr marL="228600" indent="-228600">
              <a:spcBef>
                <a:spcPts val="600"/>
              </a:spcBef>
              <a:buClr>
                <a:srgbClr val="FF0000"/>
              </a:buClr>
              <a:buFont typeface="Arial"/>
              <a:buChar char="✕"/>
            </a:pPr>
            <a:r>
              <a:rPr lang="en-US" sz="2400" dirty="0">
                <a:solidFill>
                  <a:srgbClr val="334155"/>
                </a:solidFill>
              </a:rPr>
              <a:t> Block DELETE, UPDATE, DROP</a:t>
            </a:r>
          </a:p>
          <a:p>
            <a:pPr marL="228600" indent="-228600">
              <a:spcBef>
                <a:spcPts val="400"/>
              </a:spcBef>
              <a:buClr>
                <a:srgbClr val="FF0000"/>
              </a:buClr>
              <a:buFont typeface="Arial"/>
              <a:buChar char="✕"/>
            </a:pPr>
            <a:r>
              <a:rPr lang="en-US" sz="2400" dirty="0">
                <a:solidFill>
                  <a:srgbClr val="334155"/>
                </a:solidFill>
              </a:rPr>
              <a:t> Block multi-statement queries</a:t>
            </a:r>
          </a:p>
          <a:p>
            <a:pPr marL="228600" indent="-228600">
              <a:spcBef>
                <a:spcPts val="400"/>
              </a:spcBef>
              <a:buClr>
                <a:srgbClr val="00B050"/>
              </a:buClr>
              <a:buFont typeface="Arial"/>
              <a:buChar char="✓"/>
            </a:pPr>
            <a:r>
              <a:rPr lang="en-US" sz="2400" dirty="0">
                <a:solidFill>
                  <a:srgbClr val="334155"/>
                </a:solidFill>
              </a:rPr>
              <a:t> Allow only SELECT</a:t>
            </a:r>
          </a:p>
          <a:p>
            <a:pPr marL="228600" indent="-228600">
              <a:spcBef>
                <a:spcPts val="400"/>
              </a:spcBef>
              <a:buClr>
                <a:srgbClr val="00B050"/>
              </a:buClr>
              <a:buFont typeface="Arial"/>
              <a:buChar char="✓"/>
            </a:pPr>
            <a:r>
              <a:rPr lang="en-US" sz="2400" dirty="0">
                <a:solidFill>
                  <a:srgbClr val="334155"/>
                </a:solidFill>
              </a:rPr>
              <a:t> Enforce row limits</a:t>
            </a:r>
          </a:p>
          <a:p>
            <a:pPr marL="228600" indent="-228600">
              <a:spcBef>
                <a:spcPts val="400"/>
              </a:spcBef>
              <a:buClr>
                <a:srgbClr val="00B050"/>
              </a:buClr>
              <a:buFont typeface="Arial"/>
              <a:buChar char="✓"/>
            </a:pPr>
            <a:r>
              <a:rPr lang="en-US" sz="2400" dirty="0">
                <a:solidFill>
                  <a:srgbClr val="334155"/>
                </a:solidFill>
              </a:rPr>
              <a:t> Sanitize identifiers</a:t>
            </a:r>
          </a:p>
        </p:txBody>
      </p:sp>
      <p:sp>
        <p:nvSpPr>
          <p:cNvPr id="601" name="Exec"/>
          <p:cNvSpPr/>
          <p:nvPr/>
        </p:nvSpPr>
        <p:spPr>
          <a:xfrm>
            <a:off x="6223000" y="1669140"/>
            <a:ext cx="5334000" cy="4191000"/>
          </a:xfrm>
          <a:prstGeom prst="roundRect">
            <a:avLst>
              <a:gd name="adj" fmla="val 6000"/>
            </a:avLst>
          </a:prstGeom>
          <a:solidFill>
            <a:srgbClr val="FFFFFF"/>
          </a:solidFill>
          <a:ln w="12700">
            <a:solidFill>
              <a:srgbClr val="A7F3D0"/>
            </a:solidFill>
          </a:ln>
        </p:spPr>
        <p:txBody>
          <a:bodyPr wrap="square" lIns="240000" tIns="200000" rIns="240000" bIns="200000" anchor="t"/>
          <a:lstStyle/>
          <a:p>
            <a:pPr algn="l"/>
            <a:r>
              <a:rPr lang="en-US" sz="3600" b="1" dirty="0">
                <a:solidFill>
                  <a:srgbClr val="10B981"/>
                </a:solidFill>
              </a:rPr>
              <a:t>▶</a:t>
            </a:r>
            <a:r>
              <a:rPr lang="en-US" b="1" spc="300" dirty="0">
                <a:solidFill>
                  <a:srgbClr val="047857"/>
                </a:solidFill>
              </a:rPr>
              <a:t>  </a:t>
            </a:r>
            <a:r>
              <a:rPr lang="en-US" sz="2800" b="1" spc="300" dirty="0">
                <a:solidFill>
                  <a:srgbClr val="047857"/>
                </a:solidFill>
              </a:rPr>
              <a:t>EXECUTE</a:t>
            </a:r>
            <a:endParaRPr lang="en-US" b="1" spc="300" dirty="0">
              <a:solidFill>
                <a:srgbClr val="047857"/>
              </a:solidFill>
            </a:endParaRPr>
          </a:p>
          <a:p>
            <a:pPr algn="l">
              <a:spcBef>
                <a:spcPts val="400"/>
              </a:spcBef>
            </a:pPr>
            <a:r>
              <a:rPr lang="en-US" sz="3600" b="1" dirty="0">
                <a:solidFill>
                  <a:srgbClr val="0F172A"/>
                </a:solidFill>
              </a:rPr>
              <a:t>Run it, return it</a:t>
            </a:r>
          </a:p>
          <a:p>
            <a:pPr marL="228600" indent="-228600">
              <a:spcBef>
                <a:spcPts val="600"/>
              </a:spcBef>
              <a:buFont typeface="Arial"/>
              <a:buChar char="•"/>
            </a:pPr>
            <a:r>
              <a:rPr lang="en-US" sz="2400" dirty="0">
                <a:solidFill>
                  <a:srgbClr val="334155"/>
                </a:solidFill>
              </a:rPr>
              <a:t>Read-only connection</a:t>
            </a:r>
          </a:p>
          <a:p>
            <a:pPr marL="228600" indent="-228600">
              <a:spcBef>
                <a:spcPts val="400"/>
              </a:spcBef>
              <a:buFont typeface="Arial"/>
              <a:buChar char="•"/>
            </a:pPr>
            <a:r>
              <a:rPr lang="en-US" sz="2400" dirty="0">
                <a:solidFill>
                  <a:srgbClr val="334155"/>
                </a:solidFill>
              </a:rPr>
              <a:t>Timeout guard</a:t>
            </a:r>
          </a:p>
          <a:p>
            <a:pPr marL="228600" indent="-228600">
              <a:spcBef>
                <a:spcPts val="400"/>
              </a:spcBef>
              <a:buFont typeface="Arial"/>
              <a:buChar char="•"/>
            </a:pPr>
            <a:r>
              <a:rPr lang="en-US" sz="2400" dirty="0">
                <a:solidFill>
                  <a:srgbClr val="334155"/>
                </a:solidFill>
              </a:rPr>
              <a:t>Return as structured data</a:t>
            </a:r>
          </a:p>
          <a:p>
            <a:pPr marL="228600" indent="-228600">
              <a:spcBef>
                <a:spcPts val="400"/>
              </a:spcBef>
              <a:buFont typeface="Arial"/>
              <a:buChar char="•"/>
            </a:pPr>
            <a:r>
              <a:rPr lang="en-US" sz="2400" dirty="0">
                <a:solidFill>
                  <a:srgbClr val="334155"/>
                </a:solidFill>
              </a:rPr>
              <a:t>Log every query</a:t>
            </a:r>
            <a:br>
              <a:rPr lang="en-US" sz="2400" dirty="0">
                <a:solidFill>
                  <a:srgbClr val="334155"/>
                </a:solidFill>
              </a:rPr>
            </a:br>
            <a:endParaRPr lang="en-US" sz="2400" dirty="0">
              <a:solidFill>
                <a:srgbClr val="334155"/>
              </a:solidFill>
            </a:endParaRPr>
          </a:p>
          <a:p>
            <a:pPr>
              <a:spcBef>
                <a:spcPts val="800"/>
              </a:spcBef>
            </a:pPr>
            <a:r>
              <a:rPr lang="en-US" i="1" dirty="0">
                <a:solidFill>
                  <a:srgbClr val="64748B"/>
                </a:solidFill>
              </a:rPr>
              <a:t>The DB user should only SELECT.</a:t>
            </a:r>
          </a:p>
        </p:txBody>
      </p:sp>
    </p:spTree>
    <p:extLst>
      <p:ext uri="{BB962C8B-B14F-4D97-AF65-F5344CB8AC3E}">
        <p14:creationId xmlns:p14="http://schemas.microsoft.com/office/powerpoint/2010/main" val="30672303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BG"/>
          <p:cNvSpPr/>
          <p:nvPr/>
        </p:nvSpPr>
        <p:spPr>
          <a:xfrm>
            <a:off x="60960" y="0"/>
            <a:ext cx="12131039" cy="6858000"/>
          </a:xfrm>
          <a:prstGeom prst="rect">
            <a:avLst/>
          </a:prstGeom>
          <a:solidFill>
            <a:srgbClr val="0F172A"/>
          </a:solidFill>
          <a:ln>
            <a:noFill/>
          </a:ln>
        </p:spPr>
        <p:txBody>
          <a:bodyPr/>
          <a:lstStyle/>
          <a:p>
            <a:endParaRPr lang="en-US"/>
          </a:p>
        </p:txBody>
      </p:sp>
      <p:sp>
        <p:nvSpPr>
          <p:cNvPr id="702" name="Quote"/>
          <p:cNvSpPr txBox="1"/>
          <p:nvPr/>
        </p:nvSpPr>
        <p:spPr>
          <a:xfrm>
            <a:off x="621274" y="-217358"/>
            <a:ext cx="10379675" cy="6857999"/>
          </a:xfrm>
          <a:prstGeom prst="rect">
            <a:avLst/>
          </a:prstGeom>
          <a:noFill/>
        </p:spPr>
        <p:txBody>
          <a:bodyPr wrap="square" anchor="ctr"/>
          <a:lstStyle/>
          <a:p>
            <a:pPr algn="l">
              <a:lnSpc>
                <a:spcPct val="105000"/>
              </a:lnSpc>
            </a:pPr>
            <a:r>
              <a:rPr lang="en-US" sz="9600" b="1" dirty="0">
                <a:solidFill>
                  <a:srgbClr val="FFFFFF"/>
                </a:solidFill>
              </a:rPr>
              <a:t>This is a </a:t>
            </a:r>
            <a:r>
              <a:rPr lang="en-US" sz="9600" b="1" i="1" dirty="0">
                <a:solidFill>
                  <a:srgbClr val="22D3EE"/>
                </a:solidFill>
              </a:rPr>
              <a:t>pipeline,</a:t>
            </a:r>
          </a:p>
          <a:p>
            <a:pPr algn="l">
              <a:lnSpc>
                <a:spcPct val="105000"/>
              </a:lnSpc>
            </a:pPr>
            <a:r>
              <a:rPr lang="en-US" sz="9600" b="1" dirty="0">
                <a:solidFill>
                  <a:srgbClr val="FFFFFF"/>
                </a:solidFill>
              </a:rPr>
              <a:t>not </a:t>
            </a:r>
            <a:r>
              <a:rPr lang="en-US" sz="9600" b="1" i="1" dirty="0">
                <a:solidFill>
                  <a:srgbClr val="F43F5E"/>
                </a:solidFill>
              </a:rPr>
              <a:t>magic.</a:t>
            </a:r>
          </a:p>
        </p:txBody>
      </p:sp>
      <p:sp>
        <p:nvSpPr>
          <p:cNvPr id="2" name="TextBox 1">
            <a:extLst>
              <a:ext uri="{FF2B5EF4-FFF2-40B4-BE49-F238E27FC236}">
                <a16:creationId xmlns:a16="http://schemas.microsoft.com/office/drawing/2014/main" id="{84EA5717-A111-E735-E4B3-A14B746AAC13}"/>
              </a:ext>
            </a:extLst>
          </p:cNvPr>
          <p:cNvSpPr txBox="1"/>
          <p:nvPr/>
        </p:nvSpPr>
        <p:spPr>
          <a:xfrm>
            <a:off x="621274" y="6153463"/>
            <a:ext cx="7615814" cy="369332"/>
          </a:xfrm>
          <a:prstGeom prst="rect">
            <a:avLst/>
          </a:prstGeom>
          <a:noFill/>
        </p:spPr>
        <p:txBody>
          <a:bodyPr wrap="square" rtlCol="0">
            <a:spAutoFit/>
          </a:bodyPr>
          <a:lstStyle/>
          <a:p>
            <a:r>
              <a:rPr lang="en-US" dirty="0">
                <a:solidFill>
                  <a:schemeClr val="bg1"/>
                </a:solidFill>
              </a:rPr>
              <a:t>inspectable |  testable | replaceable | enterprise-friendly</a:t>
            </a:r>
          </a:p>
        </p:txBody>
      </p:sp>
      <p:sp>
        <p:nvSpPr>
          <p:cNvPr id="4" name="TextBox 3">
            <a:extLst>
              <a:ext uri="{FF2B5EF4-FFF2-40B4-BE49-F238E27FC236}">
                <a16:creationId xmlns:a16="http://schemas.microsoft.com/office/drawing/2014/main" id="{A70AFE83-7C0D-41CA-9B5E-DAE73D62EBD4}"/>
              </a:ext>
            </a:extLst>
          </p:cNvPr>
          <p:cNvSpPr txBox="1"/>
          <p:nvPr/>
        </p:nvSpPr>
        <p:spPr>
          <a:xfrm>
            <a:off x="11174842" y="366222"/>
            <a:ext cx="492443" cy="6125555"/>
          </a:xfrm>
          <a:prstGeom prst="rect">
            <a:avLst/>
          </a:prstGeom>
          <a:noFill/>
        </p:spPr>
        <p:txBody>
          <a:bodyPr vert="vert" wrap="square" rtlCol="0">
            <a:spAutoFit/>
          </a:bodyPr>
          <a:lstStyle/>
          <a:p>
            <a:pPr algn="ctr"/>
            <a:r>
              <a:rPr lang="en-US" sz="2000" dirty="0">
                <a:solidFill>
                  <a:schemeClr val="bg1"/>
                </a:solidFill>
              </a:rPr>
              <a:t>AI starts being a software</a:t>
            </a:r>
          </a:p>
        </p:txBody>
      </p:sp>
    </p:spTree>
    <p:extLst>
      <p:ext uri="{BB962C8B-B14F-4D97-AF65-F5344CB8AC3E}">
        <p14:creationId xmlns:p14="http://schemas.microsoft.com/office/powerpoint/2010/main" val="3187530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23F21-8185-DCF7-FAAB-4AD3EB18131F}"/>
              </a:ext>
            </a:extLst>
          </p:cNvPr>
          <p:cNvSpPr>
            <a:spLocks noGrp="1"/>
          </p:cNvSpPr>
          <p:nvPr>
            <p:ph type="title"/>
          </p:nvPr>
        </p:nvSpPr>
        <p:spPr>
          <a:xfrm>
            <a:off x="635000" y="279173"/>
            <a:ext cx="10515600" cy="1325563"/>
          </a:xfrm>
        </p:spPr>
        <p:txBody>
          <a:bodyPr>
            <a:normAutofit/>
          </a:bodyPr>
          <a:lstStyle/>
          <a:p>
            <a:pPr algn="l"/>
            <a:r>
              <a:rPr lang="en-US" sz="4800" b="1" dirty="0">
                <a:solidFill>
                  <a:srgbClr val="0F172A"/>
                </a:solidFill>
              </a:rPr>
              <a:t>Architecture — 3 Layers</a:t>
            </a:r>
          </a:p>
        </p:txBody>
      </p:sp>
      <p:sp>
        <p:nvSpPr>
          <p:cNvPr id="800" name="Sub"/>
          <p:cNvSpPr txBox="1"/>
          <p:nvPr/>
        </p:nvSpPr>
        <p:spPr>
          <a:xfrm>
            <a:off x="635000" y="1166586"/>
            <a:ext cx="10414000" cy="304800"/>
          </a:xfrm>
          <a:prstGeom prst="rect">
            <a:avLst/>
          </a:prstGeom>
          <a:noFill/>
        </p:spPr>
        <p:txBody>
          <a:bodyPr wrap="square" anchor="t"/>
          <a:lstStyle/>
          <a:p>
            <a:pPr algn="l"/>
            <a:r>
              <a:rPr lang="en-US" dirty="0">
                <a:solidFill>
                  <a:srgbClr val="64748B"/>
                </a:solidFill>
              </a:rPr>
              <a:t>Clean boundaries. Each layer does one thing well.</a:t>
            </a:r>
          </a:p>
        </p:txBody>
      </p:sp>
      <p:sp>
        <p:nvSpPr>
          <p:cNvPr id="900" name="L1"/>
          <p:cNvSpPr/>
          <p:nvPr/>
        </p:nvSpPr>
        <p:spPr>
          <a:xfrm>
            <a:off x="623786" y="1985488"/>
            <a:ext cx="889000" cy="889000"/>
          </a:xfrm>
          <a:prstGeom prst="ellipse">
            <a:avLst/>
          </a:prstGeom>
          <a:solidFill>
            <a:schemeClr val="accent3">
              <a:lumMod val="50000"/>
            </a:schemeClr>
          </a:solidFill>
          <a:ln>
            <a:noFill/>
          </a:ln>
        </p:spPr>
        <p:txBody>
          <a:bodyPr wrap="square" lIns="0" tIns="0" rIns="0" bIns="0" anchor="ctr" anchorCtr="1"/>
          <a:lstStyle/>
          <a:p>
            <a:pPr algn="ctr"/>
            <a:r>
              <a:rPr lang="en-US" sz="3600" b="1" dirty="0">
                <a:solidFill>
                  <a:srgbClr val="FFFFFF"/>
                </a:solidFill>
              </a:rPr>
              <a:t>1</a:t>
            </a:r>
          </a:p>
        </p:txBody>
      </p:sp>
      <p:sp>
        <p:nvSpPr>
          <p:cNvPr id="901" name="L1T"/>
          <p:cNvSpPr txBox="1"/>
          <p:nvPr/>
        </p:nvSpPr>
        <p:spPr>
          <a:xfrm>
            <a:off x="1599215" y="2000002"/>
            <a:ext cx="3590305" cy="889000"/>
          </a:xfrm>
          <a:prstGeom prst="rect">
            <a:avLst/>
          </a:prstGeom>
          <a:noFill/>
        </p:spPr>
        <p:txBody>
          <a:bodyPr wrap="square" anchor="t"/>
          <a:lstStyle/>
          <a:p>
            <a:pPr algn="l"/>
            <a:r>
              <a:rPr lang="en-US" sz="2800" b="1" dirty="0">
                <a:solidFill>
                  <a:srgbClr val="0F172A"/>
                </a:solidFill>
              </a:rPr>
              <a:t>Intake</a:t>
            </a:r>
          </a:p>
          <a:p>
            <a:pPr algn="l">
              <a:spcBef>
                <a:spcPts val="200"/>
              </a:spcBef>
            </a:pPr>
            <a:r>
              <a:rPr lang="en-US" b="1" dirty="0">
                <a:solidFill>
                  <a:srgbClr val="7B4F05"/>
                </a:solidFill>
              </a:rPr>
              <a:t>Understand the user question</a:t>
            </a:r>
          </a:p>
        </p:txBody>
      </p:sp>
      <p:sp>
        <p:nvSpPr>
          <p:cNvPr id="910" name="C1_0"/>
          <p:cNvSpPr/>
          <p:nvPr/>
        </p:nvSpPr>
        <p:spPr>
          <a:xfrm>
            <a:off x="5284520" y="2127002"/>
            <a:ext cx="2032000" cy="635000"/>
          </a:xfrm>
          <a:prstGeom prst="roundRect">
            <a:avLst>
              <a:gd name="adj" fmla="val 30000"/>
            </a:avLst>
          </a:prstGeom>
          <a:solidFill>
            <a:srgbClr val="FFFFFF"/>
          </a:solidFill>
          <a:ln w="12700">
            <a:solidFill>
              <a:srgbClr val="22D3EE"/>
            </a:solidFill>
          </a:ln>
        </p:spPr>
        <p:txBody>
          <a:bodyPr wrap="square" lIns="91440" tIns="91440" rIns="91440" bIns="91440" anchor="ctr"/>
          <a:lstStyle/>
          <a:p>
            <a:pPr algn="ctr"/>
            <a:r>
              <a:rPr lang="en-US" sz="2000" dirty="0">
                <a:solidFill>
                  <a:srgbClr val="0F172A"/>
                </a:solidFill>
              </a:rPr>
              <a:t>User Query</a:t>
            </a:r>
          </a:p>
        </p:txBody>
      </p:sp>
      <p:sp>
        <p:nvSpPr>
          <p:cNvPr id="911" name="C1_1"/>
          <p:cNvSpPr/>
          <p:nvPr/>
        </p:nvSpPr>
        <p:spPr>
          <a:xfrm>
            <a:off x="7715000" y="2137888"/>
            <a:ext cx="2286000" cy="635000"/>
          </a:xfrm>
          <a:prstGeom prst="roundRect">
            <a:avLst>
              <a:gd name="adj" fmla="val 30000"/>
            </a:avLst>
          </a:prstGeom>
          <a:solidFill>
            <a:srgbClr val="FFFFFF"/>
          </a:solidFill>
          <a:ln w="12700">
            <a:solidFill>
              <a:srgbClr val="22D3EE"/>
            </a:solidFill>
          </a:ln>
        </p:spPr>
        <p:txBody>
          <a:bodyPr wrap="square" lIns="91440" tIns="91440" rIns="91440" bIns="91440" anchor="ctr"/>
          <a:lstStyle/>
          <a:p>
            <a:pPr algn="ctr"/>
            <a:r>
              <a:rPr lang="en-US" sz="2000" dirty="0">
                <a:solidFill>
                  <a:srgbClr val="0F172A"/>
                </a:solidFill>
              </a:rPr>
              <a:t>Schema Reader</a:t>
            </a:r>
          </a:p>
        </p:txBody>
      </p:sp>
      <p:sp>
        <p:nvSpPr>
          <p:cNvPr id="930" name="L2"/>
          <p:cNvSpPr/>
          <p:nvPr/>
        </p:nvSpPr>
        <p:spPr>
          <a:xfrm>
            <a:off x="623786" y="3270002"/>
            <a:ext cx="889000" cy="889000"/>
          </a:xfrm>
          <a:prstGeom prst="ellipse">
            <a:avLst/>
          </a:prstGeom>
          <a:solidFill>
            <a:srgbClr val="6366F1"/>
          </a:solidFill>
          <a:ln>
            <a:noFill/>
          </a:ln>
        </p:spPr>
        <p:txBody>
          <a:bodyPr wrap="square" lIns="0" tIns="0" rIns="0" bIns="0" anchor="ctr" anchorCtr="1"/>
          <a:lstStyle/>
          <a:p>
            <a:pPr algn="ctr"/>
            <a:r>
              <a:rPr lang="en-US" sz="3600" b="1" dirty="0">
                <a:solidFill>
                  <a:srgbClr val="FFFFFF"/>
                </a:solidFill>
              </a:rPr>
              <a:t>2</a:t>
            </a:r>
          </a:p>
        </p:txBody>
      </p:sp>
      <p:sp>
        <p:nvSpPr>
          <p:cNvPr id="931" name="L2T"/>
          <p:cNvSpPr txBox="1"/>
          <p:nvPr/>
        </p:nvSpPr>
        <p:spPr>
          <a:xfrm>
            <a:off x="1599216" y="3270002"/>
            <a:ext cx="3302000" cy="889000"/>
          </a:xfrm>
          <a:prstGeom prst="rect">
            <a:avLst/>
          </a:prstGeom>
          <a:noFill/>
        </p:spPr>
        <p:txBody>
          <a:bodyPr wrap="square" anchor="t"/>
          <a:lstStyle/>
          <a:p>
            <a:pPr algn="l"/>
            <a:r>
              <a:rPr lang="en-US" sz="2800" b="1" dirty="0">
                <a:solidFill>
                  <a:srgbClr val="0F172A"/>
                </a:solidFill>
              </a:rPr>
              <a:t>Brain</a:t>
            </a:r>
          </a:p>
          <a:p>
            <a:pPr algn="l">
              <a:spcBef>
                <a:spcPts val="200"/>
              </a:spcBef>
            </a:pPr>
            <a:r>
              <a:rPr lang="en-US" b="1" dirty="0">
                <a:solidFill>
                  <a:srgbClr val="6366F1"/>
                </a:solidFill>
              </a:rPr>
              <a:t>Generate safe SQL</a:t>
            </a:r>
          </a:p>
        </p:txBody>
      </p:sp>
      <p:sp>
        <p:nvSpPr>
          <p:cNvPr id="940" name="C2_0"/>
          <p:cNvSpPr/>
          <p:nvPr/>
        </p:nvSpPr>
        <p:spPr>
          <a:xfrm>
            <a:off x="5284520" y="3397002"/>
            <a:ext cx="2176480" cy="635000"/>
          </a:xfrm>
          <a:prstGeom prst="roundRect">
            <a:avLst>
              <a:gd name="adj" fmla="val 30000"/>
            </a:avLst>
          </a:prstGeom>
          <a:solidFill>
            <a:srgbClr val="FFFFFF"/>
          </a:solidFill>
          <a:ln w="12700">
            <a:solidFill>
              <a:srgbClr val="6366F1"/>
            </a:solidFill>
          </a:ln>
        </p:spPr>
        <p:txBody>
          <a:bodyPr wrap="square" lIns="91440" tIns="91440" rIns="91440" bIns="91440" anchor="ctr"/>
          <a:lstStyle/>
          <a:p>
            <a:pPr algn="ctr"/>
            <a:r>
              <a:rPr lang="en-US" sz="2000" dirty="0">
                <a:solidFill>
                  <a:srgbClr val="0F172A"/>
                </a:solidFill>
              </a:rPr>
              <a:t>Prompt Builder</a:t>
            </a:r>
          </a:p>
        </p:txBody>
      </p:sp>
      <p:sp>
        <p:nvSpPr>
          <p:cNvPr id="941" name="C2_1"/>
          <p:cNvSpPr/>
          <p:nvPr/>
        </p:nvSpPr>
        <p:spPr>
          <a:xfrm>
            <a:off x="7715000" y="3397002"/>
            <a:ext cx="2032000" cy="635000"/>
          </a:xfrm>
          <a:prstGeom prst="roundRect">
            <a:avLst>
              <a:gd name="adj" fmla="val 30000"/>
            </a:avLst>
          </a:prstGeom>
          <a:solidFill>
            <a:srgbClr val="FFFFFF"/>
          </a:solidFill>
          <a:ln w="12700">
            <a:solidFill>
              <a:srgbClr val="6366F1"/>
            </a:solidFill>
          </a:ln>
        </p:spPr>
        <p:txBody>
          <a:bodyPr wrap="square" lIns="91440" tIns="91440" rIns="91440" bIns="91440" anchor="ctr"/>
          <a:lstStyle/>
          <a:p>
            <a:pPr algn="ctr"/>
            <a:r>
              <a:rPr lang="en-US" sz="2000" dirty="0">
                <a:solidFill>
                  <a:srgbClr val="0F172A"/>
                </a:solidFill>
              </a:rPr>
              <a:t>LLM Service</a:t>
            </a:r>
          </a:p>
        </p:txBody>
      </p:sp>
      <p:sp>
        <p:nvSpPr>
          <p:cNvPr id="942" name="C2_2"/>
          <p:cNvSpPr/>
          <p:nvPr/>
        </p:nvSpPr>
        <p:spPr>
          <a:xfrm>
            <a:off x="10001000" y="3397002"/>
            <a:ext cx="2032000" cy="635000"/>
          </a:xfrm>
          <a:prstGeom prst="roundRect">
            <a:avLst>
              <a:gd name="adj" fmla="val 30000"/>
            </a:avLst>
          </a:prstGeom>
          <a:solidFill>
            <a:srgbClr val="FFFFFF"/>
          </a:solidFill>
          <a:ln w="12700">
            <a:solidFill>
              <a:srgbClr val="6366F1"/>
            </a:solidFill>
          </a:ln>
        </p:spPr>
        <p:txBody>
          <a:bodyPr wrap="square" lIns="91440" tIns="91440" rIns="91440" bIns="91440" anchor="ctr"/>
          <a:lstStyle/>
          <a:p>
            <a:pPr algn="ctr"/>
            <a:r>
              <a:rPr lang="en-US" sz="2000" dirty="0">
                <a:solidFill>
                  <a:srgbClr val="0F172A"/>
                </a:solidFill>
              </a:rPr>
              <a:t>Validator</a:t>
            </a:r>
          </a:p>
        </p:txBody>
      </p:sp>
      <p:sp>
        <p:nvSpPr>
          <p:cNvPr id="960" name="L3"/>
          <p:cNvSpPr/>
          <p:nvPr/>
        </p:nvSpPr>
        <p:spPr>
          <a:xfrm>
            <a:off x="623786" y="4540002"/>
            <a:ext cx="889000" cy="889000"/>
          </a:xfrm>
          <a:prstGeom prst="ellipse">
            <a:avLst/>
          </a:prstGeom>
          <a:solidFill>
            <a:srgbClr val="10B981"/>
          </a:solidFill>
          <a:ln>
            <a:noFill/>
          </a:ln>
        </p:spPr>
        <p:txBody>
          <a:bodyPr wrap="square" lIns="0" tIns="0" rIns="0" bIns="0" anchor="ctr" anchorCtr="1"/>
          <a:lstStyle/>
          <a:p>
            <a:pPr algn="ctr"/>
            <a:r>
              <a:rPr lang="en-US" sz="3600" b="1" dirty="0">
                <a:solidFill>
                  <a:srgbClr val="FFFFFF"/>
                </a:solidFill>
              </a:rPr>
              <a:t>3</a:t>
            </a:r>
          </a:p>
        </p:txBody>
      </p:sp>
      <p:sp>
        <p:nvSpPr>
          <p:cNvPr id="961" name="L3T"/>
          <p:cNvSpPr txBox="1"/>
          <p:nvPr/>
        </p:nvSpPr>
        <p:spPr>
          <a:xfrm>
            <a:off x="1599216" y="4540002"/>
            <a:ext cx="3302000" cy="889000"/>
          </a:xfrm>
          <a:prstGeom prst="rect">
            <a:avLst/>
          </a:prstGeom>
          <a:noFill/>
        </p:spPr>
        <p:txBody>
          <a:bodyPr wrap="square" anchor="t"/>
          <a:lstStyle/>
          <a:p>
            <a:pPr algn="l"/>
            <a:r>
              <a:rPr lang="en-US" sz="2800" b="1" dirty="0">
                <a:solidFill>
                  <a:srgbClr val="0F172A"/>
                </a:solidFill>
              </a:rPr>
              <a:t>Output</a:t>
            </a:r>
          </a:p>
          <a:p>
            <a:pPr algn="l">
              <a:spcBef>
                <a:spcPts val="200"/>
              </a:spcBef>
            </a:pPr>
            <a:r>
              <a:rPr lang="en-US" b="1" dirty="0">
                <a:solidFill>
                  <a:srgbClr val="10B981"/>
                </a:solidFill>
              </a:rPr>
              <a:t>Run and format results</a:t>
            </a:r>
          </a:p>
        </p:txBody>
      </p:sp>
      <p:sp>
        <p:nvSpPr>
          <p:cNvPr id="970" name="C3_0"/>
          <p:cNvSpPr/>
          <p:nvPr/>
        </p:nvSpPr>
        <p:spPr>
          <a:xfrm>
            <a:off x="5284520" y="4667002"/>
            <a:ext cx="2032000" cy="635000"/>
          </a:xfrm>
          <a:prstGeom prst="roundRect">
            <a:avLst>
              <a:gd name="adj" fmla="val 30000"/>
            </a:avLst>
          </a:prstGeom>
          <a:solidFill>
            <a:srgbClr val="FFFFFF"/>
          </a:solidFill>
          <a:ln w="12700">
            <a:solidFill>
              <a:srgbClr val="10B981"/>
            </a:solidFill>
          </a:ln>
        </p:spPr>
        <p:txBody>
          <a:bodyPr wrap="square" lIns="91440" tIns="91440" rIns="91440" bIns="91440" anchor="ctr"/>
          <a:lstStyle/>
          <a:p>
            <a:pPr algn="ctr"/>
            <a:r>
              <a:rPr lang="en-US" sz="2000" dirty="0">
                <a:solidFill>
                  <a:srgbClr val="0F172A"/>
                </a:solidFill>
              </a:rPr>
              <a:t>Executor</a:t>
            </a:r>
          </a:p>
        </p:txBody>
      </p:sp>
      <p:sp>
        <p:nvSpPr>
          <p:cNvPr id="971" name="C3_1"/>
          <p:cNvSpPr/>
          <p:nvPr/>
        </p:nvSpPr>
        <p:spPr>
          <a:xfrm>
            <a:off x="7715000" y="4667002"/>
            <a:ext cx="2032000" cy="635000"/>
          </a:xfrm>
          <a:prstGeom prst="roundRect">
            <a:avLst>
              <a:gd name="adj" fmla="val 30000"/>
            </a:avLst>
          </a:prstGeom>
          <a:solidFill>
            <a:srgbClr val="FFFFFF"/>
          </a:solidFill>
          <a:ln w="12700">
            <a:solidFill>
              <a:srgbClr val="10B981"/>
            </a:solidFill>
          </a:ln>
        </p:spPr>
        <p:txBody>
          <a:bodyPr wrap="square" lIns="91440" tIns="91440" rIns="91440" bIns="91440" anchor="ctr"/>
          <a:lstStyle/>
          <a:p>
            <a:pPr algn="ctr"/>
            <a:r>
              <a:rPr lang="en-US" sz="2000" dirty="0">
                <a:solidFill>
                  <a:srgbClr val="0F172A"/>
                </a:solidFill>
              </a:rPr>
              <a:t>Formatter</a:t>
            </a:r>
          </a:p>
        </p:txBody>
      </p:sp>
      <p:sp>
        <p:nvSpPr>
          <p:cNvPr id="972" name="C3_2"/>
          <p:cNvSpPr/>
          <p:nvPr/>
        </p:nvSpPr>
        <p:spPr>
          <a:xfrm>
            <a:off x="10001000" y="4667002"/>
            <a:ext cx="2032000" cy="635000"/>
          </a:xfrm>
          <a:prstGeom prst="roundRect">
            <a:avLst>
              <a:gd name="adj" fmla="val 30000"/>
            </a:avLst>
          </a:prstGeom>
          <a:solidFill>
            <a:srgbClr val="FFFFFF"/>
          </a:solidFill>
          <a:ln w="12700">
            <a:solidFill>
              <a:srgbClr val="10B981"/>
            </a:solidFill>
          </a:ln>
        </p:spPr>
        <p:txBody>
          <a:bodyPr wrap="square" lIns="91440" tIns="91440" rIns="91440" bIns="91440" anchor="ctr"/>
          <a:lstStyle/>
          <a:p>
            <a:pPr algn="ctr"/>
            <a:r>
              <a:rPr lang="en-US" sz="2000" dirty="0">
                <a:solidFill>
                  <a:srgbClr val="0F172A"/>
                </a:solidFill>
              </a:rPr>
              <a:t>Exporter</a:t>
            </a:r>
          </a:p>
        </p:txBody>
      </p:sp>
      <p:cxnSp>
        <p:nvCxnSpPr>
          <p:cNvPr id="4" name="Straight Connector 3">
            <a:extLst>
              <a:ext uri="{FF2B5EF4-FFF2-40B4-BE49-F238E27FC236}">
                <a16:creationId xmlns:a16="http://schemas.microsoft.com/office/drawing/2014/main" id="{EF1DD38E-AD84-1D50-E52F-B5F98C5D28D8}"/>
              </a:ext>
            </a:extLst>
          </p:cNvPr>
          <p:cNvCxnSpPr>
            <a:cxnSpLocks/>
          </p:cNvCxnSpPr>
          <p:nvPr/>
        </p:nvCxnSpPr>
        <p:spPr>
          <a:xfrm>
            <a:off x="635000" y="3070431"/>
            <a:ext cx="10800000" cy="0"/>
          </a:xfrm>
          <a:prstGeom prst="line">
            <a:avLst/>
          </a:prstGeom>
          <a:ln>
            <a:solidFill>
              <a:schemeClr val="tx2">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A400EC4-90AC-A72F-9F8C-1821703F6ACF}"/>
              </a:ext>
            </a:extLst>
          </p:cNvPr>
          <p:cNvCxnSpPr>
            <a:cxnSpLocks/>
          </p:cNvCxnSpPr>
          <p:nvPr/>
        </p:nvCxnSpPr>
        <p:spPr>
          <a:xfrm>
            <a:off x="635000" y="4325917"/>
            <a:ext cx="10800000" cy="0"/>
          </a:xfrm>
          <a:prstGeom prst="line">
            <a:avLst/>
          </a:prstGeom>
          <a:ln>
            <a:solidFill>
              <a:schemeClr val="tx2">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498126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E9B66-9047-A005-9B40-77D94E893D3F}"/>
              </a:ext>
            </a:extLst>
          </p:cNvPr>
          <p:cNvSpPr>
            <a:spLocks noGrp="1"/>
          </p:cNvSpPr>
          <p:nvPr>
            <p:ph type="title"/>
          </p:nvPr>
        </p:nvSpPr>
        <p:spPr>
          <a:xfrm>
            <a:off x="635000" y="325437"/>
            <a:ext cx="10515600" cy="1325563"/>
          </a:xfrm>
        </p:spPr>
        <p:txBody>
          <a:bodyPr>
            <a:normAutofit/>
          </a:bodyPr>
          <a:lstStyle/>
          <a:p>
            <a:r>
              <a:rPr lang="en-US" sz="4800" b="1" dirty="0"/>
              <a:t>The Whole Setup 👌🏻 </a:t>
            </a:r>
            <a:endParaRPr lang="en-US" sz="4800" b="1" dirty="0">
              <a:solidFill>
                <a:srgbClr val="0F172A"/>
              </a:solidFill>
            </a:endParaRPr>
          </a:p>
        </p:txBody>
      </p:sp>
      <p:sp>
        <p:nvSpPr>
          <p:cNvPr id="900" name="Code"/>
          <p:cNvSpPr/>
          <p:nvPr/>
        </p:nvSpPr>
        <p:spPr>
          <a:xfrm>
            <a:off x="635000" y="1940367"/>
            <a:ext cx="10515600" cy="3355051"/>
          </a:xfrm>
          <a:prstGeom prst="roundRect">
            <a:avLst>
              <a:gd name="adj" fmla="val 4000"/>
            </a:avLst>
          </a:prstGeom>
          <a:solidFill>
            <a:srgbClr val="0F172A"/>
          </a:solidFill>
          <a:ln>
            <a:noFill/>
          </a:ln>
        </p:spPr>
        <p:txBody>
          <a:bodyPr wrap="square" lIns="240000" tIns="200000" rIns="240000" bIns="200000" anchor="t"/>
          <a:lstStyle/>
          <a:p>
            <a:pPr>
              <a:spcBef>
                <a:spcPts val="500"/>
              </a:spcBef>
            </a:pPr>
            <a:r>
              <a:rPr lang="en-US" sz="3200" dirty="0" err="1">
                <a:solidFill>
                  <a:srgbClr val="A78BFA"/>
                </a:solidFill>
                <a:latin typeface="Consolas"/>
              </a:rPr>
              <a:t>builder.Services.</a:t>
            </a:r>
            <a:r>
              <a:rPr lang="en-US" sz="3200" dirty="0" err="1">
                <a:solidFill>
                  <a:srgbClr val="22D3EE"/>
                </a:solidFill>
                <a:latin typeface="Consolas"/>
              </a:rPr>
              <a:t>AddAiReporting</a:t>
            </a:r>
            <a:r>
              <a:rPr lang="en-US" sz="3200" dirty="0">
                <a:solidFill>
                  <a:srgbClr val="E2E8F0"/>
                </a:solidFill>
                <a:latin typeface="Consolas"/>
              </a:rPr>
              <a:t>(opt =&gt;</a:t>
            </a:r>
          </a:p>
          <a:p>
            <a:pPr>
              <a:spcBef>
                <a:spcPts val="200"/>
              </a:spcBef>
            </a:pPr>
            <a:r>
              <a:rPr lang="en-US" sz="3200" dirty="0">
                <a:solidFill>
                  <a:srgbClr val="E2E8F0"/>
                </a:solidFill>
                <a:latin typeface="Consolas"/>
              </a:rPr>
              <a:t>{</a:t>
            </a:r>
          </a:p>
          <a:p>
            <a:pPr>
              <a:spcBef>
                <a:spcPts val="200"/>
              </a:spcBef>
            </a:pPr>
            <a:r>
              <a:rPr lang="en-US" sz="3200" dirty="0">
                <a:solidFill>
                  <a:srgbClr val="E2E8F0"/>
                </a:solidFill>
                <a:latin typeface="Consolas"/>
              </a:rPr>
              <a:t>    opt.ConnectionString = config[</a:t>
            </a:r>
            <a:r>
              <a:rPr lang="en-US" sz="3200" dirty="0">
                <a:solidFill>
                  <a:srgbClr val="10B981"/>
                </a:solidFill>
                <a:latin typeface="Consolas"/>
              </a:rPr>
              <a:t>"Db"</a:t>
            </a:r>
            <a:r>
              <a:rPr lang="en-US" sz="3200" dirty="0">
                <a:solidFill>
                  <a:srgbClr val="E2E8F0"/>
                </a:solidFill>
                <a:latin typeface="Consolas"/>
              </a:rPr>
              <a:t>];</a:t>
            </a:r>
          </a:p>
          <a:p>
            <a:pPr>
              <a:spcBef>
                <a:spcPts val="200"/>
              </a:spcBef>
            </a:pPr>
            <a:r>
              <a:rPr lang="en-US" sz="3200" dirty="0">
                <a:solidFill>
                  <a:srgbClr val="E2E8F0"/>
                </a:solidFill>
                <a:latin typeface="Consolas"/>
              </a:rPr>
              <a:t>    </a:t>
            </a:r>
            <a:r>
              <a:rPr lang="en-US" sz="3200" dirty="0" err="1">
                <a:solidFill>
                  <a:srgbClr val="E2E8F0"/>
                </a:solidFill>
                <a:latin typeface="Consolas"/>
              </a:rPr>
              <a:t>opt.LlmProvider</a:t>
            </a:r>
            <a:r>
              <a:rPr lang="en-US" sz="3200" dirty="0">
                <a:solidFill>
                  <a:srgbClr val="E2E8F0"/>
                </a:solidFill>
                <a:latin typeface="Consolas"/>
              </a:rPr>
              <a:t> = {</a:t>
            </a:r>
            <a:r>
              <a:rPr lang="en-US" sz="3200" dirty="0">
                <a:solidFill>
                  <a:srgbClr val="10B981"/>
                </a:solidFill>
                <a:latin typeface="Consolas"/>
              </a:rPr>
              <a:t>"OpenAI"</a:t>
            </a:r>
            <a:r>
              <a:rPr lang="en-US" sz="3200" dirty="0">
                <a:solidFill>
                  <a:srgbClr val="E2E8F0"/>
                </a:solidFill>
                <a:latin typeface="Consolas"/>
              </a:rPr>
              <a:t>, </a:t>
            </a:r>
            <a:r>
              <a:rPr lang="en-US" sz="3200" dirty="0" err="1">
                <a:solidFill>
                  <a:srgbClr val="22D3EE"/>
                </a:solidFill>
                <a:latin typeface="Consolas"/>
              </a:rPr>
              <a:t>ApiKey</a:t>
            </a:r>
            <a:r>
              <a:rPr lang="en-US" sz="3200" dirty="0">
                <a:solidFill>
                  <a:srgbClr val="E2E8F0"/>
                </a:solidFill>
                <a:latin typeface="Consolas"/>
              </a:rPr>
              <a:t>}</a:t>
            </a:r>
          </a:p>
          <a:p>
            <a:pPr>
              <a:spcBef>
                <a:spcPts val="200"/>
              </a:spcBef>
            </a:pPr>
            <a:r>
              <a:rPr lang="en-US" sz="3200" dirty="0">
                <a:solidFill>
                  <a:srgbClr val="E2E8F0"/>
                </a:solidFill>
                <a:latin typeface="Consolas"/>
              </a:rPr>
              <a:t>});</a:t>
            </a:r>
            <a:endParaRPr lang="en-US" sz="2800" dirty="0">
              <a:solidFill>
                <a:srgbClr val="64748B"/>
              </a:solidFill>
              <a:latin typeface="Consolas"/>
            </a:endParaRPr>
          </a:p>
        </p:txBody>
      </p:sp>
    </p:spTree>
    <p:extLst>
      <p:ext uri="{BB962C8B-B14F-4D97-AF65-F5344CB8AC3E}">
        <p14:creationId xmlns:p14="http://schemas.microsoft.com/office/powerpoint/2010/main" val="2434733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787CF-88FF-1DB2-F78F-BF6C35A2271B}"/>
              </a:ext>
            </a:extLst>
          </p:cNvPr>
          <p:cNvSpPr>
            <a:spLocks noGrp="1"/>
          </p:cNvSpPr>
          <p:nvPr>
            <p:ph type="title"/>
          </p:nvPr>
        </p:nvSpPr>
        <p:spPr>
          <a:xfrm>
            <a:off x="635000" y="300037"/>
            <a:ext cx="10515600" cy="1325563"/>
          </a:xfrm>
        </p:spPr>
        <p:txBody>
          <a:bodyPr>
            <a:normAutofit/>
          </a:bodyPr>
          <a:lstStyle/>
          <a:p>
            <a:pPr algn="l"/>
            <a:r>
              <a:rPr lang="en-US" sz="4800" b="1" dirty="0">
                <a:solidFill>
                  <a:srgbClr val="0F172A"/>
                </a:solidFill>
              </a:rPr>
              <a:t>Live Demo 2 — Blazor Web App</a:t>
            </a:r>
          </a:p>
        </p:txBody>
      </p:sp>
      <p:sp>
        <p:nvSpPr>
          <p:cNvPr id="1210" name="S"/>
          <p:cNvSpPr/>
          <p:nvPr/>
        </p:nvSpPr>
        <p:spPr>
          <a:xfrm>
            <a:off x="635000" y="2158999"/>
            <a:ext cx="2872014" cy="3517405"/>
          </a:xfrm>
          <a:prstGeom prst="roundRect">
            <a:avLst>
              <a:gd name="adj" fmla="val 5000"/>
            </a:avLst>
          </a:prstGeom>
          <a:solidFill>
            <a:srgbClr val="FFFFFF"/>
          </a:solidFill>
          <a:ln w="12700">
            <a:solidFill>
              <a:srgbClr val="E2E8F0"/>
            </a:solidFill>
          </a:ln>
        </p:spPr>
        <p:txBody>
          <a:bodyPr wrap="square" lIns="180000" tIns="200000" rIns="180000" bIns="200000" anchor="t"/>
          <a:lstStyle/>
          <a:p>
            <a:r>
              <a:rPr lang="en-US" sz="2400" b="1" spc="300" dirty="0">
                <a:solidFill>
                  <a:srgbClr val="10B981"/>
                </a:solidFill>
              </a:rPr>
              <a:t>STEP 1</a:t>
            </a:r>
          </a:p>
          <a:p>
            <a:pPr algn="l">
              <a:spcBef>
                <a:spcPts val="400"/>
              </a:spcBef>
            </a:pPr>
            <a:r>
              <a:rPr lang="en-US" sz="5400" b="1" dirty="0">
                <a:solidFill>
                  <a:srgbClr val="F43F5E"/>
                </a:solidFill>
              </a:rPr>
              <a:t>🎤</a:t>
            </a:r>
          </a:p>
          <a:p>
            <a:pPr algn="l">
              <a:spcBef>
                <a:spcPts val="500"/>
              </a:spcBef>
            </a:pPr>
            <a:r>
              <a:rPr lang="en-US" sz="3200" b="1" dirty="0">
                <a:solidFill>
                  <a:srgbClr val="0F172A"/>
                </a:solidFill>
              </a:rPr>
              <a:t>Speak</a:t>
            </a:r>
          </a:p>
          <a:p>
            <a:pPr algn="l">
              <a:spcBef>
                <a:spcPts val="400"/>
              </a:spcBef>
            </a:pPr>
            <a:r>
              <a:rPr lang="en-US" sz="2400" i="1" dirty="0">
                <a:solidFill>
                  <a:srgbClr val="64748B"/>
                </a:solidFill>
              </a:rPr>
              <a:t>"Show sales trends last 6 months"</a:t>
            </a:r>
          </a:p>
        </p:txBody>
      </p:sp>
      <p:sp>
        <p:nvSpPr>
          <p:cNvPr id="1211" name="S"/>
          <p:cNvSpPr/>
          <p:nvPr/>
        </p:nvSpPr>
        <p:spPr>
          <a:xfrm>
            <a:off x="3321958" y="2158999"/>
            <a:ext cx="2872014" cy="3517405"/>
          </a:xfrm>
          <a:prstGeom prst="roundRect">
            <a:avLst>
              <a:gd name="adj" fmla="val 5000"/>
            </a:avLst>
          </a:prstGeom>
          <a:solidFill>
            <a:srgbClr val="EAEAEA"/>
          </a:solidFill>
          <a:ln w="12700">
            <a:solidFill>
              <a:srgbClr val="E2E8F0"/>
            </a:solidFill>
          </a:ln>
        </p:spPr>
        <p:txBody>
          <a:bodyPr wrap="square" lIns="180000" tIns="200000" rIns="180000" bIns="200000" anchor="t"/>
          <a:lstStyle/>
          <a:p>
            <a:pPr algn="l"/>
            <a:r>
              <a:rPr lang="en-US" sz="2400" b="1" spc="300" dirty="0">
                <a:solidFill>
                  <a:srgbClr val="22D3EE"/>
                </a:solidFill>
              </a:rPr>
              <a:t>STEP 2</a:t>
            </a:r>
          </a:p>
          <a:p>
            <a:pPr algn="l">
              <a:spcBef>
                <a:spcPts val="400"/>
              </a:spcBef>
            </a:pPr>
            <a:r>
              <a:rPr lang="en-US" sz="5400" b="1" dirty="0">
                <a:solidFill>
                  <a:srgbClr val="22D3EE"/>
                </a:solidFill>
              </a:rPr>
              <a:t>⚡</a:t>
            </a:r>
          </a:p>
          <a:p>
            <a:pPr algn="l">
              <a:spcBef>
                <a:spcPts val="500"/>
              </a:spcBef>
            </a:pPr>
            <a:r>
              <a:rPr lang="en-US" sz="3200" b="1" dirty="0">
                <a:solidFill>
                  <a:srgbClr val="0F172A"/>
                </a:solidFill>
              </a:rPr>
              <a:t>Query runs</a:t>
            </a:r>
          </a:p>
          <a:p>
            <a:pPr algn="l">
              <a:spcBef>
                <a:spcPts val="400"/>
              </a:spcBef>
            </a:pPr>
            <a:r>
              <a:rPr lang="en-US" sz="2400" i="1" dirty="0">
                <a:solidFill>
                  <a:srgbClr val="64748B"/>
                </a:solidFill>
              </a:rPr>
              <a:t>Same pipeline. Faster feedback.</a:t>
            </a:r>
          </a:p>
        </p:txBody>
      </p:sp>
      <p:sp>
        <p:nvSpPr>
          <p:cNvPr id="1212" name="S"/>
          <p:cNvSpPr/>
          <p:nvPr/>
        </p:nvSpPr>
        <p:spPr>
          <a:xfrm>
            <a:off x="6052458" y="2158999"/>
            <a:ext cx="2872014" cy="3517405"/>
          </a:xfrm>
          <a:prstGeom prst="roundRect">
            <a:avLst>
              <a:gd name="adj" fmla="val 5000"/>
            </a:avLst>
          </a:prstGeom>
          <a:solidFill>
            <a:srgbClr val="C0C0C0"/>
          </a:solidFill>
          <a:ln w="12700">
            <a:solidFill>
              <a:srgbClr val="E2E8F0"/>
            </a:solidFill>
          </a:ln>
        </p:spPr>
        <p:txBody>
          <a:bodyPr wrap="square" lIns="180000" tIns="200000" rIns="180000" bIns="200000" anchor="t"/>
          <a:lstStyle/>
          <a:p>
            <a:pPr algn="l"/>
            <a:r>
              <a:rPr lang="en-US" sz="2400" b="1" spc="300" dirty="0">
                <a:solidFill>
                  <a:srgbClr val="6366F1"/>
                </a:solidFill>
              </a:rPr>
              <a:t>STEP 3</a:t>
            </a:r>
          </a:p>
          <a:p>
            <a:pPr algn="l">
              <a:spcBef>
                <a:spcPts val="400"/>
              </a:spcBef>
            </a:pPr>
            <a:r>
              <a:rPr lang="en-US" sz="5400" b="1" dirty="0">
                <a:solidFill>
                  <a:srgbClr val="6366F1"/>
                </a:solidFill>
              </a:rPr>
              <a:t>📊</a:t>
            </a:r>
          </a:p>
          <a:p>
            <a:pPr algn="l">
              <a:spcBef>
                <a:spcPts val="500"/>
              </a:spcBef>
            </a:pPr>
            <a:r>
              <a:rPr lang="en-US" sz="3200" b="1" dirty="0">
                <a:solidFill>
                  <a:srgbClr val="0F172A"/>
                </a:solidFill>
              </a:rPr>
              <a:t>Chart renders</a:t>
            </a:r>
          </a:p>
          <a:p>
            <a:pPr algn="l">
              <a:spcBef>
                <a:spcPts val="400"/>
              </a:spcBef>
            </a:pPr>
            <a:r>
              <a:rPr lang="en-US" sz="2400" i="1" dirty="0">
                <a:solidFill>
                  <a:schemeClr val="bg1"/>
                </a:solidFill>
              </a:rPr>
              <a:t>Table + chart</a:t>
            </a:r>
          </a:p>
        </p:txBody>
      </p:sp>
      <p:sp>
        <p:nvSpPr>
          <p:cNvPr id="1213" name="S"/>
          <p:cNvSpPr/>
          <p:nvPr/>
        </p:nvSpPr>
        <p:spPr>
          <a:xfrm>
            <a:off x="8782958" y="2158999"/>
            <a:ext cx="2872014" cy="3517405"/>
          </a:xfrm>
          <a:prstGeom prst="roundRect">
            <a:avLst>
              <a:gd name="adj" fmla="val 5000"/>
            </a:avLst>
          </a:prstGeom>
          <a:solidFill>
            <a:srgbClr val="9D9D9D"/>
          </a:solidFill>
          <a:ln w="12700">
            <a:solidFill>
              <a:srgbClr val="E2E8F0"/>
            </a:solidFill>
          </a:ln>
        </p:spPr>
        <p:txBody>
          <a:bodyPr wrap="square" lIns="180000" tIns="200000" rIns="180000" bIns="200000" anchor="t"/>
          <a:lstStyle/>
          <a:p>
            <a:r>
              <a:rPr lang="en-US" sz="2400" b="1" spc="300" dirty="0">
                <a:solidFill>
                  <a:srgbClr val="F43F5E"/>
                </a:solidFill>
              </a:rPr>
              <a:t>STEP 4</a:t>
            </a:r>
          </a:p>
          <a:p>
            <a:pPr algn="l">
              <a:spcBef>
                <a:spcPts val="400"/>
              </a:spcBef>
            </a:pPr>
            <a:r>
              <a:rPr lang="en-US" sz="5400" b="1" dirty="0">
                <a:solidFill>
                  <a:srgbClr val="10B981"/>
                </a:solidFill>
              </a:rPr>
              <a:t>📄</a:t>
            </a:r>
          </a:p>
          <a:p>
            <a:pPr algn="l">
              <a:spcBef>
                <a:spcPts val="500"/>
              </a:spcBef>
            </a:pPr>
            <a:r>
              <a:rPr lang="en-US" sz="3200" b="1" dirty="0">
                <a:solidFill>
                  <a:srgbClr val="0F172A"/>
                </a:solidFill>
              </a:rPr>
              <a:t>Export</a:t>
            </a:r>
          </a:p>
          <a:p>
            <a:pPr algn="l">
              <a:spcBef>
                <a:spcPts val="400"/>
              </a:spcBef>
            </a:pPr>
            <a:r>
              <a:rPr lang="en-US" sz="2400" i="1" dirty="0">
                <a:solidFill>
                  <a:schemeClr val="bg1"/>
                </a:solidFill>
              </a:rPr>
              <a:t>Excel report.</a:t>
            </a:r>
          </a:p>
        </p:txBody>
      </p:sp>
    </p:spTree>
    <p:extLst>
      <p:ext uri="{BB962C8B-B14F-4D97-AF65-F5344CB8AC3E}">
        <p14:creationId xmlns:p14="http://schemas.microsoft.com/office/powerpoint/2010/main" val="34838666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a:extLst>
              <a:ext uri="{FF2B5EF4-FFF2-40B4-BE49-F238E27FC236}">
                <a16:creationId xmlns:a16="http://schemas.microsoft.com/office/drawing/2014/main" id="{BAA9BBAE-549B-363A-B2DE-7B82682E01A1}"/>
              </a:ext>
            </a:extLst>
          </p:cNvPr>
          <p:cNvSpPr/>
          <p:nvPr/>
        </p:nvSpPr>
        <p:spPr>
          <a:xfrm>
            <a:off x="65531" y="826718"/>
            <a:ext cx="12118974" cy="4761282"/>
          </a:xfrm>
          <a:prstGeom prst="rect">
            <a:avLst/>
          </a:prstGeom>
          <a:solidFill>
            <a:srgbClr val="0F172A"/>
          </a:solidFill>
          <a:ln>
            <a:noFill/>
          </a:ln>
        </p:spPr>
        <p:txBody>
          <a:bodyPr/>
          <a:lstStyle/>
          <a:p>
            <a:endParaRPr lang="en-US" sz="3200"/>
          </a:p>
        </p:txBody>
      </p:sp>
      <p:sp>
        <p:nvSpPr>
          <p:cNvPr id="1002" name="Q"/>
          <p:cNvSpPr txBox="1"/>
          <p:nvPr/>
        </p:nvSpPr>
        <p:spPr>
          <a:xfrm>
            <a:off x="1026203" y="2045376"/>
            <a:ext cx="10722919" cy="2172474"/>
          </a:xfrm>
          <a:prstGeom prst="rect">
            <a:avLst/>
          </a:prstGeom>
          <a:noFill/>
        </p:spPr>
        <p:txBody>
          <a:bodyPr wrap="square" anchor="t"/>
          <a:lstStyle/>
          <a:p>
            <a:pPr algn="l">
              <a:lnSpc>
                <a:spcPct val="105000"/>
              </a:lnSpc>
            </a:pPr>
            <a:r>
              <a:rPr lang="en-US" sz="6600" b="1" dirty="0">
                <a:solidFill>
                  <a:srgbClr val="FFFFFF"/>
                </a:solidFill>
              </a:rPr>
              <a:t>Let's turn this </a:t>
            </a:r>
            <a:br>
              <a:rPr lang="en-US" sz="6600" b="1" dirty="0">
                <a:solidFill>
                  <a:srgbClr val="FFFFFF"/>
                </a:solidFill>
              </a:rPr>
            </a:br>
            <a:r>
              <a:rPr lang="en-US" sz="6600" b="1" dirty="0">
                <a:solidFill>
                  <a:srgbClr val="FFFFFF"/>
                </a:solidFill>
              </a:rPr>
              <a:t>into a </a:t>
            </a:r>
            <a:r>
              <a:rPr lang="en-US" sz="6600" b="1" i="1" dirty="0">
                <a:solidFill>
                  <a:srgbClr val="22D3EE"/>
                </a:solidFill>
              </a:rPr>
              <a:t>real  </a:t>
            </a:r>
            <a:r>
              <a:rPr lang="en-US" sz="6600" b="1" dirty="0">
                <a:solidFill>
                  <a:srgbClr val="22D3EE"/>
                </a:solidFill>
              </a:rPr>
              <a:t>product</a:t>
            </a:r>
          </a:p>
        </p:txBody>
      </p:sp>
      <p:sp>
        <p:nvSpPr>
          <p:cNvPr id="1003" name="Sub"/>
          <p:cNvSpPr txBox="1"/>
          <p:nvPr/>
        </p:nvSpPr>
        <p:spPr>
          <a:xfrm>
            <a:off x="1016000" y="5080000"/>
            <a:ext cx="10160000" cy="508000"/>
          </a:xfrm>
          <a:prstGeom prst="rect">
            <a:avLst/>
          </a:prstGeom>
          <a:noFill/>
        </p:spPr>
        <p:txBody>
          <a:bodyPr wrap="square" anchor="t"/>
          <a:lstStyle/>
          <a:p>
            <a:r>
              <a:rPr lang="en-US" sz="1800" dirty="0">
                <a:solidFill>
                  <a:srgbClr val="94A3B8"/>
                </a:solidFill>
              </a:rPr>
              <a:t>Same backend</a:t>
            </a:r>
            <a:r>
              <a:rPr lang="en-US" dirty="0">
                <a:solidFill>
                  <a:srgbClr val="94A3B8"/>
                </a:solidFill>
              </a:rPr>
              <a:t> but this time </a:t>
            </a:r>
            <a:r>
              <a:rPr lang="en-US" u="sng" dirty="0">
                <a:solidFill>
                  <a:srgbClr val="94A3B8"/>
                </a:solidFill>
              </a:rPr>
              <a:t>with interactive v</a:t>
            </a:r>
            <a:r>
              <a:rPr lang="en-US" sz="1800" u="sng" dirty="0">
                <a:solidFill>
                  <a:srgbClr val="94A3B8"/>
                </a:solidFill>
              </a:rPr>
              <a:t>oice</a:t>
            </a:r>
            <a:r>
              <a:rPr lang="en-US" b="1" u="sng" dirty="0">
                <a:solidFill>
                  <a:srgbClr val="94A3B8"/>
                </a:solidFill>
              </a:rPr>
              <a:t> </a:t>
            </a:r>
            <a:r>
              <a:rPr lang="en-US" dirty="0">
                <a:solidFill>
                  <a:srgbClr val="94A3B8"/>
                </a:solidFill>
              </a:rPr>
              <a:t> | Blazor Server</a:t>
            </a:r>
            <a:endParaRPr lang="en-US" sz="1800" dirty="0">
              <a:solidFill>
                <a:srgbClr val="94A3B8"/>
              </a:solidFill>
            </a:endParaRPr>
          </a:p>
        </p:txBody>
      </p:sp>
      <p:sp>
        <p:nvSpPr>
          <p:cNvPr id="3" name="Text Placeholder 2">
            <a:extLst>
              <a:ext uri="{FF2B5EF4-FFF2-40B4-BE49-F238E27FC236}">
                <a16:creationId xmlns:a16="http://schemas.microsoft.com/office/drawing/2014/main" id="{77D537CD-F344-9285-D1DE-69928DF5BEA5}"/>
              </a:ext>
            </a:extLst>
          </p:cNvPr>
          <p:cNvSpPr txBox="1">
            <a:spLocks/>
          </p:cNvSpPr>
          <p:nvPr/>
        </p:nvSpPr>
        <p:spPr>
          <a:xfrm>
            <a:off x="1016000" y="1355339"/>
            <a:ext cx="6184900" cy="55879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34155"/>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None/>
            </a:pPr>
            <a:r>
              <a:rPr lang="en-US" sz="3200" b="1" spc="400" dirty="0">
                <a:solidFill>
                  <a:srgbClr val="22D3EE"/>
                </a:solidFill>
              </a:rPr>
              <a:t>TALK TO YOUR DATA</a:t>
            </a:r>
          </a:p>
        </p:txBody>
      </p:sp>
      <p:sp>
        <p:nvSpPr>
          <p:cNvPr id="4" name="AccentBar">
            <a:extLst>
              <a:ext uri="{FF2B5EF4-FFF2-40B4-BE49-F238E27FC236}">
                <a16:creationId xmlns:a16="http://schemas.microsoft.com/office/drawing/2014/main" id="{8160ADC7-A2E8-EA22-303B-688EC857D850}"/>
              </a:ext>
            </a:extLst>
          </p:cNvPr>
          <p:cNvSpPr/>
          <p:nvPr/>
        </p:nvSpPr>
        <p:spPr>
          <a:xfrm>
            <a:off x="1016000" y="1269999"/>
            <a:ext cx="5442945" cy="85340"/>
          </a:xfrm>
          <a:prstGeom prst="rect">
            <a:avLst/>
          </a:prstGeom>
          <a:solidFill>
            <a:srgbClr val="22D3EE"/>
          </a:solidFill>
          <a:ln>
            <a:noFill/>
          </a:ln>
        </p:spPr>
        <p:txBody>
          <a:bodyPr/>
          <a:lstStyle/>
          <a:p>
            <a:endParaRPr lang="en-US" dirty="0"/>
          </a:p>
        </p:txBody>
      </p:sp>
      <p:grpSp>
        <p:nvGrpSpPr>
          <p:cNvPr id="8" name="Group 7">
            <a:extLst>
              <a:ext uri="{FF2B5EF4-FFF2-40B4-BE49-F238E27FC236}">
                <a16:creationId xmlns:a16="http://schemas.microsoft.com/office/drawing/2014/main" id="{9CA86898-2F04-314A-AD0D-C467D9C91776}"/>
              </a:ext>
            </a:extLst>
          </p:cNvPr>
          <p:cNvGrpSpPr/>
          <p:nvPr/>
        </p:nvGrpSpPr>
        <p:grpSpPr>
          <a:xfrm>
            <a:off x="1051010" y="4349088"/>
            <a:ext cx="1679521" cy="457200"/>
            <a:chOff x="6898983" y="1781651"/>
            <a:chExt cx="1493545" cy="457200"/>
          </a:xfrm>
        </p:grpSpPr>
        <p:sp>
          <p:nvSpPr>
            <p:cNvPr id="6" name="LiveBadge">
              <a:extLst>
                <a:ext uri="{FF2B5EF4-FFF2-40B4-BE49-F238E27FC236}">
                  <a16:creationId xmlns:a16="http://schemas.microsoft.com/office/drawing/2014/main" id="{0F7942F8-37EE-BE0E-CF0A-AFDCE5AED565}"/>
                </a:ext>
              </a:extLst>
            </p:cNvPr>
            <p:cNvSpPr/>
            <p:nvPr/>
          </p:nvSpPr>
          <p:spPr>
            <a:xfrm>
              <a:off x="6898983" y="1781651"/>
              <a:ext cx="1493545" cy="457200"/>
            </a:xfrm>
            <a:prstGeom prst="roundRect">
              <a:avLst>
                <a:gd name="adj" fmla="val 50000"/>
              </a:avLst>
            </a:prstGeom>
            <a:solidFill>
              <a:srgbClr val="F43F5E"/>
            </a:solidFill>
            <a:ln>
              <a:noFill/>
            </a:ln>
          </p:spPr>
          <p:txBody>
            <a:bodyPr wrap="square" lIns="91440" tIns="0" rIns="91440" bIns="0" anchor="ctr"/>
            <a:lstStyle/>
            <a:p>
              <a:pPr algn="r"/>
              <a:r>
                <a:rPr lang="en-US" b="1" spc="300" dirty="0">
                  <a:solidFill>
                    <a:srgbClr val="FFFFFF"/>
                  </a:solidFill>
                </a:rPr>
                <a:t>     LIVE</a:t>
              </a:r>
            </a:p>
          </p:txBody>
        </p:sp>
        <p:pic>
          <p:nvPicPr>
            <p:cNvPr id="7" name="Graphic 6" descr="Presentation with media with solid fill">
              <a:extLst>
                <a:ext uri="{FF2B5EF4-FFF2-40B4-BE49-F238E27FC236}">
                  <a16:creationId xmlns:a16="http://schemas.microsoft.com/office/drawing/2014/main" id="{44BF11B1-A87D-0E81-4EF5-B50F0A9C05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37470" y="1831590"/>
              <a:ext cx="394735" cy="394735"/>
            </a:xfrm>
            <a:prstGeom prst="rect">
              <a:avLst/>
            </a:prstGeom>
          </p:spPr>
        </p:pic>
      </p:grpSp>
      <p:sp>
        <p:nvSpPr>
          <p:cNvPr id="9" name="TextBox 8">
            <a:extLst>
              <a:ext uri="{FF2B5EF4-FFF2-40B4-BE49-F238E27FC236}">
                <a16:creationId xmlns:a16="http://schemas.microsoft.com/office/drawing/2014/main" id="{66C9AF8B-02B6-3AA4-180D-80CA0C8A3804}"/>
              </a:ext>
            </a:extLst>
          </p:cNvPr>
          <p:cNvSpPr txBox="1"/>
          <p:nvPr/>
        </p:nvSpPr>
        <p:spPr>
          <a:xfrm>
            <a:off x="11327722" y="1072510"/>
            <a:ext cx="400110" cy="4269698"/>
          </a:xfrm>
          <a:prstGeom prst="rect">
            <a:avLst/>
          </a:prstGeom>
          <a:noFill/>
        </p:spPr>
        <p:txBody>
          <a:bodyPr vert="vert" wrap="square">
            <a:spAutoFit/>
          </a:bodyPr>
          <a:lstStyle/>
          <a:p>
            <a:pPr algn="ctr"/>
            <a:r>
              <a:rPr lang="en-US" sz="1400" dirty="0">
                <a:solidFill>
                  <a:schemeClr val="bg1"/>
                </a:solidFill>
              </a:rPr>
              <a:t>this’s what you'd actually ship to business users</a:t>
            </a:r>
          </a:p>
        </p:txBody>
      </p:sp>
    </p:spTree>
    <p:extLst>
      <p:ext uri="{BB962C8B-B14F-4D97-AF65-F5344CB8AC3E}">
        <p14:creationId xmlns:p14="http://schemas.microsoft.com/office/powerpoint/2010/main" val="24130015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1DA7E-317D-1151-40A8-0BFF0DA66D28}"/>
              </a:ext>
            </a:extLst>
          </p:cNvPr>
          <p:cNvSpPr>
            <a:spLocks noGrp="1"/>
          </p:cNvSpPr>
          <p:nvPr>
            <p:ph type="title"/>
          </p:nvPr>
        </p:nvSpPr>
        <p:spPr>
          <a:xfrm>
            <a:off x="647700" y="353218"/>
            <a:ext cx="10909300" cy="1325563"/>
          </a:xfrm>
        </p:spPr>
        <p:txBody>
          <a:bodyPr>
            <a:normAutofit fontScale="90000"/>
          </a:bodyPr>
          <a:lstStyle/>
          <a:p>
            <a:r>
              <a:rPr lang="en-US" sz="4800" b="1" dirty="0">
                <a:solidFill>
                  <a:srgbClr val="0F172A"/>
                </a:solidFill>
              </a:rPr>
              <a:t>Same Backend, </a:t>
            </a:r>
            <a:r>
              <a:rPr lang="en-US" sz="4800" dirty="0">
                <a:solidFill>
                  <a:srgbClr val="0F172A"/>
                </a:solidFill>
              </a:rPr>
              <a:t>Closer to a </a:t>
            </a:r>
            <a:r>
              <a:rPr lang="en-US" sz="4800" b="1" dirty="0"/>
              <a:t>Real Product</a:t>
            </a:r>
            <a:endParaRPr lang="en-US" sz="4800" b="1" dirty="0">
              <a:solidFill>
                <a:srgbClr val="0F172A"/>
              </a:solidFill>
            </a:endParaRPr>
          </a:p>
        </p:txBody>
      </p:sp>
      <p:sp>
        <p:nvSpPr>
          <p:cNvPr id="1100" name="F"/>
          <p:cNvSpPr/>
          <p:nvPr/>
        </p:nvSpPr>
        <p:spPr>
          <a:xfrm>
            <a:off x="635000" y="1778000"/>
            <a:ext cx="2540000" cy="2159000"/>
          </a:xfrm>
          <a:prstGeom prst="roundRect">
            <a:avLst>
              <a:gd name="adj" fmla="val 6000"/>
            </a:avLst>
          </a:prstGeom>
          <a:solidFill>
            <a:srgbClr val="FFFFFF"/>
          </a:solidFill>
          <a:ln w="12700">
            <a:solidFill>
              <a:srgbClr val="E2E8F0"/>
            </a:solidFill>
          </a:ln>
        </p:spPr>
        <p:txBody>
          <a:bodyPr wrap="square" lIns="180000" tIns="220000" rIns="180000" bIns="180000" anchor="t"/>
          <a:lstStyle/>
          <a:p>
            <a:pPr algn="l"/>
            <a:r>
              <a:rPr lang="en-US" sz="4800" b="1" dirty="0">
                <a:solidFill>
                  <a:srgbClr val="F43F5E"/>
                </a:solidFill>
              </a:rPr>
              <a:t>🎤</a:t>
            </a:r>
          </a:p>
          <a:p>
            <a:pPr algn="l">
              <a:spcBef>
                <a:spcPts val="600"/>
              </a:spcBef>
            </a:pPr>
            <a:r>
              <a:rPr lang="en-US" sz="2800" b="1" dirty="0">
                <a:solidFill>
                  <a:srgbClr val="0F172A"/>
                </a:solidFill>
              </a:rPr>
              <a:t>Voice input</a:t>
            </a:r>
          </a:p>
          <a:p>
            <a:pPr algn="l">
              <a:spcBef>
                <a:spcPts val="300"/>
              </a:spcBef>
            </a:pPr>
            <a:r>
              <a:rPr lang="en-US" sz="2000" dirty="0">
                <a:solidFill>
                  <a:srgbClr val="64748B"/>
                </a:solidFill>
              </a:rPr>
              <a:t>Talk to your data</a:t>
            </a:r>
          </a:p>
        </p:txBody>
      </p:sp>
      <p:sp>
        <p:nvSpPr>
          <p:cNvPr id="1101" name="F"/>
          <p:cNvSpPr/>
          <p:nvPr/>
        </p:nvSpPr>
        <p:spPr>
          <a:xfrm>
            <a:off x="3365499" y="1778000"/>
            <a:ext cx="2540001" cy="2159000"/>
          </a:xfrm>
          <a:prstGeom prst="roundRect">
            <a:avLst>
              <a:gd name="adj" fmla="val 6000"/>
            </a:avLst>
          </a:prstGeom>
          <a:solidFill>
            <a:srgbClr val="FFFFFF"/>
          </a:solidFill>
          <a:ln w="12700">
            <a:solidFill>
              <a:srgbClr val="E2E8F0"/>
            </a:solidFill>
          </a:ln>
        </p:spPr>
        <p:txBody>
          <a:bodyPr wrap="square" lIns="180000" tIns="220000" rIns="180000" bIns="180000" anchor="t"/>
          <a:lstStyle/>
          <a:p>
            <a:pPr algn="l"/>
            <a:r>
              <a:rPr lang="en-US" sz="4400" b="1" dirty="0">
                <a:solidFill>
                  <a:srgbClr val="22D3EE"/>
                </a:solidFill>
              </a:rPr>
              <a:t>⚡</a:t>
            </a:r>
          </a:p>
          <a:p>
            <a:pPr algn="l">
              <a:spcBef>
                <a:spcPts val="600"/>
              </a:spcBef>
            </a:pPr>
            <a:r>
              <a:rPr lang="en-US" sz="2800" b="1" dirty="0">
                <a:solidFill>
                  <a:srgbClr val="0F172A"/>
                </a:solidFill>
              </a:rPr>
              <a:t>Live query</a:t>
            </a:r>
          </a:p>
          <a:p>
            <a:pPr algn="l">
              <a:spcBef>
                <a:spcPts val="300"/>
              </a:spcBef>
            </a:pPr>
            <a:r>
              <a:rPr lang="en-US" sz="2000" dirty="0">
                <a:solidFill>
                  <a:srgbClr val="64748B"/>
                </a:solidFill>
              </a:rPr>
              <a:t>Real-time to SQL</a:t>
            </a:r>
          </a:p>
        </p:txBody>
      </p:sp>
      <p:sp>
        <p:nvSpPr>
          <p:cNvPr id="1102" name="F"/>
          <p:cNvSpPr/>
          <p:nvPr/>
        </p:nvSpPr>
        <p:spPr>
          <a:xfrm>
            <a:off x="6096000" y="1778000"/>
            <a:ext cx="2540000" cy="2159000"/>
          </a:xfrm>
          <a:prstGeom prst="roundRect">
            <a:avLst>
              <a:gd name="adj" fmla="val 6000"/>
            </a:avLst>
          </a:prstGeom>
          <a:solidFill>
            <a:srgbClr val="FFFFFF"/>
          </a:solidFill>
          <a:ln w="12700">
            <a:solidFill>
              <a:srgbClr val="E2E8F0"/>
            </a:solidFill>
          </a:ln>
        </p:spPr>
        <p:txBody>
          <a:bodyPr wrap="square" lIns="180000" tIns="220000" rIns="180000" bIns="180000" anchor="t"/>
          <a:lstStyle/>
          <a:p>
            <a:pPr algn="l"/>
            <a:r>
              <a:rPr lang="en-US" sz="4800" b="1" dirty="0">
                <a:solidFill>
                  <a:srgbClr val="6366F1"/>
                </a:solidFill>
              </a:rPr>
              <a:t>📊</a:t>
            </a:r>
          </a:p>
          <a:p>
            <a:pPr algn="l">
              <a:spcBef>
                <a:spcPts val="600"/>
              </a:spcBef>
            </a:pPr>
            <a:r>
              <a:rPr lang="en-US" sz="2800" b="1" dirty="0">
                <a:solidFill>
                  <a:srgbClr val="0F172A"/>
                </a:solidFill>
              </a:rPr>
              <a:t>Charts</a:t>
            </a:r>
          </a:p>
          <a:p>
            <a:pPr algn="l">
              <a:spcBef>
                <a:spcPts val="300"/>
              </a:spcBef>
            </a:pPr>
            <a:r>
              <a:rPr lang="en-US" sz="2000" dirty="0">
                <a:solidFill>
                  <a:srgbClr val="64748B"/>
                </a:solidFill>
              </a:rPr>
              <a:t>Visualize results</a:t>
            </a:r>
          </a:p>
        </p:txBody>
      </p:sp>
      <p:sp>
        <p:nvSpPr>
          <p:cNvPr id="1103" name="F"/>
          <p:cNvSpPr/>
          <p:nvPr/>
        </p:nvSpPr>
        <p:spPr>
          <a:xfrm>
            <a:off x="8826500" y="1778000"/>
            <a:ext cx="2730500" cy="2159000"/>
          </a:xfrm>
          <a:prstGeom prst="roundRect">
            <a:avLst>
              <a:gd name="adj" fmla="val 6000"/>
            </a:avLst>
          </a:prstGeom>
          <a:solidFill>
            <a:srgbClr val="FFFFFF"/>
          </a:solidFill>
          <a:ln w="12700">
            <a:solidFill>
              <a:srgbClr val="E2E8F0"/>
            </a:solidFill>
          </a:ln>
        </p:spPr>
        <p:txBody>
          <a:bodyPr wrap="square" lIns="180000" tIns="220000" rIns="180000" bIns="180000" anchor="t"/>
          <a:lstStyle/>
          <a:p>
            <a:pPr algn="l"/>
            <a:r>
              <a:rPr lang="en-US" sz="4800" b="1" dirty="0">
                <a:solidFill>
                  <a:srgbClr val="10B981"/>
                </a:solidFill>
              </a:rPr>
              <a:t>📄</a:t>
            </a:r>
          </a:p>
          <a:p>
            <a:pPr algn="l">
              <a:spcBef>
                <a:spcPts val="600"/>
              </a:spcBef>
            </a:pPr>
            <a:r>
              <a:rPr lang="en-US" sz="2800" b="1" dirty="0">
                <a:solidFill>
                  <a:srgbClr val="0F172A"/>
                </a:solidFill>
              </a:rPr>
              <a:t>Excel</a:t>
            </a:r>
          </a:p>
          <a:p>
            <a:pPr algn="l">
              <a:spcBef>
                <a:spcPts val="300"/>
              </a:spcBef>
            </a:pPr>
            <a:r>
              <a:rPr lang="en-US" sz="2000" dirty="0">
                <a:solidFill>
                  <a:srgbClr val="64748B"/>
                </a:solidFill>
              </a:rPr>
              <a:t>One click to report</a:t>
            </a:r>
          </a:p>
        </p:txBody>
      </p:sp>
      <p:sp>
        <p:nvSpPr>
          <p:cNvPr id="1110" name="Banner"/>
          <p:cNvSpPr/>
          <p:nvPr/>
        </p:nvSpPr>
        <p:spPr>
          <a:xfrm>
            <a:off x="635000" y="4318000"/>
            <a:ext cx="10731500" cy="1524000"/>
          </a:xfrm>
          <a:prstGeom prst="roundRect">
            <a:avLst>
              <a:gd name="adj" fmla="val 6000"/>
            </a:avLst>
          </a:prstGeom>
          <a:solidFill>
            <a:srgbClr val="0F172A"/>
          </a:solidFill>
          <a:ln>
            <a:noFill/>
          </a:ln>
        </p:spPr>
        <p:txBody>
          <a:bodyPr wrap="square" lIns="280000" tIns="200000" rIns="280000" bIns="200000" anchor="ctr"/>
          <a:lstStyle/>
          <a:p>
            <a:pPr algn="l"/>
            <a:r>
              <a:rPr lang="en-US" sz="1400" b="1" spc="300" dirty="0">
                <a:solidFill>
                  <a:srgbClr val="22D3EE"/>
                </a:solidFill>
              </a:rPr>
              <a:t>THE BACKEND DIDN'T CHANGE.</a:t>
            </a:r>
          </a:p>
          <a:p>
            <a:pPr algn="l">
              <a:spcBef>
                <a:spcPts val="400"/>
              </a:spcBef>
            </a:pPr>
            <a:r>
              <a:rPr lang="en-US" sz="2400" dirty="0">
                <a:solidFill>
                  <a:srgbClr val="FFFFFF"/>
                </a:solidFill>
              </a:rPr>
              <a:t>Blazor reuses the exact same module. </a:t>
            </a:r>
            <a:br>
              <a:rPr lang="en-US" sz="2400" dirty="0">
                <a:solidFill>
                  <a:srgbClr val="FFFFFF"/>
                </a:solidFill>
              </a:rPr>
            </a:br>
            <a:r>
              <a:rPr lang="en-US" sz="2400" dirty="0">
                <a:solidFill>
                  <a:srgbClr val="FFFFFF"/>
                </a:solidFill>
              </a:rPr>
              <a:t>The frontend is where </a:t>
            </a:r>
            <a:r>
              <a:rPr lang="en-US" sz="2400" i="1" dirty="0">
                <a:solidFill>
                  <a:srgbClr val="22D3EE"/>
                </a:solidFill>
              </a:rPr>
              <a:t>the product</a:t>
            </a:r>
            <a:r>
              <a:rPr lang="en-US" sz="2400" dirty="0">
                <a:solidFill>
                  <a:srgbClr val="FFFFFF"/>
                </a:solidFill>
              </a:rPr>
              <a:t> lives.</a:t>
            </a:r>
          </a:p>
        </p:txBody>
      </p:sp>
    </p:spTree>
    <p:extLst>
      <p:ext uri="{BB962C8B-B14F-4D97-AF65-F5344CB8AC3E}">
        <p14:creationId xmlns:p14="http://schemas.microsoft.com/office/powerpoint/2010/main" val="4276252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28FAF-AB4F-A00A-4E74-5574F01509F7}"/>
              </a:ext>
            </a:extLst>
          </p:cNvPr>
          <p:cNvSpPr>
            <a:spLocks noGrp="1"/>
          </p:cNvSpPr>
          <p:nvPr>
            <p:ph type="title"/>
          </p:nvPr>
        </p:nvSpPr>
        <p:spPr>
          <a:xfrm>
            <a:off x="635000" y="357434"/>
            <a:ext cx="10515600" cy="1325563"/>
          </a:xfrm>
        </p:spPr>
        <p:txBody>
          <a:bodyPr>
            <a:normAutofit/>
          </a:bodyPr>
          <a:lstStyle/>
          <a:p>
            <a:pPr algn="l"/>
            <a:r>
              <a:rPr lang="en-US" sz="4800" b="1" dirty="0">
                <a:solidFill>
                  <a:srgbClr val="0F172A"/>
                </a:solidFill>
              </a:rPr>
              <a:t>The LLM is 20% of the work. </a:t>
            </a:r>
          </a:p>
        </p:txBody>
      </p:sp>
      <p:sp>
        <p:nvSpPr>
          <p:cNvPr id="1300" name="P"/>
          <p:cNvSpPr/>
          <p:nvPr/>
        </p:nvSpPr>
        <p:spPr>
          <a:xfrm>
            <a:off x="635000" y="1778000"/>
            <a:ext cx="3492500" cy="3340265"/>
          </a:xfrm>
          <a:prstGeom prst="roundRect">
            <a:avLst>
              <a:gd name="adj" fmla="val 5000"/>
            </a:avLst>
          </a:prstGeom>
          <a:solidFill>
            <a:srgbClr val="FFFFFF"/>
          </a:solidFill>
          <a:ln w="12700">
            <a:solidFill>
              <a:srgbClr val="E2E8F0"/>
            </a:solidFill>
          </a:ln>
        </p:spPr>
        <p:txBody>
          <a:bodyPr wrap="square" lIns="220000" tIns="240000" rIns="220000" bIns="240000" anchor="t"/>
          <a:lstStyle/>
          <a:p>
            <a:pPr algn="l"/>
            <a:r>
              <a:rPr lang="en-US" b="1" spc="300" dirty="0">
                <a:solidFill>
                  <a:srgbClr val="22D3EE"/>
                </a:solidFill>
              </a:rPr>
              <a:t>01</a:t>
            </a:r>
          </a:p>
          <a:p>
            <a:pPr algn="l">
              <a:spcBef>
                <a:spcPts val="400"/>
              </a:spcBef>
            </a:pPr>
            <a:r>
              <a:rPr lang="en-US" sz="4400" b="1" dirty="0">
                <a:solidFill>
                  <a:srgbClr val="22D3EE"/>
                </a:solidFill>
              </a:rPr>
              <a:t>Simplicity</a:t>
            </a:r>
          </a:p>
          <a:p>
            <a:pPr algn="l">
              <a:spcBef>
                <a:spcPts val="600"/>
              </a:spcBef>
            </a:pPr>
            <a:r>
              <a:rPr lang="en-US" sz="2400" dirty="0">
                <a:solidFill>
                  <a:srgbClr val="475569"/>
                </a:solidFill>
              </a:rPr>
              <a:t>One input. One answer. Hide everything else until they ask.</a:t>
            </a:r>
          </a:p>
        </p:txBody>
      </p:sp>
      <p:sp>
        <p:nvSpPr>
          <p:cNvPr id="1301" name="P"/>
          <p:cNvSpPr/>
          <p:nvPr/>
        </p:nvSpPr>
        <p:spPr>
          <a:xfrm>
            <a:off x="4343400" y="1778000"/>
            <a:ext cx="3492500" cy="3340265"/>
          </a:xfrm>
          <a:prstGeom prst="roundRect">
            <a:avLst>
              <a:gd name="adj" fmla="val 5000"/>
            </a:avLst>
          </a:prstGeom>
          <a:solidFill>
            <a:srgbClr val="FFFFFF"/>
          </a:solidFill>
          <a:ln w="12700">
            <a:solidFill>
              <a:srgbClr val="E2E8F0"/>
            </a:solidFill>
          </a:ln>
        </p:spPr>
        <p:txBody>
          <a:bodyPr wrap="square" lIns="220000" tIns="240000" rIns="220000" bIns="240000" anchor="t"/>
          <a:lstStyle/>
          <a:p>
            <a:pPr algn="l"/>
            <a:r>
              <a:rPr lang="en-US" b="1" spc="300" dirty="0">
                <a:solidFill>
                  <a:srgbClr val="6366F1"/>
                </a:solidFill>
              </a:rPr>
              <a:t>02</a:t>
            </a:r>
          </a:p>
          <a:p>
            <a:pPr algn="l">
              <a:spcBef>
                <a:spcPts val="400"/>
              </a:spcBef>
            </a:pPr>
            <a:r>
              <a:rPr lang="en-US" sz="4400" b="1" dirty="0">
                <a:solidFill>
                  <a:srgbClr val="6366F1"/>
                </a:solidFill>
              </a:rPr>
              <a:t>Speed</a:t>
            </a:r>
          </a:p>
          <a:p>
            <a:pPr algn="l">
              <a:spcBef>
                <a:spcPts val="600"/>
              </a:spcBef>
            </a:pPr>
            <a:r>
              <a:rPr lang="en-US" sz="2400" dirty="0">
                <a:solidFill>
                  <a:srgbClr val="475569"/>
                </a:solidFill>
              </a:rPr>
              <a:t>Stream the SQL. Stream the result. No spinners over 2 seconds.</a:t>
            </a:r>
          </a:p>
        </p:txBody>
      </p:sp>
      <p:sp>
        <p:nvSpPr>
          <p:cNvPr id="1302" name="P"/>
          <p:cNvSpPr/>
          <p:nvPr/>
        </p:nvSpPr>
        <p:spPr>
          <a:xfrm>
            <a:off x="8051800" y="1778000"/>
            <a:ext cx="3492500" cy="3340265"/>
          </a:xfrm>
          <a:prstGeom prst="roundRect">
            <a:avLst>
              <a:gd name="adj" fmla="val 5000"/>
            </a:avLst>
          </a:prstGeom>
          <a:solidFill>
            <a:srgbClr val="FFFFFF"/>
          </a:solidFill>
          <a:ln w="12700">
            <a:solidFill>
              <a:srgbClr val="E2E8F0"/>
            </a:solidFill>
          </a:ln>
        </p:spPr>
        <p:txBody>
          <a:bodyPr wrap="square" lIns="220000" tIns="240000" rIns="220000" bIns="240000" anchor="t"/>
          <a:lstStyle/>
          <a:p>
            <a:pPr algn="l"/>
            <a:r>
              <a:rPr lang="en-US" b="1" spc="300" dirty="0">
                <a:solidFill>
                  <a:srgbClr val="F43F5E"/>
                </a:solidFill>
              </a:rPr>
              <a:t>03</a:t>
            </a:r>
          </a:p>
          <a:p>
            <a:pPr algn="l">
              <a:spcBef>
                <a:spcPts val="400"/>
              </a:spcBef>
            </a:pPr>
            <a:r>
              <a:rPr lang="en-US" sz="4400" b="1" dirty="0">
                <a:solidFill>
                  <a:srgbClr val="F43F5E"/>
                </a:solidFill>
              </a:rPr>
              <a:t>Trust</a:t>
            </a:r>
          </a:p>
          <a:p>
            <a:pPr algn="l">
              <a:spcBef>
                <a:spcPts val="600"/>
              </a:spcBef>
            </a:pPr>
            <a:r>
              <a:rPr lang="en-US" sz="2400" dirty="0">
                <a:solidFill>
                  <a:srgbClr val="475569"/>
                </a:solidFill>
              </a:rPr>
              <a:t>Always show the SQL. Let users verify before they believe. And save</a:t>
            </a:r>
          </a:p>
        </p:txBody>
      </p:sp>
      <p:sp>
        <p:nvSpPr>
          <p:cNvPr id="1310" name="BQ"/>
          <p:cNvSpPr/>
          <p:nvPr/>
        </p:nvSpPr>
        <p:spPr>
          <a:xfrm>
            <a:off x="635000" y="5308270"/>
            <a:ext cx="10922000" cy="927430"/>
          </a:xfrm>
          <a:prstGeom prst="roundRect">
            <a:avLst>
              <a:gd name="adj" fmla="val 50000"/>
            </a:avLst>
          </a:prstGeom>
          <a:solidFill>
            <a:srgbClr val="F1F5F9"/>
          </a:solidFill>
          <a:ln>
            <a:noFill/>
          </a:ln>
        </p:spPr>
        <p:txBody>
          <a:bodyPr wrap="square" lIns="180000" tIns="0" rIns="180000" bIns="0" anchor="ctr"/>
          <a:lstStyle/>
          <a:p>
            <a:pPr algn="ctr"/>
            <a:r>
              <a:rPr lang="en-US" sz="2400" dirty="0">
                <a:solidFill>
                  <a:srgbClr val="475569"/>
                </a:solidFill>
              </a:rPr>
              <a:t>The LLM 20% of the work. </a:t>
            </a:r>
            <a:br>
              <a:rPr lang="en-US" sz="2400" dirty="0">
                <a:solidFill>
                  <a:srgbClr val="475569"/>
                </a:solidFill>
              </a:rPr>
            </a:br>
            <a:r>
              <a:rPr lang="en-US" sz="2400" dirty="0">
                <a:solidFill>
                  <a:srgbClr val="475569"/>
                </a:solidFill>
              </a:rPr>
              <a:t>The rest is just connecting the pieces.</a:t>
            </a:r>
          </a:p>
        </p:txBody>
      </p:sp>
    </p:spTree>
    <p:extLst>
      <p:ext uri="{BB962C8B-B14F-4D97-AF65-F5344CB8AC3E}">
        <p14:creationId xmlns:p14="http://schemas.microsoft.com/office/powerpoint/2010/main" val="2802800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FFD1-30E3-F282-65BE-DD43E9D8BD6A}"/>
              </a:ext>
            </a:extLst>
          </p:cNvPr>
          <p:cNvSpPr>
            <a:spLocks noGrp="1"/>
          </p:cNvSpPr>
          <p:nvPr>
            <p:ph type="title"/>
          </p:nvPr>
        </p:nvSpPr>
        <p:spPr>
          <a:xfrm>
            <a:off x="412955" y="325437"/>
            <a:ext cx="10515600" cy="1325563"/>
          </a:xfrm>
        </p:spPr>
        <p:txBody>
          <a:bodyPr>
            <a:normAutofit/>
          </a:bodyPr>
          <a:lstStyle/>
          <a:p>
            <a:pPr algn="l"/>
            <a:r>
              <a:rPr lang="en-US" sz="4800" b="1" dirty="0">
                <a:solidFill>
                  <a:srgbClr val="0F172A"/>
                </a:solidFill>
              </a:rPr>
              <a:t>Where This Fits in the Real World</a:t>
            </a:r>
          </a:p>
        </p:txBody>
      </p:sp>
      <p:sp>
        <p:nvSpPr>
          <p:cNvPr id="1400" name="U"/>
          <p:cNvSpPr/>
          <p:nvPr/>
        </p:nvSpPr>
        <p:spPr>
          <a:xfrm>
            <a:off x="412955" y="1853554"/>
            <a:ext cx="3749475"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600" b="1" dirty="0">
                <a:solidFill>
                  <a:srgbClr val="22D3EE"/>
                </a:solidFill>
              </a:rPr>
              <a:t>▣ </a:t>
            </a:r>
            <a:r>
              <a:rPr lang="en-US" sz="2400" b="1" dirty="0">
                <a:solidFill>
                  <a:srgbClr val="0F172A"/>
                </a:solidFill>
              </a:rPr>
              <a:t>Admin dashboards</a:t>
            </a:r>
          </a:p>
          <a:p>
            <a:pPr algn="l">
              <a:spcBef>
                <a:spcPts val="500"/>
              </a:spcBef>
            </a:pPr>
            <a:r>
              <a:rPr lang="en-US" i="1" dirty="0">
                <a:solidFill>
                  <a:srgbClr val="64748B"/>
                </a:solidFill>
              </a:rPr>
              <a:t>"How many new users last week?"</a:t>
            </a:r>
          </a:p>
        </p:txBody>
      </p:sp>
      <p:sp>
        <p:nvSpPr>
          <p:cNvPr id="1401" name="U"/>
          <p:cNvSpPr/>
          <p:nvPr/>
        </p:nvSpPr>
        <p:spPr>
          <a:xfrm>
            <a:off x="4236525" y="1853554"/>
            <a:ext cx="3600000"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600" b="1" dirty="0">
                <a:solidFill>
                  <a:srgbClr val="6366F1"/>
                </a:solidFill>
              </a:rPr>
              <a:t>◉ </a:t>
            </a:r>
            <a:r>
              <a:rPr lang="en-US" sz="2400" b="1" dirty="0">
                <a:solidFill>
                  <a:srgbClr val="0F172A"/>
                </a:solidFill>
              </a:rPr>
              <a:t>Internal tools</a:t>
            </a:r>
          </a:p>
          <a:p>
            <a:pPr algn="l">
              <a:spcBef>
                <a:spcPts val="500"/>
              </a:spcBef>
            </a:pPr>
            <a:r>
              <a:rPr lang="en-US" i="1" dirty="0">
                <a:solidFill>
                  <a:srgbClr val="64748B"/>
                </a:solidFill>
              </a:rPr>
              <a:t>"Failed orders from the EU region."</a:t>
            </a:r>
          </a:p>
        </p:txBody>
      </p:sp>
      <p:sp>
        <p:nvSpPr>
          <p:cNvPr id="1402" name="U"/>
          <p:cNvSpPr/>
          <p:nvPr/>
        </p:nvSpPr>
        <p:spPr>
          <a:xfrm>
            <a:off x="7910620" y="1853554"/>
            <a:ext cx="3600000"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600" b="1" dirty="0">
                <a:solidFill>
                  <a:srgbClr val="10B981"/>
                </a:solidFill>
              </a:rPr>
              <a:t>⚡</a:t>
            </a:r>
            <a:r>
              <a:rPr lang="en-US" sz="2400" b="1" dirty="0">
                <a:solidFill>
                  <a:srgbClr val="0F172A"/>
                </a:solidFill>
              </a:rPr>
              <a:t>Support &amp; ops</a:t>
            </a:r>
          </a:p>
          <a:p>
            <a:pPr algn="l">
              <a:spcBef>
                <a:spcPts val="500"/>
              </a:spcBef>
            </a:pPr>
            <a:r>
              <a:rPr lang="en-US" i="1" dirty="0">
                <a:solidFill>
                  <a:srgbClr val="64748B"/>
                </a:solidFill>
              </a:rPr>
              <a:t>"Customers who churned in March."</a:t>
            </a:r>
          </a:p>
        </p:txBody>
      </p:sp>
      <p:sp>
        <p:nvSpPr>
          <p:cNvPr id="1403" name="U"/>
          <p:cNvSpPr/>
          <p:nvPr/>
        </p:nvSpPr>
        <p:spPr>
          <a:xfrm>
            <a:off x="412955" y="4000108"/>
            <a:ext cx="3749475"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600" b="1" dirty="0">
                <a:solidFill>
                  <a:srgbClr val="F43F5E"/>
                </a:solidFill>
              </a:rPr>
              <a:t>📊</a:t>
            </a:r>
            <a:r>
              <a:rPr lang="en-US" sz="2400" b="1" dirty="0">
                <a:solidFill>
                  <a:srgbClr val="0F172A"/>
                </a:solidFill>
              </a:rPr>
              <a:t>Exec reporting</a:t>
            </a:r>
          </a:p>
          <a:p>
            <a:pPr algn="l">
              <a:spcBef>
                <a:spcPts val="500"/>
              </a:spcBef>
            </a:pPr>
            <a:r>
              <a:rPr lang="en-US" i="1" dirty="0">
                <a:solidFill>
                  <a:srgbClr val="64748B"/>
                </a:solidFill>
              </a:rPr>
              <a:t>"Revenue by product, last 4 quarters."</a:t>
            </a:r>
          </a:p>
        </p:txBody>
      </p:sp>
      <p:sp>
        <p:nvSpPr>
          <p:cNvPr id="1404" name="U"/>
          <p:cNvSpPr/>
          <p:nvPr/>
        </p:nvSpPr>
        <p:spPr>
          <a:xfrm>
            <a:off x="4236525" y="4000108"/>
            <a:ext cx="3600000"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200" b="1" dirty="0">
                <a:solidFill>
                  <a:srgbClr val="F59E0B"/>
                </a:solidFill>
              </a:rPr>
              <a:t>🔍 </a:t>
            </a:r>
            <a:r>
              <a:rPr lang="en-US" sz="2400" b="1" dirty="0">
                <a:solidFill>
                  <a:srgbClr val="0F172A"/>
                </a:solidFill>
              </a:rPr>
              <a:t>Ad-hoc analysis</a:t>
            </a:r>
          </a:p>
          <a:p>
            <a:pPr algn="l">
              <a:spcBef>
                <a:spcPts val="500"/>
              </a:spcBef>
            </a:pPr>
            <a:r>
              <a:rPr lang="en-US" i="1" dirty="0">
                <a:solidFill>
                  <a:srgbClr val="64748B"/>
                </a:solidFill>
              </a:rPr>
              <a:t>"Orders over $1k with no shipment."</a:t>
            </a:r>
          </a:p>
        </p:txBody>
      </p:sp>
      <p:sp>
        <p:nvSpPr>
          <p:cNvPr id="1405" name="U"/>
          <p:cNvSpPr/>
          <p:nvPr/>
        </p:nvSpPr>
        <p:spPr>
          <a:xfrm>
            <a:off x="7910620" y="4000108"/>
            <a:ext cx="3600000" cy="1944000"/>
          </a:xfrm>
          <a:prstGeom prst="roundRect">
            <a:avLst>
              <a:gd name="adj" fmla="val 6000"/>
            </a:avLst>
          </a:prstGeom>
          <a:solidFill>
            <a:srgbClr val="FFFFFF"/>
          </a:solidFill>
          <a:ln w="12700">
            <a:solidFill>
              <a:srgbClr val="E2E8F0"/>
            </a:solidFill>
          </a:ln>
        </p:spPr>
        <p:txBody>
          <a:bodyPr wrap="square" lIns="180000" tIns="160000" rIns="180000" bIns="160000" anchor="t"/>
          <a:lstStyle/>
          <a:p>
            <a:pPr algn="l"/>
            <a:r>
              <a:rPr lang="en-US" sz="3600" b="1" dirty="0">
                <a:solidFill>
                  <a:srgbClr val="A78BFA"/>
                </a:solidFill>
              </a:rPr>
              <a:t>📈</a:t>
            </a:r>
            <a:r>
              <a:rPr lang="en-US" sz="2400" b="1" dirty="0">
                <a:solidFill>
                  <a:srgbClr val="0F172A"/>
                </a:solidFill>
              </a:rPr>
              <a:t>Self-serve BI</a:t>
            </a:r>
          </a:p>
          <a:p>
            <a:pPr algn="l">
              <a:spcBef>
                <a:spcPts val="500"/>
              </a:spcBef>
            </a:pPr>
            <a:r>
              <a:rPr lang="en-US" i="1" dirty="0">
                <a:solidFill>
                  <a:srgbClr val="64748B"/>
                </a:solidFill>
              </a:rPr>
              <a:t>"Top 20 SKUs by margin this year."</a:t>
            </a:r>
          </a:p>
        </p:txBody>
      </p:sp>
    </p:spTree>
    <p:extLst>
      <p:ext uri="{BB962C8B-B14F-4D97-AF65-F5344CB8AC3E}">
        <p14:creationId xmlns:p14="http://schemas.microsoft.com/office/powerpoint/2010/main" val="41931974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3E464-4A9F-3D02-3031-A210FB8E2C67}"/>
              </a:ext>
            </a:extLst>
          </p:cNvPr>
          <p:cNvSpPr>
            <a:spLocks noGrp="1"/>
          </p:cNvSpPr>
          <p:nvPr>
            <p:ph type="title"/>
          </p:nvPr>
        </p:nvSpPr>
        <p:spPr>
          <a:xfrm>
            <a:off x="486033" y="-12263"/>
            <a:ext cx="10515600" cy="1006003"/>
          </a:xfrm>
        </p:spPr>
        <p:txBody>
          <a:bodyPr>
            <a:normAutofit/>
          </a:bodyPr>
          <a:lstStyle/>
          <a:p>
            <a:r>
              <a:rPr lang="en-US" sz="4800" b="1" dirty="0"/>
              <a:t>Challenges</a:t>
            </a:r>
            <a:endParaRPr lang="en-US" sz="4800" b="1" dirty="0">
              <a:solidFill>
                <a:srgbClr val="0F172A"/>
              </a:solidFill>
            </a:endParaRPr>
          </a:p>
        </p:txBody>
      </p:sp>
      <p:sp>
        <p:nvSpPr>
          <p:cNvPr id="1500" name="Chal"/>
          <p:cNvSpPr/>
          <p:nvPr/>
        </p:nvSpPr>
        <p:spPr>
          <a:xfrm>
            <a:off x="486033" y="914400"/>
            <a:ext cx="11219934" cy="5303520"/>
          </a:xfrm>
          <a:prstGeom prst="roundRect">
            <a:avLst>
              <a:gd name="adj" fmla="val 6000"/>
            </a:avLst>
          </a:prstGeom>
          <a:solidFill>
            <a:srgbClr val="FEF2F2">
              <a:alpha val="30000"/>
            </a:srgbClr>
          </a:solidFill>
          <a:ln w="12700">
            <a:solidFill>
              <a:srgbClr val="FECDD3"/>
            </a:solidFill>
          </a:ln>
        </p:spPr>
        <p:txBody>
          <a:bodyPr wrap="square" lIns="240000" tIns="200000" rIns="240000" bIns="200000" anchor="ctr"/>
          <a:lstStyle/>
          <a:p>
            <a:pPr>
              <a:spcBef>
                <a:spcPts val="700"/>
              </a:spcBef>
            </a:pPr>
            <a:r>
              <a:rPr lang="en-US" sz="3200" b="1" dirty="0">
                <a:solidFill>
                  <a:schemeClr val="accent5">
                    <a:lumMod val="60000"/>
                    <a:lumOff val="40000"/>
                  </a:schemeClr>
                </a:solidFill>
              </a:rPr>
              <a:t>⚠ </a:t>
            </a:r>
            <a:r>
              <a:rPr lang="en-US" sz="3200" b="1" dirty="0">
                <a:solidFill>
                  <a:srgbClr val="0F172A"/>
                </a:solidFill>
              </a:rPr>
              <a:t>Multi-tenancy &amp; permissions </a:t>
            </a:r>
            <a:br>
              <a:rPr lang="en-US" sz="3400" b="1" dirty="0">
                <a:solidFill>
                  <a:srgbClr val="0F172A"/>
                </a:solidFill>
              </a:rPr>
            </a:br>
            <a:r>
              <a:rPr lang="en-US" sz="3400" b="1" dirty="0">
                <a:solidFill>
                  <a:srgbClr val="0F172A"/>
                </a:solidFill>
              </a:rPr>
              <a:t>      </a:t>
            </a:r>
            <a:r>
              <a:rPr lang="en-US" sz="2800" dirty="0">
                <a:solidFill>
                  <a:srgbClr val="64748B"/>
                </a:solidFill>
              </a:rPr>
              <a:t>Separate conn-string with roles, sub-</a:t>
            </a:r>
            <a:r>
              <a:rPr lang="en-US" sz="2800" dirty="0" err="1">
                <a:solidFill>
                  <a:srgbClr val="64748B"/>
                </a:solidFill>
              </a:rPr>
              <a:t>db</a:t>
            </a:r>
            <a:r>
              <a:rPr lang="en-US" sz="2800" dirty="0">
                <a:solidFill>
                  <a:srgbClr val="64748B"/>
                </a:solidFill>
              </a:rPr>
              <a:t>, views, </a:t>
            </a:r>
            <a:r>
              <a:rPr lang="en-US" sz="2800" dirty="0" err="1">
                <a:solidFill>
                  <a:srgbClr val="64748B"/>
                </a:solidFill>
              </a:rPr>
              <a:t>TenantId</a:t>
            </a:r>
            <a:endParaRPr lang="en-US" sz="2800" b="1" dirty="0">
              <a:solidFill>
                <a:srgbClr val="0F172A"/>
              </a:solidFill>
            </a:endParaRPr>
          </a:p>
          <a:p>
            <a:pPr>
              <a:spcBef>
                <a:spcPts val="400"/>
              </a:spcBef>
            </a:pPr>
            <a:r>
              <a:rPr lang="en-US" sz="3200" b="1" dirty="0">
                <a:solidFill>
                  <a:schemeClr val="accent5">
                    <a:lumMod val="60000"/>
                    <a:lumOff val="40000"/>
                  </a:schemeClr>
                </a:solidFill>
              </a:rPr>
              <a:t>⚠</a:t>
            </a:r>
            <a:r>
              <a:rPr lang="en-US" sz="3200" b="1" dirty="0"/>
              <a:t> </a:t>
            </a:r>
            <a:r>
              <a:rPr lang="en-US" sz="3200" b="1" dirty="0">
                <a:solidFill>
                  <a:srgbClr val="0F172A"/>
                </a:solidFill>
              </a:rPr>
              <a:t>Hallucination </a:t>
            </a:r>
            <a:br>
              <a:rPr lang="en-US" sz="3400" b="1" dirty="0">
                <a:solidFill>
                  <a:srgbClr val="0F172A"/>
                </a:solidFill>
              </a:rPr>
            </a:br>
            <a:r>
              <a:rPr lang="en-US" sz="2800" b="1" dirty="0">
                <a:solidFill>
                  <a:srgbClr val="0F172A"/>
                </a:solidFill>
              </a:rPr>
              <a:t>       </a:t>
            </a:r>
            <a:r>
              <a:rPr lang="en-US" sz="2800" dirty="0">
                <a:solidFill>
                  <a:srgbClr val="64748B"/>
                </a:solidFill>
              </a:rPr>
              <a:t>Only tables in the prompt ➡ all others via </a:t>
            </a:r>
            <a:r>
              <a:rPr lang="en-US" sz="2800" i="1" dirty="0">
                <a:solidFill>
                  <a:srgbClr val="64748B"/>
                </a:solidFill>
              </a:rPr>
              <a:t>MCP</a:t>
            </a:r>
            <a:endParaRPr lang="en-US" sz="2800" dirty="0">
              <a:solidFill>
                <a:srgbClr val="64748B"/>
              </a:solidFill>
            </a:endParaRPr>
          </a:p>
          <a:p>
            <a:pPr>
              <a:spcBef>
                <a:spcPts val="400"/>
              </a:spcBef>
            </a:pPr>
            <a:r>
              <a:rPr lang="en-US" sz="3200" b="1" dirty="0">
                <a:solidFill>
                  <a:schemeClr val="accent5">
                    <a:lumMod val="60000"/>
                    <a:lumOff val="40000"/>
                  </a:schemeClr>
                </a:solidFill>
              </a:rPr>
              <a:t>⚠</a:t>
            </a:r>
            <a:r>
              <a:rPr lang="en-US" sz="3200" b="1" dirty="0"/>
              <a:t> </a:t>
            </a:r>
            <a:r>
              <a:rPr lang="en-US" sz="3200" b="1" dirty="0">
                <a:solidFill>
                  <a:srgbClr val="0F172A"/>
                </a:solidFill>
              </a:rPr>
              <a:t>Ambiguous questions </a:t>
            </a:r>
            <a:br>
              <a:rPr lang="en-US" sz="3200" b="1" dirty="0">
                <a:solidFill>
                  <a:srgbClr val="0F172A"/>
                </a:solidFill>
              </a:rPr>
            </a:br>
            <a:r>
              <a:rPr lang="en-US" sz="3200" b="1" dirty="0">
                <a:solidFill>
                  <a:srgbClr val="0F172A"/>
                </a:solidFill>
              </a:rPr>
              <a:t>      </a:t>
            </a:r>
            <a:r>
              <a:rPr lang="en-US" sz="2800" dirty="0">
                <a:solidFill>
                  <a:srgbClr val="64748B"/>
                </a:solidFill>
              </a:rPr>
              <a:t>“best </a:t>
            </a:r>
            <a:r>
              <a:rPr lang="en-US" sz="2800" dirty="0" err="1">
                <a:solidFill>
                  <a:srgbClr val="64748B"/>
                </a:solidFill>
              </a:rPr>
              <a:t>month”,“good</a:t>
            </a:r>
            <a:r>
              <a:rPr lang="en-US" sz="2800" dirty="0">
                <a:solidFill>
                  <a:srgbClr val="64748B"/>
                </a:solidFill>
              </a:rPr>
              <a:t> song”</a:t>
            </a:r>
          </a:p>
          <a:p>
            <a:pPr>
              <a:spcBef>
                <a:spcPts val="400"/>
              </a:spcBef>
            </a:pPr>
            <a:r>
              <a:rPr lang="en-US" sz="3200" b="1" dirty="0">
                <a:solidFill>
                  <a:schemeClr val="accent5">
                    <a:lumMod val="60000"/>
                    <a:lumOff val="40000"/>
                  </a:schemeClr>
                </a:solidFill>
              </a:rPr>
              <a:t>⚠</a:t>
            </a:r>
            <a:r>
              <a:rPr lang="en-US" sz="3200" b="1" dirty="0"/>
              <a:t> </a:t>
            </a:r>
            <a:r>
              <a:rPr lang="en-US" sz="3200" b="1" dirty="0">
                <a:solidFill>
                  <a:srgbClr val="0F172A"/>
                </a:solidFill>
              </a:rPr>
              <a:t>Cost &amp; Latency</a:t>
            </a:r>
            <a:br>
              <a:rPr lang="en-US" sz="3400" b="1" dirty="0">
                <a:solidFill>
                  <a:srgbClr val="0F172A"/>
                </a:solidFill>
              </a:rPr>
            </a:br>
            <a:r>
              <a:rPr lang="en-US" sz="3400" b="1" dirty="0">
                <a:solidFill>
                  <a:srgbClr val="0F172A"/>
                </a:solidFill>
              </a:rPr>
              <a:t>     </a:t>
            </a:r>
            <a:r>
              <a:rPr lang="en-US" sz="2800" dirty="0">
                <a:solidFill>
                  <a:srgbClr val="64748B"/>
                </a:solidFill>
              </a:rPr>
              <a:t>Cache aggressively</a:t>
            </a:r>
          </a:p>
          <a:p>
            <a:pPr>
              <a:spcBef>
                <a:spcPts val="400"/>
              </a:spcBef>
            </a:pPr>
            <a:r>
              <a:rPr lang="en-US" sz="3200" b="1" dirty="0">
                <a:solidFill>
                  <a:schemeClr val="accent5">
                    <a:lumMod val="60000"/>
                    <a:lumOff val="40000"/>
                  </a:schemeClr>
                </a:solidFill>
              </a:rPr>
              <a:t>⚠</a:t>
            </a:r>
            <a:r>
              <a:rPr lang="en-US" sz="3200" b="1" dirty="0"/>
              <a:t> </a:t>
            </a:r>
            <a:r>
              <a:rPr lang="en-US" sz="3200" b="1" dirty="0">
                <a:solidFill>
                  <a:srgbClr val="0F172A"/>
                </a:solidFill>
              </a:rPr>
              <a:t>Privacy concerns </a:t>
            </a:r>
            <a:br>
              <a:rPr lang="en-US" sz="3400" b="1" dirty="0">
                <a:solidFill>
                  <a:srgbClr val="0F172A"/>
                </a:solidFill>
              </a:rPr>
            </a:br>
            <a:r>
              <a:rPr lang="en-US" sz="2800" b="1" dirty="0">
                <a:solidFill>
                  <a:srgbClr val="64748B"/>
                </a:solidFill>
              </a:rPr>
              <a:t>      </a:t>
            </a:r>
            <a:r>
              <a:rPr lang="en-US" sz="2800" dirty="0">
                <a:solidFill>
                  <a:srgbClr val="64748B"/>
                </a:solidFill>
              </a:rPr>
              <a:t>Only schema or </a:t>
            </a:r>
            <a:r>
              <a:rPr lang="en-US" sz="2800" dirty="0" err="1">
                <a:solidFill>
                  <a:srgbClr val="64748B"/>
                </a:solidFill>
              </a:rPr>
              <a:t>Ollama</a:t>
            </a:r>
            <a:endParaRPr lang="en-US" sz="2800" dirty="0">
              <a:solidFill>
                <a:srgbClr val="64748B"/>
              </a:solidFill>
            </a:endParaRPr>
          </a:p>
        </p:txBody>
      </p:sp>
    </p:spTree>
    <p:extLst>
      <p:ext uri="{BB962C8B-B14F-4D97-AF65-F5344CB8AC3E}">
        <p14:creationId xmlns:p14="http://schemas.microsoft.com/office/powerpoint/2010/main" val="33490615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1FFA-C6E2-1595-49D5-EA4DC238E6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90D4FD-0D7E-473D-F84A-E51D1F5389EA}"/>
              </a:ext>
            </a:extLst>
          </p:cNvPr>
          <p:cNvSpPr>
            <a:spLocks noGrp="1"/>
          </p:cNvSpPr>
          <p:nvPr>
            <p:ph type="title"/>
          </p:nvPr>
        </p:nvSpPr>
        <p:spPr>
          <a:xfrm>
            <a:off x="527914" y="102902"/>
            <a:ext cx="10515600" cy="954164"/>
          </a:xfrm>
        </p:spPr>
        <p:txBody>
          <a:bodyPr>
            <a:normAutofit/>
          </a:bodyPr>
          <a:lstStyle/>
          <a:p>
            <a:r>
              <a:rPr lang="en-US" sz="4800" b="1" dirty="0"/>
              <a:t>Best Practices</a:t>
            </a:r>
            <a:endParaRPr lang="en-US" sz="4800" b="1" dirty="0">
              <a:solidFill>
                <a:srgbClr val="0F172A"/>
              </a:solidFill>
            </a:endParaRPr>
          </a:p>
        </p:txBody>
      </p:sp>
      <p:sp>
        <p:nvSpPr>
          <p:cNvPr id="1501" name="BP">
            <a:extLst>
              <a:ext uri="{FF2B5EF4-FFF2-40B4-BE49-F238E27FC236}">
                <a16:creationId xmlns:a16="http://schemas.microsoft.com/office/drawing/2014/main" id="{1AE2789D-4499-7160-E5B7-4A14E5124A65}"/>
              </a:ext>
            </a:extLst>
          </p:cNvPr>
          <p:cNvSpPr/>
          <p:nvPr/>
        </p:nvSpPr>
        <p:spPr>
          <a:xfrm>
            <a:off x="460408" y="1199213"/>
            <a:ext cx="11236292" cy="4593671"/>
          </a:xfrm>
          <a:prstGeom prst="roundRect">
            <a:avLst>
              <a:gd name="adj" fmla="val 6000"/>
            </a:avLst>
          </a:prstGeom>
          <a:solidFill>
            <a:srgbClr val="ECFDF5">
              <a:alpha val="30000"/>
            </a:srgbClr>
          </a:solidFill>
          <a:ln w="12700">
            <a:solidFill>
              <a:srgbClr val="A7F3D0"/>
            </a:solidFill>
          </a:ln>
        </p:spPr>
        <p:txBody>
          <a:bodyPr wrap="square" lIns="240000" tIns="200000" rIns="240000" bIns="200000" anchor="ctr"/>
          <a:lstStyle/>
          <a:p>
            <a:pPr>
              <a:spcBef>
                <a:spcPts val="700"/>
              </a:spcBef>
              <a:buClr>
                <a:srgbClr val="339933"/>
              </a:buClr>
            </a:pPr>
            <a:r>
              <a:rPr lang="en-US" sz="3200" b="1" dirty="0">
                <a:solidFill>
                  <a:srgbClr val="00B050"/>
                </a:solidFill>
              </a:rPr>
              <a:t>✓</a:t>
            </a:r>
            <a:r>
              <a:rPr lang="en-US" sz="4000" b="1" dirty="0"/>
              <a:t> </a:t>
            </a:r>
            <a:r>
              <a:rPr lang="en-US" sz="3200" b="1" dirty="0">
                <a:solidFill>
                  <a:srgbClr val="0F172A"/>
                </a:solidFill>
              </a:rPr>
              <a:t>Validate queries </a:t>
            </a:r>
            <a:r>
              <a:rPr lang="en-US" sz="2800" dirty="0">
                <a:solidFill>
                  <a:srgbClr val="475569"/>
                </a:solidFill>
              </a:rPr>
              <a:t>block unsafe ones</a:t>
            </a:r>
            <a:br>
              <a:rPr lang="en-US" sz="2800" dirty="0">
                <a:solidFill>
                  <a:srgbClr val="475569"/>
                </a:solidFill>
              </a:rPr>
            </a:br>
            <a:r>
              <a:rPr lang="en-US" sz="3200" b="1" dirty="0">
                <a:solidFill>
                  <a:srgbClr val="00B050"/>
                </a:solidFill>
              </a:rPr>
              <a:t>✓</a:t>
            </a:r>
            <a:r>
              <a:rPr lang="en-US" sz="4000" b="1" dirty="0">
                <a:solidFill>
                  <a:srgbClr val="00B050"/>
                </a:solidFill>
              </a:rPr>
              <a:t> </a:t>
            </a:r>
            <a:r>
              <a:rPr lang="en-US" sz="3200" b="1" dirty="0">
                <a:solidFill>
                  <a:srgbClr val="0F172A"/>
                </a:solidFill>
              </a:rPr>
              <a:t>Read-only DB user </a:t>
            </a:r>
            <a:r>
              <a:rPr lang="en-US" sz="2800" dirty="0">
                <a:solidFill>
                  <a:srgbClr val="475569"/>
                </a:solidFill>
              </a:rPr>
              <a:t>for the connection string</a:t>
            </a:r>
            <a:br>
              <a:rPr lang="en-US" sz="2800" dirty="0">
                <a:solidFill>
                  <a:srgbClr val="475569"/>
                </a:solidFill>
              </a:rPr>
            </a:br>
            <a:r>
              <a:rPr lang="en-US" sz="3200" b="1" dirty="0">
                <a:solidFill>
                  <a:srgbClr val="00B050"/>
                </a:solidFill>
              </a:rPr>
              <a:t>✓</a:t>
            </a:r>
            <a:r>
              <a:rPr lang="en-US" sz="3600" b="1" dirty="0">
                <a:solidFill>
                  <a:srgbClr val="00B050"/>
                </a:solidFill>
              </a:rPr>
              <a:t> </a:t>
            </a:r>
            <a:r>
              <a:rPr lang="en-US" sz="3200" b="1" dirty="0"/>
              <a:t>Human in the loop </a:t>
            </a:r>
            <a:r>
              <a:rPr lang="en-US" sz="2800" dirty="0">
                <a:solidFill>
                  <a:srgbClr val="475569"/>
                </a:solidFill>
              </a:rPr>
              <a:t>approval before execution</a:t>
            </a:r>
            <a:br>
              <a:rPr lang="en-US" sz="2800" dirty="0">
                <a:solidFill>
                  <a:srgbClr val="475569"/>
                </a:solidFill>
              </a:rPr>
            </a:br>
            <a:r>
              <a:rPr lang="en-US" sz="3200" b="1" dirty="0">
                <a:solidFill>
                  <a:srgbClr val="00B050"/>
                </a:solidFill>
              </a:rPr>
              <a:t>✓</a:t>
            </a:r>
            <a:r>
              <a:rPr lang="en-US" sz="3200" b="1" dirty="0"/>
              <a:t> Enforce limits </a:t>
            </a:r>
            <a:r>
              <a:rPr lang="en-US" sz="2800" dirty="0">
                <a:solidFill>
                  <a:srgbClr val="475569"/>
                </a:solidFill>
              </a:rPr>
              <a:t>max 9999 records, max 30 seconds</a:t>
            </a:r>
            <a:br>
              <a:rPr lang="en-US" sz="2800" dirty="0">
                <a:solidFill>
                  <a:srgbClr val="475569"/>
                </a:solidFill>
              </a:rPr>
            </a:br>
            <a:r>
              <a:rPr lang="en-US" sz="3200" b="1" dirty="0">
                <a:solidFill>
                  <a:srgbClr val="00B050"/>
                </a:solidFill>
              </a:rPr>
              <a:t>✓ </a:t>
            </a:r>
            <a:r>
              <a:rPr lang="en-US" sz="3200" b="1" dirty="0">
                <a:solidFill>
                  <a:srgbClr val="0F172A"/>
                </a:solidFill>
              </a:rPr>
              <a:t>Log everything </a:t>
            </a:r>
            <a:r>
              <a:rPr lang="en-US" sz="2800" dirty="0">
                <a:solidFill>
                  <a:srgbClr val="475569"/>
                </a:solidFill>
              </a:rPr>
              <a:t>prompt, SQL, result</a:t>
            </a:r>
          </a:p>
          <a:p>
            <a:pPr>
              <a:spcBef>
                <a:spcPts val="400"/>
              </a:spcBef>
              <a:buClr>
                <a:srgbClr val="339933"/>
              </a:buClr>
            </a:pPr>
            <a:r>
              <a:rPr lang="en-US" sz="3200" b="1" dirty="0">
                <a:solidFill>
                  <a:srgbClr val="00B050"/>
                </a:solidFill>
              </a:rPr>
              <a:t>✓ </a:t>
            </a:r>
            <a:r>
              <a:rPr lang="en-US" sz="3200" b="1" dirty="0">
                <a:solidFill>
                  <a:srgbClr val="020919"/>
                </a:solidFill>
              </a:rPr>
              <a:t>Save working queries </a:t>
            </a:r>
            <a:r>
              <a:rPr lang="en-US" sz="2800" dirty="0">
                <a:solidFill>
                  <a:srgbClr val="475569"/>
                </a:solidFill>
              </a:rPr>
              <a:t>set as </a:t>
            </a:r>
            <a:r>
              <a:rPr lang="en-US" sz="2800">
                <a:solidFill>
                  <a:srgbClr val="475569"/>
                </a:solidFill>
              </a:rPr>
              <a:t>shared query or </a:t>
            </a:r>
            <a:r>
              <a:rPr lang="en-US" sz="2800" dirty="0">
                <a:solidFill>
                  <a:srgbClr val="475569"/>
                </a:solidFill>
              </a:rPr>
              <a:t>private</a:t>
            </a:r>
          </a:p>
          <a:p>
            <a:pPr>
              <a:spcBef>
                <a:spcPts val="400"/>
              </a:spcBef>
              <a:buClr>
                <a:srgbClr val="339933"/>
              </a:buClr>
            </a:pPr>
            <a:r>
              <a:rPr lang="en-US" sz="3200" b="1" dirty="0">
                <a:solidFill>
                  <a:srgbClr val="00B050"/>
                </a:solidFill>
              </a:rPr>
              <a:t>✓</a:t>
            </a:r>
            <a:r>
              <a:rPr lang="en-US" sz="3600" b="1" dirty="0">
                <a:solidFill>
                  <a:srgbClr val="00B050"/>
                </a:solidFill>
              </a:rPr>
              <a:t> </a:t>
            </a:r>
            <a:r>
              <a:rPr lang="en-US" sz="3200" b="1" dirty="0">
                <a:solidFill>
                  <a:srgbClr val="0F172A"/>
                </a:solidFill>
              </a:rPr>
              <a:t>Start small </a:t>
            </a:r>
            <a:r>
              <a:rPr lang="en-US" sz="2800" dirty="0">
                <a:solidFill>
                  <a:srgbClr val="475569"/>
                </a:solidFill>
              </a:rPr>
              <a:t>ship the ugly version first: one table &amp; one user</a:t>
            </a:r>
          </a:p>
        </p:txBody>
      </p:sp>
    </p:spTree>
    <p:extLst>
      <p:ext uri="{BB962C8B-B14F-4D97-AF65-F5344CB8AC3E}">
        <p14:creationId xmlns:p14="http://schemas.microsoft.com/office/powerpoint/2010/main" val="1673443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bg>
      <p:bgPr>
        <a:solidFill>
          <a:srgbClr val="020919"/>
        </a:solidFill>
        <a:effectLst/>
      </p:bgPr>
    </p:bg>
    <p:spTree>
      <p:nvGrpSpPr>
        <p:cNvPr id="1" name="">
          <a:extLst>
            <a:ext uri="{FF2B5EF4-FFF2-40B4-BE49-F238E27FC236}">
              <a16:creationId xmlns:a16="http://schemas.microsoft.com/office/drawing/2014/main" id="{BDECA93E-8B46-57AD-0523-5CCDB5BA551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57C1D50-F13C-5DD2-73AB-E9EAE524400E}"/>
              </a:ext>
            </a:extLst>
          </p:cNvPr>
          <p:cNvPicPr>
            <a:picLocks noChangeAspect="1"/>
          </p:cNvPicPr>
          <p:nvPr/>
        </p:nvPicPr>
        <p:blipFill>
          <a:blip r:embed="rId3"/>
          <a:stretch>
            <a:fillRect/>
          </a:stretch>
        </p:blipFill>
        <p:spPr>
          <a:xfrm>
            <a:off x="7380552" y="225829"/>
            <a:ext cx="4238095" cy="3228571"/>
          </a:xfrm>
          <a:prstGeom prst="rect">
            <a:avLst/>
          </a:prstGeom>
        </p:spPr>
      </p:pic>
      <p:pic>
        <p:nvPicPr>
          <p:cNvPr id="14" name="Picture 13">
            <a:extLst>
              <a:ext uri="{FF2B5EF4-FFF2-40B4-BE49-F238E27FC236}">
                <a16:creationId xmlns:a16="http://schemas.microsoft.com/office/drawing/2014/main" id="{E22A15BF-AFD1-E6A5-97B5-01FBF3C7BFB2}"/>
              </a:ext>
            </a:extLst>
          </p:cNvPr>
          <p:cNvPicPr>
            <a:picLocks noChangeAspect="1"/>
          </p:cNvPicPr>
          <p:nvPr/>
        </p:nvPicPr>
        <p:blipFill>
          <a:blip r:embed="rId4"/>
          <a:stretch>
            <a:fillRect/>
          </a:stretch>
        </p:blipFill>
        <p:spPr>
          <a:xfrm>
            <a:off x="6715809" y="3454400"/>
            <a:ext cx="5476190" cy="514286"/>
          </a:xfrm>
          <a:prstGeom prst="rect">
            <a:avLst/>
          </a:prstGeom>
        </p:spPr>
      </p:pic>
      <p:pic>
        <p:nvPicPr>
          <p:cNvPr id="16" name="Picture 15">
            <a:extLst>
              <a:ext uri="{FF2B5EF4-FFF2-40B4-BE49-F238E27FC236}">
                <a16:creationId xmlns:a16="http://schemas.microsoft.com/office/drawing/2014/main" id="{D4407F9E-34A8-5A57-5B28-901201418475}"/>
              </a:ext>
            </a:extLst>
          </p:cNvPr>
          <p:cNvPicPr>
            <a:picLocks noChangeAspect="1"/>
          </p:cNvPicPr>
          <p:nvPr/>
        </p:nvPicPr>
        <p:blipFill>
          <a:blip r:embed="rId5"/>
          <a:stretch>
            <a:fillRect/>
          </a:stretch>
        </p:blipFill>
        <p:spPr>
          <a:xfrm>
            <a:off x="7651980" y="3981810"/>
            <a:ext cx="3695238" cy="2876190"/>
          </a:xfrm>
          <a:prstGeom prst="rect">
            <a:avLst/>
          </a:prstGeom>
        </p:spPr>
      </p:pic>
      <p:pic>
        <p:nvPicPr>
          <p:cNvPr id="7" name="Picture 6">
            <a:extLst>
              <a:ext uri="{FF2B5EF4-FFF2-40B4-BE49-F238E27FC236}">
                <a16:creationId xmlns:a16="http://schemas.microsoft.com/office/drawing/2014/main" id="{AE0D13DE-2AE0-6C30-7149-45A6F819DC18}"/>
              </a:ext>
            </a:extLst>
          </p:cNvPr>
          <p:cNvPicPr>
            <a:picLocks noChangeAspect="1"/>
          </p:cNvPicPr>
          <p:nvPr/>
        </p:nvPicPr>
        <p:blipFill>
          <a:blip r:embed="rId6"/>
          <a:stretch>
            <a:fillRect/>
          </a:stretch>
        </p:blipFill>
        <p:spPr>
          <a:xfrm>
            <a:off x="0" y="0"/>
            <a:ext cx="6763313" cy="6858000"/>
          </a:xfrm>
          <a:prstGeom prst="rect">
            <a:avLst/>
          </a:prstGeom>
        </p:spPr>
      </p:pic>
    </p:spTree>
    <p:extLst>
      <p:ext uri="{BB962C8B-B14F-4D97-AF65-F5344CB8AC3E}">
        <p14:creationId xmlns:p14="http://schemas.microsoft.com/office/powerpoint/2010/main" val="29913487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0" name="BG"/>
          <p:cNvSpPr/>
          <p:nvPr/>
        </p:nvSpPr>
        <p:spPr>
          <a:xfrm>
            <a:off x="67491" y="0"/>
            <a:ext cx="12115800" cy="6858000"/>
          </a:xfrm>
          <a:prstGeom prst="rect">
            <a:avLst/>
          </a:prstGeom>
          <a:solidFill>
            <a:srgbClr val="0F172A"/>
          </a:solidFill>
          <a:ln>
            <a:noFill/>
          </a:ln>
        </p:spPr>
        <p:txBody>
          <a:bodyPr/>
          <a:lstStyle/>
          <a:p>
            <a:endParaRPr lang="en-US" dirty="0"/>
          </a:p>
        </p:txBody>
      </p:sp>
      <p:grpSp>
        <p:nvGrpSpPr>
          <p:cNvPr id="3" name="Group 2">
            <a:extLst>
              <a:ext uri="{FF2B5EF4-FFF2-40B4-BE49-F238E27FC236}">
                <a16:creationId xmlns:a16="http://schemas.microsoft.com/office/drawing/2014/main" id="{C86DDA9F-DD43-59A2-0129-A027E314CDEB}"/>
              </a:ext>
            </a:extLst>
          </p:cNvPr>
          <p:cNvGrpSpPr/>
          <p:nvPr/>
        </p:nvGrpSpPr>
        <p:grpSpPr>
          <a:xfrm>
            <a:off x="653929" y="288419"/>
            <a:ext cx="11089008" cy="3842254"/>
            <a:chOff x="1024647" y="3472124"/>
            <a:chExt cx="6360714" cy="1696370"/>
          </a:xfrm>
        </p:grpSpPr>
        <p:sp>
          <p:nvSpPr>
            <p:cNvPr id="1610" name="B"/>
            <p:cNvSpPr/>
            <p:nvPr/>
          </p:nvSpPr>
          <p:spPr>
            <a:xfrm>
              <a:off x="1024647" y="3472124"/>
              <a:ext cx="3914341" cy="1318039"/>
            </a:xfrm>
            <a:prstGeom prst="roundRect">
              <a:avLst>
                <a:gd name="adj" fmla="val 6000"/>
              </a:avLst>
            </a:prstGeom>
            <a:solidFill>
              <a:schemeClr val="bg1">
                <a:lumMod val="50000"/>
              </a:schemeClr>
            </a:solidFill>
            <a:ln>
              <a:noFill/>
            </a:ln>
          </p:spPr>
          <p:txBody>
            <a:bodyPr wrap="square" lIns="200000" tIns="200000" rIns="200000" bIns="200000" anchor="ctr"/>
            <a:lstStyle/>
            <a:p>
              <a:pPr algn="l">
                <a:spcBef>
                  <a:spcPts val="300"/>
                </a:spcBef>
              </a:pPr>
              <a:r>
                <a:rPr lang="en-US" sz="4400" dirty="0">
                  <a:solidFill>
                    <a:srgbClr val="FFFFFF"/>
                  </a:solidFill>
                </a:rPr>
                <a:t>Until now we learnt programming languages to talk with computers</a:t>
              </a:r>
              <a:endParaRPr lang="en-US" sz="4400" dirty="0">
                <a:solidFill>
                  <a:srgbClr val="94A3B8"/>
                </a:solidFill>
              </a:endParaRPr>
            </a:p>
          </p:txBody>
        </p:sp>
        <p:sp>
          <p:nvSpPr>
            <p:cNvPr id="1611" name="B"/>
            <p:cNvSpPr/>
            <p:nvPr/>
          </p:nvSpPr>
          <p:spPr>
            <a:xfrm>
              <a:off x="4849422" y="3644494"/>
              <a:ext cx="2535939" cy="1524000"/>
            </a:xfrm>
            <a:prstGeom prst="roundRect">
              <a:avLst>
                <a:gd name="adj" fmla="val 6000"/>
              </a:avLst>
            </a:prstGeom>
            <a:solidFill>
              <a:schemeClr val="bg2"/>
            </a:solidFill>
            <a:ln>
              <a:noFill/>
            </a:ln>
          </p:spPr>
          <p:txBody>
            <a:bodyPr wrap="square" lIns="200000" tIns="200000" rIns="200000" bIns="200000" anchor="ctr"/>
            <a:lstStyle/>
            <a:p>
              <a:pPr algn="l"/>
              <a:r>
                <a:rPr lang="en-US" sz="5400" b="1" spc="300" dirty="0">
                  <a:solidFill>
                    <a:srgbClr val="1E293B"/>
                  </a:solidFill>
                </a:rPr>
                <a:t>now they learnt</a:t>
              </a:r>
              <a:br>
                <a:rPr lang="en-US" sz="5400" b="1" spc="300" dirty="0">
                  <a:solidFill>
                    <a:srgbClr val="1E293B"/>
                  </a:solidFill>
                </a:rPr>
              </a:br>
              <a:r>
                <a:rPr lang="en-US" sz="5400" b="1" spc="300" dirty="0">
                  <a:solidFill>
                    <a:srgbClr val="1E293B"/>
                  </a:solidFill>
                </a:rPr>
                <a:t>our language</a:t>
              </a:r>
              <a:endParaRPr lang="en-US" sz="5400" b="1" dirty="0">
                <a:solidFill>
                  <a:srgbClr val="1E293B"/>
                </a:solidFill>
              </a:endParaRPr>
            </a:p>
          </p:txBody>
        </p:sp>
      </p:grpSp>
      <p:sp>
        <p:nvSpPr>
          <p:cNvPr id="7" name="TextBox 6">
            <a:extLst>
              <a:ext uri="{FF2B5EF4-FFF2-40B4-BE49-F238E27FC236}">
                <a16:creationId xmlns:a16="http://schemas.microsoft.com/office/drawing/2014/main" id="{ADAC7983-4AF8-14A4-A44D-2BB81412E54E}"/>
              </a:ext>
            </a:extLst>
          </p:cNvPr>
          <p:cNvSpPr txBox="1"/>
          <p:nvPr/>
        </p:nvSpPr>
        <p:spPr>
          <a:xfrm>
            <a:off x="5074151" y="4847502"/>
            <a:ext cx="3646162" cy="1200329"/>
          </a:xfrm>
          <a:prstGeom prst="rect">
            <a:avLst/>
          </a:prstGeom>
          <a:noFill/>
        </p:spPr>
        <p:txBody>
          <a:bodyPr wrap="square">
            <a:spAutoFit/>
          </a:bodyPr>
          <a:lstStyle/>
          <a:p>
            <a:pPr algn="r"/>
            <a:r>
              <a:rPr lang="en-US" sz="2400" i="1" dirty="0">
                <a:solidFill>
                  <a:srgbClr val="94A3B8"/>
                </a:solidFill>
              </a:rPr>
              <a:t>Download presentation and </a:t>
            </a:r>
          </a:p>
          <a:p>
            <a:pPr algn="r"/>
            <a:r>
              <a:rPr lang="en-US" sz="2400" i="1" dirty="0">
                <a:solidFill>
                  <a:srgbClr val="94A3B8"/>
                </a:solidFill>
              </a:rPr>
              <a:t>demo project</a:t>
            </a:r>
            <a:endParaRPr lang="tr-TR" sz="2400" i="1" dirty="0"/>
          </a:p>
        </p:txBody>
      </p:sp>
      <p:grpSp>
        <p:nvGrpSpPr>
          <p:cNvPr id="22" name="Group 21">
            <a:extLst>
              <a:ext uri="{FF2B5EF4-FFF2-40B4-BE49-F238E27FC236}">
                <a16:creationId xmlns:a16="http://schemas.microsoft.com/office/drawing/2014/main" id="{2FAC0482-214E-38A2-5CF3-A0A2910A56E5}"/>
              </a:ext>
            </a:extLst>
          </p:cNvPr>
          <p:cNvGrpSpPr/>
          <p:nvPr/>
        </p:nvGrpSpPr>
        <p:grpSpPr>
          <a:xfrm>
            <a:off x="653929" y="4754027"/>
            <a:ext cx="3953699" cy="1433739"/>
            <a:chOff x="653929" y="3939104"/>
            <a:chExt cx="3953699" cy="1433739"/>
          </a:xfrm>
        </p:grpSpPr>
        <p:sp>
          <p:nvSpPr>
            <p:cNvPr id="2" name="SpeakerName">
              <a:extLst>
                <a:ext uri="{FF2B5EF4-FFF2-40B4-BE49-F238E27FC236}">
                  <a16:creationId xmlns:a16="http://schemas.microsoft.com/office/drawing/2014/main" id="{B67F7C9D-3984-DFAA-4F75-34BC31E06746}"/>
                </a:ext>
              </a:extLst>
            </p:cNvPr>
            <p:cNvSpPr txBox="1"/>
            <p:nvPr/>
          </p:nvSpPr>
          <p:spPr>
            <a:xfrm>
              <a:off x="797562" y="4130673"/>
              <a:ext cx="3778074" cy="1153029"/>
            </a:xfrm>
            <a:prstGeom prst="rect">
              <a:avLst/>
            </a:prstGeom>
            <a:noFill/>
          </p:spPr>
          <p:txBody>
            <a:bodyPr wrap="square" lIns="0" tIns="0" rIns="0" bIns="0" anchor="t"/>
            <a:lstStyle/>
            <a:p>
              <a:r>
                <a:rPr lang="en-US" sz="4000" b="1" dirty="0">
                  <a:solidFill>
                    <a:schemeClr val="bg1"/>
                  </a:solidFill>
                </a:rPr>
                <a:t>Alper Ebicoglu</a:t>
              </a:r>
            </a:p>
            <a:p>
              <a:r>
                <a:rPr lang="en-US" sz="2800" dirty="0">
                  <a:solidFill>
                    <a:schemeClr val="bg1"/>
                  </a:solidFill>
                </a:rPr>
                <a:t>x.com/</a:t>
              </a:r>
              <a:r>
                <a:rPr lang="en-US" sz="2800" dirty="0">
                  <a:solidFill>
                    <a:srgbClr val="22D3EE"/>
                  </a:solidFill>
                </a:rPr>
                <a:t>alperebicoglu</a:t>
              </a:r>
            </a:p>
          </p:txBody>
        </p:sp>
        <p:sp>
          <p:nvSpPr>
            <p:cNvPr id="6" name="Rectangle: Rounded Corners 5">
              <a:extLst>
                <a:ext uri="{FF2B5EF4-FFF2-40B4-BE49-F238E27FC236}">
                  <a16:creationId xmlns:a16="http://schemas.microsoft.com/office/drawing/2014/main" id="{13B697C2-CD1F-7168-5C03-4D94888C954B}"/>
                </a:ext>
              </a:extLst>
            </p:cNvPr>
            <p:cNvSpPr/>
            <p:nvPr/>
          </p:nvSpPr>
          <p:spPr>
            <a:xfrm>
              <a:off x="653929" y="3939104"/>
              <a:ext cx="3953699" cy="1433739"/>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tr-TR" dirty="0"/>
            </a:p>
          </p:txBody>
        </p:sp>
      </p:grpSp>
      <p:sp>
        <p:nvSpPr>
          <p:cNvPr id="8" name="Rectangle: Rounded Corners 7">
            <a:extLst>
              <a:ext uri="{FF2B5EF4-FFF2-40B4-BE49-F238E27FC236}">
                <a16:creationId xmlns:a16="http://schemas.microsoft.com/office/drawing/2014/main" id="{3D0AE1AA-7E4C-A120-28E1-6595708F20F9}"/>
              </a:ext>
            </a:extLst>
          </p:cNvPr>
          <p:cNvSpPr/>
          <p:nvPr/>
        </p:nvSpPr>
        <p:spPr>
          <a:xfrm>
            <a:off x="4891946" y="4427621"/>
            <a:ext cx="6850991" cy="2348564"/>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tr-TR" dirty="0"/>
          </a:p>
        </p:txBody>
      </p:sp>
      <p:pic>
        <p:nvPicPr>
          <p:cNvPr id="5" name="Picture 4">
            <a:extLst>
              <a:ext uri="{FF2B5EF4-FFF2-40B4-BE49-F238E27FC236}">
                <a16:creationId xmlns:a16="http://schemas.microsoft.com/office/drawing/2014/main" id="{183C2402-DE54-31FF-8824-B62F72823255}"/>
              </a:ext>
            </a:extLst>
          </p:cNvPr>
          <p:cNvPicPr>
            <a:picLocks noChangeAspect="1"/>
          </p:cNvPicPr>
          <p:nvPr/>
        </p:nvPicPr>
        <p:blipFill>
          <a:blip r:embed="rId3"/>
          <a:stretch>
            <a:fillRect/>
          </a:stretch>
        </p:blipFill>
        <p:spPr>
          <a:xfrm>
            <a:off x="9670514" y="4521089"/>
            <a:ext cx="1803902" cy="1853154"/>
          </a:xfrm>
          <a:prstGeom prst="rect">
            <a:avLst/>
          </a:prstGeom>
        </p:spPr>
      </p:pic>
      <p:sp>
        <p:nvSpPr>
          <p:cNvPr id="10" name="TextBox 9">
            <a:extLst>
              <a:ext uri="{FF2B5EF4-FFF2-40B4-BE49-F238E27FC236}">
                <a16:creationId xmlns:a16="http://schemas.microsoft.com/office/drawing/2014/main" id="{3FA4C92A-F9BF-414A-6ECD-B824CFE91314}"/>
              </a:ext>
            </a:extLst>
          </p:cNvPr>
          <p:cNvSpPr txBox="1"/>
          <p:nvPr/>
        </p:nvSpPr>
        <p:spPr>
          <a:xfrm>
            <a:off x="5073229" y="6374243"/>
            <a:ext cx="6226948" cy="369332"/>
          </a:xfrm>
          <a:prstGeom prst="rect">
            <a:avLst/>
          </a:prstGeom>
          <a:noFill/>
        </p:spPr>
        <p:txBody>
          <a:bodyPr wrap="square">
            <a:spAutoFit/>
          </a:bodyPr>
          <a:lstStyle/>
          <a:p>
            <a:r>
              <a:rPr lang="en-US" b="1" dirty="0">
                <a:solidFill>
                  <a:schemeClr val="bg1"/>
                </a:solidFill>
              </a:rPr>
              <a:t>github.com/</a:t>
            </a:r>
            <a:r>
              <a:rPr lang="en-US" dirty="0">
                <a:solidFill>
                  <a:schemeClr val="bg1"/>
                </a:solidFill>
              </a:rPr>
              <a:t>ebicoglu/chat-with-your-data-conference</a:t>
            </a:r>
          </a:p>
        </p:txBody>
      </p:sp>
      <p:cxnSp>
        <p:nvCxnSpPr>
          <p:cNvPr id="26" name="Straight Arrow Connector 25">
            <a:extLst>
              <a:ext uri="{FF2B5EF4-FFF2-40B4-BE49-F238E27FC236}">
                <a16:creationId xmlns:a16="http://schemas.microsoft.com/office/drawing/2014/main" id="{8DDE9AFE-CECE-6E48-FDCC-4CEC9698CC7B}"/>
              </a:ext>
            </a:extLst>
          </p:cNvPr>
          <p:cNvCxnSpPr>
            <a:cxnSpLocks/>
          </p:cNvCxnSpPr>
          <p:nvPr/>
        </p:nvCxnSpPr>
        <p:spPr>
          <a:xfrm>
            <a:off x="8789364" y="5443874"/>
            <a:ext cx="743047" cy="0"/>
          </a:xfrm>
          <a:prstGeom prst="straightConnector1">
            <a:avLst/>
          </a:prstGeom>
          <a:ln w="7620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469954536"/>
      </p:ext>
    </p:extLst>
  </p:cSld>
  <p:clrMapOvr>
    <a:masterClrMapping/>
  </p:clrMapOvr>
</p:sld>
</file>

<file path=ppt/theme/theme1.xml><?xml version="1.0" encoding="utf-8"?>
<a:theme xmlns:a="http://schemas.openxmlformats.org/drawingml/2006/main" name="Office Theme [1776698939131]">
  <a:themeElements>
    <a:clrScheme name="Office">
      <a:dk1>
        <a:srgbClr val="0F172A"/>
      </a:dk1>
      <a:lt1>
        <a:srgbClr val="FAFBFC"/>
      </a:lt1>
      <a:dk2>
        <a:srgbClr val="475569"/>
      </a:dk2>
      <a:lt2>
        <a:srgbClr val="E2E8F0"/>
      </a:lt2>
      <a:accent1>
        <a:srgbClr val="22D3EE"/>
      </a:accent1>
      <a:accent2>
        <a:srgbClr val="0891B2"/>
      </a:accent2>
      <a:accent3>
        <a:srgbClr val="F59E0B"/>
      </a:accent3>
      <a:accent4>
        <a:srgbClr val="10B981"/>
      </a:accent4>
      <a:accent5>
        <a:srgbClr val="F43F5E"/>
      </a:accent5>
      <a:accent6>
        <a:srgbClr val="1E293B"/>
      </a:accent6>
      <a:hlink>
        <a:srgbClr val="467886"/>
      </a:hlink>
      <a:folHlink>
        <a:srgbClr val="96607D"/>
      </a:folHlink>
    </a:clrScheme>
    <a:fontScheme name="Office">
      <a:majorFont>
        <a:latin typeface="Inter"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 dockstate="right" visibility="0" width="350" row="2">
    <wetp:webextensionref xmlns:r="http://schemas.openxmlformats.org/officeDocument/2006/relationships" r:id="rId2"/>
  </wetp:taskpane>
  <wetp:taskpane dockstate="right" visibility="0" width="350" row="5">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AA96001D-FC19-48DE-ACAE-658A0B89BED9}">
  <we:reference id="wa200010001" version="1.0.0.1" store="en-US" storeType="OMEX"/>
  <we:alternateReferences>
    <we:reference id="wa200010001" version="1.0.0.1" store="en-US" storeType="OMEX"/>
  </we:alternateReferences>
  <we:properties>
    <we:property name="claude.fileId" value="&quot;d5c3744b-1745-4281-a778-88fed6b79981&quot;"/>
  </we:properties>
  <we:bindings/>
  <we:snapshot xmlns:r="http://schemas.openxmlformats.org/officeDocument/2006/relationships"/>
</we:webextension>
</file>

<file path=ppt/webextensions/webextension2.xml><?xml version="1.0" encoding="utf-8"?>
<we:webextension xmlns:we="http://schemas.microsoft.com/office/webextensions/webextension/2010/11" id="{823AA437-7D55-4192-9ACF-F8570218A846}">
  <we:reference id="wa200009023" version="1.0.0.2" store="en-US" storeType="OMEX"/>
  <we:alternateReferences>
    <we:reference id="wa200009023" version="1.0.0.2" store="wa200009023"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C759B996-4593-4997-A3F3-C5C7917D0C8B}">
  <we:reference id="wa200005566" version="3.0.1.2" store="en-US" storeType="OMEX"/>
  <we:alternateReferences>
    <we:reference id="WA200005566" version="3.0.1.2"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4922</TotalTime>
  <Words>2821</Words>
  <Application>Microsoft Office PowerPoint</Application>
  <PresentationFormat>Widescreen</PresentationFormat>
  <Paragraphs>379</Paragraphs>
  <Slides>27</Slides>
  <Notes>27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Apple Color Emoji</vt:lpstr>
      <vt:lpstr>Aptos</vt:lpstr>
      <vt:lpstr>Arial</vt:lpstr>
      <vt:lpstr>Consolas</vt:lpstr>
      <vt:lpstr>Inter</vt:lpstr>
      <vt:lpstr>Raleway</vt:lpstr>
      <vt:lpstr>Roboto</vt:lpstr>
      <vt:lpstr>Office Theme [1776698939131]</vt:lpstr>
      <vt:lpstr>Chat With Your Data </vt:lpstr>
      <vt:lpstr>PowerPoint Presentation</vt:lpstr>
      <vt:lpstr>PowerPoint Presentation</vt:lpstr>
      <vt:lpstr>PowerPoint Presentation</vt:lpstr>
      <vt:lpstr>PowerPoint Presentation</vt:lpstr>
      <vt:lpstr>Understanding The Problem 🤝</vt:lpstr>
      <vt:lpstr>AI Era: Adapt or Fall Behind</vt:lpstr>
      <vt:lpstr>The Reporting Challenge</vt:lpstr>
      <vt:lpstr>PowerPoint Presentation</vt:lpstr>
      <vt:lpstr>What We'll Build</vt:lpstr>
      <vt:lpstr>The Pipeline</vt:lpstr>
      <vt:lpstr>Schema &amp; System Prompt</vt:lpstr>
      <vt:lpstr>Demo A Simple .NET Console App </vt:lpstr>
      <vt:lpstr>Live Demo — Console</vt:lpstr>
      <vt:lpstr>Validation + Execution</vt:lpstr>
      <vt:lpstr>PowerPoint Presentation</vt:lpstr>
      <vt:lpstr>Architecture — 3 Layers</vt:lpstr>
      <vt:lpstr>The Whole Setup 👌🏻 </vt:lpstr>
      <vt:lpstr>Live Demo 2 — Blazor Web App</vt:lpstr>
      <vt:lpstr>PowerPoint Presentation</vt:lpstr>
      <vt:lpstr>Same Backend, Closer to a Real Product</vt:lpstr>
      <vt:lpstr>The LLM is 20% of the work. </vt:lpstr>
      <vt:lpstr>Where This Fits in the Real World</vt:lpstr>
      <vt:lpstr>Challenges</vt:lpstr>
      <vt:lpstr>Best Practices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Volosoft Bilisim</dc:creator>
  <cp:lastModifiedBy>Alper Ebiçoğlu</cp:lastModifiedBy>
  <cp:revision>415</cp:revision>
  <dcterms:created xsi:type="dcterms:W3CDTF">2026-04-20T12:53:27Z</dcterms:created>
  <dcterms:modified xsi:type="dcterms:W3CDTF">2026-10-15T06:48:57Z</dcterms:modified>
</cp:coreProperties>
</file>