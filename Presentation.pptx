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8"/>
  </p:notesMasterIdLst>
  <p:sldIdLst>
    <p:sldId id="328" r:id="rId2"/>
    <p:sldId id="341" r:id="rId3"/>
    <p:sldId id="329" r:id="rId4"/>
    <p:sldId id="333" r:id="rId5"/>
    <p:sldId id="337" r:id="rId6"/>
    <p:sldId id="339" r:id="rId7"/>
    <p:sldId id="338" r:id="rId8"/>
    <p:sldId id="309" r:id="rId9"/>
    <p:sldId id="310" r:id="rId10"/>
    <p:sldId id="299" r:id="rId11"/>
    <p:sldId id="312" r:id="rId12"/>
    <p:sldId id="330" r:id="rId13"/>
    <p:sldId id="313" r:id="rId14"/>
    <p:sldId id="314" r:id="rId15"/>
    <p:sldId id="315" r:id="rId16"/>
    <p:sldId id="316" r:id="rId17"/>
    <p:sldId id="317" r:id="rId18"/>
    <p:sldId id="320" r:id="rId19"/>
    <p:sldId id="318" r:id="rId20"/>
    <p:sldId id="319" r:id="rId21"/>
    <p:sldId id="321" r:id="rId22"/>
    <p:sldId id="322" r:id="rId23"/>
    <p:sldId id="323" r:id="rId24"/>
    <p:sldId id="336" r:id="rId25"/>
    <p:sldId id="335" r:id="rId26"/>
    <p:sldId id="324" r:id="rId27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1008"/>
    <a:srgbClr val="74615F"/>
    <a:srgbClr val="020919"/>
    <a:srgbClr val="64748B"/>
    <a:srgbClr val="22D3EE"/>
    <a:srgbClr val="969696"/>
    <a:srgbClr val="FAFBFC"/>
    <a:srgbClr val="FCF8F9"/>
    <a:srgbClr val="0F172A"/>
    <a:srgbClr val="0891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393" autoAdjust="0"/>
    <p:restoredTop sz="62642" autoAdjust="0"/>
  </p:normalViewPr>
  <p:slideViewPr>
    <p:cSldViewPr snapToGrid="0">
      <p:cViewPr>
        <p:scale>
          <a:sx n="66" d="100"/>
          <a:sy n="66" d="100"/>
        </p:scale>
        <p:origin x="1276" y="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24.09.2026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4A044-3FA6-A259-6A37-37CF4956D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38478A-3119-9CCE-512C-CB2358F6C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ABF240-F0CE-A06B-1DE6-CBCFE24250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building has survived for more than 225 years.</a:t>
            </a:r>
            <a:br>
              <a:rPr lang="en-US" dirty="0"/>
            </a:br>
            <a:r>
              <a:rPr lang="en-US" dirty="0"/>
              <a:t>Authorities are not rebuilding this one and preserve it.</a:t>
            </a:r>
          </a:p>
          <a:p>
            <a:r>
              <a:rPr lang="en-US" b="1" dirty="0"/>
              <a:t>Some foundations should remain stable.</a:t>
            </a:r>
            <a:endParaRPr lang="en-US" dirty="0"/>
          </a:p>
          <a:p>
            <a:r>
              <a:rPr lang="en-US" dirty="0"/>
              <a:t>In the software business, this is not the case.</a:t>
            </a:r>
          </a:p>
          <a:p>
            <a:r>
              <a:rPr lang="en-US" dirty="0"/>
              <a:t>Today, AI has changed one very old problem:</a:t>
            </a:r>
            <a:br>
              <a:rPr lang="en-US" dirty="0"/>
            </a:br>
            <a:r>
              <a:rPr lang="en-US" b="1" dirty="0"/>
              <a:t>How do we get answers from our data?</a:t>
            </a:r>
            <a:endParaRPr lang="en-US" dirty="0"/>
          </a:p>
          <a:p>
            <a:r>
              <a:rPr lang="en-US" dirty="0"/>
              <a:t>We used to build reports.</a:t>
            </a:r>
            <a:br>
              <a:rPr lang="en-US" dirty="0"/>
            </a:br>
            <a:r>
              <a:rPr lang="en-US" dirty="0"/>
              <a:t>Then dashboards.</a:t>
            </a:r>
            <a:br>
              <a:rPr lang="en-US" dirty="0"/>
            </a:br>
            <a:r>
              <a:rPr lang="en-US" dirty="0"/>
              <a:t>Then self-service BI.</a:t>
            </a:r>
          </a:p>
          <a:p>
            <a:r>
              <a:rPr lang="en-US" b="1" dirty="0"/>
              <a:t>Now, we can simply ask.</a:t>
            </a:r>
            <a:br>
              <a:rPr lang="en-US" b="1" dirty="0"/>
            </a:br>
            <a:r>
              <a:rPr lang="en-US" dirty="0"/>
              <a:t>but in the age of AI; </a:t>
            </a:r>
          </a:p>
          <a:p>
            <a:r>
              <a:rPr lang="en-US" dirty="0"/>
              <a:t>we developers should </a:t>
            </a:r>
            <a:r>
              <a:rPr lang="en-US" b="1" dirty="0"/>
              <a:t>use some new techniques for reporting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A4A03-BEAA-A682-4509-EBA040BF6D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58882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4670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D718-809A-6FFE-8CA7-38A00CE95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AA0F9-EB22-F88D-F5FF-91F0289EB6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F2403F-80AF-CC17-9B38-85390C8B5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9722404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18867-3E77-F3B1-80CE-599092DF8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F2EBE4-05B0-BC51-8468-11403D1AA8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0AC4D-9FEF-FFE1-507C-792815526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8260259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FAA1F-33C4-196A-BF68-9DD61609D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E3D200-640F-1A6D-0D6F-73FABD99C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C004F-8193-FE09-BFB3-18B1A462DB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076710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2—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3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4—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5—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en-US" b="1" dirty="0"/>
              <a:t>DDL</a:t>
            </a:r>
            <a:r>
              <a:rPr lang="en-US" dirty="0"/>
              <a:t>: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stage you just saw is inspectable. Testable. Replaceable. You can swap the LLM. You can add a cache in front of it. You can unit-test the validator.</a:t>
            </a:r>
          </a:p>
          <a:p>
            <a:endParaRPr lang="en-US" dirty="0"/>
          </a:p>
          <a:p>
            <a:r>
              <a:rPr lang="en-US" dirty="0"/>
              <a:t>When something goes wrong in production — and it will — you can open a log and see exactly which stage failed.</a:t>
            </a:r>
          </a:p>
          <a:p>
            <a:endParaRPr lang="en-US" dirty="0"/>
          </a:p>
          <a:p>
            <a:r>
              <a:rPr lang="en-US" dirty="0"/>
              <a:t>That is why this works in an enterprise context. Because it stops being AI and starts being software.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console app proved the pipeline works. </a:t>
            </a:r>
          </a:p>
          <a:p>
            <a:r>
              <a:rPr lang="en-US" dirty="0"/>
              <a:t>That demo was a stripped-down version to show the concept in its purest form, without any technological complexities.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Multi-tenancy &amp; permissions:</a:t>
            </a:r>
            <a:r>
              <a:rPr lang="en-US" dirty="0"/>
              <a:t>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Give each user separate </a:t>
            </a:r>
            <a:r>
              <a:rPr lang="en-US" u="sng" dirty="0"/>
              <a:t>connection string &amp; permissions </a:t>
            </a:r>
            <a:r>
              <a:rPr lang="en-US" u="none" dirty="0"/>
              <a:t>so you can configure their roles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Separate </a:t>
            </a:r>
            <a:r>
              <a:rPr lang="en-US" u="sng" dirty="0"/>
              <a:t>sub databases</a:t>
            </a:r>
            <a:r>
              <a:rPr lang="en-US" dirty="0"/>
              <a:t> for specific user groups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Create &amp; send only </a:t>
            </a:r>
            <a:r>
              <a:rPr lang="en-US" u="sng" dirty="0"/>
              <a:t>views</a:t>
            </a:r>
            <a:r>
              <a:rPr lang="en-US" dirty="0"/>
              <a:t> to AI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Add </a:t>
            </a:r>
            <a:r>
              <a:rPr lang="en-US" u="sng" dirty="0" err="1"/>
              <a:t>TenantId</a:t>
            </a:r>
            <a:r>
              <a:rPr lang="en-US" dirty="0"/>
              <a:t> to each select query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1" dirty="0">
                <a:solidFill>
                  <a:srgbClr val="0F172A"/>
                </a:solidFill>
              </a:rPr>
              <a:t>Hallucination: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0" dirty="0">
                <a:solidFill>
                  <a:srgbClr val="0F172A"/>
                </a:solidFill>
              </a:rPr>
              <a:t>Write an MCP also add retry mechanism  </a:t>
            </a:r>
            <a:endParaRPr lang="en-US" dirty="0"/>
          </a:p>
          <a:p>
            <a:pPr marL="171450" lvl="0" indent="-171450">
              <a:buFontTx/>
              <a:buChar char="-"/>
            </a:pPr>
            <a:r>
              <a:rPr lang="en-US" b="1" dirty="0"/>
              <a:t>Ambigous questions:</a:t>
            </a:r>
          </a:p>
          <a:p>
            <a:pPr marL="628650" lvl="1" indent="-171450">
              <a:buFontTx/>
              <a:buChar char="-"/>
            </a:pPr>
            <a:r>
              <a:rPr lang="tr-TR" dirty="0"/>
              <a:t>Most production </a:t>
            </a:r>
            <a:r>
              <a:rPr lang="tr-TR" u="sng" dirty="0"/>
              <a:t>issues are not SQL errors</a:t>
            </a:r>
            <a:r>
              <a:rPr lang="tr-TR" dirty="0"/>
              <a:t>.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User's intent is unclear, I don't want the AI to guess. So clarify question first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Cost &amp; Latency: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LLM latency + query latency compounds. Cache aggressively.</a:t>
            </a:r>
          </a:p>
          <a:p>
            <a:pPr marL="171450" lvl="0" indent="-171450">
              <a:buFontTx/>
              <a:buChar char="-"/>
            </a:pPr>
            <a:r>
              <a:rPr lang="en-US" sz="1200" b="1" dirty="0"/>
              <a:t>Confidential data </a:t>
            </a:r>
          </a:p>
          <a:p>
            <a:pPr marL="628650" lvl="1" indent="-171450">
              <a:buFontTx/>
              <a:buChar char="-"/>
            </a:pPr>
            <a:r>
              <a:rPr lang="en-US" b="0" dirty="0"/>
              <a:t>You’ll send only your </a:t>
            </a:r>
            <a:r>
              <a:rPr lang="en-US" b="0" dirty="0" err="1"/>
              <a:t>table,column</a:t>
            </a:r>
            <a:r>
              <a:rPr lang="en-US" b="0" dirty="0"/>
              <a:t> names not the data. But if still an issue, use local LLM</a:t>
            </a:r>
          </a:p>
          <a:p>
            <a:pPr marL="171450" lvl="0" indent="-171450">
              <a:buFontTx/>
              <a:buChar char="-"/>
            </a:pPr>
            <a:endParaRPr lang="en-US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6FE7-4DB1-C986-0D9D-A9F7F9D96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B0D34D-AE0E-95FA-F928-940DA5194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C2184-F1D6-D5AB-4837-38DFF2D26E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>
                <a:solidFill>
                  <a:srgbClr val="0F172A"/>
                </a:solidFill>
              </a:rPr>
              <a:t>Validate queries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0" dirty="0"/>
              <a:t>Block unsafe queries before execution.</a:t>
            </a:r>
            <a:r>
              <a:rPr lang="en-US" sz="1600" dirty="0"/>
              <a:t> Allow only SELECT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Read-only DB user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Set connection string read-only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/>
              <a:t>Human in the loop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dirty="0">
                <a:solidFill>
                  <a:srgbClr val="475569"/>
                </a:solidFill>
              </a:rPr>
              <a:t>First versions require human-approved queries</a:t>
            </a:r>
            <a:endParaRPr lang="en-US" b="1" dirty="0"/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Enforce limits: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Limit row count and set a timeout</a:t>
            </a:r>
            <a:endParaRPr lang="en-US" sz="1200" b="1" dirty="0">
              <a:solidFill>
                <a:srgbClr val="0F172A"/>
              </a:solidFill>
            </a:endParaRP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Log everything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For debugging and improve the system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Save working queries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Save user queries and SQL so people can re-run, they can share the working queries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Start small </a:t>
            </a:r>
            <a:endParaRPr lang="en-US" dirty="0"/>
          </a:p>
          <a:p>
            <a:pPr marL="628650" lvl="1" indent="-171450">
              <a:buFontTx/>
              <a:buChar char="-"/>
            </a:pPr>
            <a:r>
              <a:rPr lang="en-US" dirty="0"/>
              <a:t>Ship the ugly version first.</a:t>
            </a:r>
          </a:p>
        </p:txBody>
      </p:sp>
    </p:spTree>
    <p:extLst>
      <p:ext uri="{BB962C8B-B14F-4D97-AF65-F5344CB8AC3E}">
        <p14:creationId xmlns:p14="http://schemas.microsoft.com/office/powerpoint/2010/main" val="41470320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DACCD-50D9-449C-5E0D-B9DC7646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B8E7DD-B1D7-47D1-28A9-EACCEF105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E8918-788F-0C91-29DB-7E2A9BB9A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now we are cautious about using AI, just like we did when ATM machines first came out, but in the future AI will be a reliable part of our systems.</a:t>
            </a:r>
          </a:p>
        </p:txBody>
      </p:sp>
    </p:spTree>
    <p:extLst>
      <p:ext uri="{BB962C8B-B14F-4D97-AF65-F5344CB8AC3E}">
        <p14:creationId xmlns:p14="http://schemas.microsoft.com/office/powerpoint/2010/main" val="5761463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109440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FED691-C0E0-6840-99E9-4DBDDDE0DA22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1506200" y="6162963"/>
            <a:ext cx="609600" cy="62807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1CE886C5-2598-F494-A9A1-5E24B33FE50D}"/>
              </a:ext>
            </a:extLst>
          </p:cNvPr>
          <p:cNvGrpSpPr/>
          <p:nvPr userDrawn="1"/>
        </p:nvGrpSpPr>
        <p:grpSpPr>
          <a:xfrm>
            <a:off x="1378291" y="6469052"/>
            <a:ext cx="10702016" cy="262113"/>
            <a:chOff x="654270" y="6494874"/>
            <a:chExt cx="10702016" cy="262113"/>
          </a:xfrm>
        </p:grpSpPr>
        <p:sp>
          <p:nvSpPr>
            <p:cNvPr id="902" name="FooterBrand"/>
            <p:cNvSpPr txBox="1"/>
            <p:nvPr userDrawn="1"/>
          </p:nvSpPr>
          <p:spPr>
            <a:xfrm>
              <a:off x="891486" y="6511337"/>
              <a:ext cx="10464800" cy="219075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algn="l"/>
              <a:r>
                <a:rPr lang="en-US" sz="900" b="0" dirty="0">
                  <a:solidFill>
                    <a:srgbClr val="94A3B8"/>
                  </a:solidFill>
                </a:rPr>
                <a:t>x.com/</a:t>
              </a:r>
              <a:r>
                <a:rPr lang="en-US" sz="900" b="0" kern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alperebicoglu              linkedin.com/in/ebicoglu            </a:t>
              </a:r>
              <a:r>
                <a:rPr lang="en-US" sz="900" b="0" dirty="0">
                  <a:solidFill>
                    <a:srgbClr val="94A3B8"/>
                  </a:solidFill>
                </a:rPr>
                <a:t>github.com/ebicoglu/chat-with-your-data-conference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8725AAA-9B52-3C9A-A7D9-C2C142FC2AD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4270" y="6504987"/>
              <a:ext cx="350609" cy="2520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0A8F75C-9B58-C600-54B5-CE0E5D0DA8D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17931" y="6511337"/>
              <a:ext cx="216000" cy="216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F4FC347-DD64-638C-015A-7C22311CC7D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98158" y="6494874"/>
              <a:ext cx="252000" cy="25200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0D6E01B1-894A-0EF4-9580-4FE31CF0E02C}"/>
              </a:ext>
            </a:extLst>
          </p:cNvPr>
          <p:cNvSpPr txBox="1"/>
          <p:nvPr userDrawn="1"/>
        </p:nvSpPr>
        <p:spPr>
          <a:xfrm>
            <a:off x="408843" y="6476999"/>
            <a:ext cx="195913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kern="12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Alper Ebicoglu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90" r:id="rId4"/>
    <p:sldLayoutId id="214748369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03" name="VDivider"/>
          <p:cNvSpPr/>
          <p:nvPr/>
        </p:nvSpPr>
        <p:spPr>
          <a:xfrm>
            <a:off x="7025390" y="0"/>
            <a:ext cx="775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417158" y="2069179"/>
            <a:ext cx="6466306" cy="833882"/>
          </a:xfrm>
        </p:spPr>
        <p:txBody>
          <a:bodyPr wrap="square" lIns="0" tIns="0" rIns="0" bIns="0" anchor="t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FFFFF"/>
                </a:solidFill>
              </a:rPr>
              <a:t>Chat With Your Data</a:t>
            </a:r>
            <a:br>
              <a:rPr lang="en-US" sz="5400" b="1" dirty="0">
                <a:solidFill>
                  <a:srgbClr val="FFFFFF"/>
                </a:solidFill>
              </a:rPr>
            </a:br>
            <a:endParaRPr lang="en-US" sz="5400" b="1" dirty="0">
              <a:solidFill>
                <a:srgbClr val="22D3EE"/>
              </a:solidFill>
            </a:endParaRPr>
          </a:p>
        </p:txBody>
      </p:sp>
      <p:sp>
        <p:nvSpPr>
          <p:cNvPr id="601" name="SpeakerName"/>
          <p:cNvSpPr txBox="1"/>
          <p:nvPr/>
        </p:nvSpPr>
        <p:spPr>
          <a:xfrm>
            <a:off x="7646604" y="552125"/>
            <a:ext cx="4331829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Alper </a:t>
            </a:r>
            <a:r>
              <a:rPr lang="en-US" sz="4400" b="1" dirty="0">
                <a:solidFill>
                  <a:srgbClr val="0F172A"/>
                </a:solidFill>
              </a:rPr>
              <a:t>Ebicoglu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403389" y="1346200"/>
            <a:ext cx="2534653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Co-founder 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10237" y="222483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ME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</p:cNvCxnSpPr>
          <p:nvPr/>
        </p:nvCxnSpPr>
        <p:spPr>
          <a:xfrm>
            <a:off x="11309350" y="2938864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34921187-6A26-6252-6656-E00ABA11F032}"/>
              </a:ext>
            </a:extLst>
          </p:cNvPr>
          <p:cNvSpPr txBox="1">
            <a:spLocks/>
          </p:cNvSpPr>
          <p:nvPr/>
        </p:nvSpPr>
        <p:spPr>
          <a:xfrm>
            <a:off x="385513" y="3361020"/>
            <a:ext cx="6130716" cy="2939023"/>
          </a:xfrm>
          <a:prstGeom prst="rect">
            <a:avLst/>
          </a:prstGeom>
        </p:spPr>
        <p:txBody>
          <a:bodyPr vert="horz" wrap="square" lIns="0" tIns="0" rIns="0" bIns="0" rtlCol="0" anchor="t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0F172A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969696"/>
                </a:solidFill>
              </a:rPr>
              <a:t>Building an </a:t>
            </a:r>
            <a:br>
              <a:rPr lang="en-US" sz="5400" b="1" dirty="0">
                <a:solidFill>
                  <a:srgbClr val="969696"/>
                </a:solidFill>
              </a:rPr>
            </a:br>
            <a:r>
              <a:rPr lang="en-US" sz="5400" b="1" dirty="0">
                <a:solidFill>
                  <a:srgbClr val="969696"/>
                </a:solidFill>
              </a:rPr>
              <a:t>AI-Powered </a:t>
            </a:r>
            <a:br>
              <a:rPr lang="en-US" sz="5400" b="1" dirty="0">
                <a:solidFill>
                  <a:srgbClr val="969696"/>
                </a:solidFill>
              </a:rPr>
            </a:br>
            <a:r>
              <a:rPr lang="en-US" sz="5400" b="1" dirty="0">
                <a:solidFill>
                  <a:srgbClr val="969696"/>
                </a:solidFill>
              </a:rPr>
              <a:t>Reporting Tool</a:t>
            </a:r>
            <a:br>
              <a:rPr lang="en-US" sz="5400" b="1" dirty="0">
                <a:solidFill>
                  <a:srgbClr val="969696"/>
                </a:solidFill>
              </a:rPr>
            </a:br>
            <a:r>
              <a:rPr lang="en-US" sz="5400" b="1" dirty="0">
                <a:solidFill>
                  <a:srgbClr val="969696"/>
                </a:solidFill>
              </a:rPr>
              <a:t>with </a:t>
            </a:r>
            <a:r>
              <a:rPr lang="en-US" sz="5400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7" name="RightDiv">
            <a:extLst>
              <a:ext uri="{FF2B5EF4-FFF2-40B4-BE49-F238E27FC236}">
                <a16:creationId xmlns:a16="http://schemas.microsoft.com/office/drawing/2014/main" id="{81A336C0-1FD8-9E05-7B05-6AE3DE21009E}"/>
              </a:ext>
            </a:extLst>
          </p:cNvPr>
          <p:cNvSpPr/>
          <p:nvPr/>
        </p:nvSpPr>
        <p:spPr>
          <a:xfrm>
            <a:off x="418496" y="2934854"/>
            <a:ext cx="6064750" cy="45719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DB2DDE6-6D39-EDF6-D985-9347EAFF6141}"/>
              </a:ext>
            </a:extLst>
          </p:cNvPr>
          <p:cNvGrpSpPr/>
          <p:nvPr/>
        </p:nvGrpSpPr>
        <p:grpSpPr>
          <a:xfrm>
            <a:off x="494672" y="434715"/>
            <a:ext cx="3972394" cy="740703"/>
            <a:chOff x="149902" y="434715"/>
            <a:chExt cx="3972394" cy="74070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F262270-2380-BEC7-8F4D-49B39F8C35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561" y="638426"/>
              <a:ext cx="1227183" cy="399548"/>
            </a:xfrm>
            <a:prstGeom prst="rect">
              <a:avLst/>
            </a:prstGeom>
          </p:spPr>
        </p:pic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007C78D5-35CA-9D43-E2D2-46490500DC37}"/>
                </a:ext>
              </a:extLst>
            </p:cNvPr>
            <p:cNvSpPr txBox="1">
              <a:spLocks/>
            </p:cNvSpPr>
            <p:nvPr/>
          </p:nvSpPr>
          <p:spPr>
            <a:xfrm>
              <a:off x="1571266" y="623658"/>
              <a:ext cx="2538072" cy="525741"/>
            </a:xfrm>
            <a:prstGeom prst="rect">
              <a:avLst/>
            </a:prstGeom>
          </p:spPr>
          <p:txBody>
            <a:bodyPr vert="horz" wrap="square" lIns="0" tIns="0" rIns="0" bIns="0" rtlCol="0" anchor="t">
              <a:normAutofit fontScale="37500" lnSpcReduction="2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rgbClr val="0F172A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>
                <a:lnSpc>
                  <a:spcPct val="100000"/>
                </a:lnSpc>
              </a:pPr>
              <a:r>
                <a:rPr lang="en-US" sz="5400" b="1" dirty="0" err="1">
                  <a:solidFill>
                    <a:srgbClr val="969696"/>
                  </a:solidFill>
                </a:rPr>
                <a:t>WeAreDevelopers</a:t>
              </a:r>
              <a:r>
                <a:rPr lang="en-US" sz="5400" b="1" dirty="0">
                  <a:solidFill>
                    <a:srgbClr val="969696"/>
                  </a:solidFill>
                </a:rPr>
                <a:t> </a:t>
              </a:r>
              <a:br>
                <a:rPr lang="en-US" sz="5400" b="1" dirty="0">
                  <a:solidFill>
                    <a:srgbClr val="969696"/>
                  </a:solidFill>
                </a:rPr>
              </a:br>
              <a:r>
                <a:rPr lang="en-US" sz="5400" b="1" dirty="0">
                  <a:solidFill>
                    <a:srgbClr val="969696"/>
                  </a:solidFill>
                </a:rPr>
                <a:t>North America</a:t>
              </a:r>
              <a:endParaRPr lang="en-US" sz="5400" b="1" dirty="0">
                <a:solidFill>
                  <a:srgbClr val="22D3EE"/>
                </a:solidFill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712C1A16-269B-F665-0962-C7C913DC5BC1}"/>
                </a:ext>
              </a:extLst>
            </p:cNvPr>
            <p:cNvSpPr/>
            <p:nvPr/>
          </p:nvSpPr>
          <p:spPr>
            <a:xfrm>
              <a:off x="149902" y="434715"/>
              <a:ext cx="3972394" cy="740703"/>
            </a:xfrm>
            <a:prstGeom prst="round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AD59F-B057-899E-1AFF-399532420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042182C-5202-A5B5-B30B-61F60072D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3190" y="656250"/>
            <a:ext cx="8269000" cy="62017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3561640-9E1C-6F98-469E-9177CAC8E1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708"/>
          <a:stretch>
            <a:fillRect/>
          </a:stretch>
        </p:blipFill>
        <p:spPr>
          <a:xfrm>
            <a:off x="19809" y="829732"/>
            <a:ext cx="6453627" cy="6028268"/>
          </a:xfrm>
          <a:prstGeom prst="rect">
            <a:avLst/>
          </a:prstGeom>
        </p:spPr>
      </p:pic>
      <p:sp>
        <p:nvSpPr>
          <p:cNvPr id="5" name="SpeakerRole">
            <a:extLst>
              <a:ext uri="{FF2B5EF4-FFF2-40B4-BE49-F238E27FC236}">
                <a16:creationId xmlns:a16="http://schemas.microsoft.com/office/drawing/2014/main" id="{4FD16389-8C1E-9CAF-1AF9-51CAC4A7A69E}"/>
              </a:ext>
            </a:extLst>
          </p:cNvPr>
          <p:cNvSpPr txBox="1"/>
          <p:nvPr/>
        </p:nvSpPr>
        <p:spPr>
          <a:xfrm>
            <a:off x="0" y="0"/>
            <a:ext cx="12259455" cy="993976"/>
          </a:xfrm>
          <a:prstGeom prst="rect">
            <a:avLst/>
          </a:prstGeom>
          <a:solidFill>
            <a:srgbClr val="020919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0" tIns="0" rIns="0" bIns="0" anchor="ctr"/>
          <a:lstStyle/>
          <a:p>
            <a:pPr algn="ctr"/>
            <a:r>
              <a:rPr lang="en-US" sz="2400" dirty="0"/>
              <a:t>The Luis María Peralta Adobe  (</a:t>
            </a:r>
            <a:r>
              <a:rPr lang="en-US" sz="2400" b="1" dirty="0"/>
              <a:t>1797)</a:t>
            </a:r>
            <a:br>
              <a:rPr lang="en-US" sz="2400" b="1" dirty="0"/>
            </a:br>
            <a:r>
              <a:rPr lang="en-US" sz="2400" b="1" dirty="0"/>
              <a:t>T</a:t>
            </a:r>
            <a:r>
              <a:rPr lang="en-US" sz="2400" dirty="0"/>
              <a:t>he </a:t>
            </a:r>
            <a:r>
              <a:rPr lang="en-US" sz="2400" b="1" dirty="0"/>
              <a:t>oldest surviving building in San Jose</a:t>
            </a:r>
            <a:r>
              <a:rPr lang="en-US" sz="2400" dirty="0"/>
              <a:t>.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36E06D-93EE-5504-EE78-7703D19AAE6E}"/>
              </a:ext>
            </a:extLst>
          </p:cNvPr>
          <p:cNvSpPr txBox="1"/>
          <p:nvPr/>
        </p:nvSpPr>
        <p:spPr>
          <a:xfrm>
            <a:off x="19809" y="6501978"/>
            <a:ext cx="52215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rgbClr val="271008"/>
                </a:solidFill>
              </a:rPr>
              <a:t>Credits https://ulleseit.com/local-history-the-peralta-adobe/</a:t>
            </a:r>
          </a:p>
        </p:txBody>
      </p:sp>
    </p:spTree>
    <p:extLst>
      <p:ext uri="{BB962C8B-B14F-4D97-AF65-F5344CB8AC3E}">
        <p14:creationId xmlns:p14="http://schemas.microsoft.com/office/powerpoint/2010/main" val="22483117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D7786E9-AA5F-3ADF-D26C-1E2338F1F36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66" r="10169"/>
          <a:stretch>
            <a:fillRect/>
          </a:stretch>
        </p:blipFill>
        <p:spPr>
          <a:xfrm>
            <a:off x="-1" y="-9975"/>
            <a:ext cx="12192001" cy="715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rgbClr val="FAFBFC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D5AF6E-89B6-877C-7960-D5F8849F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2" t="6988" r="8671" b="58988"/>
          <a:stretch>
            <a:fillRect/>
          </a:stretch>
        </p:blipFill>
        <p:spPr>
          <a:xfrm>
            <a:off x="523415" y="1828800"/>
            <a:ext cx="11051757" cy="287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40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04D36-88E4-8561-DB5F-997433DD8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68871-A7D5-3A80-30DA-418C6BD4ED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276955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Understanding T</a:t>
            </a:r>
            <a:r>
              <a:rPr lang="en-US" sz="4800" b="1" dirty="0">
                <a:solidFill>
                  <a:srgbClr val="0F172A"/>
                </a:solidFill>
              </a:rPr>
              <a:t>he Problem </a:t>
            </a:r>
            <a:r>
              <a:rPr lang="en-US" sz="4800" dirty="0"/>
              <a:t>🤝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203" name="Pain203">
            <a:extLst>
              <a:ext uri="{FF2B5EF4-FFF2-40B4-BE49-F238E27FC236}">
                <a16:creationId xmlns:a16="http://schemas.microsoft.com/office/drawing/2014/main" id="{A1D01431-23C4-4A82-5C9E-91BB5EE4E940}"/>
              </a:ext>
            </a:extLst>
          </p:cNvPr>
          <p:cNvSpPr/>
          <p:nvPr/>
        </p:nvSpPr>
        <p:spPr>
          <a:xfrm>
            <a:off x="0" y="1884978"/>
            <a:ext cx="6435524" cy="3678411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180000" tIns="140000" rIns="180000" bIns="140000" anchor="ctr"/>
          <a:lstStyle/>
          <a:p>
            <a:r>
              <a:rPr lang="en-US" sz="3600" dirty="0">
                <a:solidFill>
                  <a:srgbClr val="0F172A"/>
                </a:solidFill>
              </a:rPr>
              <a:t>Are you a .NET dev?</a:t>
            </a:r>
          </a:p>
          <a:p>
            <a:endParaRPr lang="en-US" sz="3600" dirty="0">
              <a:solidFill>
                <a:srgbClr val="0F172A"/>
              </a:solidFill>
            </a:endParaRPr>
          </a:p>
          <a:p>
            <a:r>
              <a:rPr lang="en-US" sz="3600" dirty="0"/>
              <a:t>Have you written SQL before?</a:t>
            </a:r>
          </a:p>
          <a:p>
            <a:endParaRPr lang="en-US" sz="3600" dirty="0">
              <a:solidFill>
                <a:srgbClr val="0F172A"/>
              </a:solidFill>
            </a:endParaRPr>
          </a:p>
          <a:p>
            <a:r>
              <a:rPr lang="en-US" sz="3600" dirty="0"/>
              <a:t>Have you created a reporting screen before?</a:t>
            </a:r>
            <a:endParaRPr lang="en-US" sz="3600" dirty="0">
              <a:solidFill>
                <a:srgbClr val="475569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009FAD-49C2-10C7-DB83-ADDF7122AD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9706" y="1884978"/>
            <a:ext cx="5161551" cy="3890789"/>
          </a:xfrm>
          <a:prstGeom prst="rect">
            <a:avLst/>
          </a:prstGeom>
          <a:ln w="5715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08E12A3-2BEF-D01C-0556-6454325D05EA}"/>
              </a:ext>
            </a:extLst>
          </p:cNvPr>
          <p:cNvSpPr txBox="1"/>
          <p:nvPr/>
        </p:nvSpPr>
        <p:spPr>
          <a:xfrm>
            <a:off x="7749977" y="1684923"/>
            <a:ext cx="3188328" cy="40011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SQL Server Commercial</a:t>
            </a:r>
            <a:endParaRPr lang="en-US" sz="900" dirty="0">
              <a:solidFill>
                <a:schemeClr val="bg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9C3A2B-230C-B53C-9860-FEA754CB078F}"/>
              </a:ext>
            </a:extLst>
          </p:cNvPr>
          <p:cNvCxnSpPr/>
          <p:nvPr/>
        </p:nvCxnSpPr>
        <p:spPr>
          <a:xfrm>
            <a:off x="294968" y="2645621"/>
            <a:ext cx="466459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B662828-9628-EF89-9E7F-5EE9C651FDA0}"/>
              </a:ext>
            </a:extLst>
          </p:cNvPr>
          <p:cNvCxnSpPr/>
          <p:nvPr/>
        </p:nvCxnSpPr>
        <p:spPr>
          <a:xfrm>
            <a:off x="294968" y="4372178"/>
            <a:ext cx="466459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3366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5170C-886C-7A37-EAA7-D9A6EBC32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52452-5C32-4FAA-6F38-AE7C3503AAE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21520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AI Era: Adapt or Fall Behind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1D5246-277B-EB8A-64FA-8243DE73A5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684"/>
          <a:stretch>
            <a:fillRect/>
          </a:stretch>
        </p:blipFill>
        <p:spPr>
          <a:xfrm>
            <a:off x="411126" y="1284549"/>
            <a:ext cx="10915025" cy="46954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4EE6060-0E00-07CE-F11A-D891CDBB0B72}"/>
              </a:ext>
            </a:extLst>
          </p:cNvPr>
          <p:cNvSpPr txBox="1"/>
          <p:nvPr/>
        </p:nvSpPr>
        <p:spPr>
          <a:xfrm>
            <a:off x="411126" y="6069026"/>
            <a:ext cx="494625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>
                <a:solidFill>
                  <a:srgbClr val="969696"/>
                </a:solidFill>
              </a:rPr>
              <a:t>Source: </a:t>
            </a:r>
            <a:r>
              <a:rPr lang="en-US" sz="1100" i="1" dirty="0" err="1">
                <a:solidFill>
                  <a:srgbClr val="969696"/>
                </a:solidFill>
              </a:rPr>
              <a:t>SQLAuthority</a:t>
            </a:r>
            <a:r>
              <a:rPr lang="en-US" sz="1100" i="1" dirty="0">
                <a:solidFill>
                  <a:srgbClr val="969696"/>
                </a:solidFill>
              </a:rPr>
              <a:t> blog, Apr 24, 2026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55DC12-CF3C-4772-AE36-5F1DEC72E869}"/>
              </a:ext>
            </a:extLst>
          </p:cNvPr>
          <p:cNvSpPr/>
          <p:nvPr/>
        </p:nvSpPr>
        <p:spPr>
          <a:xfrm>
            <a:off x="8076023" y="3641416"/>
            <a:ext cx="3366286" cy="240333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Pinal Dave, known for decades of SQL expertise, is now using AI to help people understand and work with data faster</a:t>
            </a:r>
          </a:p>
        </p:txBody>
      </p:sp>
    </p:spTree>
    <p:extLst>
      <p:ext uri="{BB962C8B-B14F-4D97-AF65-F5344CB8AC3E}">
        <p14:creationId xmlns:p14="http://schemas.microsoft.com/office/powerpoint/2010/main" val="4067985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02A3A-127F-A1FE-FD76-B062BC24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0BB39-2910-DC02-6444-5006FB390A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Reporting Challenge</a:t>
            </a:r>
          </a:p>
        </p:txBody>
      </p:sp>
      <p:sp>
        <p:nvSpPr>
          <p:cNvPr id="202" name="Pain202">
            <a:extLst>
              <a:ext uri="{FF2B5EF4-FFF2-40B4-BE49-F238E27FC236}">
                <a16:creationId xmlns:a16="http://schemas.microsoft.com/office/drawing/2014/main" id="{38585C81-7A57-9BAA-AE81-72FD4F1CF738}"/>
              </a:ext>
            </a:extLst>
          </p:cNvPr>
          <p:cNvSpPr/>
          <p:nvPr/>
        </p:nvSpPr>
        <p:spPr>
          <a:xfrm>
            <a:off x="294970" y="4362335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Developers: </a:t>
            </a:r>
            <a:r>
              <a:rPr lang="en-US" sz="2400" b="1" dirty="0">
                <a:solidFill>
                  <a:srgbClr val="FF0000"/>
                </a:solidFill>
              </a:rPr>
              <a:t>bottleneck</a:t>
            </a:r>
          </a:p>
          <a:p>
            <a:pPr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real value is trapped behind technical gatekeepers</a:t>
            </a:r>
            <a:br>
              <a:rPr lang="en-US" dirty="0">
                <a:solidFill>
                  <a:srgbClr val="475569"/>
                </a:solidFill>
              </a:rPr>
            </a:b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>
            <a:extLst>
              <a:ext uri="{FF2B5EF4-FFF2-40B4-BE49-F238E27FC236}">
                <a16:creationId xmlns:a16="http://schemas.microsoft.com/office/drawing/2014/main" id="{F8B233AB-A087-BB03-5B42-8A618FE005AE}"/>
              </a:ext>
            </a:extLst>
          </p:cNvPr>
          <p:cNvSpPr/>
          <p:nvPr/>
        </p:nvSpPr>
        <p:spPr>
          <a:xfrm>
            <a:off x="294968" y="1690688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Reporting tools: </a:t>
            </a:r>
            <a:r>
              <a:rPr lang="en-US" sz="2400" b="1" dirty="0">
                <a:solidFill>
                  <a:srgbClr val="FF0000"/>
                </a:solidFill>
              </a:rPr>
              <a:t>rigid</a:t>
            </a:r>
          </a:p>
          <a:p>
            <a:pPr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Power BI, Salesforce, Qlik, SAP Analytics 👉 Create ticket for a new report</a:t>
            </a:r>
          </a:p>
        </p:txBody>
      </p:sp>
      <p:sp>
        <p:nvSpPr>
          <p:cNvPr id="204" name="Pain204">
            <a:extLst>
              <a:ext uri="{FF2B5EF4-FFF2-40B4-BE49-F238E27FC236}">
                <a16:creationId xmlns:a16="http://schemas.microsoft.com/office/drawing/2014/main" id="{B1AE5642-E23F-DB60-2290-044D86D4438B}"/>
              </a:ext>
            </a:extLst>
          </p:cNvPr>
          <p:cNvSpPr/>
          <p:nvPr/>
        </p:nvSpPr>
        <p:spPr>
          <a:xfrm>
            <a:off x="294968" y="3026511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Implementing custom report: </a:t>
            </a:r>
            <a:r>
              <a:rPr lang="en-US" sz="2400" b="1" dirty="0">
                <a:solidFill>
                  <a:srgbClr val="FF0000"/>
                </a:solidFill>
              </a:rPr>
              <a:t>slow</a:t>
            </a:r>
            <a:endParaRPr lang="en-US" sz="2400" b="1" u="sng" dirty="0">
              <a:solidFill>
                <a:srgbClr val="FF0000"/>
              </a:solidFill>
            </a:endParaRPr>
          </a:p>
          <a:p>
            <a:pPr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Writing SQL, Page Design, Testing, Deployment 👉 Needs too much things</a:t>
            </a:r>
          </a:p>
        </p:txBody>
      </p:sp>
      <p:sp>
        <p:nvSpPr>
          <p:cNvPr id="3" name="HookCard">
            <a:extLst>
              <a:ext uri="{FF2B5EF4-FFF2-40B4-BE49-F238E27FC236}">
                <a16:creationId xmlns:a16="http://schemas.microsoft.com/office/drawing/2014/main" id="{C21A7716-41B5-A186-7F6F-1F31AFDDFBF5}"/>
              </a:ext>
            </a:extLst>
          </p:cNvPr>
          <p:cNvSpPr/>
          <p:nvPr/>
        </p:nvSpPr>
        <p:spPr>
          <a:xfrm>
            <a:off x="9438968" y="1606339"/>
            <a:ext cx="2458062" cy="3983344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r"/>
            <a:endParaRPr lang="en-US" sz="3600" b="1" dirty="0">
              <a:solidFill>
                <a:srgbClr val="0F172A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DC2E42-54A8-3E94-5F9C-964AE67C2130}"/>
              </a:ext>
            </a:extLst>
          </p:cNvPr>
          <p:cNvSpPr txBox="1"/>
          <p:nvPr/>
        </p:nvSpPr>
        <p:spPr>
          <a:xfrm>
            <a:off x="9438968" y="2166850"/>
            <a:ext cx="26020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F172A"/>
                </a:solidFill>
              </a:rPr>
              <a:t>Data is </a:t>
            </a:r>
            <a:r>
              <a:rPr lang="en-US" sz="3600" b="1" dirty="0">
                <a:solidFill>
                  <a:srgbClr val="FF0000"/>
                </a:solidFill>
              </a:rPr>
              <a:t>locked</a:t>
            </a:r>
            <a:r>
              <a:rPr lang="en-US" sz="3600" b="1" dirty="0">
                <a:solidFill>
                  <a:srgbClr val="0F172A"/>
                </a:solidFill>
              </a:rPr>
              <a:t> behind technical curtains!</a:t>
            </a:r>
          </a:p>
        </p:txBody>
      </p:sp>
    </p:spTree>
    <p:extLst>
      <p:ext uri="{BB962C8B-B14F-4D97-AF65-F5344CB8AC3E}">
        <p14:creationId xmlns:p14="http://schemas.microsoft.com/office/powerpoint/2010/main" val="2494806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74421564-AFB6-A882-9D32-6CFD32A6A777}"/>
              </a:ext>
            </a:extLst>
          </p:cNvPr>
          <p:cNvSpPr/>
          <p:nvPr/>
        </p:nvSpPr>
        <p:spPr>
          <a:xfrm>
            <a:off x="73744" y="911168"/>
            <a:ext cx="12118256" cy="45277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chemeClr val="bg1"/>
                </a:solidFill>
              </a:rPr>
              <a:t>What if you could </a:t>
            </a:r>
            <a:br>
              <a:rPr lang="en-US" sz="6600" b="1" dirty="0">
                <a:solidFill>
                  <a:schemeClr val="bg1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your database?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231" y="30621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bg1">
                    <a:lumMod val="25000"/>
                  </a:schemeClr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bg1">
                    <a:lumMod val="25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bg1">
                    <a:lumMod val="25000"/>
                  </a:schemeClr>
                </a:solidFill>
              </a:rPr>
              <a:t>03</a:t>
            </a:r>
          </a:p>
          <a:p>
            <a:pPr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 🤖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bg1">
                    <a:lumMod val="25000"/>
                  </a:schemeClr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bg1">
                    <a:lumMod val="25000"/>
                  </a:schemeClr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756478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bg1">
                    <a:lumMod val="25000"/>
                  </a:schemeClr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r>
              <a:rPr lang="en-US" sz="24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sz="2000" dirty="0">
                <a:solidFill>
                  <a:srgbClr val="94A3B8"/>
                </a:solidFill>
                <a:latin typeface="Consolas"/>
              </a:rPr>
              <a:t>     </a:t>
            </a:r>
            <a:r>
              <a:rPr lang="en-US" sz="24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6" y="3672191"/>
            <a:ext cx="1746181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chemeClr val="bg1">
                    <a:lumMod val="25000"/>
                  </a:schemeClr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0" y="3323968"/>
            <a:ext cx="4899796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1312758" y="2403904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  <p:sp>
        <p:nvSpPr>
          <p:cNvPr id="4" name="Arr1">
            <a:extLst>
              <a:ext uri="{FF2B5EF4-FFF2-40B4-BE49-F238E27FC236}">
                <a16:creationId xmlns:a16="http://schemas.microsoft.com/office/drawing/2014/main" id="{CC055861-FBC1-3080-75B8-5020F7F83ED8}"/>
              </a:ext>
            </a:extLst>
          </p:cNvPr>
          <p:cNvSpPr/>
          <p:nvPr/>
        </p:nvSpPr>
        <p:spPr>
          <a:xfrm>
            <a:off x="7480300" y="5298131"/>
            <a:ext cx="419100" cy="4190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4128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&amp; System Prompt</a:t>
            </a:r>
          </a:p>
        </p:txBody>
      </p:sp>
      <p:sp>
        <p:nvSpPr>
          <p:cNvPr id="400" name="LeftCard"/>
          <p:cNvSpPr/>
          <p:nvPr/>
        </p:nvSpPr>
        <p:spPr>
          <a:xfrm>
            <a:off x="406400" y="1479550"/>
            <a:ext cx="6667500" cy="4035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0F172A"/>
            </a:solidFill>
          </a:ln>
        </p:spPr>
        <p:txBody>
          <a:bodyPr wrap="square" lIns="240000" tIns="200000" rIns="240000" bIns="200000" anchor="t"/>
          <a:lstStyle/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891B2"/>
                </a:solidFill>
              </a:rPr>
              <a:t>TEACH THE AI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32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32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32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32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3200" i="1" dirty="0">
                <a:solidFill>
                  <a:srgbClr val="334155"/>
                </a:solidFill>
              </a:rPr>
              <a:t>Optional: sample values</a:t>
            </a:r>
            <a:br>
              <a:rPr lang="en-US" sz="2800" dirty="0">
                <a:solidFill>
                  <a:srgbClr val="334155"/>
                </a:solidFill>
              </a:rPr>
            </a:br>
            <a:endParaRPr lang="en-US" sz="2800" dirty="0">
              <a:solidFill>
                <a:srgbClr val="334155"/>
              </a:solidFill>
            </a:endParaRPr>
          </a:p>
        </p:txBody>
      </p:sp>
      <p:sp>
        <p:nvSpPr>
          <p:cNvPr id="401" name="RightCard"/>
          <p:cNvSpPr/>
          <p:nvPr/>
        </p:nvSpPr>
        <p:spPr>
          <a:xfrm>
            <a:off x="6223000" y="1479550"/>
            <a:ext cx="5562600" cy="4042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200" b="1" spc="300" dirty="0">
                <a:solidFill>
                  <a:srgbClr val="22D3EE"/>
                </a:solidFill>
              </a:rPr>
              <a:t>WRITE THE RULES</a:t>
            </a:r>
            <a:endParaRPr lang="en-US" sz="3200" b="1" dirty="0">
              <a:solidFill>
                <a:srgbClr val="FFFFFF"/>
              </a:solidFill>
            </a:endParaRPr>
          </a:p>
          <a:p>
            <a:pPr>
              <a:spcBef>
                <a:spcPts val="800"/>
              </a:spcBef>
            </a:pPr>
            <a:r>
              <a:rPr lang="en-US" sz="2000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60B58A-A411-8E7E-C1B6-7B7E005995DA}"/>
              </a:ext>
            </a:extLst>
          </p:cNvPr>
          <p:cNvSpPr txBox="1"/>
          <p:nvPr/>
        </p:nvSpPr>
        <p:spPr>
          <a:xfrm>
            <a:off x="406400" y="5720834"/>
            <a:ext cx="112709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</a:pPr>
            <a:r>
              <a:rPr lang="en-US" sz="2000" i="1" dirty="0">
                <a:solidFill>
                  <a:srgbClr val="64748B"/>
                </a:solidFill>
              </a:rPr>
              <a:t>Without schema, the LLM will guess!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29325" y="1911350"/>
            <a:ext cx="4752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1850" y="2330062"/>
            <a:ext cx="10515600" cy="295863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500" b="1" dirty="0">
                <a:solidFill>
                  <a:srgbClr val="FFFFFF"/>
                </a:solidFill>
              </a:rPr>
              <a:t>Demo</a:t>
            </a:r>
          </a:p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A Simple .NET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831850" y="2050663"/>
            <a:ext cx="6853298" cy="558799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CHAT WITH YOUR DATA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BF4189-844E-C8D9-D73B-DD7B8585FBE3}"/>
              </a:ext>
            </a:extLst>
          </p:cNvPr>
          <p:cNvGrpSpPr/>
          <p:nvPr/>
        </p:nvGrpSpPr>
        <p:grpSpPr>
          <a:xfrm>
            <a:off x="5307013" y="3429000"/>
            <a:ext cx="1651000" cy="457200"/>
            <a:chOff x="889000" y="1429656"/>
            <a:chExt cx="1651000" cy="457200"/>
          </a:xfrm>
        </p:grpSpPr>
        <p:sp>
          <p:nvSpPr>
            <p:cNvPr id="12" name="LiveBadge">
              <a:extLst>
                <a:ext uri="{FF2B5EF4-FFF2-40B4-BE49-F238E27FC236}">
                  <a16:creationId xmlns:a16="http://schemas.microsoft.com/office/drawing/2014/main" id="{B1DE4706-7C9E-FB03-11A8-AD13184D2821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13" name="Graphic 12" descr="Presentation with media with solid fill">
              <a:extLst>
                <a:ext uri="{FF2B5EF4-FFF2-40B4-BE49-F238E27FC236}">
                  <a16:creationId xmlns:a16="http://schemas.microsoft.com/office/drawing/2014/main" id="{37193B5B-7B8B-D404-8310-414F52FF0D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621274" y="-217358"/>
            <a:ext cx="10379675" cy="68579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EA5717-A111-E735-E4B3-A14B746AAC13}"/>
              </a:ext>
            </a:extLst>
          </p:cNvPr>
          <p:cNvSpPr txBox="1"/>
          <p:nvPr/>
        </p:nvSpPr>
        <p:spPr>
          <a:xfrm>
            <a:off x="621274" y="6153463"/>
            <a:ext cx="761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inspectable |  testable | replaceable | enterprise-friendly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AFE83-7C0D-41CA-9B5E-DAE73D62EBD4}"/>
              </a:ext>
            </a:extLst>
          </p:cNvPr>
          <p:cNvSpPr txBox="1"/>
          <p:nvPr/>
        </p:nvSpPr>
        <p:spPr>
          <a:xfrm>
            <a:off x="11174842" y="366222"/>
            <a:ext cx="492443" cy="6125555"/>
          </a:xfrm>
          <a:prstGeom prst="rect">
            <a:avLst/>
          </a:prstGeom>
          <a:noFill/>
        </p:spPr>
        <p:txBody>
          <a:bodyPr vert="vert"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AI starts being a software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 👌🏻 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config[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2 — Blazor Web App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65531" y="826718"/>
            <a:ext cx="12118974" cy="476128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26203" y="2045376"/>
            <a:ext cx="10722919" cy="217247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FFFFFF"/>
                </a:solidFill>
              </a:rPr>
              <a:t>Let's turn this </a:t>
            </a:r>
            <a:br>
              <a:rPr lang="en-US" sz="6600" b="1" dirty="0">
                <a:solidFill>
                  <a:srgbClr val="FFFFFF"/>
                </a:solidFill>
              </a:rPr>
            </a:br>
            <a:r>
              <a:rPr lang="en-US" sz="6600" b="1" dirty="0">
                <a:solidFill>
                  <a:srgbClr val="FFFFFF"/>
                </a:solidFill>
              </a:rPr>
              <a:t>into a </a:t>
            </a:r>
            <a:r>
              <a:rPr lang="en-US" sz="6600" b="1" i="1" dirty="0">
                <a:solidFill>
                  <a:srgbClr val="22D3EE"/>
                </a:solidFill>
              </a:rPr>
              <a:t>real  </a:t>
            </a:r>
            <a:r>
              <a:rPr lang="en-US" sz="66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but this time </a:t>
            </a:r>
            <a:r>
              <a:rPr lang="en-US" u="sng" dirty="0">
                <a:solidFill>
                  <a:srgbClr val="94A3B8"/>
                </a:solidFill>
              </a:rPr>
              <a:t>with interactive v</a:t>
            </a:r>
            <a:r>
              <a:rPr lang="en-US" sz="1800" u="sng" dirty="0">
                <a:solidFill>
                  <a:srgbClr val="94A3B8"/>
                </a:solidFill>
              </a:rPr>
              <a:t>oice</a:t>
            </a:r>
            <a:r>
              <a:rPr lang="en-US" b="1" u="sng" dirty="0">
                <a:solidFill>
                  <a:srgbClr val="94A3B8"/>
                </a:solidFill>
              </a:rPr>
              <a:t> </a:t>
            </a:r>
            <a:r>
              <a:rPr lang="en-US" dirty="0">
                <a:solidFill>
                  <a:srgbClr val="94A3B8"/>
                </a:solidFill>
              </a:rPr>
              <a:t> | Blazor Server</a:t>
            </a:r>
            <a:endParaRPr lang="en-US" sz="1800" dirty="0">
              <a:solidFill>
                <a:srgbClr val="94A3B8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355339"/>
            <a:ext cx="6184900" cy="55879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TALK TO YOUR DATA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016000" y="1269999"/>
            <a:ext cx="5442945" cy="853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CA86898-2F04-314A-AD0D-C467D9C91776}"/>
              </a:ext>
            </a:extLst>
          </p:cNvPr>
          <p:cNvGrpSpPr/>
          <p:nvPr/>
        </p:nvGrpSpPr>
        <p:grpSpPr>
          <a:xfrm>
            <a:off x="1051010" y="4349088"/>
            <a:ext cx="1679521" cy="457200"/>
            <a:chOff x="6898983" y="1781651"/>
            <a:chExt cx="1493545" cy="457200"/>
          </a:xfrm>
        </p:grpSpPr>
        <p:sp>
          <p:nvSpPr>
            <p:cNvPr id="6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6898983" y="1781651"/>
              <a:ext cx="1493545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r"/>
              <a:r>
                <a:rPr lang="en-US" b="1" spc="300" dirty="0">
                  <a:solidFill>
                    <a:srgbClr val="FFFFFF"/>
                  </a:solidFill>
                </a:rPr>
                <a:t>     LIVE</a:t>
              </a:r>
            </a:p>
          </p:txBody>
        </p:sp>
        <p:pic>
          <p:nvPicPr>
            <p:cNvPr id="7" name="Graphic 6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137470" y="1831590"/>
              <a:ext cx="394735" cy="394735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6C9AF8B-02B6-3AA4-180D-80CA0C8A3804}"/>
              </a:ext>
            </a:extLst>
          </p:cNvPr>
          <p:cNvSpPr txBox="1"/>
          <p:nvPr/>
        </p:nvSpPr>
        <p:spPr>
          <a:xfrm>
            <a:off x="11327722" y="1072510"/>
            <a:ext cx="400110" cy="4269698"/>
          </a:xfrm>
          <a:prstGeom prst="rect">
            <a:avLst/>
          </a:prstGeom>
          <a:noFill/>
        </p:spPr>
        <p:txBody>
          <a:bodyPr vert="vert" wrap="square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this’s what you'd actually ship to business users</a:t>
            </a:r>
          </a:p>
        </p:txBody>
      </p: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5743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55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412955" y="1853554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412955" y="4000108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033" y="-12263"/>
            <a:ext cx="10515600" cy="1006003"/>
          </a:xfrm>
        </p:spPr>
        <p:txBody>
          <a:bodyPr>
            <a:normAutofit/>
          </a:bodyPr>
          <a:lstStyle/>
          <a:p>
            <a:r>
              <a:rPr lang="en-US" sz="4800" b="1" dirty="0"/>
              <a:t>Challenges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0" name="Chal"/>
          <p:cNvSpPr/>
          <p:nvPr/>
        </p:nvSpPr>
        <p:spPr>
          <a:xfrm>
            <a:off x="486033" y="914400"/>
            <a:ext cx="11219934" cy="5303520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ctr"/>
          <a:lstStyle/>
          <a:p>
            <a:pPr>
              <a:spcBef>
                <a:spcPts val="700"/>
              </a:spcBef>
            </a:pPr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 </a:t>
            </a:r>
            <a:r>
              <a:rPr lang="en-US" sz="3200" b="1" dirty="0">
                <a:solidFill>
                  <a:srgbClr val="0F172A"/>
                </a:solidFill>
              </a:rPr>
              <a:t>Multi-tenancy &amp; permissions </a:t>
            </a:r>
            <a:br>
              <a:rPr lang="en-US" sz="3400" b="1" dirty="0">
                <a:solidFill>
                  <a:srgbClr val="0F172A"/>
                </a:solidFill>
              </a:rPr>
            </a:br>
            <a:r>
              <a:rPr lang="en-US" sz="3400" b="1" dirty="0">
                <a:solidFill>
                  <a:srgbClr val="0F172A"/>
                </a:solidFill>
              </a:rPr>
              <a:t>      </a:t>
            </a:r>
            <a:r>
              <a:rPr lang="en-US" sz="2800" dirty="0">
                <a:solidFill>
                  <a:srgbClr val="64748B"/>
                </a:solidFill>
              </a:rPr>
              <a:t>Separate conn-string with roles, sub-</a:t>
            </a:r>
            <a:r>
              <a:rPr lang="en-US" sz="2800" dirty="0" err="1">
                <a:solidFill>
                  <a:srgbClr val="64748B"/>
                </a:solidFill>
              </a:rPr>
              <a:t>db</a:t>
            </a:r>
            <a:r>
              <a:rPr lang="en-US" sz="2800" dirty="0">
                <a:solidFill>
                  <a:srgbClr val="64748B"/>
                </a:solidFill>
              </a:rPr>
              <a:t>, views, </a:t>
            </a:r>
            <a:r>
              <a:rPr lang="en-US" sz="2800" dirty="0" err="1">
                <a:solidFill>
                  <a:srgbClr val="64748B"/>
                </a:solidFill>
              </a:rPr>
              <a:t>TenantId</a:t>
            </a:r>
            <a:endParaRPr lang="en-US" sz="2800" b="1" dirty="0">
              <a:solidFill>
                <a:srgbClr val="0F172A"/>
              </a:solidFill>
            </a:endParaRPr>
          </a:p>
          <a:p>
            <a:pPr>
              <a:spcBef>
                <a:spcPts val="400"/>
              </a:spcBef>
            </a:pPr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200" b="1" dirty="0"/>
              <a:t> </a:t>
            </a:r>
            <a:r>
              <a:rPr lang="en-US" sz="3200" b="1" dirty="0">
                <a:solidFill>
                  <a:srgbClr val="0F172A"/>
                </a:solidFill>
              </a:rPr>
              <a:t>Hallucination </a:t>
            </a:r>
            <a:br>
              <a:rPr lang="en-US" sz="34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  </a:t>
            </a:r>
            <a:r>
              <a:rPr lang="en-US" sz="2800" dirty="0">
                <a:solidFill>
                  <a:srgbClr val="64748B"/>
                </a:solidFill>
              </a:rPr>
              <a:t>Only tables in the prompt ➡ all others via </a:t>
            </a:r>
            <a:r>
              <a:rPr lang="en-US" sz="2800" i="1" dirty="0">
                <a:solidFill>
                  <a:srgbClr val="64748B"/>
                </a:solidFill>
              </a:rPr>
              <a:t>MCP</a:t>
            </a:r>
            <a:endParaRPr lang="en-US" sz="2800" dirty="0">
              <a:solidFill>
                <a:srgbClr val="64748B"/>
              </a:solidFill>
            </a:endParaRPr>
          </a:p>
          <a:p>
            <a:pPr>
              <a:spcBef>
                <a:spcPts val="400"/>
              </a:spcBef>
            </a:pPr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200" b="1" dirty="0"/>
              <a:t> </a:t>
            </a:r>
            <a:r>
              <a:rPr lang="en-US" sz="3200" b="1" dirty="0">
                <a:solidFill>
                  <a:srgbClr val="0F172A"/>
                </a:solidFill>
              </a:rPr>
              <a:t>Ambiguous questions </a:t>
            </a:r>
            <a:br>
              <a:rPr lang="en-US" sz="3200" b="1" dirty="0">
                <a:solidFill>
                  <a:srgbClr val="0F172A"/>
                </a:solidFill>
              </a:rPr>
            </a:br>
            <a:r>
              <a:rPr lang="en-US" sz="3200" b="1" dirty="0">
                <a:solidFill>
                  <a:srgbClr val="0F172A"/>
                </a:solidFill>
              </a:rPr>
              <a:t>      </a:t>
            </a:r>
            <a:r>
              <a:rPr lang="en-US" sz="2800" dirty="0">
                <a:solidFill>
                  <a:srgbClr val="64748B"/>
                </a:solidFill>
              </a:rPr>
              <a:t>“best </a:t>
            </a:r>
            <a:r>
              <a:rPr lang="en-US" sz="2800" dirty="0" err="1">
                <a:solidFill>
                  <a:srgbClr val="64748B"/>
                </a:solidFill>
              </a:rPr>
              <a:t>month”,“good</a:t>
            </a:r>
            <a:r>
              <a:rPr lang="en-US" sz="2800" dirty="0">
                <a:solidFill>
                  <a:srgbClr val="64748B"/>
                </a:solidFill>
              </a:rPr>
              <a:t> song”</a:t>
            </a:r>
          </a:p>
          <a:p>
            <a:pPr>
              <a:spcBef>
                <a:spcPts val="400"/>
              </a:spcBef>
            </a:pPr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200" b="1" dirty="0"/>
              <a:t> </a:t>
            </a:r>
            <a:r>
              <a:rPr lang="en-US" sz="3200" b="1" dirty="0">
                <a:solidFill>
                  <a:srgbClr val="0F172A"/>
                </a:solidFill>
              </a:rPr>
              <a:t>Cost &amp; Latency</a:t>
            </a:r>
            <a:br>
              <a:rPr lang="en-US" sz="3400" b="1" dirty="0">
                <a:solidFill>
                  <a:srgbClr val="0F172A"/>
                </a:solidFill>
              </a:rPr>
            </a:br>
            <a:r>
              <a:rPr lang="en-US" sz="3400" b="1" dirty="0">
                <a:solidFill>
                  <a:srgbClr val="0F172A"/>
                </a:solidFill>
              </a:rPr>
              <a:t>     </a:t>
            </a:r>
            <a:r>
              <a:rPr lang="en-US" sz="2800" dirty="0">
                <a:solidFill>
                  <a:srgbClr val="64748B"/>
                </a:solidFill>
              </a:rPr>
              <a:t>Cache aggressively</a:t>
            </a:r>
          </a:p>
          <a:p>
            <a:pPr>
              <a:spcBef>
                <a:spcPts val="400"/>
              </a:spcBef>
            </a:pPr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200" b="1" dirty="0"/>
              <a:t> </a:t>
            </a:r>
            <a:r>
              <a:rPr lang="en-US" sz="3200" b="1" dirty="0">
                <a:solidFill>
                  <a:srgbClr val="0F172A"/>
                </a:solidFill>
              </a:rPr>
              <a:t>Privacy concerns </a:t>
            </a:r>
            <a:br>
              <a:rPr lang="en-US" sz="34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64748B"/>
                </a:solidFill>
              </a:rPr>
              <a:t>      </a:t>
            </a:r>
            <a:r>
              <a:rPr lang="en-US" sz="2800" dirty="0">
                <a:solidFill>
                  <a:srgbClr val="64748B"/>
                </a:solidFill>
              </a:rPr>
              <a:t>Only schema or </a:t>
            </a:r>
            <a:r>
              <a:rPr lang="en-US" sz="2800" dirty="0" err="1">
                <a:solidFill>
                  <a:srgbClr val="64748B"/>
                </a:solidFill>
              </a:rPr>
              <a:t>Ollama</a:t>
            </a:r>
            <a:endParaRPr lang="en-US" sz="2800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E1FFA-C6E2-1595-49D5-EA4DC238E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D4FD-0D7E-473D-F84A-E51D1F538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914" y="102902"/>
            <a:ext cx="10515600" cy="954164"/>
          </a:xfrm>
        </p:spPr>
        <p:txBody>
          <a:bodyPr>
            <a:normAutofit/>
          </a:bodyPr>
          <a:lstStyle/>
          <a:p>
            <a:r>
              <a:rPr lang="en-US" sz="4800" b="1" dirty="0"/>
              <a:t>Best Practices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1" name="BP">
            <a:extLst>
              <a:ext uri="{FF2B5EF4-FFF2-40B4-BE49-F238E27FC236}">
                <a16:creationId xmlns:a16="http://schemas.microsoft.com/office/drawing/2014/main" id="{1AE2789D-4499-7160-E5B7-4A14E5124A65}"/>
              </a:ext>
            </a:extLst>
          </p:cNvPr>
          <p:cNvSpPr/>
          <p:nvPr/>
        </p:nvSpPr>
        <p:spPr>
          <a:xfrm>
            <a:off x="460408" y="1199213"/>
            <a:ext cx="11236292" cy="4593671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ctr"/>
          <a:lstStyle/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200" b="1" dirty="0">
                <a:solidFill>
                  <a:srgbClr val="00B050"/>
                </a:solidFill>
              </a:rPr>
              <a:t>✓</a:t>
            </a:r>
            <a:r>
              <a:rPr lang="en-US" sz="4000" b="1" dirty="0"/>
              <a:t> </a:t>
            </a:r>
            <a:r>
              <a:rPr lang="en-US" sz="3200" b="1" dirty="0">
                <a:solidFill>
                  <a:srgbClr val="0F172A"/>
                </a:solidFill>
              </a:rPr>
              <a:t>Validate queries </a:t>
            </a:r>
            <a:r>
              <a:rPr lang="en-US" sz="2800" dirty="0">
                <a:solidFill>
                  <a:srgbClr val="475569"/>
                </a:solidFill>
              </a:rPr>
              <a:t>block unsafe ones</a:t>
            </a:r>
            <a:br>
              <a:rPr lang="en-US" sz="2800" dirty="0">
                <a:solidFill>
                  <a:srgbClr val="475569"/>
                </a:solidFill>
              </a:rPr>
            </a:br>
            <a:r>
              <a:rPr lang="en-US" sz="3200" b="1" dirty="0">
                <a:solidFill>
                  <a:srgbClr val="00B050"/>
                </a:solidFill>
              </a:rPr>
              <a:t>✓</a:t>
            </a:r>
            <a:r>
              <a:rPr lang="en-US" sz="4000" b="1" dirty="0">
                <a:solidFill>
                  <a:srgbClr val="00B050"/>
                </a:solidFill>
              </a:rPr>
              <a:t> </a:t>
            </a:r>
            <a:r>
              <a:rPr lang="en-US" sz="3200" b="1" dirty="0">
                <a:solidFill>
                  <a:srgbClr val="0F172A"/>
                </a:solidFill>
              </a:rPr>
              <a:t>Read-only DB user </a:t>
            </a:r>
            <a:r>
              <a:rPr lang="en-US" sz="2800" dirty="0">
                <a:solidFill>
                  <a:srgbClr val="475569"/>
                </a:solidFill>
              </a:rPr>
              <a:t>for the connection string</a:t>
            </a:r>
            <a:br>
              <a:rPr lang="en-US" sz="2800" dirty="0">
                <a:solidFill>
                  <a:srgbClr val="475569"/>
                </a:solidFill>
              </a:rPr>
            </a:br>
            <a:r>
              <a:rPr lang="en-US" sz="3200" b="1" dirty="0">
                <a:solidFill>
                  <a:srgbClr val="00B050"/>
                </a:solidFill>
              </a:rPr>
              <a:t>✓</a:t>
            </a:r>
            <a:r>
              <a:rPr lang="en-US" sz="3600" b="1" dirty="0">
                <a:solidFill>
                  <a:srgbClr val="00B050"/>
                </a:solidFill>
              </a:rPr>
              <a:t> </a:t>
            </a:r>
            <a:r>
              <a:rPr lang="en-US" sz="3200" b="1" dirty="0"/>
              <a:t>Human in the loop </a:t>
            </a:r>
            <a:r>
              <a:rPr lang="en-US" sz="2800" dirty="0">
                <a:solidFill>
                  <a:srgbClr val="475569"/>
                </a:solidFill>
              </a:rPr>
              <a:t>approval before execution</a:t>
            </a:r>
            <a:br>
              <a:rPr lang="en-US" sz="2800" dirty="0">
                <a:solidFill>
                  <a:srgbClr val="475569"/>
                </a:solidFill>
              </a:rPr>
            </a:br>
            <a:r>
              <a:rPr lang="en-US" sz="3200" b="1" dirty="0">
                <a:solidFill>
                  <a:srgbClr val="00B050"/>
                </a:solidFill>
              </a:rPr>
              <a:t>✓</a:t>
            </a:r>
            <a:r>
              <a:rPr lang="en-US" sz="3200" b="1" dirty="0"/>
              <a:t> Enforce limits </a:t>
            </a:r>
            <a:r>
              <a:rPr lang="en-US" sz="2800" dirty="0">
                <a:solidFill>
                  <a:srgbClr val="475569"/>
                </a:solidFill>
              </a:rPr>
              <a:t>max 9999 records, max 30 seconds</a:t>
            </a:r>
            <a:br>
              <a:rPr lang="en-US" sz="2800" dirty="0">
                <a:solidFill>
                  <a:srgbClr val="475569"/>
                </a:solidFill>
              </a:rPr>
            </a:br>
            <a:r>
              <a:rPr lang="en-US" sz="3200" b="1" dirty="0">
                <a:solidFill>
                  <a:srgbClr val="00B050"/>
                </a:solidFill>
              </a:rPr>
              <a:t>✓ </a:t>
            </a:r>
            <a:r>
              <a:rPr lang="en-US" sz="3200" b="1" dirty="0">
                <a:solidFill>
                  <a:srgbClr val="0F172A"/>
                </a:solidFill>
              </a:rPr>
              <a:t>Log everything </a:t>
            </a:r>
            <a:r>
              <a:rPr lang="en-US" sz="2800" dirty="0">
                <a:solidFill>
                  <a:srgbClr val="475569"/>
                </a:solidFill>
              </a:rPr>
              <a:t>prompt, SQL, result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200" b="1" dirty="0">
                <a:solidFill>
                  <a:srgbClr val="00B050"/>
                </a:solidFill>
              </a:rPr>
              <a:t>✓ </a:t>
            </a:r>
            <a:r>
              <a:rPr lang="en-US" sz="3200" b="1" dirty="0">
                <a:solidFill>
                  <a:srgbClr val="020919"/>
                </a:solidFill>
              </a:rPr>
              <a:t>Save working queries </a:t>
            </a:r>
            <a:r>
              <a:rPr lang="en-US" sz="2800" dirty="0">
                <a:solidFill>
                  <a:srgbClr val="475569"/>
                </a:solidFill>
              </a:rPr>
              <a:t>set as </a:t>
            </a:r>
            <a:r>
              <a:rPr lang="en-US" sz="2800">
                <a:solidFill>
                  <a:srgbClr val="475569"/>
                </a:solidFill>
              </a:rPr>
              <a:t>shared query or </a:t>
            </a:r>
            <a:r>
              <a:rPr lang="en-US" sz="2800" dirty="0">
                <a:solidFill>
                  <a:srgbClr val="475569"/>
                </a:solidFill>
              </a:rPr>
              <a:t>private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200" b="1" dirty="0">
                <a:solidFill>
                  <a:srgbClr val="00B050"/>
                </a:solidFill>
              </a:rPr>
              <a:t>✓</a:t>
            </a:r>
            <a:r>
              <a:rPr lang="en-US" sz="3600" b="1" dirty="0">
                <a:solidFill>
                  <a:srgbClr val="00B050"/>
                </a:solidFill>
              </a:rPr>
              <a:t> </a:t>
            </a:r>
            <a:r>
              <a:rPr lang="en-US" sz="3200" b="1" dirty="0">
                <a:solidFill>
                  <a:srgbClr val="0F172A"/>
                </a:solidFill>
              </a:rPr>
              <a:t>Start small </a:t>
            </a:r>
            <a:r>
              <a:rPr lang="en-US" sz="2800" dirty="0">
                <a:solidFill>
                  <a:srgbClr val="475569"/>
                </a:solidFill>
              </a:rPr>
              <a:t>ship the ugly version first: one table &amp; one user</a:t>
            </a:r>
          </a:p>
        </p:txBody>
      </p:sp>
    </p:spTree>
    <p:extLst>
      <p:ext uri="{BB962C8B-B14F-4D97-AF65-F5344CB8AC3E}">
        <p14:creationId xmlns:p14="http://schemas.microsoft.com/office/powerpoint/2010/main" val="16734436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209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CA93E-8B46-57AD-0523-5CCDB5BA5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57C1D50-F13C-5DD2-73AB-E9EAE5244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552" y="225829"/>
            <a:ext cx="4238095" cy="32285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2A15BF-AFD1-E6A5-97B5-01FBF3C7B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809" y="3454400"/>
            <a:ext cx="5476190" cy="51428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407F9E-34A8-5A57-5B28-9012014184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1980" y="3981810"/>
            <a:ext cx="3695238" cy="28761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0D13DE-2AE0-6C30-7149-45A6F819DC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67633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3487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67491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653929" y="288419"/>
            <a:ext cx="11089008" cy="3842254"/>
            <a:chOff x="1024647" y="3472124"/>
            <a:chExt cx="6360714" cy="1696370"/>
          </a:xfrm>
        </p:grpSpPr>
        <p:sp>
          <p:nvSpPr>
            <p:cNvPr id="1610" name="B"/>
            <p:cNvSpPr/>
            <p:nvPr/>
          </p:nvSpPr>
          <p:spPr>
            <a:xfrm>
              <a:off x="1024647" y="3472124"/>
              <a:ext cx="3914341" cy="1318039"/>
            </a:xfrm>
            <a:prstGeom prst="roundRect">
              <a:avLst>
                <a:gd name="adj" fmla="val 6000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>
                <a:spcBef>
                  <a:spcPts val="300"/>
                </a:spcBef>
              </a:pPr>
              <a:r>
                <a:rPr lang="en-US" sz="4400" dirty="0">
                  <a:solidFill>
                    <a:srgbClr val="FFFFFF"/>
                  </a:solidFill>
                </a:rPr>
                <a:t>Until now we learnt programming languages to talk with computers</a:t>
              </a:r>
              <a:endParaRPr lang="en-US" sz="44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849422" y="3644494"/>
              <a:ext cx="2535939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/>
              <a:r>
                <a:rPr lang="en-US" sz="5400" b="1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5400" b="1" spc="300" dirty="0">
                  <a:solidFill>
                    <a:srgbClr val="1E293B"/>
                  </a:solidFill>
                </a:rPr>
              </a:br>
              <a:r>
                <a:rPr lang="en-US" sz="5400" b="1" spc="300" dirty="0">
                  <a:solidFill>
                    <a:srgbClr val="1E293B"/>
                  </a:solidFill>
                </a:rPr>
                <a:t>our language</a:t>
              </a:r>
              <a:endParaRPr lang="en-US" sz="5400" b="1" dirty="0">
                <a:solidFill>
                  <a:srgbClr val="1E293B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074151" y="4847502"/>
            <a:ext cx="36461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Download presentation and </a:t>
            </a:r>
          </a:p>
          <a:p>
            <a:pPr algn="r"/>
            <a:r>
              <a:rPr lang="en-US" sz="2400" i="1" dirty="0">
                <a:solidFill>
                  <a:srgbClr val="94A3B8"/>
                </a:solidFill>
              </a:rPr>
              <a:t>demo project</a:t>
            </a:r>
            <a:endParaRPr lang="tr-TR" sz="2400" i="1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FAC0482-214E-38A2-5CF3-A0A2910A56E5}"/>
              </a:ext>
            </a:extLst>
          </p:cNvPr>
          <p:cNvGrpSpPr/>
          <p:nvPr/>
        </p:nvGrpSpPr>
        <p:grpSpPr>
          <a:xfrm>
            <a:off x="653929" y="4754027"/>
            <a:ext cx="3953699" cy="1433739"/>
            <a:chOff x="653929" y="3939104"/>
            <a:chExt cx="3953699" cy="1433739"/>
          </a:xfrm>
        </p:grpSpPr>
        <p:sp>
          <p:nvSpPr>
            <p:cNvPr id="2" name="SpeakerName">
              <a:extLst>
                <a:ext uri="{FF2B5EF4-FFF2-40B4-BE49-F238E27FC236}">
                  <a16:creationId xmlns:a16="http://schemas.microsoft.com/office/drawing/2014/main" id="{B67F7C9D-3984-DFAA-4F75-34BC31E06746}"/>
                </a:ext>
              </a:extLst>
            </p:cNvPr>
            <p:cNvSpPr txBox="1"/>
            <p:nvPr/>
          </p:nvSpPr>
          <p:spPr>
            <a:xfrm>
              <a:off x="797562" y="4130673"/>
              <a:ext cx="3778074" cy="1153029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r>
                <a:rPr lang="en-US" sz="4000" b="1" dirty="0">
                  <a:solidFill>
                    <a:schemeClr val="bg1"/>
                  </a:solidFill>
                </a:rPr>
                <a:t>Alper Ebicoglu</a:t>
              </a:r>
            </a:p>
            <a:p>
              <a:r>
                <a:rPr lang="en-US" sz="2800" dirty="0">
                  <a:solidFill>
                    <a:schemeClr val="bg1"/>
                  </a:solidFill>
                </a:rPr>
                <a:t>x.com/</a:t>
              </a:r>
              <a:r>
                <a:rPr lang="en-US" sz="2800" dirty="0">
                  <a:solidFill>
                    <a:srgbClr val="22D3EE"/>
                  </a:solidFill>
                </a:rPr>
                <a:t>alperebicoglu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13B697C2-CD1F-7168-5C03-4D94888C954B}"/>
                </a:ext>
              </a:extLst>
            </p:cNvPr>
            <p:cNvSpPr/>
            <p:nvPr/>
          </p:nvSpPr>
          <p:spPr>
            <a:xfrm>
              <a:off x="653929" y="3939104"/>
              <a:ext cx="3953699" cy="1433739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tr-TR" dirty="0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4891946" y="4427621"/>
            <a:ext cx="6850991" cy="234856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C2402-DE54-31FF-8824-B62F72823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514" y="4521089"/>
            <a:ext cx="1803902" cy="18531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FA4C92A-F9BF-414A-6ECD-B824CFE91314}"/>
              </a:ext>
            </a:extLst>
          </p:cNvPr>
          <p:cNvSpPr txBox="1"/>
          <p:nvPr/>
        </p:nvSpPr>
        <p:spPr>
          <a:xfrm>
            <a:off x="5073229" y="6374243"/>
            <a:ext cx="6226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github.com/</a:t>
            </a:r>
            <a:r>
              <a:rPr lang="en-US" dirty="0">
                <a:solidFill>
                  <a:schemeClr val="bg1"/>
                </a:solidFill>
              </a:rPr>
              <a:t>ebicoglu/chat-with-your-data-conference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DDE9AFE-CECE-6E48-FDCC-4CEC9698CC7B}"/>
              </a:ext>
            </a:extLst>
          </p:cNvPr>
          <p:cNvCxnSpPr>
            <a:cxnSpLocks/>
          </p:cNvCxnSpPr>
          <p:nvPr/>
        </p:nvCxnSpPr>
        <p:spPr>
          <a:xfrm>
            <a:off x="8789364" y="5443874"/>
            <a:ext cx="743047" cy="0"/>
          </a:xfrm>
          <a:prstGeom prst="straightConnector1">
            <a:avLst/>
          </a:prstGeom>
          <a:ln w="762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4019</TotalTime>
  <Words>2502</Words>
  <Application>Microsoft Office PowerPoint</Application>
  <PresentationFormat>Widescreen</PresentationFormat>
  <Paragraphs>365</Paragraphs>
  <Slides>26</Slides>
  <Notes>26</Notes>
  <HiddenSlides>8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Office Theme [1776698939131]</vt:lpstr>
      <vt:lpstr>Chat With Your Data </vt:lpstr>
      <vt:lpstr>PowerPoint Presentation</vt:lpstr>
      <vt:lpstr>PowerPoint Presentation</vt:lpstr>
      <vt:lpstr>PowerPoint Presentation</vt:lpstr>
      <vt:lpstr>Understanding The Problem 🤝</vt:lpstr>
      <vt:lpstr>AI Era: Adapt or Fall Behind</vt:lpstr>
      <vt:lpstr>The Reporting Challenge</vt:lpstr>
      <vt:lpstr>PowerPoint Presentation</vt:lpstr>
      <vt:lpstr>What We'll Build</vt:lpstr>
      <vt:lpstr>The Pipeline</vt:lpstr>
      <vt:lpstr>Schema &amp; System Prompt</vt:lpstr>
      <vt:lpstr>Demo A Simple .NET Console App </vt:lpstr>
      <vt:lpstr>Live Demo — Console</vt:lpstr>
      <vt:lpstr>Validation + Execution</vt:lpstr>
      <vt:lpstr>PowerPoint Presentation</vt:lpstr>
      <vt:lpstr>Architecture — 3 Layers</vt:lpstr>
      <vt:lpstr>The Whole Setup 👌🏻 </vt:lpstr>
      <vt:lpstr>Live Demo 2 — Blazor Web App</vt:lpstr>
      <vt:lpstr>PowerPoint Presentation</vt:lpstr>
      <vt:lpstr>Same Backend, Closer to a Real Product</vt:lpstr>
      <vt:lpstr>The LLM is 20% of the work. </vt:lpstr>
      <vt:lpstr>Where This Fits in the Real World</vt:lpstr>
      <vt:lpstr>Challenges</vt:lpstr>
      <vt:lpstr>Best Practices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402</cp:revision>
  <dcterms:created xsi:type="dcterms:W3CDTF">2026-04-20T12:53:27Z</dcterms:created>
  <dcterms:modified xsi:type="dcterms:W3CDTF">2026-09-25T16:20:56Z</dcterms:modified>
</cp:coreProperties>
</file>