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4"/>
  </p:notesMasterIdLst>
  <p:sldIdLst>
    <p:sldId id="328" r:id="rId2"/>
    <p:sldId id="333" r:id="rId3"/>
    <p:sldId id="329" r:id="rId4"/>
    <p:sldId id="308" r:id="rId5"/>
    <p:sldId id="309" r:id="rId6"/>
    <p:sldId id="310" r:id="rId7"/>
    <p:sldId id="299" r:id="rId8"/>
    <p:sldId id="312" r:id="rId9"/>
    <p:sldId id="330" r:id="rId10"/>
    <p:sldId id="313" r:id="rId11"/>
    <p:sldId id="314" r:id="rId12"/>
    <p:sldId id="315" r:id="rId13"/>
    <p:sldId id="316" r:id="rId14"/>
    <p:sldId id="317" r:id="rId15"/>
    <p:sldId id="320" r:id="rId16"/>
    <p:sldId id="318" r:id="rId17"/>
    <p:sldId id="319" r:id="rId18"/>
    <p:sldId id="321" r:id="rId19"/>
    <p:sldId id="322" r:id="rId20"/>
    <p:sldId id="323" r:id="rId21"/>
    <p:sldId id="332" r:id="rId22"/>
    <p:sldId id="324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D3EE"/>
    <a:srgbClr val="0F172A"/>
    <a:srgbClr val="1E293B"/>
    <a:srgbClr val="64748B"/>
    <a:srgbClr val="9EA8B7"/>
    <a:srgbClr val="969696"/>
    <a:srgbClr val="9D9D9D"/>
    <a:srgbClr val="C0C0C0"/>
    <a:srgbClr val="EAEAEA"/>
    <a:srgbClr val="7B4F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8792" autoAdjust="0"/>
  </p:normalViewPr>
  <p:slideViewPr>
    <p:cSldViewPr snapToGrid="0">
      <p:cViewPr varScale="1">
        <p:scale>
          <a:sx n="101" d="100"/>
          <a:sy n="101" d="100"/>
        </p:scale>
        <p:origin x="424" y="7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[OPENING] Smile. Pause. Scan the room for 2 seconds before you start.</a:t>
            </a:r>
          </a:p>
          <a:p>
            <a:endParaRPr lang="en-US" dirty="0"/>
          </a:p>
          <a:p>
            <a:r>
              <a:rPr lang="en-US" dirty="0"/>
              <a:t>Hi everyone — I'm [name], and for the next 45 minutes we're going to build something you've probably wanted for years: a way to ask your database questions in plain English and get back real, trustworthy answers.</a:t>
            </a:r>
          </a:p>
          <a:p>
            <a:endParaRPr lang="en-US" dirty="0"/>
          </a:p>
          <a:p>
            <a:r>
              <a:rPr lang="en-US" dirty="0"/>
              <a:t>We'll do it in .NET, we'll do it with code you can copy, and we'll do it twice — once in a console app so you see every moving part, and once in a Blazor app with voice, charts, and Excel export.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Show of hands — who here has written a SELECT this week because a PM asked for numbers?</a:t>
            </a:r>
          </a:p>
          <a:p>
            <a:endParaRPr lang="en-US" dirty="0"/>
          </a:p>
          <a:p>
            <a:r>
              <a:rPr lang="en-US" dirty="0"/>
              <a:t>[TRANSITION] 'That's exactly the problem we're solving.’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0F172A"/>
                </a:solidFill>
                <a:sym typeface="Wingdings" panose="05000000000000000000" pitchFamily="2" charset="2"/>
              </a:rPr>
              <a:t> </a:t>
            </a:r>
            <a:r>
              <a:rPr lang="en-US" sz="1200" b="1" dirty="0">
                <a:solidFill>
                  <a:srgbClr val="0F172A"/>
                </a:solidFill>
              </a:rPr>
              <a:t>How many of you have written SQL before? Or create a reporting screen?</a:t>
            </a:r>
          </a:p>
          <a:p>
            <a:endParaRPr lang="en-US" dirty="0"/>
          </a:p>
          <a:p>
            <a:r>
              <a:rPr lang="en-US" b="1" dirty="0"/>
              <a:t>We, developers are the bottleneck. And today we are going to remove ourselves.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u="sng" dirty="0"/>
              <a:t>!!! 30 seconds for this slide</a:t>
            </a:r>
          </a:p>
          <a:p>
            <a:endParaRPr lang="en-US" u="sng" dirty="0"/>
          </a:p>
          <a:p>
            <a:r>
              <a:rPr lang="en-US" dirty="0"/>
              <a:t>This is the whole system in 7 boxes. </a:t>
            </a:r>
          </a:p>
          <a:p>
            <a:r>
              <a:rPr lang="en-US" dirty="0"/>
              <a:t>User types → we build the prompt → LLM writes SQL → validator checks it → we execute. 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[DETAIL] This is where the quality of the system is decided. Spend about 2 minutes here.</a:t>
            </a:r>
          </a:p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[PAUSE] Then pivot to the right card.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  <a:p>
            <a:r>
              <a:rPr lang="en-US" dirty="0"/>
              <a:t>[TRANSITION] 'Let me show you this running live.'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04BD-6229-5249-EE25-4823CBADA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E44DB-5DE9-BDFC-FB4F-DD1CE6F68E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E79A91-5D21-567F-24C1-A268E9366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a new customer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Delete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Update order status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Clean up spam or inactive records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1103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2.05.2026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048000" cy="355600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DOTNET KONF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24122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3903" y="5361379"/>
            <a:ext cx="4744453" cy="508000"/>
          </a:xfrm>
        </p:spPr>
        <p:txBody>
          <a:bodyPr wrap="square" lIns="0" tIns="0" rIns="0" bIns="0" anchor="t">
            <a:normAutofit fontScale="92500"/>
          </a:bodyPr>
          <a:lstStyle/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/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 are </a:t>
            </a:r>
            <a:r>
              <a:rPr lang="en-US" sz="2400" b="1" u="sng" dirty="0">
                <a:solidFill>
                  <a:srgbClr val="0F172A"/>
                </a:solidFill>
              </a:rPr>
              <a:t>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 are </a:t>
            </a:r>
            <a:r>
              <a:rPr lang="en-US" sz="2400" b="1" u="sng" dirty="0">
                <a:solidFill>
                  <a:srgbClr val="0F172A"/>
                </a:solidFill>
              </a:rPr>
              <a:t>rigid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Writing SQL, Page Design, Testing, Deployment are </a:t>
            </a:r>
            <a:r>
              <a:rPr lang="en-US" sz="2400" b="1" u="sng" dirty="0">
                <a:solidFill>
                  <a:srgbClr val="0F172A"/>
                </a:solidFill>
              </a:rPr>
              <a:t>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83DB4F90-329A-712C-5DB7-1C0CE558FAFF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0705-57EF-7347-2A93-B973F7CDFB64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635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0891B2"/>
                </a:solidFill>
              </a:rPr>
              <a:t>STEP 1  ·  SCHEMA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0F172A"/>
                </a:solidFill>
              </a:rPr>
              <a:t>Teach the LLM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extra DDL info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Without schema, the LLM is guessing!</a:t>
            </a:r>
          </a:p>
        </p:txBody>
      </p:sp>
      <p:sp>
        <p:nvSpPr>
          <p:cNvPr id="401" name="RightCard"/>
          <p:cNvSpPr/>
          <p:nvPr/>
        </p:nvSpPr>
        <p:spPr>
          <a:xfrm>
            <a:off x="6223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STEP 2  ·  PROMPT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FFFFFF"/>
                </a:solidFill>
              </a:rPr>
              <a:t>Write the rules</a:t>
            </a:r>
          </a:p>
          <a:p>
            <a:pPr>
              <a:spcBef>
                <a:spcPts val="800"/>
              </a:spcBef>
            </a:pPr>
            <a:r>
              <a:rPr lang="en-US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50663"/>
            <a:ext cx="5016500" cy="558799"/>
          </a:xfrm>
        </p:spPr>
        <p:txBody>
          <a:bodyPr>
            <a:normAutofit fontScale="77500" lnSpcReduction="200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4030325" y="3357368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 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Let's turn this </a:t>
            </a:r>
            <a:br>
              <a:rPr lang="en-US" sz="7200" b="1" dirty="0">
                <a:solidFill>
                  <a:srgbClr val="FFFFFF"/>
                </a:solidFill>
              </a:rPr>
            </a:br>
            <a:r>
              <a:rPr lang="en-US" sz="7200" b="1" dirty="0">
                <a:solidFill>
                  <a:srgbClr val="FFFFFF"/>
                </a:solidFill>
              </a:rPr>
              <a:t>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875027"/>
            <a:ext cx="5270500" cy="558799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784351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152636" y="1822451"/>
            <a:ext cx="1651000" cy="457200"/>
            <a:chOff x="889000" y="1429656"/>
            <a:chExt cx="1651000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9138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804219"/>
            <a:ext cx="5334000" cy="3859161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2999" y="1804219"/>
            <a:ext cx="5472471" cy="3859161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DE38D-6D72-586F-A672-EC9CD8B06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nel">
            <a:extLst>
              <a:ext uri="{FF2B5EF4-FFF2-40B4-BE49-F238E27FC236}">
                <a16:creationId xmlns:a16="http://schemas.microsoft.com/office/drawing/2014/main" id="{B05FC43A-919B-6C85-31C9-D03E8F18B296}"/>
              </a:ext>
            </a:extLst>
          </p:cNvPr>
          <p:cNvSpPr/>
          <p:nvPr/>
        </p:nvSpPr>
        <p:spPr>
          <a:xfrm>
            <a:off x="73026" y="2822121"/>
            <a:ext cx="12118974" cy="3064329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8" name="Q">
            <a:extLst>
              <a:ext uri="{FF2B5EF4-FFF2-40B4-BE49-F238E27FC236}">
                <a16:creationId xmlns:a16="http://schemas.microsoft.com/office/drawing/2014/main" id="{B9C6DB59-7B03-2063-5030-5346636B1400}"/>
              </a:ext>
            </a:extLst>
          </p:cNvPr>
          <p:cNvSpPr txBox="1"/>
          <p:nvPr/>
        </p:nvSpPr>
        <p:spPr>
          <a:xfrm>
            <a:off x="444500" y="566738"/>
            <a:ext cx="11376025" cy="225538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lnSpc>
                <a:spcPct val="105000"/>
              </a:lnSpc>
            </a:pPr>
            <a:r>
              <a:rPr lang="en-US" sz="6000" b="1" dirty="0">
                <a:solidFill>
                  <a:srgbClr val="0F172A"/>
                </a:solidFill>
              </a:rPr>
              <a:t>What if we used 100% of our </a:t>
            </a:r>
            <a:br>
              <a:rPr lang="en-US" sz="6000" b="1" dirty="0">
                <a:solidFill>
                  <a:srgbClr val="0F172A"/>
                </a:solidFill>
              </a:rPr>
            </a:br>
            <a:r>
              <a:rPr lang="en-US" sz="6000" b="1" dirty="0">
                <a:solidFill>
                  <a:srgbClr val="0F172A"/>
                </a:solidFill>
              </a:rPr>
              <a:t>DB’s potential</a:t>
            </a:r>
            <a:r>
              <a:rPr lang="en-US" sz="5400" b="1" dirty="0">
                <a:solidFill>
                  <a:srgbClr val="0F172A"/>
                </a:solidFill>
              </a:rPr>
              <a:t>🤔</a:t>
            </a:r>
          </a:p>
        </p:txBody>
      </p:sp>
      <p:sp>
        <p:nvSpPr>
          <p:cNvPr id="9" name="Q">
            <a:extLst>
              <a:ext uri="{FF2B5EF4-FFF2-40B4-BE49-F238E27FC236}">
                <a16:creationId xmlns:a16="http://schemas.microsoft.com/office/drawing/2014/main" id="{1AB057A2-73DE-48D4-8534-77FBCD65A14A}"/>
              </a:ext>
            </a:extLst>
          </p:cNvPr>
          <p:cNvSpPr txBox="1"/>
          <p:nvPr/>
        </p:nvSpPr>
        <p:spPr>
          <a:xfrm>
            <a:off x="444500" y="3090862"/>
            <a:ext cx="11376025" cy="24003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u="sng" dirty="0">
                <a:solidFill>
                  <a:srgbClr val="FFFFFF"/>
                </a:solidFill>
              </a:rPr>
              <a:t>Taking actions</a:t>
            </a:r>
            <a:r>
              <a:rPr lang="en-US" sz="6600" b="1" dirty="0">
                <a:solidFill>
                  <a:srgbClr val="FFFFFF"/>
                </a:solidFill>
              </a:rPr>
              <a:t> </a:t>
            </a:r>
            <a:br>
              <a:rPr lang="en-US" sz="6600" b="1" dirty="0">
                <a:solidFill>
                  <a:srgbClr val="FFFFFF"/>
                </a:solidFill>
              </a:rPr>
            </a:br>
            <a:r>
              <a:rPr lang="en-US" sz="6600" b="1" dirty="0">
                <a:solidFill>
                  <a:srgbClr val="FFFFFF"/>
                </a:solidFill>
              </a:rPr>
              <a:t>instead of just reporting!</a:t>
            </a:r>
          </a:p>
        </p:txBody>
      </p:sp>
    </p:spTree>
    <p:extLst>
      <p:ext uri="{BB962C8B-B14F-4D97-AF65-F5344CB8AC3E}">
        <p14:creationId xmlns:p14="http://schemas.microsoft.com/office/powerpoint/2010/main" val="16034504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b="1" spc="300" dirty="0">
                  <a:solidFill>
                    <a:srgbClr val="1E293B"/>
                  </a:solidFill>
                </a:rPr>
              </a:br>
              <a:r>
                <a:rPr lang="en-US" sz="2800" b="1" spc="300" dirty="0">
                  <a:solidFill>
                    <a:srgbClr val="1E293B"/>
                  </a:solidFill>
                </a:rPr>
                <a:t>our language</a:t>
              </a:r>
              <a:endParaRPr lang="en-US" sz="2800" b="1" dirty="0">
                <a:solidFill>
                  <a:srgbClr val="1E293B"/>
                </a:solidFill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5D01CF5-3779-C47E-5AA7-7E012662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318" y="4787580"/>
            <a:ext cx="1735996" cy="1751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3" y="4643252"/>
            <a:ext cx="5277952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854</TotalTime>
  <Words>3401</Words>
  <Application>Microsoft Office PowerPoint</Application>
  <PresentationFormat>Widescreen</PresentationFormat>
  <Paragraphs>463</Paragraphs>
  <Slides>22</Slides>
  <Notes>22</Notes>
  <HiddenSlides>6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Wingdings</vt:lpstr>
      <vt:lpstr>Office Theme [1776698939131]</vt:lpstr>
      <vt:lpstr>Building an  AI-Powered  Query Generator  with .NET</vt:lpstr>
      <vt:lpstr>PowerPoint Presentation</vt:lpstr>
      <vt:lpstr>PowerPoint Presentation</vt:lpstr>
      <vt:lpstr>The Problem</vt:lpstr>
      <vt:lpstr>PowerPoint Presentation</vt:lpstr>
      <vt:lpstr>What We'll Build</vt:lpstr>
      <vt:lpstr>The Pipeline</vt:lpstr>
      <vt:lpstr>Schema + Prompt Design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What to Watch Out For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207</cp:revision>
  <dcterms:created xsi:type="dcterms:W3CDTF">2026-04-20T12:53:27Z</dcterms:created>
  <dcterms:modified xsi:type="dcterms:W3CDTF">2026-05-02T13:40:36Z</dcterms:modified>
</cp:coreProperties>
</file>