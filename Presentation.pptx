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2"/>
  </p:notesMasterIdLst>
  <p:sldIdLst>
    <p:sldId id="328" r:id="rId2"/>
    <p:sldId id="329" r:id="rId3"/>
    <p:sldId id="308" r:id="rId4"/>
    <p:sldId id="309" r:id="rId5"/>
    <p:sldId id="310" r:id="rId6"/>
    <p:sldId id="311" r:id="rId7"/>
    <p:sldId id="299" r:id="rId8"/>
    <p:sldId id="312" r:id="rId9"/>
    <p:sldId id="313" r:id="rId10"/>
    <p:sldId id="314" r:id="rId11"/>
    <p:sldId id="315" r:id="rId12"/>
    <p:sldId id="316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24" r:id="rId21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B4F05"/>
    <a:srgbClr val="22D3EE"/>
    <a:srgbClr val="1E293B"/>
    <a:srgbClr val="59ADFA"/>
    <a:srgbClr val="CBD5E1"/>
    <a:srgbClr val="FEF3C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2518" autoAdjust="0"/>
  </p:normalViewPr>
  <p:slideViewPr>
    <p:cSldViewPr snapToGrid="0">
      <p:cViewPr varScale="1">
        <p:scale>
          <a:sx n="81" d="100"/>
          <a:sy n="81" d="100"/>
        </p:scale>
        <p:origin x="175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[OPENING] Smile. Pause. Scan the room for 2 seconds before you start.</a:t>
            </a:r>
          </a:p>
          <a:p>
            <a:endParaRPr lang="en-US" dirty="0"/>
          </a:p>
          <a:p>
            <a:r>
              <a:rPr lang="en-US" dirty="0"/>
              <a:t>Hi everyone — I'm [name], and for the next 45 minutes we're going to build something you've probably wanted for years: a way to ask your database questions in plain English and get back real, trustworthy answers.</a:t>
            </a:r>
          </a:p>
          <a:p>
            <a:endParaRPr lang="en-US" dirty="0"/>
          </a:p>
          <a:p>
            <a:r>
              <a:rPr lang="en-US" dirty="0"/>
              <a:t>We'll do it in .NET, we'll do it with code you can copy, and we'll do it twice — once in a console app so you see every moving part, and once in a Blazor app with voice, charts, and Excel export.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Show of hands — who here has written a SELECT this week because a PM asked for numbers?</a:t>
            </a:r>
          </a:p>
          <a:p>
            <a:endParaRPr lang="en-US" dirty="0"/>
          </a:p>
          <a:p>
            <a:r>
              <a:rPr lang="en-US" dirty="0"/>
              <a:t>[TRANSITION] 'That's exactly the problem we're solving.'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them through each pain point briefly — don't read every word on the slide, just tap each one:</a:t>
            </a:r>
          </a:p>
          <a:p>
            <a:r>
              <a:rPr lang="en-US" dirty="0"/>
              <a:t>- SQL is slow to write, especially for ad-hoc questions</a:t>
            </a:r>
          </a:p>
          <a:p>
            <a:r>
              <a:rPr lang="en-US" dirty="0"/>
              <a:t>- Business users wait days for answers they could have in seconds</a:t>
            </a:r>
          </a:p>
          <a:p>
            <a:r>
              <a:rPr lang="en-US" dirty="0"/>
              <a:t>- Traditional BI tools are rigid — every new question needs a new report</a:t>
            </a:r>
          </a:p>
          <a:p>
            <a:r>
              <a:rPr lang="en-US" dirty="0"/>
              <a:t>- And the result: data is locked behind technical gatekeepers</a:t>
            </a:r>
          </a:p>
          <a:p>
            <a:endParaRPr lang="en-US" dirty="0"/>
          </a:p>
          <a:p>
            <a:r>
              <a:rPr lang="en-US" dirty="0"/>
              <a:t>[EMPHASIZE] 'We are the bottleneck. And today we are going to remove ourselves.'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Five capabilities — walk through them quickly:</a:t>
            </a:r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[STAGE] Step back from the podium. Point at the diagram.</a:t>
            </a:r>
          </a:p>
          <a:p>
            <a:endParaRPr lang="en-US" dirty="0"/>
          </a:p>
          <a:p>
            <a:r>
              <a:rPr lang="en-US" dirty="0"/>
              <a:t>This is the whole system in five boxes. Every time you hear me talk about a 'pipeline' today, come back to this slide in your head.</a:t>
            </a:r>
          </a:p>
          <a:p>
            <a:endParaRPr lang="en-US" dirty="0"/>
          </a:p>
          <a:p>
            <a:r>
              <a:rPr lang="en-US" dirty="0"/>
              <a:t>[EMPHASIZE] User types → we build the prompt → LLM writes SQL → validator checks it → we execute. That's it. That's the whole trick.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The anchor chip in the corner says PIPELINE for a reason. When we break into the console in a minute, I'll point back to this slide as each stage happens so you know where you are.</a:t>
            </a:r>
          </a:p>
          <a:p>
            <a:endParaRPr lang="en-US" dirty="0"/>
          </a:p>
          <a:p>
            <a:r>
              <a:rPr lang="en-US" dirty="0"/>
              <a:t>[TRANSITION] Let's zoom into stages 1 and 2 — schema and prompt — because that's where 80% of the quality comes from.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[DETAIL] This is where the quality of the system is decided. Spend about 2 minutes here.</a:t>
            </a:r>
          </a:p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[PAUSE] Then pivot to the right card.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above.'</a:t>
            </a:r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  <a:p>
            <a:r>
              <a:rPr lang="en-US" dirty="0"/>
              <a:t>[TRANSITION] 'Let me show you this running live.'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local model, whatever</a:t>
            </a:r>
          </a:p>
          <a:p>
            <a:r>
              <a:rPr lang="en-US" dirty="0"/>
              <a:t>- ReadOnly flag — belt and suspenders on top of the validator</a:t>
            </a:r>
          </a:p>
          <a:p>
            <a:endParaRPr lang="en-US" dirty="0"/>
          </a:p>
          <a:p>
            <a:r>
              <a:rPr lang="en-US" dirty="0"/>
              <a:t>'Then you inject IReportingService wherever you want to use it.'</a:t>
            </a:r>
          </a:p>
          <a:p>
            <a:endParaRPr lang="en-US" dirty="0"/>
          </a:p>
          <a:p>
            <a:r>
              <a:rPr lang="en-US" dirty="0"/>
              <a:t>[RIGHT] Tap the three target cards:</a:t>
            </a:r>
          </a:p>
          <a:p>
            <a:r>
              <a:rPr lang="en-US" dirty="0"/>
              <a:t>- ASP.NET API — expose as an HTTP endpoint for integrations</a:t>
            </a:r>
          </a:p>
          <a:p>
            <a:r>
              <a:rPr lang="en-US" dirty="0"/>
              <a:t>- Blazor or MAUI — what we'll see next</a:t>
            </a:r>
          </a:p>
          <a:p>
            <a:r>
              <a:rPr lang="en-US" dirty="0"/>
              <a:t>- Worker or CLI — schedule it, pipe results to email or Slack</a:t>
            </a:r>
          </a:p>
          <a:p>
            <a:endParaRPr lang="en-US" dirty="0"/>
          </a:p>
          <a:p>
            <a:r>
              <a:rPr lang="en-US" dirty="0"/>
              <a:t>[EMPHASIZE] 'One module, three lines of setup, any .NET app.'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do.'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22.04.2026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508000" y="457200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0200" y="1142999"/>
            <a:ext cx="6527800" cy="3662681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</a:t>
            </a:r>
          </a:p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Reporting 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3275" y="5364479"/>
            <a:ext cx="4744453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dirty="0">
                <a:solidFill>
                  <a:srgbClr val="94A3B8"/>
                </a:solidFill>
              </a:rPr>
              <a:t>From Your Native Language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0C04564-E4C0-F5EF-41C0-C360D063978F}"/>
              </a:ext>
            </a:extLst>
          </p:cNvPr>
          <p:cNvSpPr/>
          <p:nvPr/>
        </p:nvSpPr>
        <p:spPr>
          <a:xfrm>
            <a:off x="4476133" y="5347904"/>
            <a:ext cx="516440" cy="42418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346BC4F-555E-4279-9796-2E03531A4D9E}"/>
              </a:ext>
            </a:extLst>
          </p:cNvPr>
          <p:cNvSpPr txBox="1">
            <a:spLocks/>
          </p:cNvSpPr>
          <p:nvPr/>
        </p:nvSpPr>
        <p:spPr>
          <a:xfrm>
            <a:off x="5127228" y="5364479"/>
            <a:ext cx="1180447" cy="508000"/>
          </a:xfrm>
          <a:prstGeom prst="rect">
            <a:avLst/>
          </a:prstGeom>
        </p:spPr>
        <p:txBody>
          <a:bodyPr vert="horz" wrap="square" lIns="0" tIns="0" rIns="0" bIns="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800" dirty="0">
                <a:solidFill>
                  <a:srgbClr val="94A3B8"/>
                </a:solidFill>
              </a:rPr>
              <a:t>Report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100" name="HookCard"/>
          <p:cNvSpPr/>
          <p:nvPr/>
        </p:nvSpPr>
        <p:spPr>
          <a:xfrm>
            <a:off x="889000" y="1460500"/>
            <a:ext cx="10414000" cy="1397000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How many of you have written SQL before?</a:t>
            </a:r>
          </a:p>
          <a:p>
            <a:pPr algn="l"/>
            <a:r>
              <a:rPr lang="en-US" sz="2400" i="1" dirty="0">
                <a:solidFill>
                  <a:srgbClr val="0891B2"/>
                </a:solidFill>
              </a:rPr>
              <a:t>Now imagine your PM doing that… </a:t>
            </a:r>
            <a:r>
              <a:rPr lang="en-US" sz="2400" b="1" i="1" dirty="0">
                <a:solidFill>
                  <a:srgbClr val="0891B2"/>
                </a:solidFill>
              </a:rPr>
              <a:t>without you</a:t>
            </a:r>
            <a:r>
              <a:rPr lang="en-US" sz="2400" i="1" dirty="0">
                <a:solidFill>
                  <a:srgbClr val="0891B2"/>
                </a:solidFill>
              </a:rPr>
              <a:t>.</a:t>
            </a:r>
          </a:p>
        </p:txBody>
      </p:sp>
      <p:sp>
        <p:nvSpPr>
          <p:cNvPr id="201" name="Pain201"/>
          <p:cNvSpPr/>
          <p:nvPr/>
        </p:nvSpPr>
        <p:spPr>
          <a:xfrm>
            <a:off x="889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0891B2"/>
                </a:solidFill>
              </a:rPr>
              <a:t>01  </a:t>
            </a:r>
            <a:r>
              <a:rPr lang="en-US" sz="2400" b="1" dirty="0">
                <a:solidFill>
                  <a:srgbClr val="0F172A"/>
                </a:solidFill>
              </a:rPr>
              <a:t>Writing SQL is 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Even simple reports take hours</a:t>
            </a:r>
          </a:p>
        </p:txBody>
      </p:sp>
      <p:sp>
        <p:nvSpPr>
          <p:cNvPr id="202" name="Pain202"/>
          <p:cNvSpPr/>
          <p:nvPr/>
        </p:nvSpPr>
        <p:spPr>
          <a:xfrm>
            <a:off x="6223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59E0B"/>
                </a:solidFill>
              </a:rPr>
              <a:t>02  </a:t>
            </a:r>
            <a:r>
              <a:rPr lang="en-US" sz="2400" b="1" dirty="0">
                <a:solidFill>
                  <a:srgbClr val="0F172A"/>
                </a:solidFill>
              </a:rPr>
              <a:t>Dev 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889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43F5E"/>
                </a:solidFill>
              </a:rPr>
              <a:t>03  </a:t>
            </a:r>
            <a:r>
              <a:rPr lang="en-US" sz="2400" b="1" dirty="0">
                <a:solidFill>
                  <a:srgbClr val="0F172A"/>
                </a:solidFill>
              </a:rPr>
              <a:t>Rigid reporting tools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6223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10B981"/>
                </a:solidFill>
              </a:rPr>
              <a:t>04  </a:t>
            </a:r>
            <a:r>
              <a:rPr lang="en-US" sz="2400" b="1" dirty="0">
                <a:solidFill>
                  <a:srgbClr val="0F172A"/>
                </a:solidFill>
              </a:rPr>
              <a:t>Data is locked away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value is trapped behind SQL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QMark"/>
          <p:cNvSpPr txBox="1"/>
          <p:nvPr/>
        </p:nvSpPr>
        <p:spPr>
          <a:xfrm>
            <a:off x="503990" y="1143000"/>
            <a:ext cx="885423" cy="1291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  <p:sp>
        <p:nvSpPr>
          <p:cNvPr id="301" name="Quote"/>
          <p:cNvSpPr txBox="1"/>
          <p:nvPr/>
        </p:nvSpPr>
        <p:spPr>
          <a:xfrm>
            <a:off x="889000" y="2222500"/>
            <a:ext cx="10414000" cy="215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0F172A"/>
                </a:solidFill>
              </a:rPr>
              <a:t>What if you could 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your database?</a:t>
            </a:r>
          </a:p>
        </p:txBody>
      </p:sp>
      <p:sp>
        <p:nvSpPr>
          <p:cNvPr id="310" name="Chip310"/>
          <p:cNvSpPr/>
          <p:nvPr/>
        </p:nvSpPr>
        <p:spPr>
          <a:xfrm>
            <a:off x="888999" y="4953000"/>
            <a:ext cx="3526589" cy="889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A5F3FC"/>
            </a:solidFill>
          </a:ln>
        </p:spPr>
        <p:txBody>
          <a:bodyPr wrap="square" lIns="180000" tIns="100000" rIns="180000" bIns="100000" anchor="ctr"/>
          <a:lstStyle/>
          <a:p>
            <a:pPr algn="ctr"/>
            <a:r>
              <a:rPr lang="en-US" sz="2400" dirty="0">
                <a:solidFill>
                  <a:srgbClr val="0891B2"/>
                </a:solidFill>
              </a:rPr>
              <a:t>→  </a:t>
            </a:r>
            <a:r>
              <a:rPr lang="en-US" dirty="0">
                <a:solidFill>
                  <a:srgbClr val="0F172A"/>
                </a:solidFill>
              </a:rPr>
              <a:t>Natural language → insights</a:t>
            </a:r>
          </a:p>
        </p:txBody>
      </p:sp>
      <p:sp>
        <p:nvSpPr>
          <p:cNvPr id="311" name="Chip311"/>
          <p:cNvSpPr/>
          <p:nvPr/>
        </p:nvSpPr>
        <p:spPr>
          <a:xfrm>
            <a:off x="4547937" y="4953000"/>
            <a:ext cx="3332747" cy="889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A5F3FC"/>
            </a:solidFill>
          </a:ln>
        </p:spPr>
        <p:txBody>
          <a:bodyPr wrap="square" lIns="180000" tIns="100000" rIns="180000" bIns="100000" anchor="ctr"/>
          <a:lstStyle/>
          <a:p>
            <a:pPr algn="ctr"/>
            <a:r>
              <a:rPr lang="en-US" sz="2800" dirty="0">
                <a:solidFill>
                  <a:srgbClr val="0891B2"/>
                </a:solidFill>
              </a:rPr>
              <a:t>✓  </a:t>
            </a:r>
            <a:r>
              <a:rPr lang="en-US" sz="2000" dirty="0">
                <a:solidFill>
                  <a:srgbClr val="0F172A"/>
                </a:solidFill>
              </a:rPr>
              <a:t>No SQL required</a:t>
            </a:r>
          </a:p>
        </p:txBody>
      </p:sp>
      <p:sp>
        <p:nvSpPr>
          <p:cNvPr id="312" name="Chip312"/>
          <p:cNvSpPr/>
          <p:nvPr/>
        </p:nvSpPr>
        <p:spPr>
          <a:xfrm>
            <a:off x="8000999" y="4953000"/>
            <a:ext cx="3526589" cy="889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A5F3FC"/>
            </a:solidFill>
          </a:ln>
        </p:spPr>
        <p:txBody>
          <a:bodyPr wrap="square" lIns="180000" tIns="100000" rIns="180000" bIns="100000" anchor="ctr"/>
          <a:lstStyle/>
          <a:p>
            <a:pPr algn="ctr"/>
            <a:r>
              <a:rPr lang="en-US" sz="2800" dirty="0">
                <a:solidFill>
                  <a:srgbClr val="0891B2"/>
                </a:solidFill>
              </a:rPr>
              <a:t>◎  </a:t>
            </a:r>
            <a:r>
              <a:rPr lang="en-US" sz="2000" dirty="0">
                <a:solidFill>
                  <a:srgbClr val="0F172A"/>
                </a:solidFill>
              </a:rPr>
              <a:t>Devs AND business users</a:t>
            </a:r>
          </a:p>
        </p:txBody>
      </p:sp>
      <p:sp>
        <p:nvSpPr>
          <p:cNvPr id="4" name="QMark">
            <a:extLst>
              <a:ext uri="{FF2B5EF4-FFF2-40B4-BE49-F238E27FC236}">
                <a16:creationId xmlns:a16="http://schemas.microsoft.com/office/drawing/2014/main" id="{75D887ED-F9DA-3A3C-1FFA-A57CEDCF23B0}"/>
              </a:ext>
            </a:extLst>
          </p:cNvPr>
          <p:cNvSpPr txBox="1"/>
          <p:nvPr/>
        </p:nvSpPr>
        <p:spPr>
          <a:xfrm>
            <a:off x="9183793" y="3429000"/>
            <a:ext cx="945859" cy="12142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Five capabilities working together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/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/>
          <p:cNvSpPr/>
          <p:nvPr/>
        </p:nvSpPr>
        <p:spPr>
          <a:xfrm>
            <a:off x="889000" y="1968500"/>
            <a:ext cx="1016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F91E33-3D7D-A8AE-07EA-1012F711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The Pipeline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129D77-BA5C-9191-1558-B33FEC2D22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l">
              <a:buNone/>
            </a:pPr>
            <a:r>
              <a:rPr lang="en-US" sz="2000" b="1" spc="400" dirty="0">
                <a:solidFill>
                  <a:srgbClr val="22D3EE"/>
                </a:solidFill>
              </a:rPr>
              <a:t>PART 1  ·  LIVE DEMO</a:t>
            </a:r>
          </a:p>
        </p:txBody>
      </p:sp>
    </p:spTree>
    <p:extLst>
      <p:ext uri="{BB962C8B-B14F-4D97-AF65-F5344CB8AC3E}">
        <p14:creationId xmlns:p14="http://schemas.microsoft.com/office/powerpoint/2010/main" val="37616434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pPr algn="l"/>
            <a:r>
              <a:rPr lang="en-US" dirty="0">
                <a:solidFill>
                  <a:srgbClr val="94A3B8"/>
                </a:solidFill>
                <a:latin typeface="Consolas"/>
              </a:rPr>
              <a:t>user: 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On 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3" idx="2"/>
          </p:cNvCxnSpPr>
          <p:nvPr/>
        </p:nvCxnSpPr>
        <p:spPr>
          <a:xfrm rot="10800000">
            <a:off x="7048501" y="3323968"/>
            <a:ext cx="2994797" cy="808512"/>
          </a:xfrm>
          <a:prstGeom prst="bentConnector2">
            <a:avLst/>
          </a:prstGeom>
          <a:ln w="76200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635000" y="1524000"/>
            <a:ext cx="5334000" cy="40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0891B2"/>
                </a:solidFill>
              </a:rPr>
              <a:t>STEP 1  ·  SCHEMA</a:t>
            </a: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Teach the LLM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sample values</a:t>
            </a: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Without schema, the LLM is guessing.</a:t>
            </a:r>
          </a:p>
        </p:txBody>
      </p:sp>
      <p:sp>
        <p:nvSpPr>
          <p:cNvPr id="401" name="RightCard"/>
          <p:cNvSpPr/>
          <p:nvPr/>
        </p:nvSpPr>
        <p:spPr>
          <a:xfrm>
            <a:off x="6223000" y="1524000"/>
            <a:ext cx="5334000" cy="406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STEP 2  ·  PROMPT</a:t>
            </a: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FFFFFF"/>
                </a:solidFill>
              </a:rPr>
              <a:t>Write the rules</a:t>
            </a:r>
          </a:p>
          <a:p>
            <a:pPr>
              <a:spcBef>
                <a:spcPts val="8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  <p:sp>
        <p:nvSpPr>
          <p:cNvPr id="402" name="Note"/>
          <p:cNvSpPr txBox="1"/>
          <p:nvPr/>
        </p:nvSpPr>
        <p:spPr>
          <a:xfrm>
            <a:off x="889000" y="5791200"/>
            <a:ext cx="10414000" cy="381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lang="en-US" i="1" dirty="0">
                <a:solidFill>
                  <a:srgbClr val="64748B"/>
                </a:solidFill>
              </a:rPr>
              <a:t>Good schema + strict prompt = reliable SQL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 / UPDATE /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801914" y="1890486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872344" y="1905000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what the user asked</a:t>
            </a:r>
          </a:p>
        </p:txBody>
      </p:sp>
      <p:sp>
        <p:nvSpPr>
          <p:cNvPr id="910" name="C1_0"/>
          <p:cNvSpPr/>
          <p:nvPr/>
        </p:nvSpPr>
        <p:spPr>
          <a:xfrm>
            <a:off x="5334000" y="2032000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620000" y="2032000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801914" y="3175000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872344" y="3175000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334000" y="3302000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620000" y="3302000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9906000" y="3302000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801914" y="4445000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872344" y="4445000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334000" y="4572000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620000" y="4572000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9906000" y="4572000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sp>
        <p:nvSpPr>
          <p:cNvPr id="996" name="Insight"/>
          <p:cNvSpPr/>
          <p:nvPr/>
        </p:nvSpPr>
        <p:spPr>
          <a:xfrm>
            <a:off x="635000" y="5778500"/>
            <a:ext cx="1092200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dirty="0">
                <a:solidFill>
                  <a:srgbClr val="475569"/>
                </a:solidFill>
              </a:rPr>
              <a:t>Swap the LLM, swap the database, swap the UI — the contract between layers stays the same.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2975429"/>
            <a:ext cx="11557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230915"/>
            <a:ext cx="11557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One Module. Any .NET App.</a:t>
            </a:r>
          </a:p>
        </p:txBody>
      </p:sp>
      <p:sp>
        <p:nvSpPr>
          <p:cNvPr id="900" name="Code"/>
          <p:cNvSpPr/>
          <p:nvPr/>
        </p:nvSpPr>
        <p:spPr>
          <a:xfrm>
            <a:off x="635000" y="1651000"/>
            <a:ext cx="6731000" cy="4064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PROGRAM.CS</a:t>
            </a:r>
          </a:p>
          <a:p>
            <a:pPr>
              <a:spcBef>
                <a:spcPts val="500"/>
              </a:spcBef>
            </a:pPr>
            <a:r>
              <a:rPr lang="en-US" sz="2000" dirty="0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2000" dirty="0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20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    opt.ConnectionString = cfg[</a:t>
            </a:r>
            <a:r>
              <a:rPr lang="en-US" sz="20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20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    opt.LlmProvider   = </a:t>
            </a:r>
            <a:r>
              <a:rPr lang="en-US" sz="20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20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    opt.ReadOnly      = </a:t>
            </a:r>
            <a:r>
              <a:rPr lang="en-US" sz="2000" dirty="0">
                <a:solidFill>
                  <a:srgbClr val="A78BFA"/>
                </a:solidFill>
                <a:latin typeface="Consolas"/>
              </a:rPr>
              <a:t>true</a:t>
            </a:r>
            <a:r>
              <a:rPr lang="en-US" sz="20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});</a:t>
            </a:r>
          </a:p>
          <a:p>
            <a:pPr>
              <a:spcBef>
                <a:spcPts val="6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inject IReportingService anywhere</a:t>
            </a:r>
          </a:p>
        </p:txBody>
      </p:sp>
      <p:sp>
        <p:nvSpPr>
          <p:cNvPr id="910" name="T"/>
          <p:cNvSpPr/>
          <p:nvPr/>
        </p:nvSpPr>
        <p:spPr>
          <a:xfrm>
            <a:off x="7620000" y="1651000"/>
            <a:ext cx="4064000" cy="120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t"/>
          <a:lstStyle/>
          <a:p>
            <a:pPr algn="l"/>
            <a:r>
              <a:rPr lang="en-US" sz="3200" b="1" dirty="0">
                <a:solidFill>
                  <a:srgbClr val="22D3EE"/>
                </a:solidFill>
              </a:rPr>
              <a:t>▣  </a:t>
            </a:r>
            <a:r>
              <a:rPr lang="en-US" sz="2800" b="1" dirty="0">
                <a:solidFill>
                  <a:srgbClr val="0F172A"/>
                </a:solidFill>
              </a:rPr>
              <a:t>ASP.NET API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Expose as HTTP endpoint</a:t>
            </a:r>
          </a:p>
        </p:txBody>
      </p:sp>
      <p:sp>
        <p:nvSpPr>
          <p:cNvPr id="911" name="T"/>
          <p:cNvSpPr/>
          <p:nvPr/>
        </p:nvSpPr>
        <p:spPr>
          <a:xfrm>
            <a:off x="7620000" y="2984500"/>
            <a:ext cx="4064000" cy="120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t"/>
          <a:lstStyle/>
          <a:p>
            <a:pPr algn="l"/>
            <a:r>
              <a:rPr lang="en-US" sz="3200" b="1" dirty="0">
                <a:solidFill>
                  <a:srgbClr val="22D3EE"/>
                </a:solidFill>
              </a:rPr>
              <a:t>◉  </a:t>
            </a:r>
            <a:r>
              <a:rPr lang="en-US" sz="2800" b="1" dirty="0">
                <a:solidFill>
                  <a:srgbClr val="0F172A"/>
                </a:solidFill>
              </a:rPr>
              <a:t>Blazor / MAUI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Ship with real UX</a:t>
            </a:r>
          </a:p>
        </p:txBody>
      </p:sp>
      <p:sp>
        <p:nvSpPr>
          <p:cNvPr id="912" name="T"/>
          <p:cNvSpPr/>
          <p:nvPr/>
        </p:nvSpPr>
        <p:spPr>
          <a:xfrm>
            <a:off x="7620000" y="4318000"/>
            <a:ext cx="4064000" cy="1206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t"/>
          <a:lstStyle/>
          <a:p>
            <a:pPr algn="l"/>
            <a:r>
              <a:rPr lang="en-US" sz="3200" b="1" dirty="0">
                <a:solidFill>
                  <a:srgbClr val="22D3EE"/>
                </a:solidFill>
              </a:rPr>
              <a:t>⚡  </a:t>
            </a:r>
            <a:r>
              <a:rPr lang="en-US" sz="2800" b="1" dirty="0">
                <a:solidFill>
                  <a:srgbClr val="0F172A"/>
                </a:solidFill>
              </a:rPr>
              <a:t>Worker / CLI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Run on a schedule</a:t>
            </a: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1" name="Lbl"/>
          <p:cNvSpPr txBox="1"/>
          <p:nvPr/>
        </p:nvSpPr>
        <p:spPr>
          <a:xfrm>
            <a:off x="1016000" y="1778000"/>
            <a:ext cx="10160000" cy="381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b="1" spc="400" dirty="0">
                <a:solidFill>
                  <a:srgbClr val="22D3EE"/>
                </a:solidFill>
              </a:rPr>
              <a:t>DEMO 2  ·  THE PRODUCT</a:t>
            </a:r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Now let's turn this into a </a:t>
            </a:r>
            <a:r>
              <a:rPr lang="en-US" sz="7200" b="1" i="1" dirty="0">
                <a:solidFill>
                  <a:srgbClr val="22D3EE"/>
                </a:solidFill>
              </a:rPr>
              <a:t>real 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i="1" dirty="0">
                <a:solidFill>
                  <a:srgbClr val="94A3B8"/>
                </a:solidFill>
              </a:rPr>
              <a:t>Same backend. Voice input. Charts. Excel export.</a:t>
            </a:r>
          </a:p>
        </p:txBody>
      </p: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Little Bit</a:t>
            </a:r>
            <a:r>
              <a:rPr lang="en-US" sz="4800" b="1" dirty="0">
                <a:solidFill>
                  <a:srgbClr val="0F172A"/>
                </a:solidFill>
              </a:rPr>
              <a:t> Better UX</a:t>
            </a: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 export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Blazor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9000"/>
            <a:ext cx="2872014" cy="330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F43F5E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9000"/>
            <a:ext cx="2872014" cy="330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9000"/>
            <a:ext cx="2872014" cy="330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Table + chart, side by side.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9000"/>
            <a:ext cx="2872014" cy="3302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10B981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One click → Excel report.</a:t>
            </a:r>
          </a:p>
        </p:txBody>
      </p:sp>
      <p:sp>
        <p:nvSpPr>
          <p:cNvPr id="3" name="DemoSub">
            <a:extLst>
              <a:ext uri="{FF2B5EF4-FFF2-40B4-BE49-F238E27FC236}">
                <a16:creationId xmlns:a16="http://schemas.microsoft.com/office/drawing/2014/main" id="{E33DA3B9-8656-E2AF-4324-2D26E49EA3D5}"/>
              </a:ext>
            </a:extLst>
          </p:cNvPr>
          <p:cNvSpPr txBox="1"/>
          <p:nvPr/>
        </p:nvSpPr>
        <p:spPr>
          <a:xfrm>
            <a:off x="2540000" y="1397000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&gt;  </a:t>
            </a:r>
            <a:r>
              <a:rPr lang="en-US" sz="2400" dirty="0" err="1">
                <a:solidFill>
                  <a:srgbClr val="475569"/>
                </a:solidFill>
              </a:rPr>
              <a:t>Talk.Web</a:t>
            </a:r>
            <a:endParaRPr lang="en-US" sz="2400" dirty="0">
              <a:solidFill>
                <a:srgbClr val="475569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35000" y="1397000"/>
            <a:ext cx="1651000" cy="457200"/>
            <a:chOff x="889000" y="1429656"/>
            <a:chExt cx="1651000" cy="457200"/>
          </a:xfrm>
        </p:grpSpPr>
        <p:sp>
          <p:nvSpPr>
            <p:cNvPr id="5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6" name="Graphic 5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0611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UX Is the Product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81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778500"/>
            <a:ext cx="10922000" cy="45720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i="1" dirty="0">
                <a:solidFill>
                  <a:srgbClr val="475569"/>
                </a:solidFill>
              </a:rPr>
              <a:t>The LLM is 20% of the work. The UX is the rest!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562430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4000" b="1" dirty="0">
                <a:solidFill>
                  <a:srgbClr val="22D3EE"/>
                </a:solidFill>
              </a:rPr>
              <a:t>▣  </a:t>
            </a:r>
            <a:r>
              <a:rPr lang="en-US" sz="28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sz="2000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343400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4000" b="1" dirty="0">
                <a:solidFill>
                  <a:srgbClr val="6366F1"/>
                </a:solidFill>
              </a:rPr>
              <a:t>◉  </a:t>
            </a:r>
            <a:r>
              <a:rPr lang="en-US" sz="28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sz="2000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8124370" y="1651000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4000" b="1" dirty="0">
                <a:solidFill>
                  <a:srgbClr val="10B981"/>
                </a:solidFill>
              </a:rPr>
              <a:t>⚡  </a:t>
            </a:r>
            <a:r>
              <a:rPr lang="en-US" sz="28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sz="2000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562430" y="3726542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4000" b="1" dirty="0">
                <a:solidFill>
                  <a:srgbClr val="F43F5E"/>
                </a:solidFill>
              </a:rPr>
              <a:t>📊  </a:t>
            </a:r>
            <a:r>
              <a:rPr lang="en-US" sz="28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sz="2000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343400" y="3726542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59E0B"/>
                </a:solidFill>
              </a:rPr>
              <a:t>🔍</a:t>
            </a:r>
            <a:r>
              <a:rPr lang="en-US" sz="4000" b="1" dirty="0">
                <a:solidFill>
                  <a:srgbClr val="F59E0B"/>
                </a:solidFill>
              </a:rPr>
              <a:t>  </a:t>
            </a:r>
            <a:r>
              <a:rPr lang="en-US" sz="28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sz="2000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8124370" y="3726542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4000" b="1" dirty="0">
                <a:solidFill>
                  <a:srgbClr val="A78BFA"/>
                </a:solidFill>
              </a:rPr>
              <a:t>📈  </a:t>
            </a:r>
            <a:r>
              <a:rPr lang="en-US" sz="28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sz="2000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  <p:sp>
        <p:nvSpPr>
          <p:cNvPr id="1420" name="Q"/>
          <p:cNvSpPr txBox="1"/>
          <p:nvPr/>
        </p:nvSpPr>
        <p:spPr>
          <a:xfrm>
            <a:off x="635000" y="5842000"/>
            <a:ext cx="10922000" cy="381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>
            <a:defPPr>
              <a:defRPr lang="tr-TR"/>
            </a:defPPr>
            <a:lvl1pPr algn="ctr">
              <a:defRPr sz="2400" i="1">
                <a:solidFill>
                  <a:srgbClr val="475569"/>
                </a:solidFill>
              </a:defRPr>
            </a:lvl1pPr>
          </a:lstStyle>
          <a:p>
            <a:r>
              <a:rPr lang="en-US" dirty="0"/>
              <a:t>Anywhere a JIRA ticket asks a developer to write a SELECT.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3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rgbClr val="1E293B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 dirty="0">
                  <a:solidFill>
                    <a:srgbClr val="FFFFFF"/>
                  </a:solidFill>
                </a:rPr>
                <a:t>We 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spc="300" dirty="0">
                  <a:solidFill>
                    <a:srgbClr val="1E293B"/>
                  </a:solidFill>
                </a:rPr>
              </a:br>
              <a:r>
                <a:rPr lang="en-US" sz="2800" spc="300" dirty="0">
                  <a:solidFill>
                    <a:srgbClr val="1E293B"/>
                  </a:solidFill>
                </a:rPr>
                <a:t>our language</a:t>
              </a:r>
              <a:endParaRPr lang="en-US" sz="2800" dirty="0">
                <a:solidFill>
                  <a:srgbClr val="1E293B"/>
                </a:solidFill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D01CF5-3779-C47E-5AA7-7E012662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318" y="4787580"/>
            <a:ext cx="1735996" cy="1751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153525" y="5504190"/>
            <a:ext cx="269585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Source-code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7876269" y="5192160"/>
            <a:ext cx="1333045" cy="727529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FB9B4569-51E9-BCD9-9F8D-73705F246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tr-TR" altLang="tr-TR" sz="11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Google Sans Text"/>
              </a:rPr>
              <a:t>Until now we learnt programming languages to talk with computers</a:t>
            </a:r>
            <a:endParaRPr kumimoji="0" lang="tr-TR" altLang="tr-T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323</TotalTime>
  <Words>3669</Words>
  <Application>Microsoft Office PowerPoint</Application>
  <PresentationFormat>Widescreen</PresentationFormat>
  <Paragraphs>484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Arial</vt:lpstr>
      <vt:lpstr>Consolas</vt:lpstr>
      <vt:lpstr>Google Sans Text</vt:lpstr>
      <vt:lpstr>Inter</vt:lpstr>
      <vt:lpstr>Raleway</vt:lpstr>
      <vt:lpstr>Roboto</vt:lpstr>
      <vt:lpstr>Office Theme [1776698939131]</vt:lpstr>
      <vt:lpstr>Building  AI-Powered Reporting with .NET</vt:lpstr>
      <vt:lpstr>PowerPoint Presentation</vt:lpstr>
      <vt:lpstr>The Problem</vt:lpstr>
      <vt:lpstr>PowerPoint Presentation</vt:lpstr>
      <vt:lpstr>What We'll Build</vt:lpstr>
      <vt:lpstr>The Pipeline A Simple Console App </vt:lpstr>
      <vt:lpstr>The Pipeline</vt:lpstr>
      <vt:lpstr>Schema + Prompt Design</vt:lpstr>
      <vt:lpstr>Live Demo — Console</vt:lpstr>
      <vt:lpstr>Validation + Execution</vt:lpstr>
      <vt:lpstr>PowerPoint Presentation</vt:lpstr>
      <vt:lpstr>Architecture — 3 Layers</vt:lpstr>
      <vt:lpstr>One Module. Any .NET App.</vt:lpstr>
      <vt:lpstr>PowerPoint Presentation</vt:lpstr>
      <vt:lpstr>Same Backend, Little Bit Better UX</vt:lpstr>
      <vt:lpstr>Live Demo — Blazor</vt:lpstr>
      <vt:lpstr>UX Is the Product</vt:lpstr>
      <vt:lpstr>Where This Fits in the Real World</vt:lpstr>
      <vt:lpstr>What to Watch Out For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86</cp:revision>
  <dcterms:created xsi:type="dcterms:W3CDTF">2026-04-20T12:53:27Z</dcterms:created>
  <dcterms:modified xsi:type="dcterms:W3CDTF">2026-04-22T13:56:09Z</dcterms:modified>
</cp:coreProperties>
</file>