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9"/>
  </p:notesMasterIdLst>
  <p:sldIdLst>
    <p:sldId id="328" r:id="rId2"/>
    <p:sldId id="343" r:id="rId3"/>
    <p:sldId id="344" r:id="rId4"/>
    <p:sldId id="329" r:id="rId5"/>
    <p:sldId id="333" r:id="rId6"/>
    <p:sldId id="337" r:id="rId7"/>
    <p:sldId id="339" r:id="rId8"/>
    <p:sldId id="338" r:id="rId9"/>
    <p:sldId id="309" r:id="rId10"/>
    <p:sldId id="310" r:id="rId11"/>
    <p:sldId id="299" r:id="rId12"/>
    <p:sldId id="312" r:id="rId13"/>
    <p:sldId id="330" r:id="rId14"/>
    <p:sldId id="313" r:id="rId15"/>
    <p:sldId id="314" r:id="rId16"/>
    <p:sldId id="315" r:id="rId17"/>
    <p:sldId id="316" r:id="rId18"/>
    <p:sldId id="317" r:id="rId19"/>
    <p:sldId id="320" r:id="rId20"/>
    <p:sldId id="318" r:id="rId21"/>
    <p:sldId id="319" r:id="rId22"/>
    <p:sldId id="321" r:id="rId23"/>
    <p:sldId id="322" r:id="rId24"/>
    <p:sldId id="323" r:id="rId25"/>
    <p:sldId id="336" r:id="rId26"/>
    <p:sldId id="335" r:id="rId27"/>
    <p:sldId id="324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042A"/>
    <a:srgbClr val="D819FE"/>
    <a:srgbClr val="271008"/>
    <a:srgbClr val="74615F"/>
    <a:srgbClr val="020919"/>
    <a:srgbClr val="64748B"/>
    <a:srgbClr val="22D3EE"/>
    <a:srgbClr val="969696"/>
    <a:srgbClr val="FAFBFC"/>
    <a:srgbClr val="FCF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93" autoAdjust="0"/>
    <p:restoredTop sz="64149" autoAdjust="0"/>
  </p:normalViewPr>
  <p:slideViewPr>
    <p:cSldViewPr snapToGrid="0">
      <p:cViewPr>
        <p:scale>
          <a:sx n="66" d="100"/>
          <a:sy n="66" d="100"/>
        </p:scale>
        <p:origin x="1770" y="186"/>
      </p:cViewPr>
      <p:guideLst/>
    </p:cSldViewPr>
  </p:slideViewPr>
  <p:notesTextViewPr>
    <p:cViewPr>
      <p:scale>
        <a:sx n="3" d="2"/>
        <a:sy n="3" d="2"/>
      </p:scale>
      <p:origin x="0" y="-82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60078-77E7-46A7-9649-B3FD62DAD7B9}" type="datetimeFigureOut">
              <a:rPr lang="tr-TR" smtClean="0"/>
              <a:t>16.10.2026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73214-2400-4051-BA10-C1E11D206B4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285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73214-2400-4051-BA10-C1E11D206B4D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9368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C87B-78F1-658C-4814-46D5F7F2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EFF84-4ED4-81A7-8C53-7DE89E624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EE9BA-6673-207C-6C0C-4AD06DE20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Poland lost its independence in </a:t>
            </a:r>
            <a:r>
              <a:rPr lang="en-US" b="1" dirty="0"/>
              <a:t>1795</a:t>
            </a:r>
            <a:r>
              <a:rPr lang="en-US" dirty="0"/>
              <a:t>, the country was divided between </a:t>
            </a:r>
            <a:r>
              <a:rPr lang="en-US" b="1" dirty="0"/>
              <a:t>Russia, Prussia and Austria.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Ottoman Empire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the country to Polish people running from the war in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1842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Polish immigrants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 to leave their homeland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moving to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new country, with a different language, religion, culture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ADAPTED THIS NEW ENVIRONMENT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CHANGED AND BUILT A NEW LIFE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almost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185 years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later, their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village is still there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facing a similar kind of change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moving into the new AI era.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like those Polish settlers, we need to change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way we do reporting.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software developers, we've spent years building applications with forms, filters, dashboards, and reporting tools.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they've worked well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 way people interact with software is changing.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navigating through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complicated interfaces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users increasingly expect to simply ask questions and get answers.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that's exactly what I'd like to show you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E0D5D-053D-80D7-8E63-8B8978502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73214-2400-4051-BA10-C1E11D206B4D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4198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73214-2400-4051-BA10-C1E11D206B4D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051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73214-2400-4051-BA10-C1E11D206B4D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467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D718-809A-6FFE-8CA7-38A00CE95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AA0F9-EB22-F88D-F5FF-91F0289EB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2403F-80AF-CC17-9B38-85390C8B5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72240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18867-3E77-F3B1-80CE-599092DF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2EBE4-05B0-BC51-8468-11403D1AA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0AC4D-9FEF-FFE1-507C-792815526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26025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AA1F-33C4-196A-BF68-9DD61609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3D200-640F-1A6D-0D6F-73FABD99C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C004F-8193-FE09-BFB3-18B1A462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7671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1— </a:t>
            </a:r>
            <a:r>
              <a:rPr lang="en-US" b="1" dirty="0"/>
              <a:t>parse what the user actually asked</a:t>
            </a:r>
          </a:p>
          <a:p>
            <a:r>
              <a:rPr lang="en-US" dirty="0"/>
              <a:t>2— </a:t>
            </a:r>
            <a:r>
              <a:rPr lang="en-US" b="1" dirty="0"/>
              <a:t>the LLM has to know your tables</a:t>
            </a:r>
          </a:p>
          <a:p>
            <a:r>
              <a:rPr lang="en-US" dirty="0"/>
              <a:t>3 — </a:t>
            </a:r>
            <a:r>
              <a:rPr lang="en-US" b="1" dirty="0"/>
              <a:t>with validation, not blind trust</a:t>
            </a:r>
          </a:p>
          <a:p>
            <a:r>
              <a:rPr lang="en-US" dirty="0"/>
              <a:t>4— </a:t>
            </a:r>
            <a:r>
              <a:rPr lang="en-US" b="1" dirty="0"/>
              <a:t>run it against the real database</a:t>
            </a:r>
          </a:p>
          <a:p>
            <a:r>
              <a:rPr lang="en-US" dirty="0"/>
              <a:t>5— </a:t>
            </a:r>
            <a:r>
              <a:rPr lang="en-US" b="1" dirty="0"/>
              <a:t>Excel and generating charts, because that is what people actually do with results</a:t>
            </a:r>
          </a:p>
          <a:p>
            <a:endParaRPr lang="en-US" dirty="0"/>
          </a:p>
          <a:p>
            <a:r>
              <a:rPr lang="en-US" dirty="0"/>
              <a:t>[EMPHASIZE] 'Each one of these is boring on its own. The magic is the chain.'</a:t>
            </a:r>
          </a:p>
          <a:p>
            <a:endParaRPr lang="en-US" dirty="0"/>
          </a:p>
          <a:p>
            <a:r>
              <a:rPr lang="en-US" dirty="0"/>
              <a:t>[TRANSITION] 'Here is how we will walk through it.'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 dirty="0"/>
              <a:t>DDL</a:t>
            </a:r>
            <a:r>
              <a:rPr lang="en-US" dirty="0"/>
              <a:t>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Definition Language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0EC0F-DA0D-0A76-E806-8E6CBDDFF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61CA3-11A4-AE5B-BC7E-4E722A78C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DEF67-09CC-E136-C2C8-BC26E99D7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754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 DEMO — Console] Alt-tab to Visual Studio. Make sure Chat.Console.OpenAI is already loaded and the font is LARGE.</a:t>
            </a:r>
          </a:p>
          <a:p>
            <a:endParaRPr lang="en-US" dirty="0"/>
          </a:p>
          <a:p>
            <a:r>
              <a:rPr lang="en-US" dirty="0"/>
              <a:t>Step 1: Start the app. Let them see the prompt blink.</a:t>
            </a:r>
          </a:p>
          <a:p>
            <a:r>
              <a:rPr lang="en-US" dirty="0"/>
              <a:t>Step 2: Type 'top 10 customers by revenue' slowly, so people can read.</a:t>
            </a:r>
          </a:p>
          <a:p>
            <a:r>
              <a:rPr lang="en-US" dirty="0"/>
              <a:t>Step 3: Pause before hitting enter. Ask: 'What SQL do you expect?'</a:t>
            </a:r>
          </a:p>
          <a:p>
            <a:r>
              <a:rPr lang="en-US" dirty="0"/>
              <a:t>Step 4: Hit enter. The generated SQL appears.</a:t>
            </a:r>
          </a:p>
          <a:p>
            <a:endParaRPr lang="en-US" dirty="0"/>
          </a:p>
          <a:p>
            <a:r>
              <a:rPr lang="en-US" dirty="0"/>
              <a:t>[TRUST MOMENT] Stop. Read the SQL out loud. Then ask the audience:</a:t>
            </a:r>
          </a:p>
          <a:p>
            <a:r>
              <a:rPr lang="en-US" dirty="0"/>
              <a:t>'Would you run this in production?'</a:t>
            </a:r>
          </a:p>
          <a:p>
            <a:endParaRPr lang="en-US" dirty="0"/>
          </a:p>
          <a:p>
            <a:r>
              <a:rPr lang="en-US" dirty="0"/>
              <a:t>[PAUSE 3s] Let them sit with it. Some will say yes, some no.</a:t>
            </a:r>
          </a:p>
          <a:p>
            <a:endParaRPr lang="en-US" dirty="0"/>
          </a:p>
          <a:p>
            <a:r>
              <a:rPr lang="en-US" dirty="0"/>
              <a:t>Then: 'Right — we would not trust it blindly. That is why the next stage is validation.'</a:t>
            </a:r>
          </a:p>
          <a:p>
            <a:endParaRPr lang="en-US" dirty="0"/>
          </a:p>
          <a:p>
            <a:r>
              <a:rPr lang="en-US" dirty="0"/>
              <a:t>[CUE] Point back to the pipeline slide mentally: we just completed Schema → Prompt → LLM → SQL. Validation is next.</a:t>
            </a:r>
          </a:p>
          <a:p>
            <a:endParaRPr lang="en-US" dirty="0"/>
          </a:p>
          <a:p>
            <a:r>
              <a:rPr lang="en-US" dirty="0"/>
              <a:t>Keep the console running — we'll use the same session for validation + execution.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stage you just saw is inspectable. Testable. Replaceable. You can swap the LLM. You can add a cache in front of it. You can unit-test the validator.</a:t>
            </a:r>
          </a:p>
          <a:p>
            <a:endParaRPr lang="en-US" dirty="0"/>
          </a:p>
          <a:p>
            <a:r>
              <a:rPr lang="en-US" dirty="0"/>
              <a:t>When something goes wrong in production — and it will — you can open a log and see exactly which stage failed.</a:t>
            </a:r>
          </a:p>
          <a:p>
            <a:endParaRPr lang="en-US" dirty="0"/>
          </a:p>
          <a:p>
            <a:r>
              <a:rPr lang="en-US" dirty="0"/>
              <a:t>That is why this works in an enterprise context. Because it stops being AI and starts being software.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[ARCHITECTURE] Architects in the room, this slide is for you.</a:t>
            </a:r>
          </a:p>
          <a:p>
            <a:endParaRPr lang="en-US" dirty="0"/>
          </a:p>
          <a:p>
            <a:r>
              <a:rPr lang="en-US" dirty="0"/>
              <a:t>Three layers. Walk through top to bottom:</a:t>
            </a:r>
          </a:p>
          <a:p>
            <a:endParaRPr lang="en-US" dirty="0"/>
          </a:p>
          <a:p>
            <a:r>
              <a:rPr lang="en-US" dirty="0"/>
              <a:t>Layer 1 — Intake. The only layer that touches the user and the database schema. It answers: 'What did they ask, and what do we know about the data?'</a:t>
            </a:r>
          </a:p>
          <a:p>
            <a:endParaRPr lang="en-US" dirty="0"/>
          </a:p>
          <a:p>
            <a:r>
              <a:rPr lang="en-US" dirty="0"/>
              <a:t>Layer 2 — Brain. The LLM lives here, and so does the validator. Input: user intent plus schema. Output: safe SQL. Nothing else gets in or out.</a:t>
            </a:r>
          </a:p>
          <a:p>
            <a:endParaRPr lang="en-US" dirty="0"/>
          </a:p>
          <a:p>
            <a:r>
              <a:rPr lang="en-US" dirty="0"/>
              <a:t>Layer 3 — Output. Runs the query, formats the results, feeds downstream consumers like Excel or charts.</a:t>
            </a:r>
          </a:p>
          <a:p>
            <a:endParaRPr lang="en-US" dirty="0"/>
          </a:p>
          <a:p>
            <a:r>
              <a:rPr lang="en-US" dirty="0"/>
              <a:t>[EMPHASIZE] Read the bottom strip: 'Swap the LLM, swap the database, swap the UI — the contract between layers stays the same.'</a:t>
            </a:r>
          </a:p>
          <a:p>
            <a:endParaRPr lang="en-US" dirty="0"/>
          </a:p>
          <a:p>
            <a:r>
              <a:rPr lang="en-US" dirty="0"/>
              <a:t>'Which means when OpenAI releases a better model next week, you change one class. When you move from SQL Server to Postgres, you change one class. That is the win.'</a:t>
            </a:r>
          </a:p>
          <a:p>
            <a:endParaRPr lang="en-US" dirty="0"/>
          </a:p>
          <a:p>
            <a:r>
              <a:rPr lang="en-US" dirty="0"/>
              <a:t>[TRANSITION] 'And because the layers are clean, this whole thing fits in one NuGet module.'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 DEMO] Switch to the Blazor browser window. Make sure the mic permission is already granted before the talk.</a:t>
            </a:r>
          </a:p>
          <a:p>
            <a:endParaRPr lang="en-US" dirty="0"/>
          </a:p>
          <a:p>
            <a:r>
              <a:rPr lang="en-US" dirty="0"/>
              <a:t>Demo script — roughly 4 minutes total:</a:t>
            </a:r>
          </a:p>
          <a:p>
            <a:endParaRPr lang="en-US" dirty="0"/>
          </a:p>
          <a:p>
            <a:r>
              <a:rPr lang="en-US" dirty="0"/>
              <a:t>1. Click the mic button. Say clearly: 'Show me sales trends for the last six months.'</a:t>
            </a:r>
          </a:p>
          <a:p>
            <a:r>
              <a:rPr lang="en-US" dirty="0"/>
              <a:t>2. Let the audience watch the transcription appear.</a:t>
            </a:r>
          </a:p>
          <a:p>
            <a:r>
              <a:rPr lang="en-US" dirty="0"/>
              <a:t>3. Show the SQL it generated (same pipeline as before — point this out).</a:t>
            </a:r>
          </a:p>
          <a:p>
            <a:r>
              <a:rPr lang="en-US" dirty="0"/>
              <a:t>4. Watch the table render.</a:t>
            </a:r>
          </a:p>
          <a:p>
            <a:r>
              <a:rPr lang="en-US" dirty="0"/>
              <a:t>5. Switch to the chart tab — the 'wow' moment.</a:t>
            </a:r>
          </a:p>
          <a:p>
            <a:r>
              <a:rPr lang="en-US" dirty="0"/>
              <a:t>6. Click Export to Excel. Open the file briefly so they see it's real.</a:t>
            </a:r>
          </a:p>
          <a:p>
            <a:endParaRPr lang="en-US" dirty="0"/>
          </a:p>
          <a:p>
            <a:r>
              <a:rPr lang="en-US" dirty="0"/>
              <a:t>[EMPHASIZE] 'Voice in. Chart out. Spreadsheet in my downloads folder. Zero SQL.'</a:t>
            </a:r>
          </a:p>
          <a:p>
            <a:endParaRPr lang="en-US" dirty="0"/>
          </a:p>
          <a:p>
            <a:r>
              <a:rPr lang="en-US" dirty="0"/>
              <a:t>[FALLBACK] If the mic fails, just type the query. Don't panic. Say: 'Let me type this instead.'</a:t>
            </a:r>
          </a:p>
          <a:p>
            <a:endParaRPr lang="en-US" dirty="0"/>
          </a:p>
          <a:p>
            <a:r>
              <a:rPr lang="en-US" dirty="0"/>
              <a:t>[TRANSITION] Return to slides. 'Why does this feel different from the console? Let's talk about UX.'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'Second demo: the product. Same backend, but now with voice input, live charts, and Excel export. This is what you'd actually ship to business users.'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console app proved the pipeline works. </a:t>
            </a:r>
          </a:p>
          <a:p>
            <a:r>
              <a:rPr lang="en-US" dirty="0"/>
              <a:t>That demo was a stripped-down version to show the concept in its purest form, without any technological complexities.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[REFLECTION] Slow down here. The audience just saw something cool — give them a moment to integrate it.</a:t>
            </a:r>
          </a:p>
          <a:p>
            <a:endParaRPr lang="en-US" dirty="0"/>
          </a:p>
          <a:p>
            <a:r>
              <a:rPr lang="en-US" dirty="0"/>
              <a:t>Three UX truths this project taught me:</a:t>
            </a:r>
          </a:p>
          <a:p>
            <a:endParaRPr lang="en-US" dirty="0"/>
          </a:p>
          <a:p>
            <a:r>
              <a:rPr lang="en-US" dirty="0"/>
              <a:t>- Simplicity wins. The user types or speaks. That's it. No dropdowns, no filters, no form fields.</a:t>
            </a:r>
          </a:p>
          <a:p>
            <a:r>
              <a:rPr lang="en-US" dirty="0"/>
              <a:t>- Instant feedback. Show the SQL. Show the table. Show the chart. Never leave the user staring at a spinner with no context.</a:t>
            </a:r>
          </a:p>
          <a:p>
            <a:r>
              <a:rPr lang="en-US" dirty="0"/>
              <a:t>- Trust in results. Every answer can be inspected — show me the query, show me the row count, let me verify.</a:t>
            </a:r>
          </a:p>
          <a:p>
            <a:endParaRPr lang="en-US" dirty="0"/>
          </a:p>
          <a:p>
            <a:r>
              <a:rPr lang="en-US" dirty="0"/>
              <a:t>[EMPHASIZE] 'The tech is the LLM. The product is the trust.'</a:t>
            </a:r>
          </a:p>
          <a:p>
            <a:endParaRPr lang="en-US" dirty="0"/>
          </a:p>
          <a:p>
            <a:r>
              <a:rPr lang="en-US" dirty="0"/>
              <a:t>[TRANSITION] 'So where does this actually fit in the real world?'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[MAKE IT REAL] This is where you connect the demo to their day job. Tailor the examples to the room if you can — if you know someone works in finance, lean on that one.</a:t>
            </a:r>
          </a:p>
          <a:p>
            <a:endParaRPr lang="en-US" dirty="0"/>
          </a:p>
          <a:p>
            <a:r>
              <a:rPr lang="en-US" dirty="0"/>
              <a:t>Four places this pattern ships today:</a:t>
            </a:r>
          </a:p>
          <a:p>
            <a:endParaRPr lang="en-US" dirty="0"/>
          </a:p>
          <a:p>
            <a:r>
              <a:rPr lang="en-US" dirty="0"/>
              <a:t>- Admin dashboards — internal tools where PMs, ops, and support staff self-serve data</a:t>
            </a:r>
          </a:p>
          <a:p>
            <a:r>
              <a:rPr lang="en-US" dirty="0"/>
              <a:t>- Customer support — '/lookup everything for account 1234' without a Slack ticket to engineering</a:t>
            </a:r>
          </a:p>
          <a:p>
            <a:r>
              <a:rPr lang="en-US" dirty="0"/>
              <a:t>- Finance and BI — replacing half-built Power BI reports that nobody maintains</a:t>
            </a:r>
          </a:p>
          <a:p>
            <a:r>
              <a:rPr lang="en-US" dirty="0"/>
              <a:t>- Sales ops — 'what's my pipeline this quarter?' asked and answered in five seconds</a:t>
            </a:r>
          </a:p>
          <a:p>
            <a:endParaRPr lang="en-US" dirty="0"/>
          </a:p>
          <a:p>
            <a:r>
              <a:rPr lang="en-US" dirty="0"/>
              <a:t>[EMPHASIZE] 'Every company you've worked at had this need. You just didn't have the tools to solve it cheaply. Now you do.’</a:t>
            </a:r>
          </a:p>
          <a:p>
            <a:endParaRPr lang="en-US" dirty="0"/>
          </a:p>
          <a:p>
            <a:r>
              <a:rPr lang="en-US" b="1" dirty="0"/>
              <a:t>ACTIONS: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reservations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Remove spam users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Add/update products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merge duplicate records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Fix invalid phone numbers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Auto create campaigns based on my sales</a:t>
            </a:r>
          </a:p>
          <a:p>
            <a:endParaRPr lang="en-US" dirty="0"/>
          </a:p>
          <a:p>
            <a:r>
              <a:rPr lang="en-US" dirty="0"/>
              <a:t>[TRANSITION] 'Before you go build one — the real talk.'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dirty="0"/>
              <a:t>Multi-tenancy &amp; permissions:</a:t>
            </a:r>
            <a:r>
              <a:rPr lang="en-US" dirty="0"/>
              <a:t>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Give each user separate </a:t>
            </a:r>
            <a:r>
              <a:rPr lang="en-US" u="sng" dirty="0"/>
              <a:t>connection string &amp; permissions </a:t>
            </a:r>
            <a:r>
              <a:rPr lang="en-US" u="none" dirty="0"/>
              <a:t>so you can configure their roles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Separate </a:t>
            </a:r>
            <a:r>
              <a:rPr lang="en-US" u="sng" dirty="0"/>
              <a:t>sub databases</a:t>
            </a:r>
            <a:r>
              <a:rPr lang="en-US" dirty="0"/>
              <a:t> for specific user groups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Create &amp; send only </a:t>
            </a:r>
            <a:r>
              <a:rPr lang="en-US" u="sng" dirty="0"/>
              <a:t>views</a:t>
            </a:r>
            <a:r>
              <a:rPr lang="en-US" dirty="0"/>
              <a:t> to AI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Add </a:t>
            </a:r>
            <a:r>
              <a:rPr lang="en-US" u="sng" dirty="0" err="1"/>
              <a:t>TenantId</a:t>
            </a:r>
            <a:r>
              <a:rPr lang="en-US" dirty="0"/>
              <a:t> to each select query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1" dirty="0">
                <a:solidFill>
                  <a:srgbClr val="0F172A"/>
                </a:solidFill>
              </a:rPr>
              <a:t>Hallucination: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dirty="0">
                <a:solidFill>
                  <a:srgbClr val="0F172A"/>
                </a:solidFill>
              </a:rPr>
              <a:t>Write an MCP also add retry mechanism  </a:t>
            </a: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b="1" dirty="0"/>
              <a:t>Ambigous questions:</a:t>
            </a:r>
          </a:p>
          <a:p>
            <a:pPr marL="628650" lvl="1" indent="-171450">
              <a:buFontTx/>
              <a:buChar char="-"/>
            </a:pPr>
            <a:r>
              <a:rPr lang="tr-TR" dirty="0"/>
              <a:t>Most production </a:t>
            </a:r>
            <a:r>
              <a:rPr lang="tr-TR" u="sng" dirty="0"/>
              <a:t>issues are not SQL errors</a:t>
            </a:r>
            <a:r>
              <a:rPr lang="tr-TR" dirty="0"/>
              <a:t>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User's intent is unclear, I don't want the AI to guess. So clarify question first</a:t>
            </a:r>
          </a:p>
          <a:p>
            <a:pPr marL="171450" lvl="0" indent="-171450">
              <a:buFontTx/>
              <a:buChar char="-"/>
            </a:pPr>
            <a:r>
              <a:rPr lang="en-US" sz="1200" b="1" dirty="0">
                <a:solidFill>
                  <a:srgbClr val="0F172A"/>
                </a:solidFill>
              </a:rPr>
              <a:t>Cost &amp; Latency: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LLM latency + query latency compounds. Cache aggressively.</a:t>
            </a:r>
          </a:p>
          <a:p>
            <a:pPr marL="171450" lvl="0" indent="-171450">
              <a:buFontTx/>
              <a:buChar char="-"/>
            </a:pPr>
            <a:r>
              <a:rPr lang="en-US" sz="1200" b="1" dirty="0"/>
              <a:t>Confidential data </a:t>
            </a:r>
          </a:p>
          <a:p>
            <a:pPr marL="628650" lvl="1" indent="-171450">
              <a:buFontTx/>
              <a:buChar char="-"/>
            </a:pPr>
            <a:r>
              <a:rPr lang="en-US" b="0" dirty="0"/>
              <a:t>You’ll send only your </a:t>
            </a:r>
            <a:r>
              <a:rPr lang="en-US" b="0" dirty="0" err="1"/>
              <a:t>table,column</a:t>
            </a:r>
            <a:r>
              <a:rPr lang="en-US" b="0" dirty="0"/>
              <a:t> names not the data. But if still an issue, use local LLM</a:t>
            </a:r>
          </a:p>
          <a:p>
            <a:pPr marL="171450" lvl="0" indent="-171450">
              <a:buFontTx/>
              <a:buChar char="-"/>
            </a:pPr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6FE7-4DB1-C986-0D9D-A9F7F9D9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0D34D-AE0E-95FA-F928-940DA5194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C2184-F1D6-D5AB-4837-38DFF2D26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600" b="1" dirty="0">
                <a:solidFill>
                  <a:srgbClr val="0F172A"/>
                </a:solidFill>
              </a:rPr>
              <a:t>Validate queries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600" b="0" dirty="0"/>
              <a:t>Block unsafe queries before execution.</a:t>
            </a:r>
            <a:r>
              <a:rPr lang="en-US" sz="1600" dirty="0"/>
              <a:t> Allow only SELECT </a:t>
            </a:r>
          </a:p>
          <a:p>
            <a:pPr marL="171450" lvl="0" indent="-171450">
              <a:buFontTx/>
              <a:buChar char="-"/>
            </a:pPr>
            <a:r>
              <a:rPr lang="en-US" sz="1200" b="1" dirty="0">
                <a:solidFill>
                  <a:srgbClr val="0F172A"/>
                </a:solidFill>
              </a:rPr>
              <a:t>Read-only DB user </a:t>
            </a:r>
          </a:p>
          <a:p>
            <a:pPr marL="628650" lvl="1" indent="-171450">
              <a:buFontTx/>
              <a:buChar char="-"/>
            </a:pPr>
            <a:r>
              <a:rPr lang="en-US" sz="1200" b="0" dirty="0">
                <a:solidFill>
                  <a:srgbClr val="0F172A"/>
                </a:solidFill>
              </a:rPr>
              <a:t>Set connection string read-only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600" b="1" dirty="0"/>
              <a:t>Human in the loop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rgbClr val="475569"/>
                </a:solidFill>
              </a:rPr>
              <a:t>First versions require human-approved queries</a:t>
            </a:r>
            <a:endParaRPr lang="en-US" b="1" dirty="0"/>
          </a:p>
          <a:p>
            <a:pPr marL="171450" lvl="0" indent="-171450">
              <a:buFontTx/>
              <a:buChar char="-"/>
            </a:pPr>
            <a:r>
              <a:rPr lang="en-US" sz="1200" b="1" dirty="0">
                <a:solidFill>
                  <a:srgbClr val="0F172A"/>
                </a:solidFill>
              </a:rPr>
              <a:t>Enforce limits:</a:t>
            </a:r>
          </a:p>
          <a:p>
            <a:pPr marL="628650" lvl="1" indent="-171450">
              <a:buFontTx/>
              <a:buChar char="-"/>
            </a:pPr>
            <a:r>
              <a:rPr lang="en-US" sz="1200" b="0" dirty="0">
                <a:solidFill>
                  <a:srgbClr val="0F172A"/>
                </a:solidFill>
              </a:rPr>
              <a:t>Limit row count and set a timeout</a:t>
            </a:r>
            <a:endParaRPr lang="en-US" sz="1200" b="1" dirty="0">
              <a:solidFill>
                <a:srgbClr val="0F172A"/>
              </a:solidFill>
            </a:endParaRPr>
          </a:p>
          <a:p>
            <a:pPr marL="171450" lvl="0" indent="-171450">
              <a:buFontTx/>
              <a:buChar char="-"/>
            </a:pPr>
            <a:r>
              <a:rPr lang="en-US" sz="1200" b="1" dirty="0">
                <a:solidFill>
                  <a:srgbClr val="0F172A"/>
                </a:solidFill>
              </a:rPr>
              <a:t>Log everything </a:t>
            </a:r>
          </a:p>
          <a:p>
            <a:pPr marL="628650" lvl="1" indent="-171450">
              <a:buFontTx/>
              <a:buChar char="-"/>
            </a:pPr>
            <a:r>
              <a:rPr lang="en-US" sz="1200" b="0" dirty="0">
                <a:solidFill>
                  <a:srgbClr val="0F172A"/>
                </a:solidFill>
              </a:rPr>
              <a:t>For debugging and improve the system </a:t>
            </a:r>
          </a:p>
          <a:p>
            <a:pPr marL="171450" lvl="0" indent="-171450">
              <a:buFontTx/>
              <a:buChar char="-"/>
            </a:pPr>
            <a:r>
              <a:rPr lang="en-US" sz="1200" b="1" dirty="0">
                <a:solidFill>
                  <a:srgbClr val="0F172A"/>
                </a:solidFill>
              </a:rPr>
              <a:t>Save working queries</a:t>
            </a:r>
          </a:p>
          <a:p>
            <a:pPr marL="628650" lvl="1" indent="-171450">
              <a:buFontTx/>
              <a:buChar char="-"/>
            </a:pPr>
            <a:r>
              <a:rPr lang="en-US" sz="1200" b="0" dirty="0">
                <a:solidFill>
                  <a:srgbClr val="0F172A"/>
                </a:solidFill>
              </a:rPr>
              <a:t>Save user queries and SQL so people can re-run, they can share the working queries</a:t>
            </a:r>
          </a:p>
          <a:p>
            <a:pPr marL="171450" lvl="0" indent="-171450">
              <a:buFontTx/>
              <a:buChar char="-"/>
            </a:pPr>
            <a:r>
              <a:rPr lang="en-US" sz="1200" b="1" dirty="0">
                <a:solidFill>
                  <a:srgbClr val="0F172A"/>
                </a:solidFill>
              </a:rPr>
              <a:t>Start small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/>
              <a:t>Ship the ugly version first.</a:t>
            </a:r>
          </a:p>
        </p:txBody>
      </p:sp>
    </p:spTree>
    <p:extLst>
      <p:ext uri="{BB962C8B-B14F-4D97-AF65-F5344CB8AC3E}">
        <p14:creationId xmlns:p14="http://schemas.microsoft.com/office/powerpoint/2010/main" val="41470320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DACCD-50D9-449C-5E0D-B9DC7646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8E7DD-B1D7-47D1-28A9-EACCEF105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E8918-788F-0C91-29DB-7E2A9BB9A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now we are cautious about using AI, just like we did when ATM machines first came out, but in the future AI will be a reliable part of our systems.</a:t>
            </a:r>
          </a:p>
        </p:txBody>
      </p:sp>
    </p:spTree>
    <p:extLst>
      <p:ext uri="{BB962C8B-B14F-4D97-AF65-F5344CB8AC3E}">
        <p14:creationId xmlns:p14="http://schemas.microsoft.com/office/powerpoint/2010/main" val="5761463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98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77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26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1F5F-D53B-EC38-2AA3-5FE1BA25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4481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29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5570F-08DF-C25C-7EA2-5D2EAFC9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34B50-5538-83C8-3AA5-0C3617709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FooterLine"/>
          <p:cNvSpPr/>
          <p:nvPr userDrawn="1"/>
        </p:nvSpPr>
        <p:spPr>
          <a:xfrm>
            <a:off x="457200" y="6400800"/>
            <a:ext cx="10944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FED691-C0E0-6840-99E9-4DBDDDE0DA2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506200" y="6162963"/>
            <a:ext cx="609600" cy="62807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CE886C5-2598-F494-A9A1-5E24B33FE50D}"/>
              </a:ext>
            </a:extLst>
          </p:cNvPr>
          <p:cNvGrpSpPr/>
          <p:nvPr userDrawn="1"/>
        </p:nvGrpSpPr>
        <p:grpSpPr>
          <a:xfrm>
            <a:off x="1378291" y="6469052"/>
            <a:ext cx="10702016" cy="262113"/>
            <a:chOff x="654270" y="6494874"/>
            <a:chExt cx="10702016" cy="262113"/>
          </a:xfrm>
        </p:grpSpPr>
        <p:sp>
          <p:nvSpPr>
            <p:cNvPr id="902" name="FooterBrand"/>
            <p:cNvSpPr txBox="1"/>
            <p:nvPr userDrawn="1"/>
          </p:nvSpPr>
          <p:spPr>
            <a:xfrm>
              <a:off x="891486" y="6511337"/>
              <a:ext cx="10464800" cy="21907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l"/>
              <a:r>
                <a:rPr lang="en-US" sz="900" b="0" dirty="0">
                  <a:solidFill>
                    <a:srgbClr val="94A3B8"/>
                  </a:solidFill>
                </a:rPr>
                <a:t>x.com/</a:t>
              </a:r>
              <a:r>
                <a:rPr lang="en-US" sz="900" b="0" kern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alperebicoglu              linkedin.com/in/ebicoglu            </a:t>
              </a:r>
              <a:r>
                <a:rPr lang="en-US" sz="900" b="0" dirty="0">
                  <a:solidFill>
                    <a:srgbClr val="94A3B8"/>
                  </a:solidFill>
                </a:rPr>
                <a:t>github.com/ebicoglu/chat-with-your-data-conference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725AAA-9B52-3C9A-A7D9-C2C142FC2A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270" y="6504987"/>
              <a:ext cx="350609" cy="252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0A8F75C-9B58-C600-54B5-CE0E5D0DA8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931" y="6511337"/>
              <a:ext cx="216000" cy="216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F4FC347-DD64-638C-015A-7C22311CC7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8158" y="6494874"/>
              <a:ext cx="252000" cy="25200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D6E01B1-894A-0EF4-9580-4FE31CF0E02C}"/>
              </a:ext>
            </a:extLst>
          </p:cNvPr>
          <p:cNvSpPr txBox="1"/>
          <p:nvPr userDrawn="1"/>
        </p:nvSpPr>
        <p:spPr>
          <a:xfrm>
            <a:off x="408843" y="6476999"/>
            <a:ext cx="19591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kern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Alper Ebicoglu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0937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90" r:id="rId4"/>
    <p:sldLayoutId id="21474836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172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LeftPanel"/>
          <p:cNvSpPr/>
          <p:nvPr/>
        </p:nvSpPr>
        <p:spPr>
          <a:xfrm>
            <a:off x="0" y="0"/>
            <a:ext cx="70612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VDivider"/>
          <p:cNvSpPr/>
          <p:nvPr/>
        </p:nvSpPr>
        <p:spPr>
          <a:xfrm>
            <a:off x="7025390" y="0"/>
            <a:ext cx="7753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7158" y="2069179"/>
            <a:ext cx="6466306" cy="833882"/>
          </a:xfrm>
        </p:spPr>
        <p:txBody>
          <a:bodyPr wrap="square" lIns="0" tIns="0" rIns="0" bIns="0" anchor="t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</a:rPr>
              <a:t>Chat With Your Data</a:t>
            </a:r>
            <a:br>
              <a:rPr lang="en-US" sz="5400" b="1" dirty="0">
                <a:solidFill>
                  <a:srgbClr val="FFFFFF"/>
                </a:solidFill>
              </a:rPr>
            </a:br>
            <a:endParaRPr lang="en-US" sz="5400" b="1" dirty="0">
              <a:solidFill>
                <a:srgbClr val="22D3EE"/>
              </a:solidFill>
            </a:endParaRPr>
          </a:p>
        </p:txBody>
      </p:sp>
      <p:sp>
        <p:nvSpPr>
          <p:cNvPr id="601" name="SpeakerName"/>
          <p:cNvSpPr txBox="1"/>
          <p:nvPr/>
        </p:nvSpPr>
        <p:spPr>
          <a:xfrm>
            <a:off x="7646604" y="552125"/>
            <a:ext cx="4331829" cy="645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Alper </a:t>
            </a:r>
            <a:r>
              <a:rPr lang="en-US" sz="4400" b="1" dirty="0">
                <a:solidFill>
                  <a:srgbClr val="0F172A"/>
                </a:solidFill>
              </a:rPr>
              <a:t>Ebicoglu</a:t>
            </a:r>
            <a:endParaRPr lang="en-US" sz="4800" b="1" dirty="0">
              <a:solidFill>
                <a:srgbClr val="0F172A"/>
              </a:solidFill>
            </a:endParaRPr>
          </a:p>
        </p:txBody>
      </p:sp>
      <p:sp>
        <p:nvSpPr>
          <p:cNvPr id="602" name="SpeakerRole"/>
          <p:cNvSpPr txBox="1"/>
          <p:nvPr/>
        </p:nvSpPr>
        <p:spPr>
          <a:xfrm>
            <a:off x="8403389" y="1346200"/>
            <a:ext cx="2534653" cy="44917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dirty="0">
                <a:solidFill>
                  <a:srgbClr val="475569"/>
                </a:solidFill>
              </a:rPr>
              <a:t>Co-founder Volosoft</a:t>
            </a:r>
          </a:p>
        </p:txBody>
      </p:sp>
      <p:sp>
        <p:nvSpPr>
          <p:cNvPr id="610" name="RightDiv"/>
          <p:cNvSpPr/>
          <p:nvPr/>
        </p:nvSpPr>
        <p:spPr>
          <a:xfrm>
            <a:off x="7510237" y="2224839"/>
            <a:ext cx="4191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0" name="QRLabel"/>
          <p:cNvSpPr txBox="1"/>
          <p:nvPr/>
        </p:nvSpPr>
        <p:spPr>
          <a:xfrm>
            <a:off x="8140700" y="27305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600" b="1" spc="200" dirty="0">
                <a:solidFill>
                  <a:srgbClr val="64748B"/>
                </a:solidFill>
              </a:rPr>
              <a:t>FOLLOW ME on TWITTER</a:t>
            </a:r>
          </a:p>
        </p:txBody>
      </p:sp>
      <p:pic>
        <p:nvPicPr>
          <p:cNvPr id="621" name="QR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3048000"/>
            <a:ext cx="3048000" cy="3048000"/>
          </a:xfrm>
          <a:prstGeom prst="rect">
            <a:avLst/>
          </a:prstGeom>
        </p:spPr>
      </p:pic>
      <p:sp>
        <p:nvSpPr>
          <p:cNvPr id="622" name="QRUrl"/>
          <p:cNvSpPr txBox="1"/>
          <p:nvPr/>
        </p:nvSpPr>
        <p:spPr>
          <a:xfrm>
            <a:off x="7886700" y="60960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dirty="0"/>
              <a:t>x.com/</a:t>
            </a:r>
            <a:r>
              <a:rPr lang="en-US" b="1" dirty="0"/>
              <a:t>alperebicoglu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2DF1F1EF-0A50-6D19-3F17-37567905D655}"/>
              </a:ext>
            </a:extLst>
          </p:cNvPr>
          <p:cNvCxnSpPr>
            <a:cxnSpLocks/>
          </p:cNvCxnSpPr>
          <p:nvPr/>
        </p:nvCxnSpPr>
        <p:spPr>
          <a:xfrm>
            <a:off x="11309350" y="2938864"/>
            <a:ext cx="12700" cy="1701800"/>
          </a:xfrm>
          <a:prstGeom prst="curvedConnector3">
            <a:avLst>
              <a:gd name="adj1" fmla="val 4392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34921187-6A26-6252-6656-E00ABA11F032}"/>
              </a:ext>
            </a:extLst>
          </p:cNvPr>
          <p:cNvSpPr txBox="1">
            <a:spLocks/>
          </p:cNvSpPr>
          <p:nvPr/>
        </p:nvSpPr>
        <p:spPr>
          <a:xfrm>
            <a:off x="385513" y="3361020"/>
            <a:ext cx="6130716" cy="2939023"/>
          </a:xfrm>
          <a:prstGeom prst="rect">
            <a:avLst/>
          </a:prstGeom>
        </p:spPr>
        <p:txBody>
          <a:bodyPr vert="horz" wrap="square" lIns="0" tIns="0" rIns="0" bIns="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F172A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969696"/>
                </a:solidFill>
              </a:rPr>
              <a:t>Building an </a:t>
            </a:r>
            <a:br>
              <a:rPr lang="en-US" sz="5400" b="1" dirty="0">
                <a:solidFill>
                  <a:srgbClr val="969696"/>
                </a:solidFill>
              </a:rPr>
            </a:br>
            <a:r>
              <a:rPr lang="en-US" sz="5400" b="1" dirty="0">
                <a:solidFill>
                  <a:srgbClr val="969696"/>
                </a:solidFill>
              </a:rPr>
              <a:t>AI-Powered </a:t>
            </a:r>
            <a:br>
              <a:rPr lang="en-US" sz="5400" b="1" dirty="0">
                <a:solidFill>
                  <a:srgbClr val="969696"/>
                </a:solidFill>
              </a:rPr>
            </a:br>
            <a:r>
              <a:rPr lang="en-US" sz="5400" b="1" dirty="0">
                <a:solidFill>
                  <a:srgbClr val="969696"/>
                </a:solidFill>
              </a:rPr>
              <a:t>Reporting Tool</a:t>
            </a:r>
            <a:br>
              <a:rPr lang="en-US" sz="5400" b="1" dirty="0">
                <a:solidFill>
                  <a:srgbClr val="969696"/>
                </a:solidFill>
              </a:rPr>
            </a:br>
            <a:r>
              <a:rPr lang="en-US" sz="5400" b="1" dirty="0">
                <a:solidFill>
                  <a:srgbClr val="969696"/>
                </a:solidFill>
              </a:rPr>
              <a:t>with </a:t>
            </a:r>
            <a:r>
              <a:rPr lang="en-US" sz="5400" b="1" dirty="0">
                <a:solidFill>
                  <a:srgbClr val="22D3EE"/>
                </a:solidFill>
              </a:rPr>
              <a:t>.NET</a:t>
            </a:r>
          </a:p>
        </p:txBody>
      </p:sp>
      <p:sp>
        <p:nvSpPr>
          <p:cNvPr id="7" name="RightDiv">
            <a:extLst>
              <a:ext uri="{FF2B5EF4-FFF2-40B4-BE49-F238E27FC236}">
                <a16:creationId xmlns:a16="http://schemas.microsoft.com/office/drawing/2014/main" id="{81A336C0-1FD8-9E05-7B05-6AE3DE21009E}"/>
              </a:ext>
            </a:extLst>
          </p:cNvPr>
          <p:cNvSpPr/>
          <p:nvPr/>
        </p:nvSpPr>
        <p:spPr>
          <a:xfrm>
            <a:off x="418496" y="2934854"/>
            <a:ext cx="6064750" cy="4571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B2DDE6-6D39-EDF6-D985-9347EAFF6141}"/>
              </a:ext>
            </a:extLst>
          </p:cNvPr>
          <p:cNvGrpSpPr/>
          <p:nvPr/>
        </p:nvGrpSpPr>
        <p:grpSpPr>
          <a:xfrm>
            <a:off x="494672" y="434715"/>
            <a:ext cx="3972394" cy="740703"/>
            <a:chOff x="149902" y="434715"/>
            <a:chExt cx="3972394" cy="74070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F262270-2380-BEC7-8F4D-49B39F8C3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561" y="638426"/>
              <a:ext cx="1227183" cy="399548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007C78D5-35CA-9D43-E2D2-46490500DC37}"/>
                </a:ext>
              </a:extLst>
            </p:cNvPr>
            <p:cNvSpPr txBox="1">
              <a:spLocks/>
            </p:cNvSpPr>
            <p:nvPr/>
          </p:nvSpPr>
          <p:spPr>
            <a:xfrm>
              <a:off x="1571266" y="623658"/>
              <a:ext cx="2538072" cy="52574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rmAutofit fontScale="37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rgbClr val="0F172A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5400" b="1" dirty="0" err="1">
                  <a:solidFill>
                    <a:srgbClr val="969696"/>
                  </a:solidFill>
                </a:rPr>
                <a:t>WeAreDevelopers</a:t>
              </a:r>
              <a:r>
                <a:rPr lang="en-US" sz="5400" b="1" dirty="0">
                  <a:solidFill>
                    <a:srgbClr val="969696"/>
                  </a:solidFill>
                </a:rPr>
                <a:t> </a:t>
              </a:r>
              <a:br>
                <a:rPr lang="en-US" sz="5400" b="1" dirty="0">
                  <a:solidFill>
                    <a:srgbClr val="969696"/>
                  </a:solidFill>
                </a:rPr>
              </a:br>
              <a:r>
                <a:rPr lang="en-US" sz="5400" b="1" dirty="0">
                  <a:solidFill>
                    <a:srgbClr val="969696"/>
                  </a:solidFill>
                </a:rPr>
                <a:t>North America</a:t>
              </a:r>
              <a:endParaRPr lang="en-US" sz="5400" b="1" dirty="0">
                <a:solidFill>
                  <a:srgbClr val="22D3EE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12C1A16-269B-F665-0962-C7C913DC5BC1}"/>
                </a:ext>
              </a:extLst>
            </p:cNvPr>
            <p:cNvSpPr/>
            <p:nvPr/>
          </p:nvSpPr>
          <p:spPr>
            <a:xfrm>
              <a:off x="149902" y="434715"/>
              <a:ext cx="3972394" cy="740703"/>
            </a:xfrm>
            <a:prstGeom prst="round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074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40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ymbol zastępczy numeru slajdu 3">
            <a:extLst>
              <a:ext uri="{FF2B5EF4-FFF2-40B4-BE49-F238E27FC236}">
                <a16:creationId xmlns:a16="http://schemas.microsoft.com/office/drawing/2014/main" id="{794AD4FC-91AF-5AC5-B237-722F1EC739DE}"/>
              </a:ext>
            </a:extLst>
          </p:cNvPr>
          <p:cNvSpPr txBox="1">
            <a:spLocks/>
          </p:cNvSpPr>
          <p:nvPr/>
        </p:nvSpPr>
        <p:spPr>
          <a:xfrm>
            <a:off x="765587" y="6287238"/>
            <a:ext cx="4619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l-P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D819FE"/>
                </a:solidFill>
              </a:rPr>
              <a:t>Event organized by: Academic Partners Foundation</a:t>
            </a:r>
          </a:p>
        </p:txBody>
      </p:sp>
      <p:pic>
        <p:nvPicPr>
          <p:cNvPr id="12" name="Obraz 8">
            <a:extLst>
              <a:ext uri="{FF2B5EF4-FFF2-40B4-BE49-F238E27FC236}">
                <a16:creationId xmlns:a16="http://schemas.microsoft.com/office/drawing/2014/main" id="{CEDF8E7A-CA84-4FF3-83D6-4C76462F6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1450" y="0"/>
            <a:ext cx="5670546" cy="6857995"/>
          </a:xfrm>
          <a:prstGeom prst="rect">
            <a:avLst/>
          </a:prstGeom>
        </p:spPr>
      </p:pic>
      <p:sp>
        <p:nvSpPr>
          <p:cNvPr id="13" name="Tytuł 1">
            <a:extLst>
              <a:ext uri="{FF2B5EF4-FFF2-40B4-BE49-F238E27FC236}">
                <a16:creationId xmlns:a16="http://schemas.microsoft.com/office/drawing/2014/main" id="{D2C4C345-AFDA-71F7-A892-4976D3B66466}"/>
              </a:ext>
            </a:extLst>
          </p:cNvPr>
          <p:cNvSpPr txBox="1">
            <a:spLocks/>
          </p:cNvSpPr>
          <p:nvPr/>
        </p:nvSpPr>
        <p:spPr>
          <a:xfrm>
            <a:off x="704169" y="468863"/>
            <a:ext cx="5878693" cy="21492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8000" b="1" dirty="0">
                <a:solidFill>
                  <a:schemeClr val="bg1"/>
                </a:solidFill>
              </a:rPr>
              <a:t>Chat With </a:t>
            </a:r>
            <a:br>
              <a:rPr lang="en-US" sz="8000" b="1" dirty="0">
                <a:solidFill>
                  <a:schemeClr val="bg1"/>
                </a:solidFill>
              </a:rPr>
            </a:br>
            <a:r>
              <a:rPr lang="pl-PL" sz="8000" b="1" dirty="0">
                <a:solidFill>
                  <a:schemeClr val="bg1"/>
                </a:solidFill>
              </a:rPr>
              <a:t>Your Data</a:t>
            </a:r>
            <a:br>
              <a:rPr lang="pl-PL" sz="8000" b="1" dirty="0">
                <a:solidFill>
                  <a:schemeClr val="bg1"/>
                </a:solidFill>
              </a:rPr>
            </a:br>
            <a:endParaRPr lang="pl-PL" sz="8000" b="1" dirty="0">
              <a:solidFill>
                <a:schemeClr val="bg1"/>
              </a:solidFill>
            </a:endParaRPr>
          </a:p>
        </p:txBody>
      </p:sp>
      <p:sp>
        <p:nvSpPr>
          <p:cNvPr id="14" name="Podtytuł 2">
            <a:extLst>
              <a:ext uri="{FF2B5EF4-FFF2-40B4-BE49-F238E27FC236}">
                <a16:creationId xmlns:a16="http://schemas.microsoft.com/office/drawing/2014/main" id="{538C9D9F-90F4-563B-850C-FBF20819BC10}"/>
              </a:ext>
            </a:extLst>
          </p:cNvPr>
          <p:cNvSpPr txBox="1">
            <a:spLocks/>
          </p:cNvSpPr>
          <p:nvPr/>
        </p:nvSpPr>
        <p:spPr>
          <a:xfrm>
            <a:off x="826999" y="2876097"/>
            <a:ext cx="5755863" cy="119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</a:rPr>
              <a:t>Building an AI-Powered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Reporting Tool with .NET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pl-PL" sz="3200" dirty="0">
              <a:solidFill>
                <a:schemeClr val="bg1"/>
              </a:solidFill>
            </a:endParaRP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E052A2BB-62F3-88A8-B640-28F1BBA586D5}"/>
              </a:ext>
            </a:extLst>
          </p:cNvPr>
          <p:cNvSpPr txBox="1">
            <a:spLocks/>
          </p:cNvSpPr>
          <p:nvPr/>
        </p:nvSpPr>
        <p:spPr>
          <a:xfrm>
            <a:off x="826999" y="4326085"/>
            <a:ext cx="5755863" cy="6656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D819FE"/>
                </a:solidFill>
              </a:rPr>
              <a:t>Alper Ebicoglu</a:t>
            </a:r>
            <a:endParaRPr lang="pl-PL" sz="2800" dirty="0">
              <a:solidFill>
                <a:srgbClr val="D819FE"/>
              </a:solidFill>
            </a:endParaRPr>
          </a:p>
        </p:txBody>
      </p:sp>
      <p:sp>
        <p:nvSpPr>
          <p:cNvPr id="16" name="Podtytuł 2">
            <a:extLst>
              <a:ext uri="{FF2B5EF4-FFF2-40B4-BE49-F238E27FC236}">
                <a16:creationId xmlns:a16="http://schemas.microsoft.com/office/drawing/2014/main" id="{00938363-FA14-D5AD-3EC5-833FE914BA28}"/>
              </a:ext>
            </a:extLst>
          </p:cNvPr>
          <p:cNvSpPr txBox="1">
            <a:spLocks/>
          </p:cNvSpPr>
          <p:nvPr/>
        </p:nvSpPr>
        <p:spPr>
          <a:xfrm>
            <a:off x="826999" y="4916874"/>
            <a:ext cx="5670547" cy="6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D819FE"/>
                </a:solidFill>
              </a:rPr>
              <a:t>Co-Founder Volosoft</a:t>
            </a:r>
            <a:endParaRPr lang="pl-PL" sz="1800" dirty="0">
              <a:solidFill>
                <a:srgbClr val="D819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95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30CDA6-86B5-0A2D-26D2-F0AC58941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F76ED42-21B9-BD74-6E13-B31C60F81C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83" r="13764"/>
          <a:stretch>
            <a:fillRect/>
          </a:stretch>
        </p:blipFill>
        <p:spPr>
          <a:xfrm>
            <a:off x="0" y="993976"/>
            <a:ext cx="3534771" cy="5935124"/>
          </a:xfrm>
          <a:prstGeom prst="rect">
            <a:avLst/>
          </a:prstGeom>
        </p:spPr>
      </p:pic>
      <p:sp>
        <p:nvSpPr>
          <p:cNvPr id="3" name="SpeakerRole">
            <a:extLst>
              <a:ext uri="{FF2B5EF4-FFF2-40B4-BE49-F238E27FC236}">
                <a16:creationId xmlns:a16="http://schemas.microsoft.com/office/drawing/2014/main" id="{81C12851-9DE8-9574-BB76-7ED1ECFD4B86}"/>
              </a:ext>
            </a:extLst>
          </p:cNvPr>
          <p:cNvSpPr txBox="1"/>
          <p:nvPr/>
        </p:nvSpPr>
        <p:spPr>
          <a:xfrm>
            <a:off x="0" y="0"/>
            <a:ext cx="12259455" cy="993976"/>
          </a:xfrm>
          <a:prstGeom prst="rect">
            <a:avLst/>
          </a:prstGeom>
          <a:solidFill>
            <a:srgbClr val="020919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/>
            <a:r>
              <a:rPr lang="en-US" sz="4000" dirty="0"/>
              <a:t>ADAMPOL: A </a:t>
            </a:r>
            <a:r>
              <a:rPr lang="en-US" sz="4000" b="1" dirty="0"/>
              <a:t>Polish Village</a:t>
            </a:r>
            <a:r>
              <a:rPr lang="en-US" sz="4000" dirty="0"/>
              <a:t> in Istanbul / </a:t>
            </a:r>
            <a:r>
              <a:rPr lang="en-US" sz="4000" b="1" dirty="0"/>
              <a:t>1842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240E53-2BB7-4EF6-1C8F-630C37F04F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35" t="41266" r="45988" b="21247"/>
          <a:stretch>
            <a:fillRect/>
          </a:stretch>
        </p:blipFill>
        <p:spPr>
          <a:xfrm>
            <a:off x="3592740" y="4124324"/>
            <a:ext cx="4083291" cy="2752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EA3EA-2E17-3EE9-B035-529BA99060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022" t="1076" r="21934"/>
          <a:stretch>
            <a:fillRect/>
          </a:stretch>
        </p:blipFill>
        <p:spPr>
          <a:xfrm>
            <a:off x="7722851" y="993976"/>
            <a:ext cx="4429631" cy="58640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C3F2554-82D7-8113-81F9-D1FE8A22BD44}"/>
              </a:ext>
            </a:extLst>
          </p:cNvPr>
          <p:cNvSpPr txBox="1"/>
          <p:nvPr/>
        </p:nvSpPr>
        <p:spPr>
          <a:xfrm>
            <a:off x="8142623" y="6396019"/>
            <a:ext cx="3590086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+mn-lt"/>
              </a:rPr>
              <a:t>Lady of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+mn-lt"/>
              </a:rPr>
              <a:t>Częstochowa</a:t>
            </a:r>
            <a:r>
              <a:rPr lang="en-US" b="1" i="0" dirty="0">
                <a:solidFill>
                  <a:schemeClr val="bg1"/>
                </a:solidFill>
                <a:effectLst/>
                <a:latin typeface="+mn-lt"/>
              </a:rPr>
              <a:t> Church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CC9526-F38F-47B5-5F72-40AC50337D15}"/>
              </a:ext>
            </a:extLst>
          </p:cNvPr>
          <p:cNvSpPr txBox="1"/>
          <p:nvPr/>
        </p:nvSpPr>
        <p:spPr>
          <a:xfrm>
            <a:off x="4382738" y="6413610"/>
            <a:ext cx="2445299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+mn-lt"/>
              </a:rPr>
              <a:t>Polish Festival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1A29E9-16E6-056C-B0F7-75DF9B0FE44D}"/>
              </a:ext>
            </a:extLst>
          </p:cNvPr>
          <p:cNvSpPr txBox="1"/>
          <p:nvPr/>
        </p:nvSpPr>
        <p:spPr>
          <a:xfrm>
            <a:off x="297536" y="6365241"/>
            <a:ext cx="2583544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chemeClr val="bg1"/>
                </a:solidFill>
                <a:effectLst/>
                <a:latin typeface="+mn-lt"/>
              </a:rPr>
              <a:t>Polish Diplomat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DC3485-AB4E-3EF1-7ABB-C1ECF2B4F8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805" t="955" b="25071"/>
          <a:stretch>
            <a:fillRect/>
          </a:stretch>
        </p:blipFill>
        <p:spPr>
          <a:xfrm>
            <a:off x="3568222" y="993976"/>
            <a:ext cx="4107809" cy="3063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AF8326-CF85-4C41-80FF-8BE72BE2ECC4}"/>
              </a:ext>
            </a:extLst>
          </p:cNvPr>
          <p:cNvSpPr txBox="1"/>
          <p:nvPr/>
        </p:nvSpPr>
        <p:spPr>
          <a:xfrm>
            <a:off x="4982572" y="3686729"/>
            <a:ext cx="1503954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  <a:latin typeface="+mn-lt"/>
              </a:rPr>
              <a:t>Polish </a:t>
            </a:r>
            <a:r>
              <a:rPr lang="en-US" sz="1400" b="1" dirty="0">
                <a:solidFill>
                  <a:schemeClr val="bg1"/>
                </a:solidFill>
              </a:rPr>
              <a:t>House</a:t>
            </a:r>
          </a:p>
        </p:txBody>
      </p:sp>
    </p:spTree>
    <p:extLst>
      <p:ext uri="{BB962C8B-B14F-4D97-AF65-F5344CB8AC3E}">
        <p14:creationId xmlns:p14="http://schemas.microsoft.com/office/powerpoint/2010/main" val="413883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0D9473-061D-C9E9-4B55-5C81CD2FBAC1}"/>
              </a:ext>
            </a:extLst>
          </p:cNvPr>
          <p:cNvGrpSpPr/>
          <p:nvPr/>
        </p:nvGrpSpPr>
        <p:grpSpPr>
          <a:xfrm>
            <a:off x="292607" y="500775"/>
            <a:ext cx="5781675" cy="5826874"/>
            <a:chOff x="5851726" y="316952"/>
            <a:chExt cx="5400000" cy="639289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05BF955-0262-9FFC-A3DF-B392C75BB70E}"/>
                </a:ext>
              </a:extLst>
            </p:cNvPr>
            <p:cNvCxnSpPr>
              <a:cxnSpLocks/>
            </p:cNvCxnSpPr>
            <p:nvPr/>
          </p:nvCxnSpPr>
          <p:spPr>
            <a:xfrm>
              <a:off x="6601026" y="405089"/>
              <a:ext cx="0" cy="6064007"/>
            </a:xfrm>
            <a:prstGeom prst="line">
              <a:avLst/>
            </a:prstGeom>
            <a:ln w="28575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EA45590-D411-FBCF-8031-68C9298C8D68}"/>
                </a:ext>
              </a:extLst>
            </p:cNvPr>
            <p:cNvGrpSpPr/>
            <p:nvPr/>
          </p:nvGrpSpPr>
          <p:grpSpPr>
            <a:xfrm>
              <a:off x="5851726" y="316952"/>
              <a:ext cx="5400000" cy="1080000"/>
              <a:chOff x="5177173" y="285179"/>
              <a:chExt cx="6302970" cy="1096566"/>
            </a:xfrm>
          </p:grpSpPr>
          <p:sp>
            <p:nvSpPr>
              <p:cNvPr id="23" name="Shape 1">
                <a:extLst>
                  <a:ext uri="{FF2B5EF4-FFF2-40B4-BE49-F238E27FC236}">
                    <a16:creationId xmlns:a16="http://schemas.microsoft.com/office/drawing/2014/main" id="{831188E9-0791-5F7D-6BF7-EAD5BE1BB0BC}"/>
                  </a:ext>
                </a:extLst>
              </p:cNvPr>
              <p:cNvSpPr/>
              <p:nvPr/>
            </p:nvSpPr>
            <p:spPr>
              <a:xfrm>
                <a:off x="5177173" y="285179"/>
                <a:ext cx="6302970" cy="1096566"/>
              </a:xfrm>
              <a:prstGeom prst="roundRect">
                <a:avLst>
                  <a:gd name="adj" fmla="val 7206"/>
                </a:avLst>
              </a:prstGeom>
              <a:solidFill>
                <a:schemeClr val="bg1">
                  <a:lumMod val="95000"/>
                </a:schemeClr>
              </a:solidFill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991C0F6F-36D1-2F0B-79ED-5ED4B250F002}"/>
                  </a:ext>
                </a:extLst>
              </p:cNvPr>
              <p:cNvSpPr/>
              <p:nvPr/>
            </p:nvSpPr>
            <p:spPr>
              <a:xfrm>
                <a:off x="5371641" y="479648"/>
                <a:ext cx="2351882" cy="29388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1997</a:t>
                </a:r>
                <a:endParaRPr lang="en-US" sz="2000" b="1" dirty="0"/>
              </a:p>
            </p:txBody>
          </p:sp>
          <p:sp>
            <p:nvSpPr>
              <p:cNvPr id="25" name="Text 3">
                <a:extLst>
                  <a:ext uri="{FF2B5EF4-FFF2-40B4-BE49-F238E27FC236}">
                    <a16:creationId xmlns:a16="http://schemas.microsoft.com/office/drawing/2014/main" id="{411362A0-933C-F13E-1EF5-47E195758EF2}"/>
                  </a:ext>
                </a:extLst>
              </p:cNvPr>
              <p:cNvSpPr/>
              <p:nvPr/>
            </p:nvSpPr>
            <p:spPr>
              <a:xfrm>
                <a:off x="5371642" y="932767"/>
                <a:ext cx="5914034" cy="30093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Intel i386 processor with Q-Basic programming</a:t>
                </a:r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9CA6E73-D44A-6BFB-D3D4-1BFC5245F81C}"/>
                </a:ext>
              </a:extLst>
            </p:cNvPr>
            <p:cNvGrpSpPr/>
            <p:nvPr/>
          </p:nvGrpSpPr>
          <p:grpSpPr>
            <a:xfrm>
              <a:off x="5851726" y="1645177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20" name="Shape 4">
                <a:extLst>
                  <a:ext uri="{FF2B5EF4-FFF2-40B4-BE49-F238E27FC236}">
                    <a16:creationId xmlns:a16="http://schemas.microsoft.com/office/drawing/2014/main" id="{5BC4C0BA-2604-C2C7-F93D-5085287EFA6D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1" name="Text 5">
                <a:extLst>
                  <a:ext uri="{FF2B5EF4-FFF2-40B4-BE49-F238E27FC236}">
                    <a16:creationId xmlns:a16="http://schemas.microsoft.com/office/drawing/2014/main" id="{EBB25F70-73A0-FEFE-A786-32FF1B4E9B78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2004</a:t>
                </a:r>
                <a:endParaRPr lang="en-US" sz="2000" b="1" dirty="0"/>
              </a:p>
            </p:txBody>
          </p:sp>
          <p:sp>
            <p:nvSpPr>
              <p:cNvPr id="22" name="Text 6">
                <a:extLst>
                  <a:ext uri="{FF2B5EF4-FFF2-40B4-BE49-F238E27FC236}">
                    <a16:creationId xmlns:a16="http://schemas.microsoft.com/office/drawing/2014/main" id="{C449CDC2-4399-87A6-A3E4-996D15FD91FA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First .NET App developed on .NET Framework 1.0</a:t>
                </a:r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368E19-B3A9-2795-9019-97B699D13410}"/>
                </a:ext>
              </a:extLst>
            </p:cNvPr>
            <p:cNvGrpSpPr/>
            <p:nvPr/>
          </p:nvGrpSpPr>
          <p:grpSpPr>
            <a:xfrm>
              <a:off x="5851726" y="2973402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7" name="Shape 4">
                <a:extLst>
                  <a:ext uri="{FF2B5EF4-FFF2-40B4-BE49-F238E27FC236}">
                    <a16:creationId xmlns:a16="http://schemas.microsoft.com/office/drawing/2014/main" id="{D16B007F-95E4-096C-B4D2-B551E00648EC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8" name="Text 5">
                <a:extLst>
                  <a:ext uri="{FF2B5EF4-FFF2-40B4-BE49-F238E27FC236}">
                    <a16:creationId xmlns:a16="http://schemas.microsoft.com/office/drawing/2014/main" id="{101D7DDF-139A-655D-7394-E1B2CEDDC195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2006</a:t>
                </a:r>
                <a:endParaRPr lang="en-US" sz="2000" b="1" dirty="0"/>
              </a:p>
            </p:txBody>
          </p:sp>
          <p:sp>
            <p:nvSpPr>
              <p:cNvPr id="19" name="Text 6">
                <a:extLst>
                  <a:ext uri="{FF2B5EF4-FFF2-40B4-BE49-F238E27FC236}">
                    <a16:creationId xmlns:a16="http://schemas.microsoft.com/office/drawing/2014/main" id="{6115236A-0980-4BD4-0346-BF8810FE6EF8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Computer Engineering</a:t>
                </a:r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2606A69-A8D4-0FF1-DB83-BF0A95A7DAA5}"/>
                </a:ext>
              </a:extLst>
            </p:cNvPr>
            <p:cNvGrpSpPr/>
            <p:nvPr/>
          </p:nvGrpSpPr>
          <p:grpSpPr>
            <a:xfrm>
              <a:off x="5851726" y="4301627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4" name="Shape 4">
                <a:extLst>
                  <a:ext uri="{FF2B5EF4-FFF2-40B4-BE49-F238E27FC236}">
                    <a16:creationId xmlns:a16="http://schemas.microsoft.com/office/drawing/2014/main" id="{559EB20F-10AF-CF0E-CE4A-AAC63F7776EF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5" name="Text 5">
                <a:extLst>
                  <a:ext uri="{FF2B5EF4-FFF2-40B4-BE49-F238E27FC236}">
                    <a16:creationId xmlns:a16="http://schemas.microsoft.com/office/drawing/2014/main" id="{BAEC6D8F-BF48-4931-69ED-A9C573705E96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2010</a:t>
                </a:r>
                <a:endParaRPr lang="en-US" sz="2000" b="1" dirty="0"/>
              </a:p>
            </p:txBody>
          </p:sp>
          <p:sp>
            <p:nvSpPr>
              <p:cNvPr id="16" name="Text 6">
                <a:extLst>
                  <a:ext uri="{FF2B5EF4-FFF2-40B4-BE49-F238E27FC236}">
                    <a16:creationId xmlns:a16="http://schemas.microsoft.com/office/drawing/2014/main" id="{6A15A1CC-CE87-34E1-E797-06EB7D6F0604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Master Degree</a:t>
                </a:r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958AEF2-AE2A-FE87-8C7E-5EE447A2C096}"/>
                </a:ext>
              </a:extLst>
            </p:cNvPr>
            <p:cNvGrpSpPr/>
            <p:nvPr/>
          </p:nvGrpSpPr>
          <p:grpSpPr>
            <a:xfrm>
              <a:off x="5851726" y="5629851"/>
              <a:ext cx="5400000" cy="1080000"/>
              <a:chOff x="5230515" y="5242819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1" name="Shape 10">
                <a:extLst>
                  <a:ext uri="{FF2B5EF4-FFF2-40B4-BE49-F238E27FC236}">
                    <a16:creationId xmlns:a16="http://schemas.microsoft.com/office/drawing/2014/main" id="{C632B7D7-2D83-58B0-D98A-FA6BCD5DD109}"/>
                  </a:ext>
                </a:extLst>
              </p:cNvPr>
              <p:cNvSpPr/>
              <p:nvPr/>
            </p:nvSpPr>
            <p:spPr>
              <a:xfrm>
                <a:off x="5230515" y="5242819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2" name="Text 11">
                <a:extLst>
                  <a:ext uri="{FF2B5EF4-FFF2-40B4-BE49-F238E27FC236}">
                    <a16:creationId xmlns:a16="http://schemas.microsoft.com/office/drawing/2014/main" id="{51FE5208-DAB9-60D1-EE8F-58A82ABCF6F8}"/>
                  </a:ext>
                </a:extLst>
              </p:cNvPr>
              <p:cNvSpPr/>
              <p:nvPr/>
            </p:nvSpPr>
            <p:spPr>
              <a:xfrm>
                <a:off x="5424983" y="5437287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2017</a:t>
                </a:r>
                <a:endParaRPr lang="en-US" sz="2000" b="1" dirty="0"/>
              </a:p>
            </p:txBody>
          </p:sp>
          <p:sp>
            <p:nvSpPr>
              <p:cNvPr id="13" name="Text 12">
                <a:extLst>
                  <a:ext uri="{FF2B5EF4-FFF2-40B4-BE49-F238E27FC236}">
                    <a16:creationId xmlns:a16="http://schemas.microsoft.com/office/drawing/2014/main" id="{4FDEF6FE-D278-30FA-FF00-F8BB60B3EA3B}"/>
                  </a:ext>
                </a:extLst>
              </p:cNvPr>
              <p:cNvSpPr/>
              <p:nvPr/>
            </p:nvSpPr>
            <p:spPr>
              <a:xfrm>
                <a:off x="5424984" y="5890406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Co-Founder of Volosoft</a:t>
                </a:r>
              </a:p>
            </p:txBody>
          </p:sp>
        </p:grp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0278EBE5-0553-A4BC-FEF9-28E3AAB4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738" y="0"/>
            <a:ext cx="5781675" cy="682942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D7786E9-AA5F-3ADF-D26C-1E2338F1F3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6" r="10169"/>
          <a:stretch>
            <a:fillRect/>
          </a:stretch>
        </p:blipFill>
        <p:spPr>
          <a:xfrm>
            <a:off x="-1" y="-9975"/>
            <a:ext cx="12192001" cy="715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4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FAFBFC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5AF6E-89B6-877C-7960-D5F8849F68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72" t="6988" r="8671" b="58988"/>
          <a:stretch>
            <a:fillRect/>
          </a:stretch>
        </p:blipFill>
        <p:spPr>
          <a:xfrm>
            <a:off x="523415" y="1828800"/>
            <a:ext cx="11051757" cy="287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40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4D36-88E4-8561-DB5F-997433DD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8871-A7D5-3A80-30DA-418C6BD4ED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4968" y="2769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Understanding T</a:t>
            </a:r>
            <a:r>
              <a:rPr lang="en-US" sz="4800" b="1" dirty="0">
                <a:solidFill>
                  <a:srgbClr val="0F172A"/>
                </a:solidFill>
              </a:rPr>
              <a:t>he Problem </a:t>
            </a:r>
            <a:r>
              <a:rPr lang="en-US" sz="4800" dirty="0"/>
              <a:t>🤝</a:t>
            </a:r>
            <a:endParaRPr lang="en-US" sz="4800" b="1" dirty="0">
              <a:solidFill>
                <a:srgbClr val="0F172A"/>
              </a:solidFill>
            </a:endParaRPr>
          </a:p>
        </p:txBody>
      </p:sp>
      <p:sp>
        <p:nvSpPr>
          <p:cNvPr id="203" name="Pain203">
            <a:extLst>
              <a:ext uri="{FF2B5EF4-FFF2-40B4-BE49-F238E27FC236}">
                <a16:creationId xmlns:a16="http://schemas.microsoft.com/office/drawing/2014/main" id="{A1D01431-23C4-4A82-5C9E-91BB5EE4E940}"/>
              </a:ext>
            </a:extLst>
          </p:cNvPr>
          <p:cNvSpPr/>
          <p:nvPr/>
        </p:nvSpPr>
        <p:spPr>
          <a:xfrm>
            <a:off x="0" y="1884978"/>
            <a:ext cx="6435524" cy="3678411"/>
          </a:xfrm>
          <a:prstGeom prst="roundRect">
            <a:avLst>
              <a:gd name="adj" fmla="val 8000"/>
            </a:avLst>
          </a:prstGeom>
          <a:noFill/>
          <a:ln w="12700">
            <a:noFill/>
          </a:ln>
        </p:spPr>
        <p:txBody>
          <a:bodyPr wrap="square" lIns="180000" tIns="140000" rIns="180000" bIns="140000" anchor="ctr"/>
          <a:lstStyle/>
          <a:p>
            <a:r>
              <a:rPr lang="en-US" sz="3600" dirty="0">
                <a:solidFill>
                  <a:srgbClr val="0F172A"/>
                </a:solidFill>
              </a:rPr>
              <a:t>Are you a .NET dev?</a:t>
            </a:r>
          </a:p>
          <a:p>
            <a:endParaRPr lang="en-US" sz="3600" dirty="0">
              <a:solidFill>
                <a:srgbClr val="0F172A"/>
              </a:solidFill>
            </a:endParaRPr>
          </a:p>
          <a:p>
            <a:r>
              <a:rPr lang="en-US" sz="3600" dirty="0"/>
              <a:t>Have you written SQL before?</a:t>
            </a:r>
          </a:p>
          <a:p>
            <a:endParaRPr lang="en-US" sz="3600" dirty="0">
              <a:solidFill>
                <a:srgbClr val="0F172A"/>
              </a:solidFill>
            </a:endParaRPr>
          </a:p>
          <a:p>
            <a:r>
              <a:rPr lang="en-US" sz="3600" dirty="0"/>
              <a:t>Have you created a reporting screen before?</a:t>
            </a:r>
            <a:endParaRPr lang="en-US" sz="3600" dirty="0">
              <a:solidFill>
                <a:srgbClr val="47556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09FAD-49C2-10C7-DB83-ADDF7122A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706" y="1884978"/>
            <a:ext cx="5161551" cy="389078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8E12A3-2BEF-D01C-0556-6454325D05EA}"/>
              </a:ext>
            </a:extLst>
          </p:cNvPr>
          <p:cNvSpPr txBox="1"/>
          <p:nvPr/>
        </p:nvSpPr>
        <p:spPr>
          <a:xfrm>
            <a:off x="7749977" y="1684923"/>
            <a:ext cx="3188328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SQL Server Commercial</a:t>
            </a:r>
            <a:endParaRPr lang="en-US" sz="9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9C3A2B-230C-B53C-9860-FEA754CB078F}"/>
              </a:ext>
            </a:extLst>
          </p:cNvPr>
          <p:cNvCxnSpPr/>
          <p:nvPr/>
        </p:nvCxnSpPr>
        <p:spPr>
          <a:xfrm>
            <a:off x="294968" y="2645621"/>
            <a:ext cx="46645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662828-9628-EF89-9E7F-5EE9C651FDA0}"/>
              </a:ext>
            </a:extLst>
          </p:cNvPr>
          <p:cNvCxnSpPr/>
          <p:nvPr/>
        </p:nvCxnSpPr>
        <p:spPr>
          <a:xfrm>
            <a:off x="294968" y="4372178"/>
            <a:ext cx="46645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3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5170C-886C-7A37-EAA7-D9A6EBC3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2452-5C32-4FAA-6F38-AE7C3503AA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4968" y="21520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AI Era: Adapt or Fall Behind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D5246-277B-EB8A-64FA-8243DE73A5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84"/>
          <a:stretch>
            <a:fillRect/>
          </a:stretch>
        </p:blipFill>
        <p:spPr>
          <a:xfrm>
            <a:off x="411126" y="1284549"/>
            <a:ext cx="10915025" cy="4695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EE6060-0E00-07CE-F11A-D891CDBB0B72}"/>
              </a:ext>
            </a:extLst>
          </p:cNvPr>
          <p:cNvSpPr txBox="1"/>
          <p:nvPr/>
        </p:nvSpPr>
        <p:spPr>
          <a:xfrm>
            <a:off x="411126" y="6069026"/>
            <a:ext cx="49462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969696"/>
                </a:solidFill>
              </a:rPr>
              <a:t>Source: </a:t>
            </a:r>
            <a:r>
              <a:rPr lang="en-US" sz="1100" i="1" dirty="0" err="1">
                <a:solidFill>
                  <a:srgbClr val="969696"/>
                </a:solidFill>
              </a:rPr>
              <a:t>SQLAuthority</a:t>
            </a:r>
            <a:r>
              <a:rPr lang="en-US" sz="1100" i="1" dirty="0">
                <a:solidFill>
                  <a:srgbClr val="969696"/>
                </a:solidFill>
              </a:rPr>
              <a:t> blog, Apr 24,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55DC12-CF3C-4772-AE36-5F1DEC72E869}"/>
              </a:ext>
            </a:extLst>
          </p:cNvPr>
          <p:cNvSpPr/>
          <p:nvPr/>
        </p:nvSpPr>
        <p:spPr>
          <a:xfrm>
            <a:off x="8076023" y="3641416"/>
            <a:ext cx="3366286" cy="24033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Pinal Dave, known for decades of SQL expertise, is now using AI to help people understand and work with data faster</a:t>
            </a:r>
          </a:p>
        </p:txBody>
      </p:sp>
    </p:spTree>
    <p:extLst>
      <p:ext uri="{BB962C8B-B14F-4D97-AF65-F5344CB8AC3E}">
        <p14:creationId xmlns:p14="http://schemas.microsoft.com/office/powerpoint/2010/main" val="406798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2A3A-127F-A1FE-FD76-B062BC24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BB39-2910-DC02-6444-5006FB390A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4968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The Reporting Challenge</a:t>
            </a:r>
          </a:p>
        </p:txBody>
      </p:sp>
      <p:sp>
        <p:nvSpPr>
          <p:cNvPr id="202" name="Pain202">
            <a:extLst>
              <a:ext uri="{FF2B5EF4-FFF2-40B4-BE49-F238E27FC236}">
                <a16:creationId xmlns:a16="http://schemas.microsoft.com/office/drawing/2014/main" id="{38585C81-7A57-9BAA-AE81-72FD4F1CF738}"/>
              </a:ext>
            </a:extLst>
          </p:cNvPr>
          <p:cNvSpPr/>
          <p:nvPr/>
        </p:nvSpPr>
        <p:spPr>
          <a:xfrm>
            <a:off x="294970" y="4362335"/>
            <a:ext cx="900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Developers: </a:t>
            </a:r>
            <a:r>
              <a:rPr lang="en-US" sz="2400" b="1" dirty="0">
                <a:solidFill>
                  <a:srgbClr val="FF0000"/>
                </a:solidFill>
              </a:rPr>
              <a:t>bottleneck</a:t>
            </a:r>
          </a:p>
          <a:p>
            <a:pPr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The real value is trapped behind technical gatekeepers</a:t>
            </a:r>
            <a:br>
              <a:rPr lang="en-US" dirty="0">
                <a:solidFill>
                  <a:srgbClr val="475569"/>
                </a:solidFill>
              </a:rPr>
            </a:br>
            <a:r>
              <a:rPr lang="en-US" dirty="0">
                <a:solidFill>
                  <a:srgbClr val="475569"/>
                </a:solidFill>
              </a:rPr>
              <a:t>Business waits on engineers</a:t>
            </a:r>
          </a:p>
        </p:txBody>
      </p:sp>
      <p:sp>
        <p:nvSpPr>
          <p:cNvPr id="203" name="Pain203">
            <a:extLst>
              <a:ext uri="{FF2B5EF4-FFF2-40B4-BE49-F238E27FC236}">
                <a16:creationId xmlns:a16="http://schemas.microsoft.com/office/drawing/2014/main" id="{F8B233AB-A087-BB03-5B42-8A618FE005AE}"/>
              </a:ext>
            </a:extLst>
          </p:cNvPr>
          <p:cNvSpPr/>
          <p:nvPr/>
        </p:nvSpPr>
        <p:spPr>
          <a:xfrm>
            <a:off x="294968" y="1690688"/>
            <a:ext cx="900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Reporting tools: </a:t>
            </a:r>
            <a:r>
              <a:rPr lang="en-US" sz="2400" b="1" dirty="0">
                <a:solidFill>
                  <a:srgbClr val="FF0000"/>
                </a:solidFill>
              </a:rPr>
              <a:t>rigid</a:t>
            </a:r>
          </a:p>
          <a:p>
            <a:pPr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Power BI, Salesforce, Qlik, SAP Analytics 👉 Create ticket for a new report</a:t>
            </a:r>
          </a:p>
        </p:txBody>
      </p:sp>
      <p:sp>
        <p:nvSpPr>
          <p:cNvPr id="204" name="Pain204">
            <a:extLst>
              <a:ext uri="{FF2B5EF4-FFF2-40B4-BE49-F238E27FC236}">
                <a16:creationId xmlns:a16="http://schemas.microsoft.com/office/drawing/2014/main" id="{B1AE5642-E23F-DB60-2290-044D86D4438B}"/>
              </a:ext>
            </a:extLst>
          </p:cNvPr>
          <p:cNvSpPr/>
          <p:nvPr/>
        </p:nvSpPr>
        <p:spPr>
          <a:xfrm>
            <a:off x="294968" y="3026511"/>
            <a:ext cx="900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Implementing custom report: </a:t>
            </a:r>
            <a:r>
              <a:rPr lang="en-US" sz="2400" b="1" dirty="0">
                <a:solidFill>
                  <a:srgbClr val="FF0000"/>
                </a:solidFill>
              </a:rPr>
              <a:t>slow</a:t>
            </a:r>
            <a:endParaRPr lang="en-US" sz="2400" b="1" u="sng" dirty="0">
              <a:solidFill>
                <a:srgbClr val="FF0000"/>
              </a:solidFill>
            </a:endParaRPr>
          </a:p>
          <a:p>
            <a:pPr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Writing SQL, Page Design, Testing, Deployment 👉 Needs too much things</a:t>
            </a:r>
          </a:p>
        </p:txBody>
      </p:sp>
      <p:sp>
        <p:nvSpPr>
          <p:cNvPr id="3" name="HookCard">
            <a:extLst>
              <a:ext uri="{FF2B5EF4-FFF2-40B4-BE49-F238E27FC236}">
                <a16:creationId xmlns:a16="http://schemas.microsoft.com/office/drawing/2014/main" id="{C21A7716-41B5-A186-7F6F-1F31AFDDFBF5}"/>
              </a:ext>
            </a:extLst>
          </p:cNvPr>
          <p:cNvSpPr/>
          <p:nvPr/>
        </p:nvSpPr>
        <p:spPr>
          <a:xfrm>
            <a:off x="9438968" y="1606339"/>
            <a:ext cx="2458062" cy="3983344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260000" tIns="140000" rIns="260000" bIns="140000" anchor="ctr"/>
          <a:lstStyle/>
          <a:p>
            <a:pPr algn="r"/>
            <a:endParaRPr lang="en-US" sz="3600" b="1" dirty="0">
              <a:solidFill>
                <a:srgbClr val="0F172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C2E42-54A8-3E94-5F9C-964AE67C2130}"/>
              </a:ext>
            </a:extLst>
          </p:cNvPr>
          <p:cNvSpPr txBox="1"/>
          <p:nvPr/>
        </p:nvSpPr>
        <p:spPr>
          <a:xfrm>
            <a:off x="9438968" y="2166850"/>
            <a:ext cx="26020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F172A"/>
                </a:solidFill>
              </a:rPr>
              <a:t>Data is </a:t>
            </a:r>
            <a:r>
              <a:rPr lang="en-US" sz="3600" b="1" dirty="0">
                <a:solidFill>
                  <a:srgbClr val="FF0000"/>
                </a:solidFill>
              </a:rPr>
              <a:t>locked</a:t>
            </a:r>
            <a:r>
              <a:rPr lang="en-US" sz="3600" b="1" dirty="0">
                <a:solidFill>
                  <a:srgbClr val="0F172A"/>
                </a:solidFill>
              </a:rPr>
              <a:t> behind technical curtains!</a:t>
            </a:r>
          </a:p>
        </p:txBody>
      </p:sp>
    </p:spTree>
    <p:extLst>
      <p:ext uri="{BB962C8B-B14F-4D97-AF65-F5344CB8AC3E}">
        <p14:creationId xmlns:p14="http://schemas.microsoft.com/office/powerpoint/2010/main" val="2494806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>
            <a:extLst>
              <a:ext uri="{FF2B5EF4-FFF2-40B4-BE49-F238E27FC236}">
                <a16:creationId xmlns:a16="http://schemas.microsoft.com/office/drawing/2014/main" id="{74421564-AFB6-A882-9D32-6CFD32A6A777}"/>
              </a:ext>
            </a:extLst>
          </p:cNvPr>
          <p:cNvSpPr/>
          <p:nvPr/>
        </p:nvSpPr>
        <p:spPr>
          <a:xfrm>
            <a:off x="73744" y="911168"/>
            <a:ext cx="12118256" cy="45277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301" name="Quote"/>
          <p:cNvSpPr txBox="1"/>
          <p:nvPr/>
        </p:nvSpPr>
        <p:spPr>
          <a:xfrm>
            <a:off x="1006078" y="1856426"/>
            <a:ext cx="7876665" cy="314514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6600" b="1" dirty="0">
                <a:solidFill>
                  <a:schemeClr val="bg1"/>
                </a:solidFill>
              </a:rPr>
              <a:t>What if you could </a:t>
            </a:r>
            <a:br>
              <a:rPr lang="en-US" sz="6600" b="1" dirty="0">
                <a:solidFill>
                  <a:schemeClr val="bg1"/>
                </a:solidFill>
              </a:rPr>
            </a:br>
            <a:r>
              <a:rPr lang="en-US" sz="6600" b="1" dirty="0">
                <a:solidFill>
                  <a:schemeClr val="bg1"/>
                </a:solidFill>
              </a:rPr>
              <a:t>just </a:t>
            </a:r>
            <a:r>
              <a:rPr lang="en-US" sz="6600" b="1" dirty="0">
                <a:solidFill>
                  <a:srgbClr val="0891B2"/>
                </a:solidFill>
              </a:rPr>
              <a:t>ask</a:t>
            </a:r>
            <a:r>
              <a:rPr lang="en-US" sz="6600" b="1" dirty="0">
                <a:solidFill>
                  <a:srgbClr val="0F172A"/>
                </a:solidFill>
              </a:rPr>
              <a:t> </a:t>
            </a:r>
            <a:br>
              <a:rPr lang="en-US" sz="6600" b="1" dirty="0">
                <a:solidFill>
                  <a:srgbClr val="0F172A"/>
                </a:solidFill>
              </a:rPr>
            </a:br>
            <a:r>
              <a:rPr lang="en-US" sz="6600" b="1" dirty="0">
                <a:solidFill>
                  <a:schemeClr val="bg1"/>
                </a:solidFill>
              </a:rPr>
              <a:t>your database?</a:t>
            </a:r>
          </a:p>
        </p:txBody>
      </p:sp>
    </p:spTree>
    <p:extLst>
      <p:ext uri="{BB962C8B-B14F-4D97-AF65-F5344CB8AC3E}">
        <p14:creationId xmlns:p14="http://schemas.microsoft.com/office/powerpoint/2010/main" val="309236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DC06-12C5-EEFA-9FCF-9D0C6B9200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What We'll Build</a:t>
            </a:r>
          </a:p>
        </p:txBody>
      </p:sp>
      <p:sp>
        <p:nvSpPr>
          <p:cNvPr id="400" name="Sub"/>
          <p:cNvSpPr txBox="1"/>
          <p:nvPr/>
        </p:nvSpPr>
        <p:spPr>
          <a:xfrm>
            <a:off x="889000" y="1371600"/>
            <a:ext cx="10414000" cy="431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800" dirty="0">
                <a:solidFill>
                  <a:srgbClr val="475569"/>
                </a:solidFill>
              </a:rPr>
              <a:t>Main steps of </a:t>
            </a:r>
            <a:r>
              <a:rPr lang="en-US" dirty="0">
                <a:solidFill>
                  <a:srgbClr val="475569"/>
                </a:solidFill>
              </a:rPr>
              <a:t>the </a:t>
            </a:r>
            <a:r>
              <a:rPr lang="en-US" sz="1800" dirty="0">
                <a:solidFill>
                  <a:srgbClr val="475569"/>
                </a:solidFill>
              </a:rPr>
              <a:t>solution</a:t>
            </a:r>
          </a:p>
        </p:txBody>
      </p:sp>
      <p:sp>
        <p:nvSpPr>
          <p:cNvPr id="410" name="N410"/>
          <p:cNvSpPr/>
          <p:nvPr/>
        </p:nvSpPr>
        <p:spPr>
          <a:xfrm>
            <a:off x="889000" y="2032000"/>
            <a:ext cx="660400" cy="6604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1" name="L410"/>
          <p:cNvSpPr txBox="1"/>
          <p:nvPr/>
        </p:nvSpPr>
        <p:spPr>
          <a:xfrm>
            <a:off x="1778000" y="2032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Understand user intent</a:t>
            </a:r>
            <a:r>
              <a:rPr lang="en-US" dirty="0">
                <a:solidFill>
                  <a:srgbClr val="64748B"/>
                </a:solidFill>
              </a:rPr>
              <a:t>   parse the natural-language question</a:t>
            </a:r>
          </a:p>
        </p:txBody>
      </p:sp>
      <p:sp>
        <p:nvSpPr>
          <p:cNvPr id="420" name="N420"/>
          <p:cNvSpPr/>
          <p:nvPr/>
        </p:nvSpPr>
        <p:spPr>
          <a:xfrm>
            <a:off x="889000" y="2794000"/>
            <a:ext cx="660400" cy="660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21" name="L420"/>
          <p:cNvSpPr txBox="1"/>
          <p:nvPr/>
        </p:nvSpPr>
        <p:spPr>
          <a:xfrm>
            <a:off x="1778000" y="2794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Read the schema</a:t>
            </a:r>
            <a:r>
              <a:rPr lang="en-US" dirty="0">
                <a:solidFill>
                  <a:srgbClr val="64748B"/>
                </a:solidFill>
              </a:rPr>
              <a:t>   tables, columns, relationships</a:t>
            </a:r>
          </a:p>
        </p:txBody>
      </p:sp>
      <p:sp>
        <p:nvSpPr>
          <p:cNvPr id="430" name="N430"/>
          <p:cNvSpPr/>
          <p:nvPr/>
        </p:nvSpPr>
        <p:spPr>
          <a:xfrm>
            <a:off x="889000" y="3556000"/>
            <a:ext cx="660400" cy="660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1" name="L430"/>
          <p:cNvSpPr txBox="1"/>
          <p:nvPr/>
        </p:nvSpPr>
        <p:spPr>
          <a:xfrm>
            <a:off x="1778000" y="3556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Generate SQL safely</a:t>
            </a:r>
            <a:r>
              <a:rPr lang="en-US" dirty="0">
                <a:solidFill>
                  <a:srgbClr val="64748B"/>
                </a:solidFill>
              </a:rPr>
              <a:t>   LLM + strict prompt + validator</a:t>
            </a:r>
          </a:p>
        </p:txBody>
      </p:sp>
      <p:sp>
        <p:nvSpPr>
          <p:cNvPr id="440" name="N440"/>
          <p:cNvSpPr/>
          <p:nvPr/>
        </p:nvSpPr>
        <p:spPr>
          <a:xfrm>
            <a:off x="889000" y="4318000"/>
            <a:ext cx="660400" cy="660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1" name="L440"/>
          <p:cNvSpPr txBox="1"/>
          <p:nvPr/>
        </p:nvSpPr>
        <p:spPr>
          <a:xfrm>
            <a:off x="1778000" y="4318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Execute the query</a:t>
            </a:r>
            <a:r>
              <a:rPr lang="en-US" dirty="0">
                <a:solidFill>
                  <a:srgbClr val="64748B"/>
                </a:solidFill>
              </a:rPr>
              <a:t>   return structured results</a:t>
            </a:r>
          </a:p>
        </p:txBody>
      </p:sp>
      <p:sp>
        <p:nvSpPr>
          <p:cNvPr id="450" name="N450"/>
          <p:cNvSpPr/>
          <p:nvPr/>
        </p:nvSpPr>
        <p:spPr>
          <a:xfrm>
            <a:off x="889000" y="5080000"/>
            <a:ext cx="660400" cy="6604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1" name="L450"/>
          <p:cNvSpPr txBox="1"/>
          <p:nvPr/>
        </p:nvSpPr>
        <p:spPr>
          <a:xfrm>
            <a:off x="1778000" y="5080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Export to Excel &amp; Visualization</a:t>
            </a:r>
            <a:r>
              <a:rPr lang="en-US" dirty="0">
                <a:solidFill>
                  <a:srgbClr val="64748B"/>
                </a:solidFill>
              </a:rPr>
              <a:t>   turn data into decisions</a:t>
            </a:r>
          </a:p>
        </p:txBody>
      </p:sp>
    </p:spTree>
    <p:extLst>
      <p:ext uri="{BB962C8B-B14F-4D97-AF65-F5344CB8AC3E}">
        <p14:creationId xmlns:p14="http://schemas.microsoft.com/office/powerpoint/2010/main" val="2200040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age0">
            <a:extLst>
              <a:ext uri="{FF2B5EF4-FFF2-40B4-BE49-F238E27FC236}">
                <a16:creationId xmlns:a16="http://schemas.microsoft.com/office/drawing/2014/main" id="{C88B0937-7522-BCEA-AD17-C53A61AD7815}"/>
              </a:ext>
            </a:extLst>
          </p:cNvPr>
          <p:cNvSpPr/>
          <p:nvPr/>
        </p:nvSpPr>
        <p:spPr>
          <a:xfrm>
            <a:off x="9804400" y="3323967"/>
            <a:ext cx="2106862" cy="1519881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000" tIns="90000" rIns="90000" bIns="90000" anchor="t"/>
          <a:lstStyle/>
          <a:p>
            <a:pPr algn="l"/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3" name="Stage0">
            <a:extLst>
              <a:ext uri="{FF2B5EF4-FFF2-40B4-BE49-F238E27FC236}">
                <a16:creationId xmlns:a16="http://schemas.microsoft.com/office/drawing/2014/main" id="{8861DE56-5964-C0B4-16CE-5227DA7D9A2C}"/>
              </a:ext>
            </a:extLst>
          </p:cNvPr>
          <p:cNvSpPr/>
          <p:nvPr/>
        </p:nvSpPr>
        <p:spPr>
          <a:xfrm>
            <a:off x="279399" y="1779372"/>
            <a:ext cx="11631863" cy="1791731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000" tIns="90000" rIns="90000" bIns="90000" anchor="t"/>
          <a:lstStyle/>
          <a:p>
            <a:pPr algn="l"/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D80D3-1267-47C8-5022-51711533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31" y="30621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The Pipeline</a:t>
            </a:r>
            <a:endParaRPr lang="en-US" sz="4800" b="1" dirty="0">
              <a:solidFill>
                <a:srgbClr val="94A3B8"/>
              </a:solidFill>
            </a:endParaRPr>
          </a:p>
        </p:txBody>
      </p:sp>
      <p:sp>
        <p:nvSpPr>
          <p:cNvPr id="800" name="Stage0"/>
          <p:cNvSpPr/>
          <p:nvPr/>
        </p:nvSpPr>
        <p:spPr>
          <a:xfrm>
            <a:off x="50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chemeClr val="bg1">
                    <a:lumMod val="25000"/>
                  </a:schemeClr>
                </a:solidFill>
              </a:rPr>
              <a:t>01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User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natural language</a:t>
            </a:r>
          </a:p>
        </p:txBody>
      </p:sp>
      <p:sp>
        <p:nvSpPr>
          <p:cNvPr id="850" name="Arr0"/>
          <p:cNvSpPr/>
          <p:nvPr/>
        </p:nvSpPr>
        <p:spPr>
          <a:xfrm>
            <a:off x="218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1" name="Stage1"/>
          <p:cNvSpPr/>
          <p:nvPr/>
        </p:nvSpPr>
        <p:spPr>
          <a:xfrm>
            <a:off x="2413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chemeClr val="bg1">
                    <a:lumMod val="25000"/>
                  </a:schemeClr>
                </a:solidFill>
              </a:rPr>
              <a:t>02</a:t>
            </a:r>
          </a:p>
          <a:p>
            <a:pPr algn="l">
              <a:spcBef>
                <a:spcPts val="400"/>
              </a:spcBef>
            </a:pPr>
            <a:r>
              <a:rPr lang="en-US" sz="2400" b="1" dirty="0"/>
              <a:t>Prompt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schema + rules</a:t>
            </a:r>
          </a:p>
        </p:txBody>
      </p:sp>
      <p:sp>
        <p:nvSpPr>
          <p:cNvPr id="851" name="Arr1"/>
          <p:cNvSpPr/>
          <p:nvPr/>
        </p:nvSpPr>
        <p:spPr>
          <a:xfrm>
            <a:off x="4089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Stage2"/>
          <p:cNvSpPr/>
          <p:nvPr/>
        </p:nvSpPr>
        <p:spPr>
          <a:xfrm>
            <a:off x="431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D3EE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chemeClr val="bg1">
                    <a:lumMod val="25000"/>
                  </a:schemeClr>
                </a:solidFill>
              </a:rPr>
              <a:t>03</a:t>
            </a:r>
          </a:p>
          <a:p>
            <a:pPr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LLM 🤖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reasoning</a:t>
            </a:r>
          </a:p>
        </p:txBody>
      </p:sp>
      <p:sp>
        <p:nvSpPr>
          <p:cNvPr id="852" name="Arr2"/>
          <p:cNvSpPr/>
          <p:nvPr/>
        </p:nvSpPr>
        <p:spPr>
          <a:xfrm>
            <a:off x="599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Stage3"/>
          <p:cNvSpPr/>
          <p:nvPr/>
        </p:nvSpPr>
        <p:spPr>
          <a:xfrm>
            <a:off x="6223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chemeClr val="bg1">
                    <a:lumMod val="25000"/>
                  </a:schemeClr>
                </a:solidFill>
              </a:rPr>
              <a:t>04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SQL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generated query</a:t>
            </a:r>
          </a:p>
        </p:txBody>
      </p:sp>
      <p:sp>
        <p:nvSpPr>
          <p:cNvPr id="853" name="Arr3"/>
          <p:cNvSpPr/>
          <p:nvPr/>
        </p:nvSpPr>
        <p:spPr>
          <a:xfrm>
            <a:off x="7899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Stage4"/>
          <p:cNvSpPr/>
          <p:nvPr/>
        </p:nvSpPr>
        <p:spPr>
          <a:xfrm>
            <a:off x="812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3">
                <a:lumMod val="75000"/>
              </a:schemeClr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chemeClr val="bg1">
                    <a:lumMod val="25000"/>
                  </a:schemeClr>
                </a:solidFill>
              </a:rPr>
              <a:t>05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Validator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safety gate</a:t>
            </a:r>
          </a:p>
        </p:txBody>
      </p:sp>
      <p:sp>
        <p:nvSpPr>
          <p:cNvPr id="854" name="Arr4"/>
          <p:cNvSpPr/>
          <p:nvPr/>
        </p:nvSpPr>
        <p:spPr>
          <a:xfrm>
            <a:off x="980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5" name="Stage5"/>
          <p:cNvSpPr/>
          <p:nvPr/>
        </p:nvSpPr>
        <p:spPr>
          <a:xfrm>
            <a:off x="10033000" y="2033372"/>
            <a:ext cx="1756478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200" b="1" spc="300" dirty="0">
                <a:solidFill>
                  <a:schemeClr val="bg1">
                    <a:lumMod val="25000"/>
                  </a:schemeClr>
                </a:solidFill>
              </a:rPr>
              <a:t>06</a:t>
            </a:r>
          </a:p>
          <a:p>
            <a:pPr algn="l">
              <a:spcBef>
                <a:spcPts val="400"/>
              </a:spcBef>
            </a:pPr>
            <a:r>
              <a:rPr lang="en-US" sz="2400" b="1" dirty="0">
                <a:solidFill>
                  <a:srgbClr val="0F172A"/>
                </a:solidFill>
              </a:rPr>
              <a:t>Execute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64748B"/>
                </a:solidFill>
              </a:rPr>
              <a:t>results </a:t>
            </a:r>
          </a:p>
        </p:txBody>
      </p:sp>
      <p:sp>
        <p:nvSpPr>
          <p:cNvPr id="880" name="Ex"/>
          <p:cNvSpPr/>
          <p:nvPr/>
        </p:nvSpPr>
        <p:spPr>
          <a:xfrm>
            <a:off x="507330" y="4999681"/>
            <a:ext cx="111760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140000" rIns="240000" bIns="140000" anchor="ctr"/>
          <a:lstStyle/>
          <a:p>
            <a:r>
              <a:rPr lang="en-US" sz="2400" b="1" dirty="0">
                <a:solidFill>
                  <a:srgbClr val="22D3EE"/>
                </a:solidFill>
                <a:latin typeface="Consolas"/>
              </a:rPr>
              <a:t>"top 10 customers by revenue this year"</a:t>
            </a:r>
            <a:r>
              <a:rPr lang="en-US" sz="2000" dirty="0">
                <a:solidFill>
                  <a:srgbClr val="94A3B8"/>
                </a:solidFill>
                <a:latin typeface="Consolas"/>
              </a:rPr>
              <a:t>     </a:t>
            </a:r>
            <a:r>
              <a:rPr lang="en-US" sz="2400" b="1" dirty="0">
                <a:solidFill>
                  <a:srgbClr val="10B981"/>
                </a:solidFill>
                <a:latin typeface="Consolas"/>
              </a:rPr>
              <a:t>SELECT TOP 10 ...</a:t>
            </a:r>
          </a:p>
        </p:txBody>
      </p:sp>
      <p:sp>
        <p:nvSpPr>
          <p:cNvPr id="5" name="Stage5">
            <a:extLst>
              <a:ext uri="{FF2B5EF4-FFF2-40B4-BE49-F238E27FC236}">
                <a16:creationId xmlns:a16="http://schemas.microsoft.com/office/drawing/2014/main" id="{169C684F-9C26-86A6-AC1E-ECE5050DAC37}"/>
              </a:ext>
            </a:extLst>
          </p:cNvPr>
          <p:cNvSpPr/>
          <p:nvPr/>
        </p:nvSpPr>
        <p:spPr>
          <a:xfrm>
            <a:off x="10043296" y="3672191"/>
            <a:ext cx="1746181" cy="92057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ysDash"/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r>
              <a:rPr lang="en-US" sz="1400" b="1" spc="300" dirty="0">
                <a:solidFill>
                  <a:schemeClr val="bg1">
                    <a:lumMod val="25000"/>
                  </a:schemeClr>
                </a:solidFill>
              </a:rPr>
              <a:t>07</a:t>
            </a:r>
            <a:br>
              <a:rPr lang="en-US" sz="1400" b="1" spc="300" dirty="0">
                <a:solidFill>
                  <a:srgbClr val="F59E0B"/>
                </a:solidFill>
              </a:rPr>
            </a:br>
            <a:r>
              <a:rPr lang="en-US" sz="2400" b="1" dirty="0">
                <a:solidFill>
                  <a:schemeClr val="accent5"/>
                </a:solidFill>
              </a:rPr>
              <a:t>Error</a:t>
            </a:r>
            <a:endParaRPr lang="en-US" sz="2800" b="1" dirty="0">
              <a:solidFill>
                <a:schemeClr val="accent5"/>
              </a:solidFill>
            </a:endParaRPr>
          </a:p>
          <a:p>
            <a:pPr algn="l">
              <a:spcBef>
                <a:spcPts val="300"/>
              </a:spcBef>
            </a:pPr>
            <a:endParaRPr lang="en-US" sz="1400" dirty="0">
              <a:solidFill>
                <a:srgbClr val="64748B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0E5E794-A4F8-C1F4-5248-9B689CAD8735}"/>
              </a:ext>
            </a:extLst>
          </p:cNvPr>
          <p:cNvCxnSpPr>
            <a:cxnSpLocks/>
            <a:stCxn id="5" idx="1"/>
            <a:endCxn id="802" idx="2"/>
          </p:cNvCxnSpPr>
          <p:nvPr/>
        </p:nvCxnSpPr>
        <p:spPr>
          <a:xfrm rot="10800000">
            <a:off x="5143500" y="3323968"/>
            <a:ext cx="4899796" cy="808512"/>
          </a:xfrm>
          <a:prstGeom prst="bentConnector2">
            <a:avLst/>
          </a:prstGeom>
          <a:ln w="98425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r4">
            <a:extLst>
              <a:ext uri="{FF2B5EF4-FFF2-40B4-BE49-F238E27FC236}">
                <a16:creationId xmlns:a16="http://schemas.microsoft.com/office/drawing/2014/main" id="{9286CF5E-7314-85A6-D4EF-063F9CE387DD}"/>
              </a:ext>
            </a:extLst>
          </p:cNvPr>
          <p:cNvSpPr/>
          <p:nvPr/>
        </p:nvSpPr>
        <p:spPr>
          <a:xfrm rot="5400000">
            <a:off x="10710070" y="3359987"/>
            <a:ext cx="321230" cy="2783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B9F97-4E80-486C-FE7C-DC6DC5520893}"/>
              </a:ext>
            </a:extLst>
          </p:cNvPr>
          <p:cNvSpPr txBox="1"/>
          <p:nvPr/>
        </p:nvSpPr>
        <p:spPr>
          <a:xfrm>
            <a:off x="11312758" y="2403904"/>
            <a:ext cx="580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3F4F6"/>
                </a:solidFill>
                <a:effectLst/>
                <a:latin typeface="Apple Color Emoji"/>
              </a:rPr>
              <a:t>✅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9840D-3579-C6D4-75CA-F1F3C5465DE1}"/>
              </a:ext>
            </a:extLst>
          </p:cNvPr>
          <p:cNvSpPr txBox="1"/>
          <p:nvPr/>
        </p:nvSpPr>
        <p:spPr>
          <a:xfrm>
            <a:off x="10892548" y="4006502"/>
            <a:ext cx="580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❌</a:t>
            </a:r>
          </a:p>
        </p:txBody>
      </p:sp>
      <p:sp>
        <p:nvSpPr>
          <p:cNvPr id="4" name="Arr1">
            <a:extLst>
              <a:ext uri="{FF2B5EF4-FFF2-40B4-BE49-F238E27FC236}">
                <a16:creationId xmlns:a16="http://schemas.microsoft.com/office/drawing/2014/main" id="{CC055861-FBC1-3080-75B8-5020F7F83ED8}"/>
              </a:ext>
            </a:extLst>
          </p:cNvPr>
          <p:cNvSpPr/>
          <p:nvPr/>
        </p:nvSpPr>
        <p:spPr>
          <a:xfrm>
            <a:off x="7480300" y="5298131"/>
            <a:ext cx="419100" cy="4190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2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719D-6174-6E05-E935-B77F706A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4128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Schema &amp; System Prompt</a:t>
            </a:r>
          </a:p>
        </p:txBody>
      </p:sp>
      <p:sp>
        <p:nvSpPr>
          <p:cNvPr id="400" name="LeftCard"/>
          <p:cNvSpPr/>
          <p:nvPr/>
        </p:nvSpPr>
        <p:spPr>
          <a:xfrm>
            <a:off x="406400" y="1479550"/>
            <a:ext cx="6667500" cy="4035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0F172A"/>
            </a:solidFill>
          </a:ln>
        </p:spPr>
        <p:txBody>
          <a:bodyPr wrap="square" lIns="240000" tIns="200000" rIns="240000" bIns="200000" anchor="t"/>
          <a:lstStyle/>
          <a:p>
            <a:pPr algn="l">
              <a:spcBef>
                <a:spcPts val="400"/>
              </a:spcBef>
            </a:pPr>
            <a:r>
              <a:rPr lang="en-US" sz="3200" b="1" dirty="0">
                <a:solidFill>
                  <a:srgbClr val="0891B2"/>
                </a:solidFill>
              </a:rPr>
              <a:t>TEACH THE AI YOUR DATA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3200" dirty="0">
                <a:solidFill>
                  <a:srgbClr val="334155"/>
                </a:solidFill>
              </a:rPr>
              <a:t>Tables &amp; columns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3200" dirty="0">
                <a:solidFill>
                  <a:srgbClr val="334155"/>
                </a:solidFill>
              </a:rPr>
              <a:t>Relationships &amp; keys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3200" dirty="0">
                <a:solidFill>
                  <a:srgbClr val="334155"/>
                </a:solidFill>
              </a:rPr>
              <a:t>Data types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3200" dirty="0">
                <a:solidFill>
                  <a:srgbClr val="334155"/>
                </a:solidFill>
              </a:rPr>
              <a:t>Enum Values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3200" i="1" dirty="0">
                <a:solidFill>
                  <a:srgbClr val="334155"/>
                </a:solidFill>
              </a:rPr>
              <a:t>Optional: sample values</a:t>
            </a:r>
            <a:br>
              <a:rPr lang="en-US" sz="2800" dirty="0">
                <a:solidFill>
                  <a:srgbClr val="334155"/>
                </a:solidFill>
              </a:rPr>
            </a:br>
            <a:endParaRPr lang="en-US" sz="2800" dirty="0">
              <a:solidFill>
                <a:srgbClr val="334155"/>
              </a:solidFill>
            </a:endParaRPr>
          </a:p>
        </p:txBody>
      </p:sp>
      <p:sp>
        <p:nvSpPr>
          <p:cNvPr id="401" name="RightCard"/>
          <p:cNvSpPr/>
          <p:nvPr/>
        </p:nvSpPr>
        <p:spPr>
          <a:xfrm>
            <a:off x="6223000" y="1479550"/>
            <a:ext cx="5562600" cy="4042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3200" b="1" spc="300" dirty="0">
                <a:solidFill>
                  <a:srgbClr val="22D3EE"/>
                </a:solidFill>
              </a:rPr>
              <a:t>WRITE THE RULES</a:t>
            </a:r>
            <a:endParaRPr lang="en-US" sz="3200" b="1" dirty="0">
              <a:solidFill>
                <a:srgbClr val="FFFFFF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2000" dirty="0">
                <a:solidFill>
                  <a:srgbClr val="64748B"/>
                </a:solidFill>
                <a:latin typeface="Consolas"/>
              </a:rPr>
              <a:t>// system prompt</a:t>
            </a:r>
          </a:p>
          <a:p>
            <a:pPr>
              <a:spcBef>
                <a:spcPts val="300"/>
              </a:spcBef>
            </a:pPr>
            <a:r>
              <a:rPr lang="en-US" sz="2400" dirty="0">
                <a:solidFill>
                  <a:srgbClr val="E2E8F0"/>
                </a:solidFill>
                <a:latin typeface="Consolas"/>
              </a:rPr>
              <a:t>You are a SQL assistant.</a:t>
            </a:r>
          </a:p>
          <a:p>
            <a:pPr>
              <a:spcBef>
                <a:spcPts val="200"/>
              </a:spcBef>
            </a:pPr>
            <a:r>
              <a:rPr lang="en-US" sz="2400" dirty="0">
                <a:solidFill>
                  <a:srgbClr val="22D3EE"/>
                </a:solidFill>
                <a:latin typeface="Consolas"/>
              </a:rPr>
              <a:t>RULES:</a:t>
            </a:r>
          </a:p>
          <a:p>
            <a:pPr>
              <a:spcBef>
                <a:spcPts val="200"/>
              </a:spcBef>
            </a:pPr>
            <a:r>
              <a:rPr lang="en-US" sz="2400" dirty="0">
                <a:solidFill>
                  <a:srgbClr val="E2E8F0"/>
                </a:solidFill>
                <a:latin typeface="Consolas"/>
              </a:rPr>
              <a:t>• SELECT only</a:t>
            </a:r>
          </a:p>
          <a:p>
            <a:pPr>
              <a:spcBef>
                <a:spcPts val="200"/>
              </a:spcBef>
            </a:pPr>
            <a:r>
              <a:rPr lang="en-US" sz="2400" dirty="0">
                <a:solidFill>
                  <a:srgbClr val="E2E8F0"/>
                </a:solidFill>
                <a:latin typeface="Consolas"/>
              </a:rPr>
              <a:t>• No DELETE/UPDATE/DROP</a:t>
            </a:r>
          </a:p>
          <a:p>
            <a:pPr>
              <a:spcBef>
                <a:spcPts val="200"/>
              </a:spcBef>
            </a:pPr>
            <a:r>
              <a:rPr lang="en-US" sz="2400" dirty="0">
                <a:solidFill>
                  <a:srgbClr val="E2E8F0"/>
                </a:solidFill>
                <a:latin typeface="Consolas"/>
              </a:rPr>
              <a:t>• Return SQL only</a:t>
            </a:r>
          </a:p>
          <a:p>
            <a:pPr>
              <a:spcBef>
                <a:spcPts val="200"/>
              </a:spcBef>
            </a:pPr>
            <a:r>
              <a:rPr lang="en-US" sz="2400" dirty="0">
                <a:solidFill>
                  <a:srgbClr val="E2E8F0"/>
                </a:solidFill>
                <a:latin typeface="Consolas"/>
              </a:rPr>
              <a:t>• Use the schema above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0B58A-A411-8E7E-C1B6-7B7E005995DA}"/>
              </a:ext>
            </a:extLst>
          </p:cNvPr>
          <p:cNvSpPr txBox="1"/>
          <p:nvPr/>
        </p:nvSpPr>
        <p:spPr>
          <a:xfrm>
            <a:off x="406400" y="5720834"/>
            <a:ext cx="11270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lang="en-US" sz="2000" i="1" dirty="0">
                <a:solidFill>
                  <a:srgbClr val="64748B"/>
                </a:solidFill>
              </a:rPr>
              <a:t>Without schema, the LLM will guess!</a:t>
            </a:r>
          </a:p>
        </p:txBody>
      </p:sp>
    </p:spTree>
    <p:extLst>
      <p:ext uri="{BB962C8B-B14F-4D97-AF65-F5344CB8AC3E}">
        <p14:creationId xmlns:p14="http://schemas.microsoft.com/office/powerpoint/2010/main" val="2819277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07A3-A506-91E2-776A-A29FCBDF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anel">
            <a:extLst>
              <a:ext uri="{FF2B5EF4-FFF2-40B4-BE49-F238E27FC236}">
                <a16:creationId xmlns:a16="http://schemas.microsoft.com/office/drawing/2014/main" id="{18B2B528-04D2-2150-B806-041B393ED26A}"/>
              </a:ext>
            </a:extLst>
          </p:cNvPr>
          <p:cNvSpPr/>
          <p:nvPr/>
        </p:nvSpPr>
        <p:spPr>
          <a:xfrm>
            <a:off x="73026" y="1270000"/>
            <a:ext cx="12118974" cy="431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701" name="AccentBar">
            <a:extLst>
              <a:ext uri="{FF2B5EF4-FFF2-40B4-BE49-F238E27FC236}">
                <a16:creationId xmlns:a16="http://schemas.microsoft.com/office/drawing/2014/main" id="{C728586D-EB19-12D4-4F3F-29D6CB3CC6F8}"/>
              </a:ext>
            </a:extLst>
          </p:cNvPr>
          <p:cNvSpPr/>
          <p:nvPr/>
        </p:nvSpPr>
        <p:spPr>
          <a:xfrm>
            <a:off x="929325" y="1911350"/>
            <a:ext cx="4752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53B48-EF36-6340-82E8-458E3E0A9C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1850" y="2330062"/>
            <a:ext cx="10515600" cy="295863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</a:rPr>
              <a:t>Demo</a:t>
            </a:r>
          </a:p>
          <a:p>
            <a:pPr algn="l">
              <a:buNone/>
            </a:pPr>
            <a:r>
              <a:rPr lang="en-US" sz="4000" dirty="0">
                <a:solidFill>
                  <a:srgbClr val="94A3B8"/>
                </a:solidFill>
              </a:rPr>
              <a:t>A Simple .NET Console App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23229-FD34-7833-06A8-F4C0CCC872C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1850" y="2050663"/>
            <a:ext cx="6853298" cy="558799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3200" b="1" spc="400" dirty="0">
                <a:solidFill>
                  <a:srgbClr val="22D3EE"/>
                </a:solidFill>
              </a:rPr>
              <a:t>CHAT WITH YOUR DATA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BF4189-844E-C8D9-D73B-DD7B8585FBE3}"/>
              </a:ext>
            </a:extLst>
          </p:cNvPr>
          <p:cNvGrpSpPr/>
          <p:nvPr/>
        </p:nvGrpSpPr>
        <p:grpSpPr>
          <a:xfrm>
            <a:off x="5307013" y="3429000"/>
            <a:ext cx="1651000" cy="457200"/>
            <a:chOff x="889000" y="1429656"/>
            <a:chExt cx="1651000" cy="457200"/>
          </a:xfrm>
        </p:grpSpPr>
        <p:sp>
          <p:nvSpPr>
            <p:cNvPr id="12" name="LiveBadge">
              <a:extLst>
                <a:ext uri="{FF2B5EF4-FFF2-40B4-BE49-F238E27FC236}">
                  <a16:creationId xmlns:a16="http://schemas.microsoft.com/office/drawing/2014/main" id="{B1DE4706-7C9E-FB03-11A8-AD13184D2821}"/>
                </a:ext>
              </a:extLst>
            </p:cNvPr>
            <p:cNvSpPr/>
            <p:nvPr/>
          </p:nvSpPr>
          <p:spPr>
            <a:xfrm>
              <a:off x="889000" y="1429656"/>
              <a:ext cx="1651000" cy="4572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txBody>
            <a:bodyPr wrap="square" lIns="91440" tIns="0" rIns="91440" bIns="0" anchor="ctr"/>
            <a:lstStyle/>
            <a:p>
              <a:pPr algn="ctr"/>
              <a:r>
                <a:rPr lang="en-US" b="1" spc="300" dirty="0">
                  <a:solidFill>
                    <a:srgbClr val="FFFFFF"/>
                  </a:solidFill>
                </a:rPr>
                <a:t>    LIVE</a:t>
              </a:r>
            </a:p>
          </p:txBody>
        </p:sp>
        <p:pic>
          <p:nvPicPr>
            <p:cNvPr id="13" name="Graphic 12" descr="Presentation with media with solid fill">
              <a:extLst>
                <a:ext uri="{FF2B5EF4-FFF2-40B4-BE49-F238E27FC236}">
                  <a16:creationId xmlns:a16="http://schemas.microsoft.com/office/drawing/2014/main" id="{37193B5B-7B8B-D404-8310-414F52FF0D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7503" y="1476895"/>
              <a:ext cx="394735" cy="394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474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9AD2-1B67-A3D7-680A-E00FA44C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88211" cy="1325563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Live Demo — Console</a:t>
            </a:r>
          </a:p>
        </p:txBody>
      </p:sp>
      <p:sp>
        <p:nvSpPr>
          <p:cNvPr id="501" name="DemoSub"/>
          <p:cNvSpPr txBox="1"/>
          <p:nvPr/>
        </p:nvSpPr>
        <p:spPr>
          <a:xfrm>
            <a:off x="2794000" y="1429656"/>
            <a:ext cx="8890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dirty="0">
                <a:solidFill>
                  <a:srgbClr val="475569"/>
                </a:solidFill>
              </a:rPr>
              <a:t>Visual Studio  &gt;  Chat.Console.OpenAI</a:t>
            </a:r>
          </a:p>
        </p:txBody>
      </p:sp>
      <p:sp>
        <p:nvSpPr>
          <p:cNvPr id="510" name="Terminal"/>
          <p:cNvSpPr/>
          <p:nvPr/>
        </p:nvSpPr>
        <p:spPr>
          <a:xfrm>
            <a:off x="508000" y="2342240"/>
            <a:ext cx="7112000" cy="33655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>
            <a:outerShdw blurRad="80000" dist="20000" dir="5400000" algn="t" rotWithShape="0">
              <a:srgbClr val="0F172A">
                <a:alpha val="20000"/>
              </a:srgbClr>
            </a:outerShdw>
          </a:effectLst>
        </p:spPr>
        <p:txBody>
          <a:bodyPr wrap="square" lIns="240000" tIns="200000" rIns="240000" bIns="200000" anchor="t"/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Consolas"/>
              </a:rPr>
              <a:t>$ dotnet run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94A3B8"/>
                </a:solidFill>
                <a:latin typeface="Consolas"/>
              </a:rPr>
              <a:t>Ask your database &gt; </a:t>
            </a:r>
            <a:r>
              <a:rPr lang="en-US" sz="2000" b="1" dirty="0">
                <a:solidFill>
                  <a:srgbClr val="22D3EE"/>
                </a:solidFill>
                <a:latin typeface="Consolas"/>
              </a:rPr>
              <a:t>top 10 customers by revenue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Consolas"/>
              </a:rPr>
              <a:t>// generated SQL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SELECT TOP 10 c.Name,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       SUM(o.Total) AS Revenue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FROM Customers c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JOIN Orders o ON o.CustomerId=c.Id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GROUP BY c.Name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ORDER BY Revenue DESC;</a:t>
            </a:r>
          </a:p>
        </p:txBody>
      </p:sp>
      <p:sp>
        <p:nvSpPr>
          <p:cNvPr id="520" name="Trust"/>
          <p:cNvSpPr/>
          <p:nvPr/>
        </p:nvSpPr>
        <p:spPr>
          <a:xfrm>
            <a:off x="7874000" y="2342240"/>
            <a:ext cx="3810000" cy="3365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220000" tIns="200000" rIns="220000" bIns="200000" anchor="t"/>
          <a:lstStyle/>
          <a:p>
            <a:pPr>
              <a:spcBef>
                <a:spcPts val="800"/>
              </a:spcBef>
            </a:pPr>
            <a:r>
              <a:rPr lang="en-US" sz="3200" b="1" spc="300" dirty="0">
                <a:solidFill>
                  <a:srgbClr val="92400E"/>
                </a:solidFill>
              </a:rPr>
              <a:t>⏸</a:t>
            </a:r>
            <a:r>
              <a:rPr lang="en-US" sz="2800" b="1" dirty="0">
                <a:solidFill>
                  <a:srgbClr val="0F172A"/>
                </a:solidFill>
              </a:rPr>
              <a:t>Would you </a:t>
            </a:r>
            <a:br>
              <a:rPr lang="en-US" sz="2800" b="1" dirty="0">
                <a:solidFill>
                  <a:srgbClr val="0F172A"/>
                </a:solidFill>
              </a:rPr>
            </a:br>
            <a:r>
              <a:rPr lang="en-US" sz="2800" b="1" dirty="0">
                <a:solidFill>
                  <a:srgbClr val="0F172A"/>
                </a:solidFill>
              </a:rPr>
              <a:t>     run this </a:t>
            </a:r>
            <a:br>
              <a:rPr lang="en-US" sz="2800" b="1" dirty="0">
                <a:solidFill>
                  <a:srgbClr val="0F172A"/>
                </a:solidFill>
              </a:rPr>
            </a:br>
            <a:r>
              <a:rPr lang="en-US" sz="2800" b="1" dirty="0">
                <a:solidFill>
                  <a:srgbClr val="0F172A"/>
                </a:solidFill>
              </a:rPr>
              <a:t>     in production?</a:t>
            </a:r>
            <a:endParaRPr lang="en-US" sz="3200" b="1" dirty="0">
              <a:solidFill>
                <a:srgbClr val="0F172A"/>
              </a:solidFill>
            </a:endParaRPr>
          </a:p>
          <a:p>
            <a:pPr algn="l">
              <a:spcBef>
                <a:spcPts val="400"/>
              </a:spcBef>
            </a:pPr>
            <a:br>
              <a:rPr lang="en-US" dirty="0">
                <a:solidFill>
                  <a:srgbClr val="78350F"/>
                </a:solidFill>
              </a:rPr>
            </a:br>
            <a:br>
              <a:rPr lang="en-US" dirty="0">
                <a:solidFill>
                  <a:srgbClr val="78350F"/>
                </a:solidFill>
              </a:rPr>
            </a:br>
            <a:r>
              <a:rPr lang="en-US" dirty="0">
                <a:solidFill>
                  <a:srgbClr val="78350F"/>
                </a:solidFill>
              </a:rPr>
              <a:t>        </a:t>
            </a:r>
            <a:r>
              <a:rPr lang="en-US" sz="2400" b="1" dirty="0">
                <a:solidFill>
                  <a:srgbClr val="78350F"/>
                </a:solidFill>
              </a:rPr>
              <a:t>The validator → </a:t>
            </a:r>
            <a:endParaRPr lang="en-US" b="1" dirty="0">
              <a:solidFill>
                <a:srgbClr val="78350F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E91529-23A7-B9D9-91A9-CD0F5AB4D505}"/>
              </a:ext>
            </a:extLst>
          </p:cNvPr>
          <p:cNvGrpSpPr/>
          <p:nvPr/>
        </p:nvGrpSpPr>
        <p:grpSpPr>
          <a:xfrm>
            <a:off x="889000" y="1429656"/>
            <a:ext cx="1651000" cy="457200"/>
            <a:chOff x="889000" y="1429656"/>
            <a:chExt cx="1651000" cy="457200"/>
          </a:xfrm>
        </p:grpSpPr>
        <p:sp>
          <p:nvSpPr>
            <p:cNvPr id="500" name="LiveBadge"/>
            <p:cNvSpPr/>
            <p:nvPr/>
          </p:nvSpPr>
          <p:spPr>
            <a:xfrm>
              <a:off x="889000" y="1429656"/>
              <a:ext cx="1651000" cy="4572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txBody>
            <a:bodyPr wrap="square" lIns="91440" tIns="0" rIns="91440" bIns="0" anchor="ctr"/>
            <a:lstStyle/>
            <a:p>
              <a:pPr algn="ctr"/>
              <a:r>
                <a:rPr lang="en-US" b="1" spc="300" dirty="0">
                  <a:solidFill>
                    <a:srgbClr val="FFFFFF"/>
                  </a:solidFill>
                </a:rPr>
                <a:t>    LIVE</a:t>
              </a:r>
            </a:p>
          </p:txBody>
        </p:sp>
        <p:pic>
          <p:nvPicPr>
            <p:cNvPr id="8" name="Graphic 7" descr="Presentation with media with solid fill">
              <a:extLst>
                <a:ext uri="{FF2B5EF4-FFF2-40B4-BE49-F238E27FC236}">
                  <a16:creationId xmlns:a16="http://schemas.microsoft.com/office/drawing/2014/main" id="{09202127-A8D4-A00F-7BBA-CB4879194B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7503" y="1476895"/>
              <a:ext cx="394735" cy="394735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98970D3-6DAB-B756-8ED7-860209BBE762}"/>
              </a:ext>
            </a:extLst>
          </p:cNvPr>
          <p:cNvSpPr txBox="1"/>
          <p:nvPr/>
        </p:nvSpPr>
        <p:spPr>
          <a:xfrm>
            <a:off x="11076710" y="3590941"/>
            <a:ext cx="442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300" dirty="0">
                <a:solidFill>
                  <a:srgbClr val="92400E"/>
                </a:solidFill>
              </a:rPr>
              <a:t>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75431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BEB7-C36F-15BC-7D87-2E120220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4357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Validation + Execution</a:t>
            </a:r>
          </a:p>
        </p:txBody>
      </p:sp>
      <p:sp>
        <p:nvSpPr>
          <p:cNvPr id="600" name="Validator"/>
          <p:cNvSpPr/>
          <p:nvPr/>
        </p:nvSpPr>
        <p:spPr>
          <a:xfrm>
            <a:off x="635000" y="1669140"/>
            <a:ext cx="54610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3600" b="1" dirty="0">
                <a:solidFill>
                  <a:srgbClr val="F43F5E"/>
                </a:solidFill>
              </a:rPr>
              <a:t>🛡</a:t>
            </a:r>
            <a:r>
              <a:rPr lang="en-US" b="1" spc="300" dirty="0">
                <a:solidFill>
                  <a:srgbClr val="9F1239"/>
                </a:solidFill>
              </a:rPr>
              <a:t>  </a:t>
            </a:r>
            <a:r>
              <a:rPr lang="en-US" sz="2800" b="1" spc="300" dirty="0">
                <a:solidFill>
                  <a:srgbClr val="9F1239"/>
                </a:solidFill>
              </a:rPr>
              <a:t>VALIDATE</a:t>
            </a:r>
            <a:endParaRPr lang="en-US" b="1" spc="300" dirty="0">
              <a:solidFill>
                <a:srgbClr val="9F1239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Never trust the LLM</a:t>
            </a:r>
          </a:p>
          <a:p>
            <a:pPr marL="228600" indent="-228600">
              <a:spcBef>
                <a:spcPts val="600"/>
              </a:spcBef>
              <a:buClr>
                <a:srgbClr val="FF0000"/>
              </a:buClr>
              <a:buFont typeface="Arial"/>
              <a:buChar char="✕"/>
            </a:pPr>
            <a:r>
              <a:rPr lang="en-US" sz="2400" dirty="0">
                <a:solidFill>
                  <a:srgbClr val="334155"/>
                </a:solidFill>
              </a:rPr>
              <a:t> Block DELETE, UPDATE, DROP</a:t>
            </a:r>
          </a:p>
          <a:p>
            <a:pPr marL="228600" indent="-228600">
              <a:spcBef>
                <a:spcPts val="400"/>
              </a:spcBef>
              <a:buClr>
                <a:srgbClr val="FF0000"/>
              </a:buClr>
              <a:buFont typeface="Arial"/>
              <a:buChar char="✕"/>
            </a:pPr>
            <a:r>
              <a:rPr lang="en-US" sz="2400" dirty="0">
                <a:solidFill>
                  <a:srgbClr val="334155"/>
                </a:solidFill>
              </a:rPr>
              <a:t> Block multi-statement queries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Allow only SELECT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Enforce row limits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Sanitize identifiers</a:t>
            </a:r>
          </a:p>
        </p:txBody>
      </p:sp>
      <p:sp>
        <p:nvSpPr>
          <p:cNvPr id="601" name="Exec"/>
          <p:cNvSpPr/>
          <p:nvPr/>
        </p:nvSpPr>
        <p:spPr>
          <a:xfrm>
            <a:off x="6223000" y="1669140"/>
            <a:ext cx="53340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3600" b="1" dirty="0">
                <a:solidFill>
                  <a:srgbClr val="10B981"/>
                </a:solidFill>
              </a:rPr>
              <a:t>▶</a:t>
            </a:r>
            <a:r>
              <a:rPr lang="en-US" b="1" spc="300" dirty="0">
                <a:solidFill>
                  <a:srgbClr val="047857"/>
                </a:solidFill>
              </a:rPr>
              <a:t>  </a:t>
            </a:r>
            <a:r>
              <a:rPr lang="en-US" sz="2800" b="1" spc="300" dirty="0">
                <a:solidFill>
                  <a:srgbClr val="047857"/>
                </a:solidFill>
              </a:rPr>
              <a:t>EXECUTE</a:t>
            </a:r>
            <a:endParaRPr lang="en-US" b="1" spc="300" dirty="0">
              <a:solidFill>
                <a:srgbClr val="047857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Run it, return it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Read-only connection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Timeout guard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Return as structured data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Log every query</a:t>
            </a:r>
            <a:br>
              <a:rPr lang="en-US" sz="2400" dirty="0">
                <a:solidFill>
                  <a:srgbClr val="334155"/>
                </a:solidFill>
              </a:rPr>
            </a:br>
            <a:endParaRPr lang="en-US" sz="2400" dirty="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lang="en-US" i="1" dirty="0">
                <a:solidFill>
                  <a:srgbClr val="64748B"/>
                </a:solidFill>
              </a:rPr>
              <a:t>The DB user should only SELECT.</a:t>
            </a:r>
          </a:p>
        </p:txBody>
      </p:sp>
    </p:spTree>
    <p:extLst>
      <p:ext uri="{BB962C8B-B14F-4D97-AF65-F5344CB8AC3E}">
        <p14:creationId xmlns:p14="http://schemas.microsoft.com/office/powerpoint/2010/main" val="3067230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BG"/>
          <p:cNvSpPr/>
          <p:nvPr/>
        </p:nvSpPr>
        <p:spPr>
          <a:xfrm>
            <a:off x="60960" y="0"/>
            <a:ext cx="1213103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" name="Quote"/>
          <p:cNvSpPr txBox="1"/>
          <p:nvPr/>
        </p:nvSpPr>
        <p:spPr>
          <a:xfrm>
            <a:off x="621274" y="-217358"/>
            <a:ext cx="10379675" cy="68579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</a:pPr>
            <a:r>
              <a:rPr lang="en-US" sz="9600" b="1" dirty="0">
                <a:solidFill>
                  <a:srgbClr val="FFFFFF"/>
                </a:solidFill>
              </a:rPr>
              <a:t>This is a </a:t>
            </a:r>
            <a:r>
              <a:rPr lang="en-US" sz="9600" b="1" i="1" dirty="0">
                <a:solidFill>
                  <a:srgbClr val="22D3EE"/>
                </a:solidFill>
              </a:rPr>
              <a:t>pipeline,</a:t>
            </a:r>
          </a:p>
          <a:p>
            <a:pPr algn="l">
              <a:lnSpc>
                <a:spcPct val="105000"/>
              </a:lnSpc>
            </a:pPr>
            <a:r>
              <a:rPr lang="en-US" sz="9600" b="1" dirty="0">
                <a:solidFill>
                  <a:srgbClr val="FFFFFF"/>
                </a:solidFill>
              </a:rPr>
              <a:t>not </a:t>
            </a:r>
            <a:r>
              <a:rPr lang="en-US" sz="9600" b="1" i="1" dirty="0">
                <a:solidFill>
                  <a:srgbClr val="F43F5E"/>
                </a:solidFill>
              </a:rPr>
              <a:t>magic.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A5717-A111-E735-E4B3-A14B746AAC13}"/>
              </a:ext>
            </a:extLst>
          </p:cNvPr>
          <p:cNvSpPr txBox="1"/>
          <p:nvPr/>
        </p:nvSpPr>
        <p:spPr>
          <a:xfrm>
            <a:off x="621274" y="6153463"/>
            <a:ext cx="761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inspectable |  testable | replaceable | enterprise-friendly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AFE83-7C0D-41CA-9B5E-DAE73D62EBD4}"/>
              </a:ext>
            </a:extLst>
          </p:cNvPr>
          <p:cNvSpPr txBox="1"/>
          <p:nvPr/>
        </p:nvSpPr>
        <p:spPr>
          <a:xfrm>
            <a:off x="11174842" y="366222"/>
            <a:ext cx="492443" cy="6125555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AI starts being a software</a:t>
            </a:r>
          </a:p>
        </p:txBody>
      </p:sp>
    </p:spTree>
    <p:extLst>
      <p:ext uri="{BB962C8B-B14F-4D97-AF65-F5344CB8AC3E}">
        <p14:creationId xmlns:p14="http://schemas.microsoft.com/office/powerpoint/2010/main" val="3187530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F21-8185-DCF7-FAAB-4AD3EB18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7917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Architecture — 3 Layers</a:t>
            </a:r>
          </a:p>
        </p:txBody>
      </p:sp>
      <p:sp>
        <p:nvSpPr>
          <p:cNvPr id="800" name="Sub"/>
          <p:cNvSpPr txBox="1"/>
          <p:nvPr/>
        </p:nvSpPr>
        <p:spPr>
          <a:xfrm>
            <a:off x="635000" y="1166586"/>
            <a:ext cx="10414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dirty="0">
                <a:solidFill>
                  <a:srgbClr val="64748B"/>
                </a:solidFill>
              </a:rPr>
              <a:t>Clean boundaries. Each layer does one thing well.</a:t>
            </a:r>
          </a:p>
        </p:txBody>
      </p:sp>
      <p:sp>
        <p:nvSpPr>
          <p:cNvPr id="900" name="L1"/>
          <p:cNvSpPr/>
          <p:nvPr/>
        </p:nvSpPr>
        <p:spPr>
          <a:xfrm>
            <a:off x="623786" y="1985488"/>
            <a:ext cx="889000" cy="889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01" name="L1T"/>
          <p:cNvSpPr txBox="1"/>
          <p:nvPr/>
        </p:nvSpPr>
        <p:spPr>
          <a:xfrm>
            <a:off x="1599215" y="2000002"/>
            <a:ext cx="3590305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Intake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7B4F05"/>
                </a:solidFill>
              </a:rPr>
              <a:t>Understand the user question</a:t>
            </a:r>
          </a:p>
        </p:txBody>
      </p:sp>
      <p:sp>
        <p:nvSpPr>
          <p:cNvPr id="910" name="C1_0"/>
          <p:cNvSpPr/>
          <p:nvPr/>
        </p:nvSpPr>
        <p:spPr>
          <a:xfrm>
            <a:off x="5284520" y="212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User Query</a:t>
            </a:r>
          </a:p>
        </p:txBody>
      </p:sp>
      <p:sp>
        <p:nvSpPr>
          <p:cNvPr id="911" name="C1_1"/>
          <p:cNvSpPr/>
          <p:nvPr/>
        </p:nvSpPr>
        <p:spPr>
          <a:xfrm>
            <a:off x="7715000" y="2137888"/>
            <a:ext cx="2286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Schema Reader</a:t>
            </a:r>
          </a:p>
        </p:txBody>
      </p:sp>
      <p:sp>
        <p:nvSpPr>
          <p:cNvPr id="930" name="L2"/>
          <p:cNvSpPr/>
          <p:nvPr/>
        </p:nvSpPr>
        <p:spPr>
          <a:xfrm>
            <a:off x="623786" y="3270002"/>
            <a:ext cx="889000" cy="8890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31" name="L2T"/>
          <p:cNvSpPr txBox="1"/>
          <p:nvPr/>
        </p:nvSpPr>
        <p:spPr>
          <a:xfrm>
            <a:off x="1599216" y="3270002"/>
            <a:ext cx="3302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Brain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6366F1"/>
                </a:solidFill>
              </a:rPr>
              <a:t>Generate safe SQL</a:t>
            </a:r>
          </a:p>
        </p:txBody>
      </p:sp>
      <p:sp>
        <p:nvSpPr>
          <p:cNvPr id="940" name="C2_0"/>
          <p:cNvSpPr/>
          <p:nvPr/>
        </p:nvSpPr>
        <p:spPr>
          <a:xfrm>
            <a:off x="5284520" y="3397002"/>
            <a:ext cx="217648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Prompt Builder</a:t>
            </a:r>
          </a:p>
        </p:txBody>
      </p:sp>
      <p:sp>
        <p:nvSpPr>
          <p:cNvPr id="941" name="C2_1"/>
          <p:cNvSpPr/>
          <p:nvPr/>
        </p:nvSpPr>
        <p:spPr>
          <a:xfrm>
            <a:off x="7715000" y="339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LLM Service</a:t>
            </a:r>
          </a:p>
        </p:txBody>
      </p:sp>
      <p:sp>
        <p:nvSpPr>
          <p:cNvPr id="942" name="C2_2"/>
          <p:cNvSpPr/>
          <p:nvPr/>
        </p:nvSpPr>
        <p:spPr>
          <a:xfrm>
            <a:off x="10001000" y="339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Validator</a:t>
            </a:r>
          </a:p>
        </p:txBody>
      </p:sp>
      <p:sp>
        <p:nvSpPr>
          <p:cNvPr id="960" name="L3"/>
          <p:cNvSpPr/>
          <p:nvPr/>
        </p:nvSpPr>
        <p:spPr>
          <a:xfrm>
            <a:off x="623786" y="4540002"/>
            <a:ext cx="889000" cy="889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61" name="L3T"/>
          <p:cNvSpPr txBox="1"/>
          <p:nvPr/>
        </p:nvSpPr>
        <p:spPr>
          <a:xfrm>
            <a:off x="1599216" y="4540002"/>
            <a:ext cx="3302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10B981"/>
                </a:solidFill>
              </a:rPr>
              <a:t>Run and format results</a:t>
            </a:r>
          </a:p>
        </p:txBody>
      </p:sp>
      <p:sp>
        <p:nvSpPr>
          <p:cNvPr id="970" name="C3_0"/>
          <p:cNvSpPr/>
          <p:nvPr/>
        </p:nvSpPr>
        <p:spPr>
          <a:xfrm>
            <a:off x="5284520" y="466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Executor</a:t>
            </a:r>
          </a:p>
        </p:txBody>
      </p:sp>
      <p:sp>
        <p:nvSpPr>
          <p:cNvPr id="971" name="C3_1"/>
          <p:cNvSpPr/>
          <p:nvPr/>
        </p:nvSpPr>
        <p:spPr>
          <a:xfrm>
            <a:off x="7715000" y="466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Formatter</a:t>
            </a:r>
          </a:p>
        </p:txBody>
      </p:sp>
      <p:sp>
        <p:nvSpPr>
          <p:cNvPr id="972" name="C3_2"/>
          <p:cNvSpPr/>
          <p:nvPr/>
        </p:nvSpPr>
        <p:spPr>
          <a:xfrm>
            <a:off x="10001000" y="4667002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Exporter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1DD38E-AD84-1D50-E52F-B5F98C5D28D8}"/>
              </a:ext>
            </a:extLst>
          </p:cNvPr>
          <p:cNvCxnSpPr>
            <a:cxnSpLocks/>
          </p:cNvCxnSpPr>
          <p:nvPr/>
        </p:nvCxnSpPr>
        <p:spPr>
          <a:xfrm>
            <a:off x="635000" y="3070431"/>
            <a:ext cx="1080000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400EC4-90AC-A72F-9F8C-1821703F6ACF}"/>
              </a:ext>
            </a:extLst>
          </p:cNvPr>
          <p:cNvCxnSpPr>
            <a:cxnSpLocks/>
          </p:cNvCxnSpPr>
          <p:nvPr/>
        </p:nvCxnSpPr>
        <p:spPr>
          <a:xfrm>
            <a:off x="635000" y="4325917"/>
            <a:ext cx="1080000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812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9B66-9047-A005-9B40-77D94E89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254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The Whole Setup 👌🏻 </a:t>
            </a:r>
            <a:endParaRPr lang="en-US" sz="4800" b="1" dirty="0">
              <a:solidFill>
                <a:srgbClr val="0F172A"/>
              </a:solidFill>
            </a:endParaRPr>
          </a:p>
        </p:txBody>
      </p:sp>
      <p:sp>
        <p:nvSpPr>
          <p:cNvPr id="900" name="Code"/>
          <p:cNvSpPr/>
          <p:nvPr/>
        </p:nvSpPr>
        <p:spPr>
          <a:xfrm>
            <a:off x="635000" y="1940367"/>
            <a:ext cx="10515600" cy="3355051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200000" rIns="240000" bIns="200000" anchor="t"/>
          <a:lstStyle/>
          <a:p>
            <a:pPr>
              <a:spcBef>
                <a:spcPts val="500"/>
              </a:spcBef>
            </a:pPr>
            <a:r>
              <a:rPr lang="en-US" sz="3200" dirty="0" err="1">
                <a:solidFill>
                  <a:srgbClr val="A78BFA"/>
                </a:solidFill>
                <a:latin typeface="Consolas"/>
              </a:rPr>
              <a:t>builder.Services.</a:t>
            </a:r>
            <a:r>
              <a:rPr lang="en-US" sz="3200" dirty="0" err="1">
                <a:solidFill>
                  <a:srgbClr val="22D3EE"/>
                </a:solidFill>
                <a:latin typeface="Consolas"/>
              </a:rPr>
              <a:t>AddAiReporting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(opt =&gt;</a:t>
            </a:r>
          </a:p>
          <a:p>
            <a:pPr>
              <a:spcBef>
                <a:spcPts val="200"/>
              </a:spcBef>
            </a:pPr>
            <a:r>
              <a:rPr lang="en-US" sz="3200" dirty="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200"/>
              </a:spcBef>
            </a:pPr>
            <a:r>
              <a:rPr lang="en-US" sz="3200" dirty="0">
                <a:solidFill>
                  <a:srgbClr val="E2E8F0"/>
                </a:solidFill>
                <a:latin typeface="Consolas"/>
              </a:rPr>
              <a:t>    opt.ConnectionString = config[</a:t>
            </a:r>
            <a:r>
              <a:rPr lang="en-US" sz="3200" dirty="0">
                <a:solidFill>
                  <a:srgbClr val="10B981"/>
                </a:solidFill>
                <a:latin typeface="Consolas"/>
              </a:rPr>
              <a:t>"Db"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];</a:t>
            </a:r>
          </a:p>
          <a:p>
            <a:pPr>
              <a:spcBef>
                <a:spcPts val="200"/>
              </a:spcBef>
            </a:pPr>
            <a:r>
              <a:rPr lang="en-US" sz="3200" dirty="0">
                <a:solidFill>
                  <a:srgbClr val="E2E8F0"/>
                </a:solidFill>
                <a:latin typeface="Consolas"/>
              </a:rPr>
              <a:t>    </a:t>
            </a:r>
            <a:r>
              <a:rPr lang="en-US" sz="3200" dirty="0" err="1">
                <a:solidFill>
                  <a:srgbClr val="E2E8F0"/>
                </a:solidFill>
                <a:latin typeface="Consolas"/>
              </a:rPr>
              <a:t>opt.LlmProvider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 = {</a:t>
            </a:r>
            <a:r>
              <a:rPr lang="en-US" sz="3200" dirty="0">
                <a:solidFill>
                  <a:srgbClr val="10B981"/>
                </a:solidFill>
                <a:latin typeface="Consolas"/>
              </a:rPr>
              <a:t>"OpenAI"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en-US" sz="3200" dirty="0" err="1">
                <a:solidFill>
                  <a:srgbClr val="22D3EE"/>
                </a:solidFill>
                <a:latin typeface="Consolas"/>
              </a:rPr>
              <a:t>ApiKey</a:t>
            </a:r>
            <a:r>
              <a:rPr lang="en-US" sz="320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200"/>
              </a:spcBef>
            </a:pPr>
            <a:r>
              <a:rPr lang="en-US" sz="3200" dirty="0">
                <a:solidFill>
                  <a:srgbClr val="E2E8F0"/>
                </a:solidFill>
                <a:latin typeface="Consolas"/>
              </a:rPr>
              <a:t>});</a:t>
            </a:r>
            <a:endParaRPr lang="en-US" sz="2800" dirty="0">
              <a:solidFill>
                <a:srgbClr val="64748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34733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87CF-88FF-1DB2-F78F-BF6C35A2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003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Live Demo 2 — Blazor Web App</a:t>
            </a:r>
          </a:p>
        </p:txBody>
      </p:sp>
      <p:sp>
        <p:nvSpPr>
          <p:cNvPr id="1210" name="S"/>
          <p:cNvSpPr/>
          <p:nvPr/>
        </p:nvSpPr>
        <p:spPr>
          <a:xfrm>
            <a:off x="635000" y="2158999"/>
            <a:ext cx="2872014" cy="35174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r>
              <a:rPr lang="en-US" sz="2400" b="1" spc="300" dirty="0">
                <a:solidFill>
                  <a:srgbClr val="10B981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F43F5E"/>
                </a:solidFill>
              </a:rPr>
              <a:t>🎤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Speak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rgbClr val="64748B"/>
                </a:solidFill>
              </a:rPr>
              <a:t>"Show sales trends last 6 months"</a:t>
            </a:r>
          </a:p>
        </p:txBody>
      </p:sp>
      <p:sp>
        <p:nvSpPr>
          <p:cNvPr id="1211" name="S"/>
          <p:cNvSpPr/>
          <p:nvPr/>
        </p:nvSpPr>
        <p:spPr>
          <a:xfrm>
            <a:off x="3321958" y="2158999"/>
            <a:ext cx="2872014" cy="3517405"/>
          </a:xfrm>
          <a:prstGeom prst="roundRect">
            <a:avLst>
              <a:gd name="adj" fmla="val 5000"/>
            </a:avLst>
          </a:prstGeom>
          <a:solidFill>
            <a:srgbClr val="EAEAEA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pPr algn="l"/>
            <a:r>
              <a:rPr lang="en-US" sz="2400" b="1" spc="300" dirty="0">
                <a:solidFill>
                  <a:srgbClr val="22D3E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22D3EE"/>
                </a:solidFill>
              </a:rPr>
              <a:t>⚡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Query runs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rgbClr val="64748B"/>
                </a:solidFill>
              </a:rPr>
              <a:t>Same pipeline. Faster feedback.</a:t>
            </a:r>
          </a:p>
        </p:txBody>
      </p:sp>
      <p:sp>
        <p:nvSpPr>
          <p:cNvPr id="1212" name="S"/>
          <p:cNvSpPr/>
          <p:nvPr/>
        </p:nvSpPr>
        <p:spPr>
          <a:xfrm>
            <a:off x="6052458" y="2158999"/>
            <a:ext cx="2872014" cy="3517405"/>
          </a:xfrm>
          <a:prstGeom prst="roundRect">
            <a:avLst>
              <a:gd name="adj" fmla="val 5000"/>
            </a:avLst>
          </a:prstGeom>
          <a:solidFill>
            <a:srgbClr val="C0C0C0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pPr algn="l"/>
            <a:r>
              <a:rPr lang="en-US" sz="2400" b="1" spc="300" dirty="0">
                <a:solidFill>
                  <a:srgbClr val="6366F1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6366F1"/>
                </a:solidFill>
              </a:rPr>
              <a:t>📊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Chart renders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chemeClr val="bg1"/>
                </a:solidFill>
              </a:rPr>
              <a:t>Table + chart</a:t>
            </a:r>
          </a:p>
        </p:txBody>
      </p:sp>
      <p:sp>
        <p:nvSpPr>
          <p:cNvPr id="1213" name="S"/>
          <p:cNvSpPr/>
          <p:nvPr/>
        </p:nvSpPr>
        <p:spPr>
          <a:xfrm>
            <a:off x="8782958" y="2158999"/>
            <a:ext cx="2872014" cy="3517405"/>
          </a:xfrm>
          <a:prstGeom prst="roundRect">
            <a:avLst>
              <a:gd name="adj" fmla="val 5000"/>
            </a:avLst>
          </a:prstGeom>
          <a:solidFill>
            <a:srgbClr val="9D9D9D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r>
              <a:rPr lang="en-US" sz="2400" b="1" spc="300" dirty="0">
                <a:solidFill>
                  <a:srgbClr val="F43F5E"/>
                </a:solidFill>
              </a:rPr>
              <a:t>STEP 4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10B981"/>
                </a:solidFill>
              </a:rPr>
              <a:t>📄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Export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chemeClr val="bg1"/>
                </a:solidFill>
              </a:rPr>
              <a:t>Excel report.</a:t>
            </a:r>
          </a:p>
        </p:txBody>
      </p:sp>
    </p:spTree>
    <p:extLst>
      <p:ext uri="{BB962C8B-B14F-4D97-AF65-F5344CB8AC3E}">
        <p14:creationId xmlns:p14="http://schemas.microsoft.com/office/powerpoint/2010/main" val="3483866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>
            <a:extLst>
              <a:ext uri="{FF2B5EF4-FFF2-40B4-BE49-F238E27FC236}">
                <a16:creationId xmlns:a16="http://schemas.microsoft.com/office/drawing/2014/main" id="{BAA9BBAE-549B-363A-B2DE-7B82682E01A1}"/>
              </a:ext>
            </a:extLst>
          </p:cNvPr>
          <p:cNvSpPr/>
          <p:nvPr/>
        </p:nvSpPr>
        <p:spPr>
          <a:xfrm>
            <a:off x="65531" y="826718"/>
            <a:ext cx="12118974" cy="476128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1002" name="Q"/>
          <p:cNvSpPr txBox="1"/>
          <p:nvPr/>
        </p:nvSpPr>
        <p:spPr>
          <a:xfrm>
            <a:off x="1026203" y="2045376"/>
            <a:ext cx="10722919" cy="217247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6600" b="1" dirty="0">
                <a:solidFill>
                  <a:srgbClr val="FFFFFF"/>
                </a:solidFill>
              </a:rPr>
              <a:t>Let's turn this </a:t>
            </a:r>
            <a:br>
              <a:rPr lang="en-US" sz="6600" b="1" dirty="0">
                <a:solidFill>
                  <a:srgbClr val="FFFFFF"/>
                </a:solidFill>
              </a:rPr>
            </a:br>
            <a:r>
              <a:rPr lang="en-US" sz="6600" b="1" dirty="0">
                <a:solidFill>
                  <a:srgbClr val="FFFFFF"/>
                </a:solidFill>
              </a:rPr>
              <a:t>into a </a:t>
            </a:r>
            <a:r>
              <a:rPr lang="en-US" sz="6600" b="1" i="1" dirty="0">
                <a:solidFill>
                  <a:srgbClr val="22D3EE"/>
                </a:solidFill>
              </a:rPr>
              <a:t>real  </a:t>
            </a:r>
            <a:r>
              <a:rPr lang="en-US" sz="6600" b="1" dirty="0">
                <a:solidFill>
                  <a:srgbClr val="22D3EE"/>
                </a:solidFill>
              </a:rPr>
              <a:t>product</a:t>
            </a:r>
          </a:p>
        </p:txBody>
      </p:sp>
      <p:sp>
        <p:nvSpPr>
          <p:cNvPr id="1003" name="Sub"/>
          <p:cNvSpPr txBox="1"/>
          <p:nvPr/>
        </p:nvSpPr>
        <p:spPr>
          <a:xfrm>
            <a:off x="1016000" y="5080000"/>
            <a:ext cx="1016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dirty="0">
                <a:solidFill>
                  <a:srgbClr val="94A3B8"/>
                </a:solidFill>
              </a:rPr>
              <a:t>Same backend</a:t>
            </a:r>
            <a:r>
              <a:rPr lang="en-US" dirty="0">
                <a:solidFill>
                  <a:srgbClr val="94A3B8"/>
                </a:solidFill>
              </a:rPr>
              <a:t> but this time </a:t>
            </a:r>
            <a:r>
              <a:rPr lang="en-US" u="sng" dirty="0">
                <a:solidFill>
                  <a:srgbClr val="94A3B8"/>
                </a:solidFill>
              </a:rPr>
              <a:t>with interactive v</a:t>
            </a:r>
            <a:r>
              <a:rPr lang="en-US" sz="1800" u="sng" dirty="0">
                <a:solidFill>
                  <a:srgbClr val="94A3B8"/>
                </a:solidFill>
              </a:rPr>
              <a:t>oice</a:t>
            </a:r>
            <a:r>
              <a:rPr lang="en-US" b="1" u="sng" dirty="0">
                <a:solidFill>
                  <a:srgbClr val="94A3B8"/>
                </a:solidFill>
              </a:rPr>
              <a:t> </a:t>
            </a:r>
            <a:r>
              <a:rPr lang="en-US" dirty="0">
                <a:solidFill>
                  <a:srgbClr val="94A3B8"/>
                </a:solidFill>
              </a:rPr>
              <a:t> | Blazor Server</a:t>
            </a:r>
            <a:endParaRPr lang="en-US" sz="1800" dirty="0">
              <a:solidFill>
                <a:srgbClr val="94A3B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537CD-F344-9285-D1DE-69928DF5BEA5}"/>
              </a:ext>
            </a:extLst>
          </p:cNvPr>
          <p:cNvSpPr txBox="1">
            <a:spLocks/>
          </p:cNvSpPr>
          <p:nvPr/>
        </p:nvSpPr>
        <p:spPr>
          <a:xfrm>
            <a:off x="1016000" y="1355339"/>
            <a:ext cx="6184900" cy="55879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415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3200" b="1" spc="400" dirty="0">
                <a:solidFill>
                  <a:srgbClr val="22D3EE"/>
                </a:solidFill>
              </a:rPr>
              <a:t>TALK TO YOUR DATA</a:t>
            </a:r>
          </a:p>
        </p:txBody>
      </p:sp>
      <p:sp>
        <p:nvSpPr>
          <p:cNvPr id="4" name="AccentBar">
            <a:extLst>
              <a:ext uri="{FF2B5EF4-FFF2-40B4-BE49-F238E27FC236}">
                <a16:creationId xmlns:a16="http://schemas.microsoft.com/office/drawing/2014/main" id="{8160ADC7-A2E8-EA22-303B-688EC857D850}"/>
              </a:ext>
            </a:extLst>
          </p:cNvPr>
          <p:cNvSpPr/>
          <p:nvPr/>
        </p:nvSpPr>
        <p:spPr>
          <a:xfrm>
            <a:off x="1016000" y="1269999"/>
            <a:ext cx="5442945" cy="853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A86898-2F04-314A-AD0D-C467D9C91776}"/>
              </a:ext>
            </a:extLst>
          </p:cNvPr>
          <p:cNvGrpSpPr/>
          <p:nvPr/>
        </p:nvGrpSpPr>
        <p:grpSpPr>
          <a:xfrm>
            <a:off x="1051010" y="4349088"/>
            <a:ext cx="1679521" cy="457200"/>
            <a:chOff x="6898983" y="1781651"/>
            <a:chExt cx="1493545" cy="457200"/>
          </a:xfrm>
        </p:grpSpPr>
        <p:sp>
          <p:nvSpPr>
            <p:cNvPr id="6" name="LiveBadge">
              <a:extLst>
                <a:ext uri="{FF2B5EF4-FFF2-40B4-BE49-F238E27FC236}">
                  <a16:creationId xmlns:a16="http://schemas.microsoft.com/office/drawing/2014/main" id="{0F7942F8-37EE-BE0E-CF0A-AFDCE5AED565}"/>
                </a:ext>
              </a:extLst>
            </p:cNvPr>
            <p:cNvSpPr/>
            <p:nvPr/>
          </p:nvSpPr>
          <p:spPr>
            <a:xfrm>
              <a:off x="6898983" y="1781651"/>
              <a:ext cx="1493545" cy="4572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txBody>
            <a:bodyPr wrap="square" lIns="91440" tIns="0" rIns="91440" bIns="0" anchor="ctr"/>
            <a:lstStyle/>
            <a:p>
              <a:pPr algn="r"/>
              <a:r>
                <a:rPr lang="en-US" b="1" spc="300" dirty="0">
                  <a:solidFill>
                    <a:srgbClr val="FFFFFF"/>
                  </a:solidFill>
                </a:rPr>
                <a:t>     LIVE</a:t>
              </a:r>
            </a:p>
          </p:txBody>
        </p:sp>
        <p:pic>
          <p:nvPicPr>
            <p:cNvPr id="7" name="Graphic 6" descr="Presentation with media with solid fill">
              <a:extLst>
                <a:ext uri="{FF2B5EF4-FFF2-40B4-BE49-F238E27FC236}">
                  <a16:creationId xmlns:a16="http://schemas.microsoft.com/office/drawing/2014/main" id="{44BF11B1-A87D-0E81-4EF5-B50F0A9C05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7470" y="1831590"/>
              <a:ext cx="394735" cy="39473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6C9AF8B-02B6-3AA4-180D-80CA0C8A3804}"/>
              </a:ext>
            </a:extLst>
          </p:cNvPr>
          <p:cNvSpPr txBox="1"/>
          <p:nvPr/>
        </p:nvSpPr>
        <p:spPr>
          <a:xfrm>
            <a:off x="11327722" y="1072510"/>
            <a:ext cx="400110" cy="4269698"/>
          </a:xfrm>
          <a:prstGeom prst="rect">
            <a:avLst/>
          </a:prstGeom>
          <a:noFill/>
        </p:spPr>
        <p:txBody>
          <a:bodyPr vert="vert"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this’s what you'd actually ship to business users</a:t>
            </a:r>
          </a:p>
        </p:txBody>
      </p:sp>
    </p:spTree>
    <p:extLst>
      <p:ext uri="{BB962C8B-B14F-4D97-AF65-F5344CB8AC3E}">
        <p14:creationId xmlns:p14="http://schemas.microsoft.com/office/powerpoint/2010/main" val="2413001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DA7E-317D-1151-40A8-0BFF0DA6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53218"/>
            <a:ext cx="10909300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F172A"/>
                </a:solidFill>
              </a:rPr>
              <a:t>Same Backend, </a:t>
            </a:r>
            <a:r>
              <a:rPr lang="en-US" sz="4800" dirty="0">
                <a:solidFill>
                  <a:srgbClr val="0F172A"/>
                </a:solidFill>
              </a:rPr>
              <a:t>Closer to a </a:t>
            </a:r>
            <a:r>
              <a:rPr lang="en-US" sz="4800" b="1" dirty="0"/>
              <a:t>Real Product</a:t>
            </a:r>
            <a:endParaRPr lang="en-US" sz="4800" b="1" dirty="0">
              <a:solidFill>
                <a:srgbClr val="0F172A"/>
              </a:solidFill>
            </a:endParaRPr>
          </a:p>
        </p:txBody>
      </p:sp>
      <p:sp>
        <p:nvSpPr>
          <p:cNvPr id="1100" name="F"/>
          <p:cNvSpPr/>
          <p:nvPr/>
        </p:nvSpPr>
        <p:spPr>
          <a:xfrm>
            <a:off x="635000" y="1778000"/>
            <a:ext cx="254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F43F5E"/>
                </a:solidFill>
              </a:rPr>
              <a:t>🎤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Voice input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Talk to your data</a:t>
            </a:r>
          </a:p>
        </p:txBody>
      </p:sp>
      <p:sp>
        <p:nvSpPr>
          <p:cNvPr id="1101" name="F"/>
          <p:cNvSpPr/>
          <p:nvPr/>
        </p:nvSpPr>
        <p:spPr>
          <a:xfrm>
            <a:off x="3365499" y="1778000"/>
            <a:ext cx="2540001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400" b="1" dirty="0">
                <a:solidFill>
                  <a:srgbClr val="22D3EE"/>
                </a:solidFill>
              </a:rPr>
              <a:t>⚡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Live query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Real-time to SQL</a:t>
            </a:r>
          </a:p>
        </p:txBody>
      </p:sp>
      <p:sp>
        <p:nvSpPr>
          <p:cNvPr id="1102" name="F"/>
          <p:cNvSpPr/>
          <p:nvPr/>
        </p:nvSpPr>
        <p:spPr>
          <a:xfrm>
            <a:off x="6096000" y="1778000"/>
            <a:ext cx="254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6366F1"/>
                </a:solidFill>
              </a:rPr>
              <a:t>📊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Charts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Visualize results</a:t>
            </a:r>
          </a:p>
        </p:txBody>
      </p:sp>
      <p:sp>
        <p:nvSpPr>
          <p:cNvPr id="1103" name="F"/>
          <p:cNvSpPr/>
          <p:nvPr/>
        </p:nvSpPr>
        <p:spPr>
          <a:xfrm>
            <a:off x="8826500" y="1778000"/>
            <a:ext cx="27305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10B981"/>
                </a:solidFill>
              </a:rPr>
              <a:t>📄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Excel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One click to report</a:t>
            </a:r>
          </a:p>
        </p:txBody>
      </p:sp>
      <p:sp>
        <p:nvSpPr>
          <p:cNvPr id="1110" name="Banner"/>
          <p:cNvSpPr/>
          <p:nvPr/>
        </p:nvSpPr>
        <p:spPr>
          <a:xfrm>
            <a:off x="635000" y="4318000"/>
            <a:ext cx="10731500" cy="1524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wrap="square" lIns="280000" tIns="200000" rIns="280000" bIns="200000" anchor="ctr"/>
          <a:lstStyle/>
          <a:p>
            <a:pPr algn="l"/>
            <a:r>
              <a:rPr lang="en-US" sz="1400" b="1" spc="300" dirty="0">
                <a:solidFill>
                  <a:srgbClr val="22D3EE"/>
                </a:solidFill>
              </a:rPr>
              <a:t>THE BACKEND DIDN'T CHANGE.</a:t>
            </a:r>
          </a:p>
          <a:p>
            <a:pPr algn="l">
              <a:spcBef>
                <a:spcPts val="400"/>
              </a:spcBef>
            </a:pPr>
            <a:r>
              <a:rPr lang="en-US" sz="2400" dirty="0">
                <a:solidFill>
                  <a:srgbClr val="FFFFFF"/>
                </a:solidFill>
              </a:rPr>
              <a:t>Blazor reuses the exact same module. 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The frontend is where </a:t>
            </a:r>
            <a:r>
              <a:rPr lang="en-US" sz="2400" i="1" dirty="0">
                <a:solidFill>
                  <a:srgbClr val="22D3EE"/>
                </a:solidFill>
              </a:rPr>
              <a:t>the product</a:t>
            </a:r>
            <a:r>
              <a:rPr lang="en-US" sz="2400" dirty="0">
                <a:solidFill>
                  <a:srgbClr val="FFFFFF"/>
                </a:solidFill>
              </a:rPr>
              <a:t> lives.</a:t>
            </a:r>
          </a:p>
        </p:txBody>
      </p:sp>
    </p:spTree>
    <p:extLst>
      <p:ext uri="{BB962C8B-B14F-4D97-AF65-F5344CB8AC3E}">
        <p14:creationId xmlns:p14="http://schemas.microsoft.com/office/powerpoint/2010/main" val="4276252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8FAF-AB4F-A00A-4E74-5574F015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5743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The LLM is 20% of the work. </a:t>
            </a:r>
          </a:p>
        </p:txBody>
      </p:sp>
      <p:sp>
        <p:nvSpPr>
          <p:cNvPr id="1300" name="P"/>
          <p:cNvSpPr/>
          <p:nvPr/>
        </p:nvSpPr>
        <p:spPr>
          <a:xfrm>
            <a:off x="635000" y="1778000"/>
            <a:ext cx="3492500" cy="33402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b="1" spc="300" dirty="0">
                <a:solidFill>
                  <a:srgbClr val="22D3EE"/>
                </a:solidFill>
              </a:rPr>
              <a:t>01</a:t>
            </a:r>
          </a:p>
          <a:p>
            <a:pPr algn="l">
              <a:spcBef>
                <a:spcPts val="400"/>
              </a:spcBef>
            </a:pPr>
            <a:r>
              <a:rPr lang="en-US" sz="4400" b="1" dirty="0">
                <a:solidFill>
                  <a:srgbClr val="22D3EE"/>
                </a:solidFill>
              </a:rPr>
              <a:t>Simplicity</a:t>
            </a:r>
          </a:p>
          <a:p>
            <a:pPr algn="l">
              <a:spcBef>
                <a:spcPts val="600"/>
              </a:spcBef>
            </a:pPr>
            <a:r>
              <a:rPr lang="en-US" sz="2400" dirty="0">
                <a:solidFill>
                  <a:srgbClr val="475569"/>
                </a:solidFill>
              </a:rPr>
              <a:t>One input. One answer. Hide everything else until they ask.</a:t>
            </a:r>
          </a:p>
        </p:txBody>
      </p:sp>
      <p:sp>
        <p:nvSpPr>
          <p:cNvPr id="1301" name="P"/>
          <p:cNvSpPr/>
          <p:nvPr/>
        </p:nvSpPr>
        <p:spPr>
          <a:xfrm>
            <a:off x="4343400" y="1778000"/>
            <a:ext cx="3492500" cy="33402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b="1" spc="300" dirty="0">
                <a:solidFill>
                  <a:srgbClr val="6366F1"/>
                </a:solidFill>
              </a:rPr>
              <a:t>02</a:t>
            </a:r>
          </a:p>
          <a:p>
            <a:pPr algn="l">
              <a:spcBef>
                <a:spcPts val="400"/>
              </a:spcBef>
            </a:pPr>
            <a:r>
              <a:rPr lang="en-US" sz="4400" b="1" dirty="0">
                <a:solidFill>
                  <a:srgbClr val="6366F1"/>
                </a:solidFill>
              </a:rPr>
              <a:t>Speed</a:t>
            </a:r>
          </a:p>
          <a:p>
            <a:pPr algn="l">
              <a:spcBef>
                <a:spcPts val="600"/>
              </a:spcBef>
            </a:pPr>
            <a:r>
              <a:rPr lang="en-US" sz="2400" dirty="0">
                <a:solidFill>
                  <a:srgbClr val="475569"/>
                </a:solidFill>
              </a:rPr>
              <a:t>Stream the SQL. Stream the result. No spinners over 2 seconds.</a:t>
            </a:r>
          </a:p>
        </p:txBody>
      </p:sp>
      <p:sp>
        <p:nvSpPr>
          <p:cNvPr id="1302" name="P"/>
          <p:cNvSpPr/>
          <p:nvPr/>
        </p:nvSpPr>
        <p:spPr>
          <a:xfrm>
            <a:off x="8051800" y="1778000"/>
            <a:ext cx="3492500" cy="33402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b="1" spc="300" dirty="0">
                <a:solidFill>
                  <a:srgbClr val="F43F5E"/>
                </a:solidFill>
              </a:rPr>
              <a:t>03</a:t>
            </a:r>
          </a:p>
          <a:p>
            <a:pPr algn="l">
              <a:spcBef>
                <a:spcPts val="400"/>
              </a:spcBef>
            </a:pPr>
            <a:r>
              <a:rPr lang="en-US" sz="4400" b="1" dirty="0">
                <a:solidFill>
                  <a:srgbClr val="F43F5E"/>
                </a:solidFill>
              </a:rPr>
              <a:t>Trust</a:t>
            </a:r>
          </a:p>
          <a:p>
            <a:pPr algn="l">
              <a:spcBef>
                <a:spcPts val="600"/>
              </a:spcBef>
            </a:pPr>
            <a:r>
              <a:rPr lang="en-US" sz="2400" dirty="0">
                <a:solidFill>
                  <a:srgbClr val="475569"/>
                </a:solidFill>
              </a:rPr>
              <a:t>Always show the SQL. Let users verify before they believe. And save</a:t>
            </a:r>
          </a:p>
        </p:txBody>
      </p:sp>
      <p:sp>
        <p:nvSpPr>
          <p:cNvPr id="1310" name="BQ"/>
          <p:cNvSpPr/>
          <p:nvPr/>
        </p:nvSpPr>
        <p:spPr>
          <a:xfrm>
            <a:off x="635000" y="5308270"/>
            <a:ext cx="10922000" cy="92743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wrap="square" lIns="180000" tIns="0" rIns="180000" bIns="0" anchor="ctr"/>
          <a:lstStyle/>
          <a:p>
            <a:pPr algn="ctr"/>
            <a:r>
              <a:rPr lang="en-US" sz="2400" dirty="0">
                <a:solidFill>
                  <a:srgbClr val="475569"/>
                </a:solidFill>
              </a:rPr>
              <a:t>The LLM 20% of the work. </a:t>
            </a:r>
            <a:br>
              <a:rPr lang="en-US" sz="2400" dirty="0">
                <a:solidFill>
                  <a:srgbClr val="475569"/>
                </a:solidFill>
              </a:rPr>
            </a:br>
            <a:r>
              <a:rPr lang="en-US" sz="2400" dirty="0">
                <a:solidFill>
                  <a:srgbClr val="475569"/>
                </a:solidFill>
              </a:rPr>
              <a:t>The rest is just connecting the pieces.</a:t>
            </a:r>
          </a:p>
        </p:txBody>
      </p:sp>
    </p:spTree>
    <p:extLst>
      <p:ext uri="{BB962C8B-B14F-4D97-AF65-F5344CB8AC3E}">
        <p14:creationId xmlns:p14="http://schemas.microsoft.com/office/powerpoint/2010/main" val="2802800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FFD1-30E3-F282-65BE-DD43E9D8B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32543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Where This Fits in the Real World</a:t>
            </a:r>
          </a:p>
        </p:txBody>
      </p:sp>
      <p:sp>
        <p:nvSpPr>
          <p:cNvPr id="1400" name="U"/>
          <p:cNvSpPr/>
          <p:nvPr/>
        </p:nvSpPr>
        <p:spPr>
          <a:xfrm>
            <a:off x="412955" y="1853554"/>
            <a:ext cx="3749475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22D3EE"/>
                </a:solidFill>
              </a:rPr>
              <a:t>▣ </a:t>
            </a:r>
            <a:r>
              <a:rPr lang="en-US" sz="2400" b="1" dirty="0">
                <a:solidFill>
                  <a:srgbClr val="0F172A"/>
                </a:solidFill>
              </a:rPr>
              <a:t>Admin dashboards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"How many new users last week?"</a:t>
            </a:r>
          </a:p>
        </p:txBody>
      </p:sp>
      <p:sp>
        <p:nvSpPr>
          <p:cNvPr id="1401" name="U"/>
          <p:cNvSpPr/>
          <p:nvPr/>
        </p:nvSpPr>
        <p:spPr>
          <a:xfrm>
            <a:off x="4236525" y="1853554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6366F1"/>
                </a:solidFill>
              </a:rPr>
              <a:t>◉ </a:t>
            </a:r>
            <a:r>
              <a:rPr lang="en-US" sz="2400" b="1" dirty="0">
                <a:solidFill>
                  <a:srgbClr val="0F172A"/>
                </a:solidFill>
              </a:rPr>
              <a:t>Internal tools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"Failed orders from the EU region."</a:t>
            </a:r>
          </a:p>
        </p:txBody>
      </p:sp>
      <p:sp>
        <p:nvSpPr>
          <p:cNvPr id="1402" name="U"/>
          <p:cNvSpPr/>
          <p:nvPr/>
        </p:nvSpPr>
        <p:spPr>
          <a:xfrm>
            <a:off x="7910620" y="1853554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10B981"/>
                </a:solidFill>
              </a:rPr>
              <a:t>⚡</a:t>
            </a:r>
            <a:r>
              <a:rPr lang="en-US" sz="2400" b="1" dirty="0">
                <a:solidFill>
                  <a:srgbClr val="0F172A"/>
                </a:solidFill>
              </a:rPr>
              <a:t>Support &amp; ops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"Customers who churned in March."</a:t>
            </a:r>
          </a:p>
        </p:txBody>
      </p:sp>
      <p:sp>
        <p:nvSpPr>
          <p:cNvPr id="1403" name="U"/>
          <p:cNvSpPr/>
          <p:nvPr/>
        </p:nvSpPr>
        <p:spPr>
          <a:xfrm>
            <a:off x="412955" y="4000108"/>
            <a:ext cx="3749475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F43F5E"/>
                </a:solidFill>
              </a:rPr>
              <a:t>📊</a:t>
            </a:r>
            <a:r>
              <a:rPr lang="en-US" sz="2400" b="1" dirty="0">
                <a:solidFill>
                  <a:srgbClr val="0F172A"/>
                </a:solidFill>
              </a:rPr>
              <a:t>Exec reporting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"Revenue by product, last 4 quarters."</a:t>
            </a:r>
          </a:p>
        </p:txBody>
      </p:sp>
      <p:sp>
        <p:nvSpPr>
          <p:cNvPr id="1404" name="U"/>
          <p:cNvSpPr/>
          <p:nvPr/>
        </p:nvSpPr>
        <p:spPr>
          <a:xfrm>
            <a:off x="4236525" y="4000108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200" b="1" dirty="0">
                <a:solidFill>
                  <a:srgbClr val="F59E0B"/>
                </a:solidFill>
              </a:rPr>
              <a:t>🔍 </a:t>
            </a:r>
            <a:r>
              <a:rPr lang="en-US" sz="2400" b="1" dirty="0">
                <a:solidFill>
                  <a:srgbClr val="0F172A"/>
                </a:solidFill>
              </a:rPr>
              <a:t>Ad-hoc analysis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"Orders over $1k with no shipment."</a:t>
            </a:r>
          </a:p>
        </p:txBody>
      </p:sp>
      <p:sp>
        <p:nvSpPr>
          <p:cNvPr id="1405" name="U"/>
          <p:cNvSpPr/>
          <p:nvPr/>
        </p:nvSpPr>
        <p:spPr>
          <a:xfrm>
            <a:off x="7910620" y="4000108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A78BFA"/>
                </a:solidFill>
              </a:rPr>
              <a:t>📈</a:t>
            </a:r>
            <a:r>
              <a:rPr lang="en-US" sz="2400" b="1" dirty="0">
                <a:solidFill>
                  <a:srgbClr val="0F172A"/>
                </a:solidFill>
              </a:rPr>
              <a:t>Self-serve BI</a:t>
            </a:r>
          </a:p>
          <a:p>
            <a:pPr algn="l">
              <a:spcBef>
                <a:spcPts val="500"/>
              </a:spcBef>
            </a:pPr>
            <a:r>
              <a:rPr lang="en-US" i="1" dirty="0">
                <a:solidFill>
                  <a:srgbClr val="64748B"/>
                </a:solidFill>
              </a:rPr>
              <a:t>"Top 20 SKUs by margin this year."</a:t>
            </a:r>
          </a:p>
        </p:txBody>
      </p:sp>
    </p:spTree>
    <p:extLst>
      <p:ext uri="{BB962C8B-B14F-4D97-AF65-F5344CB8AC3E}">
        <p14:creationId xmlns:p14="http://schemas.microsoft.com/office/powerpoint/2010/main" val="4193197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E464-4A9F-3D02-3031-A210FB8E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33" y="-12263"/>
            <a:ext cx="10515600" cy="1006003"/>
          </a:xfrm>
        </p:spPr>
        <p:txBody>
          <a:bodyPr>
            <a:normAutofit/>
          </a:bodyPr>
          <a:lstStyle/>
          <a:p>
            <a:r>
              <a:rPr lang="en-US" sz="4800" b="1" dirty="0"/>
              <a:t>Challenges</a:t>
            </a:r>
            <a:endParaRPr lang="en-US" sz="4800" b="1" dirty="0">
              <a:solidFill>
                <a:srgbClr val="0F172A"/>
              </a:solidFill>
            </a:endParaRPr>
          </a:p>
        </p:txBody>
      </p:sp>
      <p:sp>
        <p:nvSpPr>
          <p:cNvPr id="1500" name="Chal"/>
          <p:cNvSpPr/>
          <p:nvPr/>
        </p:nvSpPr>
        <p:spPr>
          <a:xfrm>
            <a:off x="486033" y="914400"/>
            <a:ext cx="11219934" cy="5303520"/>
          </a:xfrm>
          <a:prstGeom prst="roundRect">
            <a:avLst>
              <a:gd name="adj" fmla="val 6000"/>
            </a:avLst>
          </a:prstGeom>
          <a:solidFill>
            <a:srgbClr val="FEF2F2">
              <a:alpha val="30000"/>
            </a:srgbClr>
          </a:solidFill>
          <a:ln w="12700">
            <a:solidFill>
              <a:srgbClr val="FECDD3"/>
            </a:solidFill>
          </a:ln>
        </p:spPr>
        <p:txBody>
          <a:bodyPr wrap="square" lIns="240000" tIns="200000" rIns="240000" bIns="200000" anchor="ctr"/>
          <a:lstStyle/>
          <a:p>
            <a:pPr>
              <a:spcBef>
                <a:spcPts val="700"/>
              </a:spcBef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⚠ </a:t>
            </a:r>
            <a:r>
              <a:rPr lang="en-US" sz="3200" b="1" dirty="0">
                <a:solidFill>
                  <a:srgbClr val="0F172A"/>
                </a:solidFill>
              </a:rPr>
              <a:t>Multi-tenancy &amp; permissions </a:t>
            </a:r>
            <a:br>
              <a:rPr lang="en-US" sz="3400" b="1" dirty="0">
                <a:solidFill>
                  <a:srgbClr val="0F172A"/>
                </a:solidFill>
              </a:rPr>
            </a:br>
            <a:r>
              <a:rPr lang="en-US" sz="3400" b="1" dirty="0">
                <a:solidFill>
                  <a:srgbClr val="0F172A"/>
                </a:solidFill>
              </a:rPr>
              <a:t>      </a:t>
            </a:r>
            <a:r>
              <a:rPr lang="en-US" sz="2800" dirty="0">
                <a:solidFill>
                  <a:srgbClr val="64748B"/>
                </a:solidFill>
              </a:rPr>
              <a:t>Separate conn-string with roles, sub-</a:t>
            </a:r>
            <a:r>
              <a:rPr lang="en-US" sz="2800" dirty="0" err="1">
                <a:solidFill>
                  <a:srgbClr val="64748B"/>
                </a:solidFill>
              </a:rPr>
              <a:t>db</a:t>
            </a:r>
            <a:r>
              <a:rPr lang="en-US" sz="2800" dirty="0">
                <a:solidFill>
                  <a:srgbClr val="64748B"/>
                </a:solidFill>
              </a:rPr>
              <a:t>, views, </a:t>
            </a:r>
            <a:r>
              <a:rPr lang="en-US" sz="2800" dirty="0" err="1">
                <a:solidFill>
                  <a:srgbClr val="64748B"/>
                </a:solidFill>
              </a:rPr>
              <a:t>TenantId</a:t>
            </a:r>
            <a:endParaRPr lang="en-US" sz="2800" b="1" dirty="0">
              <a:solidFill>
                <a:srgbClr val="0F172A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⚠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0F172A"/>
                </a:solidFill>
              </a:rPr>
              <a:t>Hallucination </a:t>
            </a:r>
            <a:br>
              <a:rPr lang="en-US" sz="3400" b="1" dirty="0">
                <a:solidFill>
                  <a:srgbClr val="0F172A"/>
                </a:solidFill>
              </a:rPr>
            </a:br>
            <a:r>
              <a:rPr lang="en-US" sz="2800" b="1" dirty="0">
                <a:solidFill>
                  <a:srgbClr val="0F172A"/>
                </a:solidFill>
              </a:rPr>
              <a:t>       </a:t>
            </a:r>
            <a:r>
              <a:rPr lang="en-US" sz="2800" dirty="0">
                <a:solidFill>
                  <a:srgbClr val="64748B"/>
                </a:solidFill>
              </a:rPr>
              <a:t>Only tables in the prompt ➡ all others via </a:t>
            </a:r>
            <a:r>
              <a:rPr lang="en-US" sz="2800" i="1" dirty="0">
                <a:solidFill>
                  <a:srgbClr val="64748B"/>
                </a:solidFill>
              </a:rPr>
              <a:t>MCP</a:t>
            </a:r>
            <a:endParaRPr lang="en-US" sz="2800" dirty="0">
              <a:solidFill>
                <a:srgbClr val="64748B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⚠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0F172A"/>
                </a:solidFill>
              </a:rPr>
              <a:t>Ambiguous questions </a:t>
            </a:r>
            <a:br>
              <a:rPr lang="en-US" sz="3200" b="1" dirty="0">
                <a:solidFill>
                  <a:srgbClr val="0F172A"/>
                </a:solidFill>
              </a:rPr>
            </a:br>
            <a:r>
              <a:rPr lang="en-US" sz="3200" b="1" dirty="0">
                <a:solidFill>
                  <a:srgbClr val="0F172A"/>
                </a:solidFill>
              </a:rPr>
              <a:t>      </a:t>
            </a:r>
            <a:r>
              <a:rPr lang="en-US" sz="2800" dirty="0">
                <a:solidFill>
                  <a:srgbClr val="64748B"/>
                </a:solidFill>
              </a:rPr>
              <a:t>“best </a:t>
            </a:r>
            <a:r>
              <a:rPr lang="en-US" sz="2800" dirty="0" err="1">
                <a:solidFill>
                  <a:srgbClr val="64748B"/>
                </a:solidFill>
              </a:rPr>
              <a:t>month”,“good</a:t>
            </a:r>
            <a:r>
              <a:rPr lang="en-US" sz="2800" dirty="0">
                <a:solidFill>
                  <a:srgbClr val="64748B"/>
                </a:solidFill>
              </a:rPr>
              <a:t> song”</a:t>
            </a:r>
          </a:p>
          <a:p>
            <a:pPr>
              <a:spcBef>
                <a:spcPts val="400"/>
              </a:spcBef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⚠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0F172A"/>
                </a:solidFill>
              </a:rPr>
              <a:t>Cost &amp; Latency</a:t>
            </a:r>
            <a:br>
              <a:rPr lang="en-US" sz="3400" b="1" dirty="0">
                <a:solidFill>
                  <a:srgbClr val="0F172A"/>
                </a:solidFill>
              </a:rPr>
            </a:br>
            <a:r>
              <a:rPr lang="en-US" sz="3400" b="1" dirty="0">
                <a:solidFill>
                  <a:srgbClr val="0F172A"/>
                </a:solidFill>
              </a:rPr>
              <a:t>     </a:t>
            </a:r>
            <a:r>
              <a:rPr lang="en-US" sz="2800" dirty="0">
                <a:solidFill>
                  <a:srgbClr val="64748B"/>
                </a:solidFill>
              </a:rPr>
              <a:t>Cache aggressively</a:t>
            </a:r>
          </a:p>
          <a:p>
            <a:pPr>
              <a:spcBef>
                <a:spcPts val="400"/>
              </a:spcBef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⚠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0F172A"/>
                </a:solidFill>
              </a:rPr>
              <a:t>Privacy concerns </a:t>
            </a:r>
            <a:br>
              <a:rPr lang="en-US" sz="3400" b="1" dirty="0">
                <a:solidFill>
                  <a:srgbClr val="0F172A"/>
                </a:solidFill>
              </a:rPr>
            </a:br>
            <a:r>
              <a:rPr lang="en-US" sz="2800" b="1" dirty="0">
                <a:solidFill>
                  <a:srgbClr val="64748B"/>
                </a:solidFill>
              </a:rPr>
              <a:t>      </a:t>
            </a:r>
            <a:r>
              <a:rPr lang="en-US" sz="2800" dirty="0">
                <a:solidFill>
                  <a:srgbClr val="64748B"/>
                </a:solidFill>
              </a:rPr>
              <a:t>Only schema or </a:t>
            </a:r>
            <a:r>
              <a:rPr lang="en-US" sz="2800" dirty="0" err="1">
                <a:solidFill>
                  <a:srgbClr val="64748B"/>
                </a:solidFill>
              </a:rPr>
              <a:t>Ollama</a:t>
            </a:r>
            <a:endParaRPr lang="en-US" sz="280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061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E1FFA-C6E2-1595-49D5-EA4DC238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D4FD-0D7E-473D-F84A-E51D1F53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14" y="102902"/>
            <a:ext cx="10515600" cy="954164"/>
          </a:xfrm>
        </p:spPr>
        <p:txBody>
          <a:bodyPr>
            <a:normAutofit/>
          </a:bodyPr>
          <a:lstStyle/>
          <a:p>
            <a:r>
              <a:rPr lang="en-US" sz="4800" b="1" dirty="0"/>
              <a:t>Best Practices</a:t>
            </a:r>
            <a:endParaRPr lang="en-US" sz="4800" b="1" dirty="0">
              <a:solidFill>
                <a:srgbClr val="0F172A"/>
              </a:solidFill>
            </a:endParaRPr>
          </a:p>
        </p:txBody>
      </p:sp>
      <p:sp>
        <p:nvSpPr>
          <p:cNvPr id="1501" name="BP">
            <a:extLst>
              <a:ext uri="{FF2B5EF4-FFF2-40B4-BE49-F238E27FC236}">
                <a16:creationId xmlns:a16="http://schemas.microsoft.com/office/drawing/2014/main" id="{1AE2789D-4499-7160-E5B7-4A14E5124A65}"/>
              </a:ext>
            </a:extLst>
          </p:cNvPr>
          <p:cNvSpPr/>
          <p:nvPr/>
        </p:nvSpPr>
        <p:spPr>
          <a:xfrm>
            <a:off x="460408" y="1199213"/>
            <a:ext cx="11236292" cy="4593671"/>
          </a:xfrm>
          <a:prstGeom prst="roundRect">
            <a:avLst>
              <a:gd name="adj" fmla="val 6000"/>
            </a:avLst>
          </a:prstGeom>
          <a:solidFill>
            <a:srgbClr val="ECFDF5">
              <a:alpha val="30000"/>
            </a:srgbClr>
          </a:solidFill>
          <a:ln w="12700">
            <a:solidFill>
              <a:srgbClr val="A7F3D0"/>
            </a:solidFill>
          </a:ln>
        </p:spPr>
        <p:txBody>
          <a:bodyPr wrap="square" lIns="240000" tIns="200000" rIns="240000" bIns="200000" anchor="ctr"/>
          <a:lstStyle/>
          <a:p>
            <a:pPr>
              <a:spcBef>
                <a:spcPts val="700"/>
              </a:spcBef>
              <a:buClr>
                <a:srgbClr val="339933"/>
              </a:buClr>
            </a:pPr>
            <a:r>
              <a:rPr lang="en-US" sz="3200" b="1" dirty="0">
                <a:solidFill>
                  <a:srgbClr val="00B050"/>
                </a:solidFill>
              </a:rPr>
              <a:t>✓</a:t>
            </a:r>
            <a:r>
              <a:rPr lang="en-US" sz="4000" b="1" dirty="0"/>
              <a:t> </a:t>
            </a:r>
            <a:r>
              <a:rPr lang="en-US" sz="3200" b="1" dirty="0">
                <a:solidFill>
                  <a:srgbClr val="0F172A"/>
                </a:solidFill>
              </a:rPr>
              <a:t>Validate queries </a:t>
            </a:r>
            <a:r>
              <a:rPr lang="en-US" sz="2800" dirty="0">
                <a:solidFill>
                  <a:srgbClr val="475569"/>
                </a:solidFill>
              </a:rPr>
              <a:t>block unsafe ones</a:t>
            </a:r>
            <a:br>
              <a:rPr lang="en-US" sz="2800" dirty="0">
                <a:solidFill>
                  <a:srgbClr val="475569"/>
                </a:solidFill>
              </a:rPr>
            </a:br>
            <a:r>
              <a:rPr lang="en-US" sz="3200" b="1" dirty="0">
                <a:solidFill>
                  <a:srgbClr val="00B050"/>
                </a:solidFill>
              </a:rPr>
              <a:t>✓</a:t>
            </a:r>
            <a:r>
              <a:rPr lang="en-US" sz="4000" b="1" dirty="0">
                <a:solidFill>
                  <a:srgbClr val="00B050"/>
                </a:solidFill>
              </a:rPr>
              <a:t> </a:t>
            </a:r>
            <a:r>
              <a:rPr lang="en-US" sz="3200" b="1" dirty="0">
                <a:solidFill>
                  <a:srgbClr val="0F172A"/>
                </a:solidFill>
              </a:rPr>
              <a:t>Read-only DB user </a:t>
            </a:r>
            <a:r>
              <a:rPr lang="en-US" sz="2800" dirty="0">
                <a:solidFill>
                  <a:srgbClr val="475569"/>
                </a:solidFill>
              </a:rPr>
              <a:t>for the connection string</a:t>
            </a:r>
            <a:br>
              <a:rPr lang="en-US" sz="2800" dirty="0">
                <a:solidFill>
                  <a:srgbClr val="475569"/>
                </a:solidFill>
              </a:rPr>
            </a:br>
            <a:r>
              <a:rPr lang="en-US" sz="3200" b="1" dirty="0">
                <a:solidFill>
                  <a:srgbClr val="00B050"/>
                </a:solidFill>
              </a:rPr>
              <a:t>✓</a:t>
            </a:r>
            <a:r>
              <a:rPr lang="en-US" sz="3600" b="1" dirty="0">
                <a:solidFill>
                  <a:srgbClr val="00B050"/>
                </a:solidFill>
              </a:rPr>
              <a:t> </a:t>
            </a:r>
            <a:r>
              <a:rPr lang="en-US" sz="3200" b="1" dirty="0"/>
              <a:t>Human in the loop </a:t>
            </a:r>
            <a:r>
              <a:rPr lang="en-US" sz="2800" dirty="0">
                <a:solidFill>
                  <a:srgbClr val="475569"/>
                </a:solidFill>
              </a:rPr>
              <a:t>approval before execution</a:t>
            </a:r>
            <a:br>
              <a:rPr lang="en-US" sz="2800" dirty="0">
                <a:solidFill>
                  <a:srgbClr val="475569"/>
                </a:solidFill>
              </a:rPr>
            </a:br>
            <a:r>
              <a:rPr lang="en-US" sz="3200" b="1" dirty="0">
                <a:solidFill>
                  <a:srgbClr val="00B050"/>
                </a:solidFill>
              </a:rPr>
              <a:t>✓</a:t>
            </a:r>
            <a:r>
              <a:rPr lang="en-US" sz="3200" b="1" dirty="0"/>
              <a:t> Enforce limits </a:t>
            </a:r>
            <a:r>
              <a:rPr lang="en-US" sz="2800" dirty="0">
                <a:solidFill>
                  <a:srgbClr val="475569"/>
                </a:solidFill>
              </a:rPr>
              <a:t>max 9999 records, max 30 seconds</a:t>
            </a:r>
            <a:br>
              <a:rPr lang="en-US" sz="2800" dirty="0">
                <a:solidFill>
                  <a:srgbClr val="475569"/>
                </a:solidFill>
              </a:rPr>
            </a:br>
            <a:r>
              <a:rPr lang="en-US" sz="3200" b="1" dirty="0">
                <a:solidFill>
                  <a:srgbClr val="00B050"/>
                </a:solidFill>
              </a:rPr>
              <a:t>✓ </a:t>
            </a:r>
            <a:r>
              <a:rPr lang="en-US" sz="3200" b="1" dirty="0">
                <a:solidFill>
                  <a:srgbClr val="0F172A"/>
                </a:solidFill>
              </a:rPr>
              <a:t>Log everything </a:t>
            </a:r>
            <a:r>
              <a:rPr lang="en-US" sz="2800" dirty="0">
                <a:solidFill>
                  <a:srgbClr val="475569"/>
                </a:solidFill>
              </a:rPr>
              <a:t>prompt, SQL, result</a:t>
            </a:r>
          </a:p>
          <a:p>
            <a:pPr>
              <a:spcBef>
                <a:spcPts val="400"/>
              </a:spcBef>
              <a:buClr>
                <a:srgbClr val="339933"/>
              </a:buClr>
            </a:pPr>
            <a:r>
              <a:rPr lang="en-US" sz="3200" b="1" dirty="0">
                <a:solidFill>
                  <a:srgbClr val="00B050"/>
                </a:solidFill>
              </a:rPr>
              <a:t>✓ </a:t>
            </a:r>
            <a:r>
              <a:rPr lang="en-US" sz="3200" b="1" dirty="0">
                <a:solidFill>
                  <a:srgbClr val="020919"/>
                </a:solidFill>
              </a:rPr>
              <a:t>Save working queries </a:t>
            </a:r>
            <a:r>
              <a:rPr lang="en-US" sz="2800" dirty="0">
                <a:solidFill>
                  <a:srgbClr val="475569"/>
                </a:solidFill>
              </a:rPr>
              <a:t>set as </a:t>
            </a:r>
            <a:r>
              <a:rPr lang="en-US" sz="2800">
                <a:solidFill>
                  <a:srgbClr val="475569"/>
                </a:solidFill>
              </a:rPr>
              <a:t>shared query or </a:t>
            </a:r>
            <a:r>
              <a:rPr lang="en-US" sz="2800" dirty="0">
                <a:solidFill>
                  <a:srgbClr val="475569"/>
                </a:solidFill>
              </a:rPr>
              <a:t>private</a:t>
            </a:r>
          </a:p>
          <a:p>
            <a:pPr>
              <a:spcBef>
                <a:spcPts val="400"/>
              </a:spcBef>
              <a:buClr>
                <a:srgbClr val="339933"/>
              </a:buClr>
            </a:pPr>
            <a:r>
              <a:rPr lang="en-US" sz="3200" b="1" dirty="0">
                <a:solidFill>
                  <a:srgbClr val="00B050"/>
                </a:solidFill>
              </a:rPr>
              <a:t>✓</a:t>
            </a:r>
            <a:r>
              <a:rPr lang="en-US" sz="3600" b="1" dirty="0">
                <a:solidFill>
                  <a:srgbClr val="00B050"/>
                </a:solidFill>
              </a:rPr>
              <a:t> </a:t>
            </a:r>
            <a:r>
              <a:rPr lang="en-US" sz="3200" b="1" dirty="0">
                <a:solidFill>
                  <a:srgbClr val="0F172A"/>
                </a:solidFill>
              </a:rPr>
              <a:t>Start small </a:t>
            </a:r>
            <a:r>
              <a:rPr lang="en-US" sz="2800" dirty="0">
                <a:solidFill>
                  <a:srgbClr val="475569"/>
                </a:solidFill>
              </a:rPr>
              <a:t>ship the ugly version first: one table &amp; one user</a:t>
            </a:r>
          </a:p>
        </p:txBody>
      </p:sp>
    </p:spTree>
    <p:extLst>
      <p:ext uri="{BB962C8B-B14F-4D97-AF65-F5344CB8AC3E}">
        <p14:creationId xmlns:p14="http://schemas.microsoft.com/office/powerpoint/2010/main" val="1673443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209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CA93E-8B46-57AD-0523-5CCDB5BA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7C1D50-F13C-5DD2-73AB-E9EAE5244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52" y="225829"/>
            <a:ext cx="4238095" cy="32285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2A15BF-AFD1-E6A5-97B5-01FBF3C7B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809" y="3454400"/>
            <a:ext cx="5476190" cy="5142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407F9E-34A8-5A57-5B28-901201418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980" y="3981810"/>
            <a:ext cx="3695238" cy="2876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0D13DE-2AE0-6C30-7149-45A6F819D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6763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48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BG"/>
          <p:cNvSpPr/>
          <p:nvPr/>
        </p:nvSpPr>
        <p:spPr>
          <a:xfrm>
            <a:off x="67491" y="0"/>
            <a:ext cx="121158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6DDA9F-DD43-59A2-0129-A027E314CDEB}"/>
              </a:ext>
            </a:extLst>
          </p:cNvPr>
          <p:cNvGrpSpPr/>
          <p:nvPr/>
        </p:nvGrpSpPr>
        <p:grpSpPr>
          <a:xfrm>
            <a:off x="653929" y="288419"/>
            <a:ext cx="11089008" cy="3842254"/>
            <a:chOff x="1024647" y="3472124"/>
            <a:chExt cx="6360714" cy="1696370"/>
          </a:xfrm>
        </p:grpSpPr>
        <p:sp>
          <p:nvSpPr>
            <p:cNvPr id="1610" name="B"/>
            <p:cNvSpPr/>
            <p:nvPr/>
          </p:nvSpPr>
          <p:spPr>
            <a:xfrm>
              <a:off x="1024647" y="3472124"/>
              <a:ext cx="3914341" cy="1318039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wrap="square" lIns="200000" tIns="200000" rIns="200000" bIns="200000" anchor="ctr"/>
            <a:lstStyle/>
            <a:p>
              <a:pPr algn="l">
                <a:spcBef>
                  <a:spcPts val="300"/>
                </a:spcBef>
              </a:pPr>
              <a:r>
                <a:rPr lang="en-US" sz="4400" dirty="0">
                  <a:solidFill>
                    <a:srgbClr val="FFFFFF"/>
                  </a:solidFill>
                </a:rPr>
                <a:t>Until now we learnt programming languages to talk with computers</a:t>
              </a:r>
              <a:endParaRPr lang="en-US" sz="4400" dirty="0">
                <a:solidFill>
                  <a:srgbClr val="94A3B8"/>
                </a:solidFill>
              </a:endParaRPr>
            </a:p>
          </p:txBody>
        </p:sp>
        <p:sp>
          <p:nvSpPr>
            <p:cNvPr id="1611" name="B"/>
            <p:cNvSpPr/>
            <p:nvPr/>
          </p:nvSpPr>
          <p:spPr>
            <a:xfrm>
              <a:off x="4849422" y="3644494"/>
              <a:ext cx="2535939" cy="1524000"/>
            </a:xfrm>
            <a:prstGeom prst="roundRect">
              <a:avLst>
                <a:gd name="adj" fmla="val 6000"/>
              </a:avLst>
            </a:prstGeom>
            <a:solidFill>
              <a:schemeClr val="bg2"/>
            </a:solidFill>
            <a:ln>
              <a:noFill/>
            </a:ln>
          </p:spPr>
          <p:txBody>
            <a:bodyPr wrap="square" lIns="200000" tIns="200000" rIns="200000" bIns="200000" anchor="ctr"/>
            <a:lstStyle/>
            <a:p>
              <a:pPr algn="l"/>
              <a:r>
                <a:rPr lang="en-US" sz="5400" b="1" spc="300" dirty="0">
                  <a:solidFill>
                    <a:srgbClr val="1E293B"/>
                  </a:solidFill>
                </a:rPr>
                <a:t>now they learnt</a:t>
              </a:r>
              <a:br>
                <a:rPr lang="en-US" sz="5400" b="1" spc="300" dirty="0">
                  <a:solidFill>
                    <a:srgbClr val="1E293B"/>
                  </a:solidFill>
                </a:rPr>
              </a:br>
              <a:r>
                <a:rPr lang="en-US" sz="5400" b="1" spc="300" dirty="0">
                  <a:solidFill>
                    <a:srgbClr val="1E293B"/>
                  </a:solidFill>
                </a:rPr>
                <a:t>our language</a:t>
              </a:r>
              <a:endParaRPr lang="en-US" sz="5400" b="1" dirty="0">
                <a:solidFill>
                  <a:srgbClr val="1E293B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DAC7983-4AF8-14A4-A44D-2BB81412E54E}"/>
              </a:ext>
            </a:extLst>
          </p:cNvPr>
          <p:cNvSpPr txBox="1"/>
          <p:nvPr/>
        </p:nvSpPr>
        <p:spPr>
          <a:xfrm>
            <a:off x="5074151" y="4847502"/>
            <a:ext cx="3646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i="1" dirty="0">
                <a:solidFill>
                  <a:srgbClr val="94A3B8"/>
                </a:solidFill>
              </a:rPr>
              <a:t>Download presentation and </a:t>
            </a:r>
          </a:p>
          <a:p>
            <a:pPr algn="r"/>
            <a:r>
              <a:rPr lang="en-US" sz="2400" i="1" dirty="0">
                <a:solidFill>
                  <a:srgbClr val="94A3B8"/>
                </a:solidFill>
              </a:rPr>
              <a:t>demo project</a:t>
            </a:r>
            <a:endParaRPr lang="tr-TR" sz="2400" i="1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AC0482-214E-38A2-5CF3-A0A2910A56E5}"/>
              </a:ext>
            </a:extLst>
          </p:cNvPr>
          <p:cNvGrpSpPr/>
          <p:nvPr/>
        </p:nvGrpSpPr>
        <p:grpSpPr>
          <a:xfrm>
            <a:off x="653929" y="4754027"/>
            <a:ext cx="3953699" cy="1433739"/>
            <a:chOff x="653929" y="3939104"/>
            <a:chExt cx="3953699" cy="1433739"/>
          </a:xfrm>
        </p:grpSpPr>
        <p:sp>
          <p:nvSpPr>
            <p:cNvPr id="2" name="SpeakerName">
              <a:extLst>
                <a:ext uri="{FF2B5EF4-FFF2-40B4-BE49-F238E27FC236}">
                  <a16:creationId xmlns:a16="http://schemas.microsoft.com/office/drawing/2014/main" id="{B67F7C9D-3984-DFAA-4F75-34BC31E06746}"/>
                </a:ext>
              </a:extLst>
            </p:cNvPr>
            <p:cNvSpPr txBox="1"/>
            <p:nvPr/>
          </p:nvSpPr>
          <p:spPr>
            <a:xfrm>
              <a:off x="797562" y="4130673"/>
              <a:ext cx="3778074" cy="1153029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r>
                <a:rPr lang="en-US" sz="4000" b="1" dirty="0">
                  <a:solidFill>
                    <a:schemeClr val="bg1"/>
                  </a:solidFill>
                </a:rPr>
                <a:t>Alper Ebicoglu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x.com/</a:t>
              </a:r>
              <a:r>
                <a:rPr lang="en-US" sz="2800" dirty="0">
                  <a:solidFill>
                    <a:srgbClr val="22D3EE"/>
                  </a:solidFill>
                </a:rPr>
                <a:t>alperebicoglu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3B697C2-CD1F-7168-5C03-4D94888C954B}"/>
                </a:ext>
              </a:extLst>
            </p:cNvPr>
            <p:cNvSpPr/>
            <p:nvPr/>
          </p:nvSpPr>
          <p:spPr>
            <a:xfrm>
              <a:off x="653929" y="3939104"/>
              <a:ext cx="3953699" cy="1433739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tr-TR" dirty="0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0AE1AA-7E4C-A120-28E1-6595708F20F9}"/>
              </a:ext>
            </a:extLst>
          </p:cNvPr>
          <p:cNvSpPr/>
          <p:nvPr/>
        </p:nvSpPr>
        <p:spPr>
          <a:xfrm>
            <a:off x="4891946" y="4427621"/>
            <a:ext cx="6850991" cy="2348564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C2402-DE54-31FF-8824-B62F72823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514" y="4521089"/>
            <a:ext cx="1803902" cy="18531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A4C92A-F9BF-414A-6ECD-B824CFE91314}"/>
              </a:ext>
            </a:extLst>
          </p:cNvPr>
          <p:cNvSpPr txBox="1"/>
          <p:nvPr/>
        </p:nvSpPr>
        <p:spPr>
          <a:xfrm>
            <a:off x="5073229" y="6374243"/>
            <a:ext cx="622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github.com/</a:t>
            </a:r>
            <a:r>
              <a:rPr lang="en-US" dirty="0">
                <a:solidFill>
                  <a:schemeClr val="bg1"/>
                </a:solidFill>
              </a:rPr>
              <a:t>ebicoglu/chat-with-your-data-conference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DE9AFE-CECE-6E48-FDCC-4CEC9698CC7B}"/>
              </a:ext>
            </a:extLst>
          </p:cNvPr>
          <p:cNvCxnSpPr>
            <a:cxnSpLocks/>
          </p:cNvCxnSpPr>
          <p:nvPr/>
        </p:nvCxnSpPr>
        <p:spPr>
          <a:xfrm>
            <a:off x="8789364" y="5443874"/>
            <a:ext cx="743047" cy="0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95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698939131]">
  <a:themeElements>
    <a:clrScheme name="Office">
      <a:dk1>
        <a:srgbClr val="0F172A"/>
      </a:dk1>
      <a:lt1>
        <a:srgbClr val="FAFBFC"/>
      </a:lt1>
      <a:dk2>
        <a:srgbClr val="475569"/>
      </a:dk2>
      <a:lt2>
        <a:srgbClr val="E2E8F0"/>
      </a:lt2>
      <a:accent1>
        <a:srgbClr val="22D3EE"/>
      </a:accent1>
      <a:accent2>
        <a:srgbClr val="0891B2"/>
      </a:accent2>
      <a:accent3>
        <a:srgbClr val="F59E0B"/>
      </a:accent3>
      <a:accent4>
        <a:srgbClr val="10B981"/>
      </a:accent4>
      <a:accent5>
        <a:srgbClr val="F43F5E"/>
      </a:accent5>
      <a:accent6>
        <a:srgbClr val="1E293B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  <wetp:taskpane dockstate="right" visibility="0" width="350" row="5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AA96001D-FC19-48DE-ACAE-658A0B89BED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5c3744b-1745-4281-a778-88fed6b7998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23AA437-7D55-4192-9ACF-F8570218A846}">
  <we:reference id="wa200009023" version="1.0.0.2" store="en-US" storeType="OMEX"/>
  <we:alternateReferences>
    <we:reference id="wa200009023" version="1.0.0.2" store="wa200009023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759B996-4593-4997-A3F3-C5C7917D0C8B}">
  <we:reference id="wa200005566" version="3.0.1.2" store="en-US" storeType="OMEX"/>
  <we:alternateReferences>
    <we:reference id="WA200005566" version="3.0.1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5158</TotalTime>
  <Words>2603</Words>
  <Application>Microsoft Office PowerPoint</Application>
  <PresentationFormat>Widescreen</PresentationFormat>
  <Paragraphs>382</Paragraphs>
  <Slides>27</Slides>
  <Notes>27</Notes>
  <HiddenSlides>9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Apple Color Emoji</vt:lpstr>
      <vt:lpstr>Aptos</vt:lpstr>
      <vt:lpstr>Arial</vt:lpstr>
      <vt:lpstr>Consolas</vt:lpstr>
      <vt:lpstr>Inter</vt:lpstr>
      <vt:lpstr>Raleway</vt:lpstr>
      <vt:lpstr>Roboto</vt:lpstr>
      <vt:lpstr>Office Theme [1776698939131]</vt:lpstr>
      <vt:lpstr>Chat With Your Data </vt:lpstr>
      <vt:lpstr>PowerPoint Presentation</vt:lpstr>
      <vt:lpstr>PowerPoint Presentation</vt:lpstr>
      <vt:lpstr>PowerPoint Presentation</vt:lpstr>
      <vt:lpstr>PowerPoint Presentation</vt:lpstr>
      <vt:lpstr>Understanding The Problem 🤝</vt:lpstr>
      <vt:lpstr>AI Era: Adapt or Fall Behind</vt:lpstr>
      <vt:lpstr>The Reporting Challenge</vt:lpstr>
      <vt:lpstr>PowerPoint Presentation</vt:lpstr>
      <vt:lpstr>What We'll Build</vt:lpstr>
      <vt:lpstr>The Pipeline</vt:lpstr>
      <vt:lpstr>Schema &amp; System Prompt</vt:lpstr>
      <vt:lpstr>Demo A Simple .NET Console App </vt:lpstr>
      <vt:lpstr>Live Demo — Console</vt:lpstr>
      <vt:lpstr>Validation + Execution</vt:lpstr>
      <vt:lpstr>PowerPoint Presentation</vt:lpstr>
      <vt:lpstr>Architecture — 3 Layers</vt:lpstr>
      <vt:lpstr>The Whole Setup 👌🏻 </vt:lpstr>
      <vt:lpstr>Live Demo 2 — Blazor Web App</vt:lpstr>
      <vt:lpstr>PowerPoint Presentation</vt:lpstr>
      <vt:lpstr>Same Backend, Closer to a Real Product</vt:lpstr>
      <vt:lpstr>The LLM is 20% of the work. </vt:lpstr>
      <vt:lpstr>Where This Fits in the Real World</vt:lpstr>
      <vt:lpstr>Challenges</vt:lpstr>
      <vt:lpstr>Best Practices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Volosoft Bilisim</dc:creator>
  <cp:lastModifiedBy>Alper Ebiçoğlu</cp:lastModifiedBy>
  <cp:revision>434</cp:revision>
  <dcterms:created xsi:type="dcterms:W3CDTF">2026-04-20T12:53:27Z</dcterms:created>
  <dcterms:modified xsi:type="dcterms:W3CDTF">2026-10-16T11:37:14Z</dcterms:modified>
</cp:coreProperties>
</file>