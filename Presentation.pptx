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328" r:id="rId2"/>
    <p:sldId id="329" r:id="rId3"/>
    <p:sldId id="308" r:id="rId4"/>
    <p:sldId id="309" r:id="rId5"/>
    <p:sldId id="310" r:id="rId6"/>
    <p:sldId id="330" r:id="rId7"/>
    <p:sldId id="299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32" r:id="rId21"/>
    <p:sldId id="324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  <a:srgbClr val="1E293B"/>
    <a:srgbClr val="64748B"/>
    <a:srgbClr val="9EA8B7"/>
    <a:srgbClr val="969696"/>
    <a:srgbClr val="9D9D9D"/>
    <a:srgbClr val="C0C0C0"/>
    <a:srgbClr val="EAEAEA"/>
    <a:srgbClr val="7B4F05"/>
    <a:srgbClr val="22D3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6959" autoAdjust="0"/>
  </p:normalViewPr>
  <p:slideViewPr>
    <p:cSldViewPr snapToGrid="0">
      <p:cViewPr varScale="1">
        <p:scale>
          <a:sx n="65" d="100"/>
          <a:sy n="65" d="100"/>
        </p:scale>
        <p:origin x="235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solving.’</a:t>
            </a:r>
          </a:p>
          <a:p>
            <a:r>
              <a:rPr lang="en-US" dirty="0"/>
              <a:t>//////////////////////////</a:t>
            </a:r>
          </a:p>
          <a:p>
            <a:endParaRPr lang="en-US" dirty="0"/>
          </a:p>
          <a:p>
            <a:r>
              <a:rPr lang="en-US" dirty="0"/>
              <a:t>5. slide </a:t>
            </a:r>
            <a:r>
              <a:rPr lang="en-US" dirty="0" err="1"/>
              <a:t>sil</a:t>
            </a:r>
            <a:endParaRPr lang="en-US" dirty="0"/>
          </a:p>
          <a:p>
            <a:r>
              <a:rPr lang="en-US" dirty="0"/>
              <a:t>6. </a:t>
            </a:r>
            <a:r>
              <a:rPr lang="en-US" dirty="0" err="1"/>
              <a:t>sil</a:t>
            </a:r>
            <a:endParaRPr lang="en-US" dirty="0"/>
          </a:p>
          <a:p>
            <a:r>
              <a:rPr lang="en-US" dirty="0"/>
              <a:t>8. daha </a:t>
            </a:r>
            <a:r>
              <a:rPr lang="en-US" dirty="0" err="1"/>
              <a:t>az</a:t>
            </a:r>
            <a:r>
              <a:rPr lang="en-US" dirty="0"/>
              <a:t> zaman</a:t>
            </a:r>
          </a:p>
          <a:p>
            <a:r>
              <a:rPr lang="en-US" dirty="0"/>
              <a:t>9. </a:t>
            </a:r>
            <a:r>
              <a:rPr lang="en-US" dirty="0" err="1"/>
              <a:t>ile</a:t>
            </a:r>
            <a:r>
              <a:rPr lang="en-US" dirty="0"/>
              <a:t> 6. </a:t>
            </a:r>
            <a:r>
              <a:rPr lang="en-US" dirty="0" err="1"/>
              <a:t>yer</a:t>
            </a:r>
            <a:r>
              <a:rPr lang="en-US" dirty="0"/>
              <a:t> </a:t>
            </a:r>
            <a:r>
              <a:rPr lang="en-US" dirty="0" err="1"/>
              <a:t>değiştir</a:t>
            </a:r>
            <a:endParaRPr lang="en-US" dirty="0"/>
          </a:p>
          <a:p>
            <a:r>
              <a:rPr lang="en-US" dirty="0"/>
              <a:t>12. 15. 16. 17. </a:t>
            </a:r>
            <a:r>
              <a:rPr lang="en-US" dirty="0" err="1"/>
              <a:t>sil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7 slide 10sn </a:t>
            </a:r>
            <a:r>
              <a:rPr lang="en-US" dirty="0" err="1"/>
              <a:t>göster</a:t>
            </a:r>
            <a:endParaRPr lang="en-US" dirty="0"/>
          </a:p>
          <a:p>
            <a:r>
              <a:rPr lang="en-US" dirty="0" err="1"/>
              <a:t>sunum</a:t>
            </a:r>
            <a:r>
              <a:rPr lang="en-US" dirty="0"/>
              <a:t> </a:t>
            </a:r>
            <a:r>
              <a:rPr lang="en-US" dirty="0" err="1"/>
              <a:t>tarafını</a:t>
            </a:r>
            <a:r>
              <a:rPr lang="en-US" dirty="0"/>
              <a:t> </a:t>
            </a:r>
            <a:r>
              <a:rPr lang="en-US" dirty="0" err="1"/>
              <a:t>mümkün</a:t>
            </a:r>
            <a:r>
              <a:rPr lang="en-US" dirty="0"/>
              <a:t> </a:t>
            </a:r>
            <a:r>
              <a:rPr lang="en-US" dirty="0" err="1"/>
              <a:t>olduğunca</a:t>
            </a:r>
            <a:r>
              <a:rPr lang="en-US" dirty="0"/>
              <a:t> </a:t>
            </a:r>
            <a:r>
              <a:rPr lang="en-US" dirty="0" err="1"/>
              <a:t>azalt</a:t>
            </a:r>
            <a:endParaRPr lang="en-US" dirty="0"/>
          </a:p>
          <a:p>
            <a:r>
              <a:rPr lang="en-US" dirty="0"/>
              <a:t>console </a:t>
            </a:r>
            <a:r>
              <a:rPr lang="en-US" dirty="0" err="1"/>
              <a:t>uygulamasını</a:t>
            </a:r>
            <a:r>
              <a:rPr lang="en-US" dirty="0"/>
              <a:t> 1 </a:t>
            </a:r>
            <a:r>
              <a:rPr lang="en-US" dirty="0" err="1"/>
              <a:t>kez</a:t>
            </a:r>
            <a:r>
              <a:rPr lang="en-US" dirty="0"/>
              <a:t> </a:t>
            </a:r>
            <a:r>
              <a:rPr lang="en-US" dirty="0" err="1"/>
              <a:t>çalıştır</a:t>
            </a:r>
            <a:endParaRPr lang="en-US" dirty="0"/>
          </a:p>
          <a:p>
            <a:r>
              <a:rPr lang="en-US" dirty="0" err="1"/>
              <a:t>soru</a:t>
            </a:r>
            <a:r>
              <a:rPr lang="en-US" dirty="0"/>
              <a:t> </a:t>
            </a:r>
            <a:r>
              <a:rPr lang="en-US" dirty="0" err="1"/>
              <a:t>seçimlerini</a:t>
            </a:r>
            <a:r>
              <a:rPr lang="en-US" dirty="0"/>
              <a:t> </a:t>
            </a:r>
            <a:r>
              <a:rPr lang="en-US" dirty="0" err="1"/>
              <a:t>baştan</a:t>
            </a:r>
            <a:r>
              <a:rPr lang="en-US" dirty="0"/>
              <a:t> </a:t>
            </a:r>
            <a:r>
              <a:rPr lang="en-US" dirty="0" err="1"/>
              <a:t>ayarla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 err="1"/>
              <a:t>Başlangıçta</a:t>
            </a:r>
            <a:r>
              <a:rPr lang="en-US" b="1" dirty="0"/>
              <a:t> </a:t>
            </a:r>
            <a:r>
              <a:rPr lang="en-US" b="1" dirty="0" err="1"/>
              <a:t>aç</a:t>
            </a:r>
            <a:r>
              <a:rPr lang="en-US" b="1" dirty="0"/>
              <a:t> -&gt;</a:t>
            </a:r>
            <a:br>
              <a:rPr lang="en-US" dirty="0"/>
            </a:br>
            <a:r>
              <a:rPr lang="en-US" dirty="0"/>
              <a:t>D:\github\alper\chat-with-your-data-conference\Chat.Console\bin\Debug\net10.0\Output</a:t>
            </a:r>
            <a:br>
              <a:rPr lang="en-US" dirty="0"/>
            </a:br>
            <a:r>
              <a:rPr lang="en-US" dirty="0"/>
              <a:t>how-to-get-your-db-schema.png </a:t>
            </a:r>
            <a:br>
              <a:rPr lang="en-US" dirty="0"/>
            </a:br>
            <a:r>
              <a:rPr lang="en-US" dirty="0"/>
              <a:t>DB Browser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have written SQL before?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1. Traditional BI tools are rigid — every new question needs a new report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Business users wait days for answers they could have in seconds</a:t>
            </a:r>
          </a:p>
          <a:p>
            <a:pPr marL="0" indent="0">
              <a:buFontTx/>
              <a:buNone/>
            </a:pPr>
            <a:r>
              <a:rPr lang="en-US" dirty="0"/>
              <a:t>- SQL is slow to write, especially for ad-hoc questions</a:t>
            </a:r>
          </a:p>
          <a:p>
            <a:pPr marL="0" indent="0">
              <a:buFontTx/>
              <a:buNone/>
            </a:pPr>
            <a:r>
              <a:rPr lang="en-US" dirty="0"/>
              <a:t>- Test, Deployment needs after new report screen.</a:t>
            </a:r>
          </a:p>
          <a:p>
            <a:pPr marL="0" indent="0">
              <a:buFontTx/>
              <a:buNone/>
            </a:pPr>
            <a:endParaRPr lang="en-US" dirty="0"/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[STAGE] Step back from the podium. Point at the diagram.</a:t>
            </a:r>
          </a:p>
          <a:p>
            <a:endParaRPr lang="en-US" dirty="0"/>
          </a:p>
          <a:p>
            <a:r>
              <a:rPr lang="en-US" dirty="0"/>
              <a:t>This is the whole system in 7 boxes. Every time you hear me talk about a 'pipeline' today, come back to this slide in your head.</a:t>
            </a:r>
          </a:p>
          <a:p>
            <a:endParaRPr lang="en-US" dirty="0"/>
          </a:p>
          <a:p>
            <a:r>
              <a:rPr lang="en-US" dirty="0"/>
              <a:t>[EMPHASIZE] User types → we build the prompt → LLM writes SQL → validator checks it → we execute. That's it. That's the whole trick.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The anchor chip in the corner says PIPELINE for a reason. When we break into the console in a minute, I'll point back to this slide as each stage happens so you know where you are.</a:t>
            </a:r>
          </a:p>
          <a:p>
            <a:endParaRPr lang="en-US" dirty="0"/>
          </a:p>
          <a:p>
            <a:r>
              <a:rPr lang="en-US" dirty="0"/>
              <a:t>[TRANSITION] Let's zoom into stages 1 and 2 — schema and prompt — because that's where 80% of the quality comes from.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04BD-6229-5249-EE25-4823CBAD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E44DB-5DE9-BDFC-FB4F-DD1CE6F68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79A91-5D21-567F-24C1-A268E9366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a new customer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Delete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Update order status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 up spam or inactive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1103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3275" y="5364479"/>
            <a:ext cx="4744453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dirty="0">
                <a:solidFill>
                  <a:srgbClr val="94A3B8"/>
                </a:solidFill>
              </a:rPr>
              <a:t>From Your Native Language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C04564-E4C0-F5EF-41C0-C360D063978F}"/>
              </a:ext>
            </a:extLst>
          </p:cNvPr>
          <p:cNvSpPr/>
          <p:nvPr/>
        </p:nvSpPr>
        <p:spPr>
          <a:xfrm>
            <a:off x="4476133" y="5347904"/>
            <a:ext cx="516440" cy="4241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346BC4F-555E-4279-9796-2E03531A4D9E}"/>
              </a:ext>
            </a:extLst>
          </p:cNvPr>
          <p:cNvSpPr txBox="1">
            <a:spLocks/>
          </p:cNvSpPr>
          <p:nvPr/>
        </p:nvSpPr>
        <p:spPr>
          <a:xfrm>
            <a:off x="5127228" y="5364479"/>
            <a:ext cx="1180447" cy="5080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dirty="0">
                <a:solidFill>
                  <a:srgbClr val="94A3B8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100" name="HookCard"/>
          <p:cNvSpPr/>
          <p:nvPr/>
        </p:nvSpPr>
        <p:spPr>
          <a:xfrm>
            <a:off x="9129251" y="1650540"/>
            <a:ext cx="2767779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</a:t>
            </a:r>
          </a:p>
        </p:txBody>
      </p:sp>
      <p:sp>
        <p:nvSpPr>
          <p:cNvPr id="202" name="Pain202"/>
          <p:cNvSpPr/>
          <p:nvPr/>
        </p:nvSpPr>
        <p:spPr>
          <a:xfrm>
            <a:off x="602232" y="4490884"/>
            <a:ext cx="814356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59E0B"/>
                </a:solidFill>
              </a:rPr>
              <a:t>02  </a:t>
            </a:r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602231" y="1650540"/>
            <a:ext cx="81435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43F5E"/>
                </a:solidFill>
              </a:rPr>
              <a:t>01  </a:t>
            </a:r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602232" y="3079878"/>
            <a:ext cx="8143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10B981"/>
                </a:solidFill>
              </a:rPr>
              <a:t>03  </a:t>
            </a:r>
            <a:r>
              <a:rPr lang="en-US" sz="2400" b="1" dirty="0">
                <a:solidFill>
                  <a:srgbClr val="0F172A"/>
                </a:solidFill>
              </a:rPr>
              <a:t>Writing SQL, Page Design, Testing, Deployment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Mark"/>
          <p:cNvSpPr txBox="1"/>
          <p:nvPr/>
        </p:nvSpPr>
        <p:spPr>
          <a:xfrm>
            <a:off x="563367" y="739239"/>
            <a:ext cx="885423" cy="1291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0F172A"/>
                </a:solidFill>
              </a:rPr>
              <a:t>What if you could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your database?</a:t>
            </a:r>
          </a:p>
        </p:txBody>
      </p:sp>
      <p:sp>
        <p:nvSpPr>
          <p:cNvPr id="4" name="QMark">
            <a:extLst>
              <a:ext uri="{FF2B5EF4-FFF2-40B4-BE49-F238E27FC236}">
                <a16:creationId xmlns:a16="http://schemas.microsoft.com/office/drawing/2014/main" id="{75D887ED-F9DA-3A3C-1FFA-A57CEDCF23B0}"/>
              </a:ext>
            </a:extLst>
          </p:cNvPr>
          <p:cNvSpPr txBox="1"/>
          <p:nvPr/>
        </p:nvSpPr>
        <p:spPr>
          <a:xfrm>
            <a:off x="8267310" y="4200896"/>
            <a:ext cx="1230866" cy="12380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Live 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pPr algn="l"/>
            <a:r>
              <a:rPr lang="en-US" dirty="0">
                <a:solidFill>
                  <a:srgbClr val="94A3B8"/>
                </a:solidFill>
                <a:latin typeface="Consolas"/>
              </a:rPr>
              <a:t>user: 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extra DDL info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cfg[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Charts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Excel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5270500" cy="558799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Blazor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  <p:sp>
        <p:nvSpPr>
          <p:cNvPr id="3" name="DemoSub">
            <a:extLst>
              <a:ext uri="{FF2B5EF4-FFF2-40B4-BE49-F238E27FC236}">
                <a16:creationId xmlns:a16="http://schemas.microsoft.com/office/drawing/2014/main" id="{E33DA3B9-8656-E2AF-4324-2D26E49EA3D5}"/>
              </a:ext>
            </a:extLst>
          </p:cNvPr>
          <p:cNvSpPr txBox="1"/>
          <p:nvPr/>
        </p:nvSpPr>
        <p:spPr>
          <a:xfrm>
            <a:off x="2540000" y="1397000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&gt;  </a:t>
            </a:r>
            <a:r>
              <a:rPr lang="en-US" sz="2400" dirty="0" err="1">
                <a:solidFill>
                  <a:srgbClr val="475569"/>
                </a:solidFill>
              </a:rPr>
              <a:t>Talk.Web</a:t>
            </a:r>
            <a:endParaRPr lang="en-US" sz="2400" dirty="0">
              <a:solidFill>
                <a:srgbClr val="475569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35000" y="1397000"/>
            <a:ext cx="1651000" cy="457200"/>
            <a:chOff x="889000" y="1429656"/>
            <a:chExt cx="1651000" cy="457200"/>
          </a:xfrm>
        </p:grpSpPr>
        <p:sp>
          <p:nvSpPr>
            <p:cNvPr id="5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6" name="Graphic 5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0611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56243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  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562430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  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</a:t>
            </a:r>
            <a:r>
              <a:rPr lang="en-US" sz="3600" b="1" dirty="0">
                <a:solidFill>
                  <a:srgbClr val="F59E0B"/>
                </a:solidFill>
              </a:rPr>
              <a:t> 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  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3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DE38D-6D72-586F-A672-EC9CD8B0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nel">
            <a:extLst>
              <a:ext uri="{FF2B5EF4-FFF2-40B4-BE49-F238E27FC236}">
                <a16:creationId xmlns:a16="http://schemas.microsoft.com/office/drawing/2014/main" id="{B05FC43A-919B-6C85-31C9-D03E8F18B296}"/>
              </a:ext>
            </a:extLst>
          </p:cNvPr>
          <p:cNvSpPr/>
          <p:nvPr/>
        </p:nvSpPr>
        <p:spPr>
          <a:xfrm>
            <a:off x="73026" y="2822121"/>
            <a:ext cx="12118974" cy="3064329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Q">
            <a:extLst>
              <a:ext uri="{FF2B5EF4-FFF2-40B4-BE49-F238E27FC236}">
                <a16:creationId xmlns:a16="http://schemas.microsoft.com/office/drawing/2014/main" id="{B9C6DB59-7B03-2063-5030-5346636B1400}"/>
              </a:ext>
            </a:extLst>
          </p:cNvPr>
          <p:cNvSpPr txBox="1"/>
          <p:nvPr/>
        </p:nvSpPr>
        <p:spPr>
          <a:xfrm>
            <a:off x="444500" y="566738"/>
            <a:ext cx="11376025" cy="225538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lnSpc>
                <a:spcPct val="105000"/>
              </a:lnSpc>
            </a:pPr>
            <a:r>
              <a:rPr lang="en-US" sz="6000" b="1" dirty="0">
                <a:solidFill>
                  <a:srgbClr val="0F172A"/>
                </a:solidFill>
              </a:rPr>
              <a:t>If we used 100% of our </a:t>
            </a:r>
            <a:br>
              <a:rPr lang="en-US" sz="6000" b="1" dirty="0">
                <a:solidFill>
                  <a:srgbClr val="0F172A"/>
                </a:solidFill>
              </a:rPr>
            </a:br>
            <a:r>
              <a:rPr lang="en-US" sz="6000" b="1" dirty="0">
                <a:solidFill>
                  <a:srgbClr val="0F172A"/>
                </a:solidFill>
              </a:rPr>
              <a:t>DB’s potential</a:t>
            </a:r>
            <a:r>
              <a:rPr lang="en-US" sz="5400" b="1" dirty="0">
                <a:solidFill>
                  <a:srgbClr val="0F172A"/>
                </a:solidFill>
              </a:rPr>
              <a:t>🤔</a:t>
            </a:r>
          </a:p>
        </p:txBody>
      </p:sp>
      <p:sp>
        <p:nvSpPr>
          <p:cNvPr id="9" name="Q">
            <a:extLst>
              <a:ext uri="{FF2B5EF4-FFF2-40B4-BE49-F238E27FC236}">
                <a16:creationId xmlns:a16="http://schemas.microsoft.com/office/drawing/2014/main" id="{1AB057A2-73DE-48D4-8534-77FBCD65A14A}"/>
              </a:ext>
            </a:extLst>
          </p:cNvPr>
          <p:cNvSpPr txBox="1"/>
          <p:nvPr/>
        </p:nvSpPr>
        <p:spPr>
          <a:xfrm>
            <a:off x="444500" y="3090862"/>
            <a:ext cx="11376025" cy="24003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u="sng" dirty="0">
                <a:solidFill>
                  <a:srgbClr val="FFFFFF"/>
                </a:solidFill>
              </a:rPr>
              <a:t>Taking actions</a:t>
            </a:r>
            <a:r>
              <a:rPr lang="en-US" sz="6600" b="1" dirty="0">
                <a:solidFill>
                  <a:srgbClr val="FFFFFF"/>
                </a:solidFill>
              </a:rPr>
              <a:t>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instead of just reporting!</a:t>
            </a:r>
          </a:p>
        </p:txBody>
      </p:sp>
    </p:spTree>
    <p:extLst>
      <p:ext uri="{BB962C8B-B14F-4D97-AF65-F5344CB8AC3E}">
        <p14:creationId xmlns:p14="http://schemas.microsoft.com/office/powerpoint/2010/main" val="1603450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rgbClr val="1E293B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>
                  <a:solidFill>
                    <a:srgbClr val="FFFFFF"/>
                  </a:solidFill>
                </a:rPr>
                <a:t>Until now we </a:t>
              </a:r>
              <a:r>
                <a:rPr lang="en-US" sz="2700" dirty="0">
                  <a:solidFill>
                    <a:srgbClr val="FFFFFF"/>
                  </a:solidFill>
                </a:rPr>
                <a:t>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spc="300" dirty="0">
                  <a:solidFill>
                    <a:srgbClr val="1E293B"/>
                  </a:solidFill>
                </a:rPr>
              </a:br>
              <a:r>
                <a:rPr lang="en-US" sz="2800" spc="300" dirty="0">
                  <a:solidFill>
                    <a:srgbClr val="1E293B"/>
                  </a:solidFill>
                </a:rPr>
                <a:t>our language</a:t>
              </a:r>
              <a:endParaRPr lang="en-US" sz="2800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426501"/>
            <a:ext cx="242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759</TotalTime>
  <Words>3625</Words>
  <Application>Microsoft Office PowerPoint</Application>
  <PresentationFormat>Widescreen</PresentationFormat>
  <Paragraphs>495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The Problem</vt:lpstr>
      <vt:lpstr>PowerPoint Presentation</vt:lpstr>
      <vt:lpstr>What We'll Build</vt:lpstr>
      <vt:lpstr>Live Demo A Simple Console App </vt:lpstr>
      <vt:lpstr>The Pipeline</vt:lpstr>
      <vt:lpstr>Schema + Prompt Design</vt:lpstr>
      <vt:lpstr>Live Demo — Console</vt:lpstr>
      <vt:lpstr>Validation + Execution</vt:lpstr>
      <vt:lpstr>PowerPoint Presentation</vt:lpstr>
      <vt:lpstr>Architecture — 3 Layers</vt:lpstr>
      <vt:lpstr>The Whole Setup</vt:lpstr>
      <vt:lpstr>PowerPoint Presentation</vt:lpstr>
      <vt:lpstr>Same Backend, Closer to a Real Product</vt:lpstr>
      <vt:lpstr>Live Demo — Blazor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167</cp:revision>
  <dcterms:created xsi:type="dcterms:W3CDTF">2026-04-20T12:53:27Z</dcterms:created>
  <dcterms:modified xsi:type="dcterms:W3CDTF">2026-04-30T15:12:39Z</dcterms:modified>
</cp:coreProperties>
</file>