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3"/>
  </p:notesMasterIdLst>
  <p:sldIdLst>
    <p:sldId id="328" r:id="rId2"/>
    <p:sldId id="329" r:id="rId3"/>
    <p:sldId id="308" r:id="rId4"/>
    <p:sldId id="309" r:id="rId5"/>
    <p:sldId id="310" r:id="rId6"/>
    <p:sldId id="330" r:id="rId7"/>
    <p:sldId id="299" r:id="rId8"/>
    <p:sldId id="312" r:id="rId9"/>
    <p:sldId id="313" r:id="rId10"/>
    <p:sldId id="314" r:id="rId11"/>
    <p:sldId id="315" r:id="rId12"/>
    <p:sldId id="316" r:id="rId13"/>
    <p:sldId id="317" r:id="rId14"/>
    <p:sldId id="318" r:id="rId15"/>
    <p:sldId id="319" r:id="rId16"/>
    <p:sldId id="320" r:id="rId17"/>
    <p:sldId id="321" r:id="rId18"/>
    <p:sldId id="322" r:id="rId19"/>
    <p:sldId id="323" r:id="rId20"/>
    <p:sldId id="332" r:id="rId21"/>
    <p:sldId id="324" r:id="rId22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72A"/>
    <a:srgbClr val="1E293B"/>
    <a:srgbClr val="64748B"/>
    <a:srgbClr val="9EA8B7"/>
    <a:srgbClr val="969696"/>
    <a:srgbClr val="9D9D9D"/>
    <a:srgbClr val="C0C0C0"/>
    <a:srgbClr val="EAEAEA"/>
    <a:srgbClr val="7B4F05"/>
    <a:srgbClr val="22D3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43567" autoAdjust="0"/>
  </p:normalViewPr>
  <p:slideViewPr>
    <p:cSldViewPr snapToGrid="0">
      <p:cViewPr varScale="1">
        <p:scale>
          <a:sx n="50" d="100"/>
          <a:sy n="50" d="100"/>
        </p:scale>
        <p:origin x="2910" y="36"/>
      </p:cViewPr>
      <p:guideLst/>
    </p:cSldViewPr>
  </p:slideViewPr>
  <p:notesTextViewPr>
    <p:cViewPr>
      <p:scale>
        <a:sx n="1" d="1"/>
        <a:sy n="1" d="1"/>
      </p:scale>
      <p:origin x="0" y="-354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[OPENING] Smile. Pause. Scan the room for 2 seconds before you start.</a:t>
            </a:r>
          </a:p>
          <a:p>
            <a:endParaRPr lang="en-US" dirty="0"/>
          </a:p>
          <a:p>
            <a:r>
              <a:rPr lang="en-US" dirty="0"/>
              <a:t>Hi everyone — I'm [name], and for the next 45 minutes we're going to build something you've probably wanted for years: a way to ask your database questions in plain English and get back real, trustworthy answers.</a:t>
            </a:r>
          </a:p>
          <a:p>
            <a:endParaRPr lang="en-US" dirty="0"/>
          </a:p>
          <a:p>
            <a:r>
              <a:rPr lang="en-US" dirty="0"/>
              <a:t>We'll do it in .NET, we'll do it with code you can copy, and we'll do it twice — once in a console app so you see every moving part, and once in a Blazor app with voice, charts, and Excel export.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Show of hands — who here has written a SELECT this week because a PM asked for numbers?</a:t>
            </a:r>
          </a:p>
          <a:p>
            <a:endParaRPr lang="en-US" dirty="0"/>
          </a:p>
          <a:p>
            <a:r>
              <a:rPr lang="en-US" dirty="0"/>
              <a:t>[TRANSITION] 'That's exactly the problem we're solving.’</a:t>
            </a:r>
          </a:p>
          <a:p>
            <a:r>
              <a:rPr lang="en-US" dirty="0"/>
              <a:t>//////////////////////////</a:t>
            </a:r>
          </a:p>
          <a:p>
            <a:endParaRPr lang="en-US" dirty="0"/>
          </a:p>
          <a:p>
            <a:r>
              <a:rPr lang="en-US" dirty="0"/>
              <a:t>5. slide </a:t>
            </a:r>
            <a:r>
              <a:rPr lang="en-US" dirty="0" err="1"/>
              <a:t>sil</a:t>
            </a:r>
            <a:endParaRPr lang="en-US" dirty="0"/>
          </a:p>
          <a:p>
            <a:r>
              <a:rPr lang="en-US" dirty="0"/>
              <a:t>6. </a:t>
            </a:r>
            <a:r>
              <a:rPr lang="en-US" dirty="0" err="1"/>
              <a:t>sil</a:t>
            </a:r>
            <a:endParaRPr lang="en-US" dirty="0"/>
          </a:p>
          <a:p>
            <a:r>
              <a:rPr lang="en-US" dirty="0"/>
              <a:t>8. daha </a:t>
            </a:r>
            <a:r>
              <a:rPr lang="en-US" dirty="0" err="1"/>
              <a:t>az</a:t>
            </a:r>
            <a:r>
              <a:rPr lang="en-US" dirty="0"/>
              <a:t> zaman</a:t>
            </a:r>
          </a:p>
          <a:p>
            <a:r>
              <a:rPr lang="en-US" dirty="0"/>
              <a:t>9. </a:t>
            </a:r>
            <a:r>
              <a:rPr lang="en-US" dirty="0" err="1"/>
              <a:t>ile</a:t>
            </a:r>
            <a:r>
              <a:rPr lang="en-US" dirty="0"/>
              <a:t> 6. </a:t>
            </a:r>
            <a:r>
              <a:rPr lang="en-US" dirty="0" err="1"/>
              <a:t>yer</a:t>
            </a:r>
            <a:r>
              <a:rPr lang="en-US" dirty="0"/>
              <a:t> </a:t>
            </a:r>
            <a:r>
              <a:rPr lang="en-US" dirty="0" err="1"/>
              <a:t>değiştir</a:t>
            </a:r>
            <a:endParaRPr lang="en-US" dirty="0"/>
          </a:p>
          <a:p>
            <a:r>
              <a:rPr lang="en-US" dirty="0"/>
              <a:t>12. 15. 16. 17. </a:t>
            </a:r>
            <a:r>
              <a:rPr lang="en-US" dirty="0" err="1"/>
              <a:t>sil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7 slide 10sn </a:t>
            </a:r>
            <a:r>
              <a:rPr lang="en-US" dirty="0" err="1"/>
              <a:t>göster</a:t>
            </a:r>
            <a:endParaRPr lang="en-US" dirty="0"/>
          </a:p>
          <a:p>
            <a:r>
              <a:rPr lang="en-US" dirty="0" err="1"/>
              <a:t>sunum</a:t>
            </a:r>
            <a:r>
              <a:rPr lang="en-US" dirty="0"/>
              <a:t> </a:t>
            </a:r>
            <a:r>
              <a:rPr lang="en-US" dirty="0" err="1"/>
              <a:t>tarafını</a:t>
            </a:r>
            <a:r>
              <a:rPr lang="en-US" dirty="0"/>
              <a:t> </a:t>
            </a:r>
            <a:r>
              <a:rPr lang="en-US" dirty="0" err="1"/>
              <a:t>mümkün</a:t>
            </a:r>
            <a:r>
              <a:rPr lang="en-US" dirty="0"/>
              <a:t> </a:t>
            </a:r>
            <a:r>
              <a:rPr lang="en-US" dirty="0" err="1"/>
              <a:t>olduğunca</a:t>
            </a:r>
            <a:r>
              <a:rPr lang="en-US" dirty="0"/>
              <a:t> </a:t>
            </a:r>
            <a:r>
              <a:rPr lang="en-US" dirty="0" err="1"/>
              <a:t>azalt</a:t>
            </a:r>
            <a:endParaRPr lang="en-US" dirty="0"/>
          </a:p>
          <a:p>
            <a:r>
              <a:rPr lang="en-US" dirty="0"/>
              <a:t>console </a:t>
            </a:r>
            <a:r>
              <a:rPr lang="en-US" dirty="0" err="1"/>
              <a:t>uygulamasını</a:t>
            </a:r>
            <a:r>
              <a:rPr lang="en-US" dirty="0"/>
              <a:t> 1 </a:t>
            </a:r>
            <a:r>
              <a:rPr lang="en-US" dirty="0" err="1"/>
              <a:t>kez</a:t>
            </a:r>
            <a:r>
              <a:rPr lang="en-US" dirty="0"/>
              <a:t> </a:t>
            </a:r>
            <a:r>
              <a:rPr lang="en-US" dirty="0" err="1"/>
              <a:t>çalıştır</a:t>
            </a:r>
            <a:endParaRPr lang="en-US" dirty="0"/>
          </a:p>
          <a:p>
            <a:r>
              <a:rPr lang="en-US" dirty="0" err="1"/>
              <a:t>soru</a:t>
            </a:r>
            <a:r>
              <a:rPr lang="en-US" dirty="0"/>
              <a:t> </a:t>
            </a:r>
            <a:r>
              <a:rPr lang="en-US" dirty="0" err="1"/>
              <a:t>seçimlerini</a:t>
            </a:r>
            <a:r>
              <a:rPr lang="en-US" dirty="0"/>
              <a:t> </a:t>
            </a:r>
            <a:r>
              <a:rPr lang="en-US" dirty="0" err="1"/>
              <a:t>baştan</a:t>
            </a:r>
            <a:r>
              <a:rPr lang="en-US" dirty="0"/>
              <a:t> </a:t>
            </a:r>
            <a:r>
              <a:rPr lang="en-US" dirty="0" err="1"/>
              <a:t>ayarla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 err="1"/>
              <a:t>Başlangıçta</a:t>
            </a:r>
            <a:r>
              <a:rPr lang="en-US" b="1" dirty="0"/>
              <a:t> </a:t>
            </a:r>
            <a:r>
              <a:rPr lang="en-US" b="1" dirty="0" err="1"/>
              <a:t>aç</a:t>
            </a:r>
            <a:r>
              <a:rPr lang="en-US" b="1" dirty="0"/>
              <a:t> -&gt;</a:t>
            </a:r>
            <a:br>
              <a:rPr lang="en-US" dirty="0"/>
            </a:br>
            <a:r>
              <a:rPr lang="en-US" dirty="0"/>
              <a:t>D:\github\alper\chat-with-your-data-conference\Chat.Console\bin\Debug\net10.0\Output</a:t>
            </a:r>
            <a:br>
              <a:rPr lang="en-US" dirty="0"/>
            </a:br>
            <a:r>
              <a:rPr lang="en-US" dirty="0"/>
              <a:t>how-to-get-your-db-schema.png </a:t>
            </a:r>
            <a:br>
              <a:rPr lang="en-US" dirty="0"/>
            </a:br>
            <a:r>
              <a:rPr lang="en-US" dirty="0"/>
              <a:t>DB Browser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dirty="0">
                <a:solidFill>
                  <a:srgbClr val="0891B2"/>
                </a:solidFill>
              </a:rPr>
              <a:t>Now imagine your PM doing that… </a:t>
            </a:r>
            <a:r>
              <a:rPr lang="en-US" sz="1200" b="1" i="1" dirty="0">
                <a:solidFill>
                  <a:srgbClr val="0891B2"/>
                </a:solidFill>
              </a:rPr>
              <a:t>without you</a:t>
            </a:r>
            <a:r>
              <a:rPr lang="en-US" sz="1200" i="1" dirty="0">
                <a:solidFill>
                  <a:srgbClr val="0891B2"/>
                </a:solidFill>
              </a:rPr>
              <a:t>.</a:t>
            </a:r>
          </a:p>
          <a:p>
            <a:endParaRPr lang="en-US" dirty="0"/>
          </a:p>
          <a:p>
            <a:r>
              <a:rPr lang="en-US" dirty="0"/>
              <a:t>Walk them through each pain point briefly — don't read every word on the slide, just tap each one:</a:t>
            </a:r>
          </a:p>
          <a:p>
            <a:r>
              <a:rPr lang="en-US" dirty="0"/>
              <a:t>- SQL is slow to write, especially for ad-hoc questions</a:t>
            </a:r>
          </a:p>
          <a:p>
            <a:r>
              <a:rPr lang="en-US" dirty="0"/>
              <a:t>- Business users wait days for answers they could have in seconds</a:t>
            </a:r>
          </a:p>
          <a:p>
            <a:r>
              <a:rPr lang="en-US" dirty="0"/>
              <a:t>- Traditional BI tools are rigid — every new question needs a new report</a:t>
            </a:r>
          </a:p>
          <a:p>
            <a:r>
              <a:rPr lang="en-US" dirty="0"/>
              <a:t>- And the result: data is locked behind technical gatekeepers</a:t>
            </a:r>
          </a:p>
          <a:p>
            <a:endParaRPr lang="en-US" dirty="0"/>
          </a:p>
          <a:p>
            <a:r>
              <a:rPr lang="en-US" dirty="0"/>
              <a:t>[EMPHASIZE] 'We are the bottleneck. And today we are going to remove ourselves.'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[STAGE] Step back from the podium. Point at the diagram.</a:t>
            </a:r>
          </a:p>
          <a:p>
            <a:endParaRPr lang="en-US" dirty="0"/>
          </a:p>
          <a:p>
            <a:r>
              <a:rPr lang="en-US" dirty="0"/>
              <a:t>This is the whole system in 7 boxes. Every time you hear me talk about a 'pipeline' today, come back to this slide in your head.</a:t>
            </a:r>
          </a:p>
          <a:p>
            <a:endParaRPr lang="en-US" dirty="0"/>
          </a:p>
          <a:p>
            <a:r>
              <a:rPr lang="en-US" dirty="0"/>
              <a:t>[EMPHASIZE] User types → we build the prompt → LLM writes SQL → validator checks it → we execute. That's it. That's the whole trick.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The anchor chip in the corner says PIPELINE for a reason. When we break into the console in a minute, I'll point back to this slide as each stage happens so you know where you are.</a:t>
            </a:r>
          </a:p>
          <a:p>
            <a:endParaRPr lang="en-US" dirty="0"/>
          </a:p>
          <a:p>
            <a:r>
              <a:rPr lang="en-US" dirty="0"/>
              <a:t>[TRANSITION] Let's zoom into stages 1 and 2 — schema and prompt — because that's where 80% of the quality comes from.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[DETAIL] This is where the quality of the system is decided. Spend about 2 minutes here.</a:t>
            </a:r>
          </a:p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Extra info DDL (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Language)</a:t>
            </a:r>
            <a:endParaRPr lang="en-US" dirty="0"/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[PAUSE] Then pivot to the right card.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  <a:p>
            <a:r>
              <a:rPr lang="en-US" dirty="0"/>
              <a:t>[TRANSITION] 'Let me show you this running live.'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Claude, local model, whatever</a:t>
            </a:r>
          </a:p>
          <a:p>
            <a:r>
              <a:rPr lang="en-US" dirty="0"/>
              <a:t>- ReadOnly flag — seat belt and suspenders on top of the validator</a:t>
            </a:r>
          </a:p>
          <a:p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[HONEST] Don't skip past this. The audience trusts you more when you admit what's hard.</a:t>
            </a:r>
          </a:p>
          <a:p>
            <a:endParaRPr lang="en-US" dirty="0"/>
          </a:p>
          <a:p>
            <a:r>
              <a:rPr lang="en-US" dirty="0"/>
              <a:t>Challenges you will absolutely hit:</a:t>
            </a:r>
          </a:p>
          <a:p>
            <a:r>
              <a:rPr lang="en-US" dirty="0"/>
              <a:t>- Prompt tuning is iterative. Your first prompt will be wrong. Your tenth will still miss edge cases.</a:t>
            </a:r>
          </a:p>
          <a:p>
            <a:r>
              <a:rPr lang="en-US" dirty="0"/>
              <a:t>- SQL safety is a moving target — you're not just blocking DROP, you're blocking creative joins that melt the DB.</a:t>
            </a:r>
          </a:p>
          <a:p>
            <a:r>
              <a:rPr lang="en-US" dirty="0"/>
              <a:t>- Performance matters — LLM latency + query latency compounds. Cache aggressively.</a:t>
            </a:r>
          </a:p>
          <a:p>
            <a:r>
              <a:rPr lang="en-US" dirty="0"/>
              <a:t>- Edge cases are infinite. 'Show me sales' is easy. 'Compare this quarter to the same quarter two years ago, excluding returns' is not.</a:t>
            </a:r>
          </a:p>
          <a:p>
            <a:endParaRPr lang="en-US" dirty="0"/>
          </a:p>
          <a:p>
            <a:r>
              <a:rPr lang="en-US" dirty="0"/>
              <a:t>Best practices that actually work:</a:t>
            </a:r>
          </a:p>
          <a:p>
            <a:r>
              <a:rPr lang="en-US" dirty="0"/>
              <a:t>- Always validate SQL. Twice. Belt and suspenders.</a:t>
            </a:r>
          </a:p>
          <a:p>
            <a:r>
              <a:rPr lang="en-US" dirty="0"/>
              <a:t>- Keep prompts strict — don't try to be clever.</a:t>
            </a:r>
          </a:p>
          <a:p>
            <a:r>
              <a:rPr lang="en-US" dirty="0"/>
              <a:t>- Log every single query, prompt, and response. You'll need them when a user says 'that number looks wrong.'</a:t>
            </a:r>
          </a:p>
          <a:p>
            <a:r>
              <a:rPr lang="en-US" dirty="0"/>
              <a:t>- Start simple. Ship the ugly version first.</a:t>
            </a:r>
          </a:p>
          <a:p>
            <a:endParaRPr lang="en-US" dirty="0"/>
          </a:p>
          <a:p>
            <a:r>
              <a:rPr lang="en-US" dirty="0"/>
              <a:t>[TRANSITION] 'Which brings me to the three things I want you to take home.'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B04BD-6229-5249-EE25-4823CBADA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E44DB-5DE9-BDFC-FB4F-DD1CE6F68E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E79A91-5D21-567F-24C1-A268E9366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a new customer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Delete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Update order status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Clean up spam or inactive records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1103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[CLOSING] Speak slowly. Make eye contact with different sections of the room.</a:t>
            </a:r>
          </a:p>
          <a:p>
            <a:endParaRPr lang="en-US" dirty="0"/>
          </a:p>
          <a:p>
            <a:r>
              <a:rPr lang="en-US" dirty="0"/>
              <a:t>Four takeaways — the reason you came today:</a:t>
            </a:r>
          </a:p>
          <a:p>
            <a:r>
              <a:rPr lang="en-US" dirty="0"/>
              <a:t>- LLMs can unlock data. Not in a hype way — in a boring, pipeline-shaped, shippable way.</a:t>
            </a:r>
          </a:p>
          <a:p>
            <a:r>
              <a:rPr lang="en-US" dirty="0"/>
              <a:t>- Start small. A console app. One table. One query. Prove the pattern before you build the Blazor version.</a:t>
            </a:r>
          </a:p>
          <a:p>
            <a:r>
              <a:rPr lang="en-US" dirty="0"/>
              <a:t>- Scale to real apps. When the pattern works, wrap it in the UX your users actually want.</a:t>
            </a:r>
          </a:p>
          <a:p>
            <a:r>
              <a:rPr lang="en-US" dirty="0"/>
              <a:t>- Focus on UX. The LLM is replaceable. The trust you build with users is not.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[CLOSING LINE] 'Start simple. Then evolve into a product.'</a:t>
            </a:r>
          </a:p>
          <a:p>
            <a:endParaRPr lang="en-US" dirty="0"/>
          </a:p>
          <a:p>
            <a:r>
              <a:rPr lang="en-US" dirty="0"/>
              <a:t>[PAUSE 3s]</a:t>
            </a:r>
          </a:p>
          <a:p>
            <a:endParaRPr lang="en-US" dirty="0"/>
          </a:p>
          <a:p>
            <a:r>
              <a:rPr lang="en-US" dirty="0"/>
              <a:t>'Thank you — I'd love your questions.'</a:t>
            </a:r>
          </a:p>
          <a:p>
            <a:endParaRPr lang="en-US" dirty="0"/>
          </a:p>
          <a:p>
            <a:r>
              <a:rPr lang="en-US" dirty="0"/>
              <a:t>[QA] Stay on this slide. Don't flip back to earlier slides unless someone asks. Repeat the question so the whole room hears it. If you don't know the answer: 'Great question, I don't know — find me after.' Better than faking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A668-7820-8A4A-4103-128C3CDA4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9A3CB-1C8E-5F2F-7E0F-8020AFD53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CADC6-76DB-B80D-E8B5-277C2C2E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AF917-D7F4-8BDC-D92C-964327939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6E976-38CC-1FA0-D8CD-0C979B05F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784EA-CDF2-A314-8B91-728E9C67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DB4ED-5BD8-7B2F-230B-41DA4B100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911EF-0B06-7947-9DDD-F75EAE1E6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85DB6-DF7E-9B25-7163-08A55C6D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487D7-4C0B-B815-A0A2-20D99AF62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9DCC4-B41F-B311-79C2-28D722B4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08651-0BA3-BCF8-ABEC-224E7B087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281D8-3A7D-3F81-FB3C-A03503404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8AA5C-4342-D1C9-194A-B89241879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BE101-D0F2-8A6D-AC9A-A5E7216C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6B5E5-CF30-49C0-2511-08B3A156A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1D83-C97A-AF38-42B5-644B1933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F6F4F-DC33-347D-99DB-F6373935D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B5C53-F985-18A5-A9F4-F99EEDD1D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DF2EC-6BCA-192E-89E4-81A3660A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4955E-3D13-74E3-945B-29C90C29D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511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DAFCE-4360-3529-85C2-D60FC5E11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186F6A-F01D-451D-9D1C-C244C18E8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51DA4F-D891-8A45-3D20-4FE7739144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51488-DD92-854E-AD1E-96FF4EA71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6D5DA0-F756-BF63-C4FA-25F46285D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8580AF-DDF0-5735-7FA1-BA2164904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1F4271-D40F-CA31-8B0B-FE6CC8A48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DE1E1-DCF0-0C8F-541D-DD492121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4434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DACA6-FDEE-7F72-D51C-BDC0D5888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5F510D-AF43-9AB9-943B-8B04D964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5D72D5-3121-A953-13E1-BB6B5BEE2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3533E-79AA-F494-5B16-80AC9FA6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ED0A2C-F8A5-BE29-11EA-CA93E3C8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23C4C-67E4-75FD-7BAF-CBD91412F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7AFE-9199-4B99-6229-31F59F69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6E8B0-4AA1-2AB8-7AE0-2EA8800C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47DDB-79DD-4362-7368-01805DD73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BFDDE-F648-F670-FC83-45FB6643C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6594F-6295-65C2-9F7E-10C6F06A1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D7D61-B07D-E080-7E94-03E2BB8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667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02E56-AA67-3DBD-311B-635721F9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95AD3-6D8E-9C5F-1135-7EF1ADB470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C28BCE-E549-CD71-E3A8-9C90152AA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CAFBE0-8FD6-DED4-0EED-4DBA9FF0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7EB54-93F5-4DEF-EB51-550B04FF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B9F31-E1A5-9596-FBCA-39DBD706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987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C8888-A623-35ED-213E-A37F6BDE8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A9139-209A-A01D-82F3-A8BCA77BC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F07A-463B-C7B5-5472-301379FCD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97970-C865-4EA9-BD77-F90120B8C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4E478-9DD2-5A8A-E300-876CD4652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2221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DBE8A5-7C1E-E08E-7897-C746B10873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2D3E72-F444-9496-C4DD-3BD97A07C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5E509-79F7-F450-D395-0E6FB01E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8506B-FD6B-821D-547B-4DDD9E98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C1E9E-6227-96CD-F6BB-7C48811FC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662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D1F98-55B7-9A51-0154-752A6A168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A37BB-55F0-1E88-2CB1-D47229C91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FEB3-CD35-26D7-5BD0-357AAFB5AC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8229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FooterBrand"/>
          <p:cNvSpPr txBox="1"/>
          <p:nvPr userDrawn="1"/>
        </p:nvSpPr>
        <p:spPr>
          <a:xfrm>
            <a:off x="457200" y="6477000"/>
            <a:ext cx="548640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Building AI-Powered Reporting with .NET  ·  x.com/alperebicoglu</a:t>
            </a:r>
          </a:p>
        </p:txBody>
      </p:sp>
      <p:pic>
        <p:nvPicPr>
          <p:cNvPr id="903" name="QR_Twitter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80800" y="61214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048000" cy="355600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DOTNET KONF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 fontScale="90000"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666747" y="1824122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3275" y="5364479"/>
            <a:ext cx="4744453" cy="508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dirty="0">
                <a:solidFill>
                  <a:srgbClr val="94A3B8"/>
                </a:solidFill>
              </a:rPr>
              <a:t>From Your Native Language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0C04564-E4C0-F5EF-41C0-C360D063978F}"/>
              </a:ext>
            </a:extLst>
          </p:cNvPr>
          <p:cNvSpPr/>
          <p:nvPr/>
        </p:nvSpPr>
        <p:spPr>
          <a:xfrm>
            <a:off x="4476133" y="5347904"/>
            <a:ext cx="516440" cy="42418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346BC4F-555E-4279-9796-2E03531A4D9E}"/>
              </a:ext>
            </a:extLst>
          </p:cNvPr>
          <p:cNvSpPr txBox="1">
            <a:spLocks/>
          </p:cNvSpPr>
          <p:nvPr/>
        </p:nvSpPr>
        <p:spPr>
          <a:xfrm>
            <a:off x="5127228" y="5364479"/>
            <a:ext cx="1180447" cy="508000"/>
          </a:xfrm>
          <a:prstGeom prst="rect">
            <a:avLst/>
          </a:prstGeom>
        </p:spPr>
        <p:txBody>
          <a:bodyPr vert="horz" wrap="square" lIns="0" tIns="0" rIns="0" bIns="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800" dirty="0">
                <a:solidFill>
                  <a:srgbClr val="94A3B8"/>
                </a:solidFill>
              </a:rPr>
              <a:t>Report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100" name="HookCard"/>
          <p:cNvSpPr/>
          <p:nvPr/>
        </p:nvSpPr>
        <p:spPr>
          <a:xfrm>
            <a:off x="889000" y="1460500"/>
            <a:ext cx="10414000" cy="1397000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How many of you have written SQL before?</a:t>
            </a:r>
          </a:p>
        </p:txBody>
      </p:sp>
      <p:sp>
        <p:nvSpPr>
          <p:cNvPr id="201" name="Pain201"/>
          <p:cNvSpPr/>
          <p:nvPr/>
        </p:nvSpPr>
        <p:spPr>
          <a:xfrm>
            <a:off x="889000" y="3175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0891B2"/>
                </a:solidFill>
              </a:rPr>
              <a:t>01  </a:t>
            </a:r>
            <a:r>
              <a:rPr lang="en-US" sz="2400" b="1" dirty="0">
                <a:solidFill>
                  <a:srgbClr val="0F172A"/>
                </a:solidFill>
              </a:rPr>
              <a:t>Writing SQL is slow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Even simple reports take hours</a:t>
            </a:r>
          </a:p>
        </p:txBody>
      </p:sp>
      <p:sp>
        <p:nvSpPr>
          <p:cNvPr id="202" name="Pain202"/>
          <p:cNvSpPr/>
          <p:nvPr/>
        </p:nvSpPr>
        <p:spPr>
          <a:xfrm>
            <a:off x="6223000" y="3175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F59E0B"/>
                </a:solidFill>
              </a:rPr>
              <a:t>02  </a:t>
            </a:r>
            <a:r>
              <a:rPr lang="en-US" sz="2400" b="1" dirty="0">
                <a:solidFill>
                  <a:srgbClr val="0F172A"/>
                </a:solidFill>
              </a:rPr>
              <a:t>Dev 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889000" y="4572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F43F5E"/>
                </a:solidFill>
              </a:rPr>
              <a:t>03  </a:t>
            </a:r>
            <a:r>
              <a:rPr lang="en-US" sz="2400" b="1" dirty="0">
                <a:solidFill>
                  <a:srgbClr val="0F172A"/>
                </a:solidFill>
              </a:rPr>
              <a:t>Rigid reporting tools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6223000" y="4572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10B981"/>
                </a:solidFill>
              </a:rPr>
              <a:t>04  </a:t>
            </a:r>
            <a:r>
              <a:rPr lang="en-US" sz="2400" b="1" dirty="0">
                <a:solidFill>
                  <a:srgbClr val="0F172A"/>
                </a:solidFill>
              </a:rPr>
              <a:t>Data is locked away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value is trapped behind SQL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QMark"/>
          <p:cNvSpPr txBox="1"/>
          <p:nvPr/>
        </p:nvSpPr>
        <p:spPr>
          <a:xfrm>
            <a:off x="563367" y="739239"/>
            <a:ext cx="885423" cy="1291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400" b="1" dirty="0">
                <a:solidFill>
                  <a:srgbClr val="22D3EE"/>
                </a:solidFill>
                <a:latin typeface="Inter"/>
              </a:rPr>
              <a:t>"</a:t>
            </a:r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0F172A"/>
                </a:solidFill>
              </a:rPr>
              <a:t>What if you could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rgbClr val="0F172A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rgbClr val="0F172A"/>
                </a:solidFill>
              </a:rPr>
              <a:t>your database?</a:t>
            </a:r>
          </a:p>
        </p:txBody>
      </p:sp>
      <p:sp>
        <p:nvSpPr>
          <p:cNvPr id="4" name="QMark">
            <a:extLst>
              <a:ext uri="{FF2B5EF4-FFF2-40B4-BE49-F238E27FC236}">
                <a16:creationId xmlns:a16="http://schemas.microsoft.com/office/drawing/2014/main" id="{75D887ED-F9DA-3A3C-1FFA-A57CEDCF23B0}"/>
              </a:ext>
            </a:extLst>
          </p:cNvPr>
          <p:cNvSpPr txBox="1"/>
          <p:nvPr/>
        </p:nvSpPr>
        <p:spPr>
          <a:xfrm>
            <a:off x="8267310" y="4200896"/>
            <a:ext cx="1230866" cy="12380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400" b="1" dirty="0">
                <a:solidFill>
                  <a:srgbClr val="22D3EE"/>
                </a:solidFill>
                <a:latin typeface="Inter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48375" y="1968500"/>
            <a:ext cx="1224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</a:rPr>
              <a:t>Live Demo</a:t>
            </a:r>
          </a:p>
          <a:p>
            <a:pPr algn="l">
              <a:buNone/>
            </a:pPr>
            <a:r>
              <a:rPr lang="en-US" sz="2800" dirty="0">
                <a:solidFill>
                  <a:srgbClr val="94A3B8"/>
                </a:solidFill>
              </a:rPr>
              <a:t>A Simple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050663"/>
            <a:ext cx="2930596" cy="558799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PART 1</a:t>
            </a:r>
          </a:p>
        </p:txBody>
      </p: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pPr algn="l"/>
            <a:r>
              <a:rPr lang="en-US" dirty="0">
                <a:solidFill>
                  <a:srgbClr val="94A3B8"/>
                </a:solidFill>
                <a:latin typeface="Consolas"/>
              </a:rPr>
              <a:t>user: 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635000" y="1466850"/>
            <a:ext cx="5334000" cy="443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0891B2"/>
                </a:solidFill>
              </a:rPr>
              <a:t>STEP 1  ·  SCHEMA</a:t>
            </a:r>
          </a:p>
          <a:p>
            <a:pPr algn="l">
              <a:spcBef>
                <a:spcPts val="400"/>
              </a:spcBef>
            </a:pPr>
            <a:r>
              <a:rPr lang="en-US" sz="2800" b="1" dirty="0">
                <a:solidFill>
                  <a:srgbClr val="0F172A"/>
                </a:solidFill>
              </a:rPr>
              <a:t>Teach the LLM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extra DDL info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Without schema, the LLM is guessing!</a:t>
            </a:r>
          </a:p>
        </p:txBody>
      </p:sp>
      <p:sp>
        <p:nvSpPr>
          <p:cNvPr id="401" name="RightCard"/>
          <p:cNvSpPr/>
          <p:nvPr/>
        </p:nvSpPr>
        <p:spPr>
          <a:xfrm>
            <a:off x="6223000" y="1466850"/>
            <a:ext cx="5334000" cy="44386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STEP 2  ·  PROMPT</a:t>
            </a:r>
          </a:p>
          <a:p>
            <a:pPr algn="l">
              <a:spcBef>
                <a:spcPts val="400"/>
              </a:spcBef>
            </a:pPr>
            <a:r>
              <a:rPr lang="en-US" sz="2800" b="1" dirty="0">
                <a:solidFill>
                  <a:srgbClr val="FFFFFF"/>
                </a:solidFill>
              </a:rPr>
              <a:t>Write the rules</a:t>
            </a:r>
          </a:p>
          <a:p>
            <a:pPr>
              <a:spcBef>
                <a:spcPts val="800"/>
              </a:spcBef>
            </a:pPr>
            <a:r>
              <a:rPr lang="en-US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016000" y="719117"/>
            <a:ext cx="10160000" cy="3193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703" name="Sub"/>
          <p:cNvSpPr txBox="1"/>
          <p:nvPr/>
        </p:nvSpPr>
        <p:spPr>
          <a:xfrm>
            <a:off x="1016000" y="5759533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dirty="0">
                <a:solidFill>
                  <a:srgbClr val="94A3B8"/>
                </a:solidFill>
              </a:rPr>
              <a:t>Every stage is inspectable, testable, replaceable.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cfg[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 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603500"/>
            <a:ext cx="10160000" cy="20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7200" b="1" dirty="0">
                <a:solidFill>
                  <a:srgbClr val="FFFFFF"/>
                </a:solidFill>
              </a:rPr>
              <a:t>Let's turn this </a:t>
            </a:r>
            <a:br>
              <a:rPr lang="en-US" sz="7200" b="1" dirty="0">
                <a:solidFill>
                  <a:srgbClr val="FFFFFF"/>
                </a:solidFill>
              </a:rPr>
            </a:br>
            <a:r>
              <a:rPr lang="en-US" sz="7200" b="1" dirty="0">
                <a:solidFill>
                  <a:srgbClr val="FFFFFF"/>
                </a:solidFill>
              </a:rPr>
              <a:t>into a </a:t>
            </a:r>
            <a:r>
              <a:rPr lang="en-US" sz="7200" b="1" i="1" dirty="0">
                <a:solidFill>
                  <a:srgbClr val="22D3EE"/>
                </a:solidFill>
              </a:rPr>
              <a:t>real  </a:t>
            </a:r>
            <a:r>
              <a:rPr lang="en-US" sz="72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sz="1800" dirty="0">
                <a:solidFill>
                  <a:srgbClr val="94A3B8"/>
                </a:solidFill>
              </a:rPr>
              <a:t> + </a:t>
            </a:r>
            <a:r>
              <a:rPr lang="en-US" sz="1800" b="1" dirty="0">
                <a:solidFill>
                  <a:srgbClr val="94A3B8"/>
                </a:solidFill>
              </a:rPr>
              <a:t>Charts</a:t>
            </a:r>
            <a:r>
              <a:rPr lang="en-US" sz="1800" dirty="0">
                <a:solidFill>
                  <a:srgbClr val="94A3B8"/>
                </a:solidFill>
              </a:rPr>
              <a:t> + </a:t>
            </a:r>
            <a:r>
              <a:rPr lang="en-US" sz="1800" b="1" dirty="0">
                <a:solidFill>
                  <a:srgbClr val="94A3B8"/>
                </a:solidFill>
              </a:rPr>
              <a:t>Excel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875027"/>
            <a:ext cx="2930596" cy="55879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PART 2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114631" y="1784351"/>
            <a:ext cx="1224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Blazor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  <p:sp>
        <p:nvSpPr>
          <p:cNvPr id="3" name="DemoSub">
            <a:extLst>
              <a:ext uri="{FF2B5EF4-FFF2-40B4-BE49-F238E27FC236}">
                <a16:creationId xmlns:a16="http://schemas.microsoft.com/office/drawing/2014/main" id="{E33DA3B9-8656-E2AF-4324-2D26E49EA3D5}"/>
              </a:ext>
            </a:extLst>
          </p:cNvPr>
          <p:cNvSpPr txBox="1"/>
          <p:nvPr/>
        </p:nvSpPr>
        <p:spPr>
          <a:xfrm>
            <a:off x="2540000" y="1397000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&gt;  </a:t>
            </a:r>
            <a:r>
              <a:rPr lang="en-US" sz="2400" dirty="0" err="1">
                <a:solidFill>
                  <a:srgbClr val="475569"/>
                </a:solidFill>
              </a:rPr>
              <a:t>Talk.Web</a:t>
            </a:r>
            <a:endParaRPr lang="en-US" sz="2400" dirty="0">
              <a:solidFill>
                <a:srgbClr val="475569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5D02981-EC00-CA24-9A53-841C69148F8E}"/>
              </a:ext>
            </a:extLst>
          </p:cNvPr>
          <p:cNvGrpSpPr/>
          <p:nvPr/>
        </p:nvGrpSpPr>
        <p:grpSpPr>
          <a:xfrm>
            <a:off x="635000" y="1397000"/>
            <a:ext cx="1651000" cy="457200"/>
            <a:chOff x="889000" y="1429656"/>
            <a:chExt cx="1651000" cy="457200"/>
          </a:xfrm>
        </p:grpSpPr>
        <p:sp>
          <p:nvSpPr>
            <p:cNvPr id="5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6" name="Graphic 5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0611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56243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  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562430" y="4094829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  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94829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</a:t>
            </a:r>
            <a:r>
              <a:rPr lang="en-US" sz="3600" b="1" dirty="0">
                <a:solidFill>
                  <a:srgbClr val="F59E0B"/>
                </a:solidFill>
              </a:rPr>
              <a:t> 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94829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  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to Watch Out For</a:t>
            </a:r>
          </a:p>
        </p:txBody>
      </p:sp>
      <p:sp>
        <p:nvSpPr>
          <p:cNvPr id="1500" name="Chal"/>
          <p:cNvSpPr/>
          <p:nvPr/>
        </p:nvSpPr>
        <p:spPr>
          <a:xfrm>
            <a:off x="635000" y="152400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9F1239"/>
                </a:solidFill>
              </a:rPr>
              <a:t>⚠  CHALLENGES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It gets hard fast.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Prompt drift </a:t>
            </a:r>
            <a:r>
              <a:rPr lang="en-US" dirty="0">
                <a:solidFill>
                  <a:srgbClr val="64748B"/>
                </a:solidFill>
              </a:rPr>
              <a:t>as schema grows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Ambiguous questions </a:t>
            </a:r>
            <a:r>
              <a:rPr lang="en-US" dirty="0">
                <a:solidFill>
                  <a:srgbClr val="64748B"/>
                </a:solidFill>
              </a:rPr>
              <a:t>("last month")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Cost &amp; latency </a:t>
            </a:r>
            <a:r>
              <a:rPr lang="en-US" dirty="0">
                <a:solidFill>
                  <a:srgbClr val="64748B"/>
                </a:solidFill>
              </a:rPr>
              <a:t>per query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Hallucinated columns </a:t>
            </a:r>
            <a:r>
              <a:rPr lang="en-US" dirty="0">
                <a:solidFill>
                  <a:srgbClr val="64748B"/>
                </a:solidFill>
              </a:rPr>
              <a:t>&amp; joins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Permissions </a:t>
            </a:r>
            <a:r>
              <a:rPr lang="en-US" dirty="0">
                <a:solidFill>
                  <a:srgbClr val="64748B"/>
                </a:solidFill>
              </a:rPr>
              <a:t>&amp; row-level security</a:t>
            </a:r>
          </a:p>
        </p:txBody>
      </p:sp>
      <p:sp>
        <p:nvSpPr>
          <p:cNvPr id="1501" name="BP"/>
          <p:cNvSpPr/>
          <p:nvPr/>
        </p:nvSpPr>
        <p:spPr>
          <a:xfrm>
            <a:off x="6223000" y="152400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047857"/>
                </a:solidFill>
              </a:rPr>
              <a:t>✓  BEST PRACTICES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What actually works.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Always validate </a:t>
            </a:r>
            <a:r>
              <a:rPr lang="en-US" dirty="0">
                <a:solidFill>
                  <a:srgbClr val="475569"/>
                </a:solidFill>
              </a:rPr>
              <a:t>— never trust raw SQL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Keep prompts strict </a:t>
            </a:r>
            <a:r>
              <a:rPr lang="en-US" dirty="0">
                <a:solidFill>
                  <a:srgbClr val="475569"/>
                </a:solidFill>
              </a:rPr>
              <a:t>&amp; versioned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Read-only DB user </a:t>
            </a:r>
            <a:r>
              <a:rPr lang="en-US" dirty="0">
                <a:solidFill>
                  <a:srgbClr val="475569"/>
                </a:solidFill>
              </a:rPr>
              <a:t>for the pipeline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Log everything </a:t>
            </a:r>
            <a:r>
              <a:rPr lang="en-US" dirty="0">
                <a:solidFill>
                  <a:srgbClr val="475569"/>
                </a:solidFill>
              </a:rPr>
              <a:t>— prompt, SQL, result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Start small </a:t>
            </a:r>
            <a:r>
              <a:rPr lang="en-US" dirty="0">
                <a:solidFill>
                  <a:srgbClr val="475569"/>
                </a:solidFill>
              </a:rPr>
              <a:t>— 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DE38D-6D72-586F-A672-EC9CD8B06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nel">
            <a:extLst>
              <a:ext uri="{FF2B5EF4-FFF2-40B4-BE49-F238E27FC236}">
                <a16:creationId xmlns:a16="http://schemas.microsoft.com/office/drawing/2014/main" id="{B05FC43A-919B-6C85-31C9-D03E8F18B296}"/>
              </a:ext>
            </a:extLst>
          </p:cNvPr>
          <p:cNvSpPr/>
          <p:nvPr/>
        </p:nvSpPr>
        <p:spPr>
          <a:xfrm>
            <a:off x="73026" y="2612571"/>
            <a:ext cx="12118974" cy="3064329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8" name="Q">
            <a:extLst>
              <a:ext uri="{FF2B5EF4-FFF2-40B4-BE49-F238E27FC236}">
                <a16:creationId xmlns:a16="http://schemas.microsoft.com/office/drawing/2014/main" id="{B9C6DB59-7B03-2063-5030-5346636B1400}"/>
              </a:ext>
            </a:extLst>
          </p:cNvPr>
          <p:cNvSpPr txBox="1"/>
          <p:nvPr/>
        </p:nvSpPr>
        <p:spPr>
          <a:xfrm>
            <a:off x="407987" y="1266825"/>
            <a:ext cx="11376025" cy="121920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lnSpc>
                <a:spcPct val="105000"/>
              </a:lnSpc>
            </a:pPr>
            <a:r>
              <a:rPr lang="en-US" sz="7200" b="1" dirty="0">
                <a:solidFill>
                  <a:srgbClr val="0F172A"/>
                </a:solidFill>
              </a:rPr>
              <a:t>1 step </a:t>
            </a:r>
            <a:r>
              <a:rPr lang="en-US" sz="7200" b="1">
                <a:solidFill>
                  <a:srgbClr val="0F172A"/>
                </a:solidFill>
              </a:rPr>
              <a:t>further </a:t>
            </a:r>
            <a:r>
              <a:rPr lang="en-US" sz="6600" b="1">
                <a:solidFill>
                  <a:srgbClr val="0F172A"/>
                </a:solidFill>
              </a:rPr>
              <a:t>🤔</a:t>
            </a:r>
            <a:endParaRPr lang="en-US" sz="6600" b="1" dirty="0">
              <a:solidFill>
                <a:srgbClr val="0F172A"/>
              </a:solidFill>
            </a:endParaRPr>
          </a:p>
        </p:txBody>
      </p:sp>
      <p:sp>
        <p:nvSpPr>
          <p:cNvPr id="9" name="Q">
            <a:extLst>
              <a:ext uri="{FF2B5EF4-FFF2-40B4-BE49-F238E27FC236}">
                <a16:creationId xmlns:a16="http://schemas.microsoft.com/office/drawing/2014/main" id="{1AB057A2-73DE-48D4-8534-77FBCD65A14A}"/>
              </a:ext>
            </a:extLst>
          </p:cNvPr>
          <p:cNvSpPr txBox="1"/>
          <p:nvPr/>
        </p:nvSpPr>
        <p:spPr>
          <a:xfrm>
            <a:off x="444500" y="2881312"/>
            <a:ext cx="11376025" cy="24003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FFFFFF"/>
                </a:solidFill>
              </a:rPr>
              <a:t>How about </a:t>
            </a:r>
            <a:r>
              <a:rPr lang="en-US" sz="6600" b="1" u="sng" dirty="0">
                <a:solidFill>
                  <a:srgbClr val="FFFFFF"/>
                </a:solidFill>
              </a:rPr>
              <a:t>taking action</a:t>
            </a:r>
            <a:r>
              <a:rPr lang="en-US" sz="6600" b="1" dirty="0">
                <a:solidFill>
                  <a:srgbClr val="FFFFFF"/>
                </a:solidFill>
              </a:rPr>
              <a:t> instead of just reporting?!</a:t>
            </a:r>
          </a:p>
        </p:txBody>
      </p:sp>
    </p:spTree>
    <p:extLst>
      <p:ext uri="{BB962C8B-B14F-4D97-AF65-F5344CB8AC3E}">
        <p14:creationId xmlns:p14="http://schemas.microsoft.com/office/powerpoint/2010/main" val="1603450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3" name="Q"/>
          <p:cNvSpPr txBox="1"/>
          <p:nvPr/>
        </p:nvSpPr>
        <p:spPr>
          <a:xfrm>
            <a:off x="762000" y="411504"/>
            <a:ext cx="10668000" cy="23556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Start  simple</a:t>
            </a:r>
          </a:p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Then evolve into a </a:t>
            </a:r>
            <a:r>
              <a:rPr lang="en-US" sz="6000" b="1" i="1" dirty="0">
                <a:solidFill>
                  <a:srgbClr val="22D3EE"/>
                </a:solidFill>
              </a:rPr>
              <a:t>product.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743378" y="2838101"/>
            <a:ext cx="10124672" cy="1524000"/>
            <a:chOff x="762000" y="3624943"/>
            <a:chExt cx="6634951" cy="1524000"/>
          </a:xfrm>
        </p:grpSpPr>
        <p:sp>
          <p:nvSpPr>
            <p:cNvPr id="1610" name="B"/>
            <p:cNvSpPr/>
            <p:nvPr/>
          </p:nvSpPr>
          <p:spPr>
            <a:xfrm>
              <a:off x="762000" y="3624943"/>
              <a:ext cx="3773409" cy="1524000"/>
            </a:xfrm>
            <a:prstGeom prst="roundRect">
              <a:avLst>
                <a:gd name="adj" fmla="val 6000"/>
              </a:avLst>
            </a:prstGeom>
            <a:solidFill>
              <a:srgbClr val="1E293B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>
                <a:spcBef>
                  <a:spcPts val="300"/>
                </a:spcBef>
              </a:pPr>
              <a:r>
                <a:rPr lang="en-US" sz="2700">
                  <a:solidFill>
                    <a:srgbClr val="FFFFFF"/>
                  </a:solidFill>
                </a:rPr>
                <a:t>Until now we </a:t>
              </a:r>
              <a:r>
                <a:rPr lang="en-US" sz="2700" dirty="0">
                  <a:solidFill>
                    <a:srgbClr val="FFFFFF"/>
                  </a:solidFill>
                </a:rPr>
                <a:t>learnt programming languages to talk with computers</a:t>
              </a:r>
              <a:endParaRPr lang="en-US" sz="27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371599" y="3624943"/>
              <a:ext cx="3025352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/>
              <a:r>
                <a:rPr lang="en-US" sz="2800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2800" spc="300" dirty="0">
                  <a:solidFill>
                    <a:srgbClr val="1E293B"/>
                  </a:solidFill>
                </a:rPr>
              </a:br>
              <a:r>
                <a:rPr lang="en-US" sz="2800" spc="300" dirty="0">
                  <a:solidFill>
                    <a:srgbClr val="1E293B"/>
                  </a:solidFill>
                </a:rPr>
                <a:t>our language</a:t>
              </a:r>
              <a:endParaRPr lang="en-US" sz="2800" dirty="0">
                <a:solidFill>
                  <a:srgbClr val="1E293B"/>
                </a:solidFill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5D01CF5-3779-C47E-5AA7-7E0126629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1318" y="4787580"/>
            <a:ext cx="1735996" cy="17516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426501"/>
            <a:ext cx="2422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projects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7516DB6-9F60-477D-8214-F1524AF1287A}"/>
              </a:ext>
            </a:extLst>
          </p:cNvPr>
          <p:cNvSpPr/>
          <p:nvPr/>
        </p:nvSpPr>
        <p:spPr>
          <a:xfrm>
            <a:off x="2897136" y="449382"/>
            <a:ext cx="2826769" cy="999408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3" y="4643252"/>
            <a:ext cx="5277952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608</TotalTime>
  <Words>3639</Words>
  <Application>Microsoft Office PowerPoint</Application>
  <PresentationFormat>Widescreen</PresentationFormat>
  <Paragraphs>496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Office Theme [1776698939131]</vt:lpstr>
      <vt:lpstr>Building an  AI-Powered  Query Generator  with .NET</vt:lpstr>
      <vt:lpstr>PowerPoint Presentation</vt:lpstr>
      <vt:lpstr>The Problem</vt:lpstr>
      <vt:lpstr>PowerPoint Presentation</vt:lpstr>
      <vt:lpstr>What We'll Build</vt:lpstr>
      <vt:lpstr>Live Demo A Simple Console App </vt:lpstr>
      <vt:lpstr>The Pipeline</vt:lpstr>
      <vt:lpstr>Schema + Prompt Design</vt:lpstr>
      <vt:lpstr>Live Demo — Console</vt:lpstr>
      <vt:lpstr>Validation + Execution</vt:lpstr>
      <vt:lpstr>PowerPoint Presentation</vt:lpstr>
      <vt:lpstr>Architecture — 3 Layers</vt:lpstr>
      <vt:lpstr>The Whole Setup</vt:lpstr>
      <vt:lpstr>PowerPoint Presentation</vt:lpstr>
      <vt:lpstr>Same Backend, Closer to a Real Product</vt:lpstr>
      <vt:lpstr>Live Demo — Blazor</vt:lpstr>
      <vt:lpstr>The LLM is 20% of the work. </vt:lpstr>
      <vt:lpstr>Where This Fits in the Real World</vt:lpstr>
      <vt:lpstr>What to Watch Out For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156</cp:revision>
  <dcterms:created xsi:type="dcterms:W3CDTF">2026-04-20T12:53:27Z</dcterms:created>
  <dcterms:modified xsi:type="dcterms:W3CDTF">2026-04-30T10:19:04Z</dcterms:modified>
</cp:coreProperties>
</file>