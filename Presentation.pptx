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5"/>
  </p:notesMasterIdLst>
  <p:sldIdLst>
    <p:sldId id="328" r:id="rId2"/>
    <p:sldId id="329" r:id="rId3"/>
    <p:sldId id="333" r:id="rId4"/>
    <p:sldId id="308" r:id="rId5"/>
    <p:sldId id="309" r:id="rId6"/>
    <p:sldId id="310" r:id="rId7"/>
    <p:sldId id="299" r:id="rId8"/>
    <p:sldId id="312" r:id="rId9"/>
    <p:sldId id="330" r:id="rId10"/>
    <p:sldId id="313" r:id="rId11"/>
    <p:sldId id="314" r:id="rId12"/>
    <p:sldId id="315" r:id="rId13"/>
    <p:sldId id="316" r:id="rId14"/>
    <p:sldId id="317" r:id="rId15"/>
    <p:sldId id="320" r:id="rId16"/>
    <p:sldId id="318" r:id="rId17"/>
    <p:sldId id="319" r:id="rId18"/>
    <p:sldId id="321" r:id="rId19"/>
    <p:sldId id="322" r:id="rId20"/>
    <p:sldId id="323" r:id="rId21"/>
    <p:sldId id="336" r:id="rId22"/>
    <p:sldId id="335" r:id="rId23"/>
    <p:sldId id="324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8F9"/>
    <a:srgbClr val="020919"/>
    <a:srgbClr val="0F172A"/>
    <a:srgbClr val="0891B2"/>
    <a:srgbClr val="22D3EE"/>
    <a:srgbClr val="1E293B"/>
    <a:srgbClr val="64748B"/>
    <a:srgbClr val="9EA8B7"/>
    <a:srgbClr val="969696"/>
    <a:srgbClr val="9D9D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9818" autoAdjust="0"/>
  </p:normalViewPr>
  <p:slideViewPr>
    <p:cSldViewPr snapToGrid="0">
      <p:cViewPr varScale="1">
        <p:scale>
          <a:sx n="78" d="100"/>
          <a:sy n="78" d="100"/>
        </p:scale>
        <p:origin x="1872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17.05.2026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467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solidFill>
                  <a:srgbClr val="0F172A"/>
                </a:solidFill>
                <a:sym typeface="Wingdings" panose="05000000000000000000" pitchFamily="2" charset="2"/>
              </a:rPr>
              <a:t> </a:t>
            </a:r>
            <a:r>
              <a:rPr lang="en-US" sz="1200" b="1" dirty="0">
                <a:solidFill>
                  <a:srgbClr val="0F172A"/>
                </a:solidFill>
              </a:rPr>
              <a:t>How many of you create a reporting screen or written SQL before</a:t>
            </a:r>
            <a:r>
              <a:rPr lang="en-US" sz="1200" b="1">
                <a:solidFill>
                  <a:srgbClr val="0F172A"/>
                </a:solidFill>
              </a:rPr>
              <a:t>? </a:t>
            </a:r>
            <a:endParaRPr lang="en-US" sz="1200" b="1" dirty="0">
              <a:solidFill>
                <a:srgbClr val="0F172A"/>
              </a:solidFill>
            </a:endParaRPr>
          </a:p>
          <a:p>
            <a:endParaRPr lang="en-US" dirty="0"/>
          </a:p>
          <a:p>
            <a:r>
              <a:rPr lang="en-US" b="1" dirty="0"/>
              <a:t>We, developers are the bottleneck. And today we are going to remove ourselves.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u="sng" dirty="0"/>
              <a:t>!!! 30 seconds for this slide</a:t>
            </a:r>
          </a:p>
          <a:p>
            <a:endParaRPr lang="en-US" u="sng" dirty="0"/>
          </a:p>
          <a:p>
            <a:r>
              <a:rPr lang="en-US" dirty="0"/>
              <a:t>This is the whole system in 7 boxes. </a:t>
            </a:r>
          </a:p>
          <a:p>
            <a:r>
              <a:rPr lang="en-US" dirty="0"/>
              <a:t>User types → we build the prompt → LLM writes SQL → validator checks it → we execute. 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Multi-tenancy &amp; permissions: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Give each user separate </a:t>
            </a:r>
            <a:r>
              <a:rPr lang="en-US" u="sng" dirty="0"/>
              <a:t>connection string &amp; permissions </a:t>
            </a:r>
            <a:r>
              <a:rPr lang="en-US" u="none" dirty="0"/>
              <a:t>so you can configure their roles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Separate </a:t>
            </a:r>
            <a:r>
              <a:rPr lang="en-US" u="sng" dirty="0"/>
              <a:t>sub databases</a:t>
            </a:r>
            <a:r>
              <a:rPr lang="en-US" dirty="0"/>
              <a:t> for specific user groups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Create &amp; send only </a:t>
            </a:r>
            <a:r>
              <a:rPr lang="en-US" u="sng" dirty="0"/>
              <a:t>views</a:t>
            </a:r>
            <a:r>
              <a:rPr lang="en-US" dirty="0"/>
              <a:t> to AI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Add </a:t>
            </a:r>
            <a:r>
              <a:rPr lang="en-US" u="sng" dirty="0" err="1"/>
              <a:t>TenantId</a:t>
            </a:r>
            <a:r>
              <a:rPr lang="en-US" dirty="0"/>
              <a:t> to each select query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b="1" dirty="0">
                <a:solidFill>
                  <a:srgbClr val="0F172A"/>
                </a:solidFill>
              </a:rPr>
              <a:t>Hallucination: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0" dirty="0">
                <a:solidFill>
                  <a:srgbClr val="0F172A"/>
                </a:solidFill>
              </a:rPr>
              <a:t>Retry mechanism until it works</a:t>
            </a:r>
            <a:endParaRPr lang="en-US" dirty="0"/>
          </a:p>
          <a:p>
            <a:pPr marL="171450" lvl="0" indent="-171450">
              <a:buFontTx/>
              <a:buChar char="-"/>
            </a:pPr>
            <a:r>
              <a:rPr lang="en-US" b="1" dirty="0"/>
              <a:t>Ambigous questions:</a:t>
            </a:r>
          </a:p>
          <a:p>
            <a:pPr marL="628650" lvl="1" indent="-171450">
              <a:buFontTx/>
              <a:buChar char="-"/>
            </a:pPr>
            <a:r>
              <a:rPr lang="tr-TR" dirty="0"/>
              <a:t>Most production </a:t>
            </a:r>
            <a:r>
              <a:rPr lang="tr-TR" u="sng" dirty="0"/>
              <a:t>issues are not SQL errors</a:t>
            </a:r>
            <a:r>
              <a:rPr lang="tr-TR" dirty="0"/>
              <a:t>.</a:t>
            </a:r>
            <a:r>
              <a:rPr lang="en-US" dirty="0"/>
              <a:t>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Cost &amp; Latency: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LLM latency + query latency compounds. Cache aggressively.</a:t>
            </a:r>
          </a:p>
          <a:p>
            <a:pPr marL="171450" indent="-171450">
              <a:buFontTx/>
              <a:buChar char="-"/>
            </a:pPr>
            <a:r>
              <a:rPr lang="en-US" b="1" dirty="0"/>
              <a:t>Prompt tuning:</a:t>
            </a:r>
            <a:r>
              <a:rPr lang="en-US" dirty="0"/>
              <a:t>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Your first prompt may be wrong. Your 10</a:t>
            </a:r>
            <a:r>
              <a:rPr lang="en-US" baseline="30000" dirty="0"/>
              <a:t>th</a:t>
            </a:r>
            <a:r>
              <a:rPr lang="en-US" dirty="0"/>
              <a:t> will still miss edge cases.</a:t>
            </a:r>
          </a:p>
          <a:p>
            <a:pPr marL="171450" lvl="0" indent="-171450">
              <a:buFontTx/>
              <a:buChar char="-"/>
            </a:pPr>
            <a:r>
              <a:rPr lang="en-US" sz="1200" b="1" dirty="0"/>
              <a:t>Confidential data </a:t>
            </a:r>
          </a:p>
          <a:p>
            <a:pPr marL="628650" lvl="1" indent="-171450">
              <a:buFontTx/>
              <a:buChar char="-"/>
            </a:pPr>
            <a:r>
              <a:rPr lang="en-US" b="0" dirty="0"/>
              <a:t>You’ll send only your </a:t>
            </a:r>
            <a:r>
              <a:rPr lang="en-US" b="0" dirty="0" err="1"/>
              <a:t>table,column</a:t>
            </a:r>
            <a:r>
              <a:rPr lang="en-US" b="0" dirty="0"/>
              <a:t> names not the data. But if still an issue, use local LLM</a:t>
            </a:r>
          </a:p>
          <a:p>
            <a:pPr marL="171450" lvl="0" indent="-171450">
              <a:buFontTx/>
              <a:buChar char="-"/>
            </a:pPr>
            <a:endParaRPr 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6FE7-4DB1-C986-0D9D-A9F7F9D96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B0D34D-AE0E-95FA-F928-940DA5194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0C2184-F1D6-D5AB-4837-38DFF2D26E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>
                <a:solidFill>
                  <a:srgbClr val="0F172A"/>
                </a:solidFill>
              </a:rPr>
              <a:t>Validate queries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0" dirty="0"/>
              <a:t>Block unsafe queries before execution.</a:t>
            </a:r>
            <a:r>
              <a:rPr lang="en-US" sz="1600" dirty="0"/>
              <a:t> Allow only SELECT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Read-only DB user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Set connection string read-only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600" b="1" dirty="0"/>
              <a:t>Human in the loop 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dirty="0">
                <a:solidFill>
                  <a:srgbClr val="475569"/>
                </a:solidFill>
              </a:rPr>
              <a:t>First versions require human-approved queries</a:t>
            </a:r>
            <a:endParaRPr lang="en-US" b="1" dirty="0"/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Enforce limits: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Limit row count and set a timeout</a:t>
            </a:r>
            <a:endParaRPr lang="en-US" sz="1200" b="1" dirty="0">
              <a:solidFill>
                <a:srgbClr val="0F172A"/>
              </a:solidFill>
            </a:endParaRP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Log everything 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For debugging and improve the system 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Save working queries</a:t>
            </a:r>
          </a:p>
          <a:p>
            <a:pPr marL="628650" lvl="1" indent="-171450">
              <a:buFontTx/>
              <a:buChar char="-"/>
            </a:pPr>
            <a:r>
              <a:rPr lang="en-US" sz="1200" b="0" dirty="0">
                <a:solidFill>
                  <a:srgbClr val="0F172A"/>
                </a:solidFill>
              </a:rPr>
              <a:t>Save user queries and SQL so people can re-run, they can share the working queries</a:t>
            </a:r>
          </a:p>
          <a:p>
            <a:pPr marL="171450" lvl="0" indent="-171450">
              <a:buFontTx/>
              <a:buChar char="-"/>
            </a:pPr>
            <a:r>
              <a:rPr lang="en-US" sz="1200" b="1" dirty="0">
                <a:solidFill>
                  <a:srgbClr val="0F172A"/>
                </a:solidFill>
              </a:rPr>
              <a:t>Start small 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Ship the ugly version first.</a:t>
            </a:r>
          </a:p>
        </p:txBody>
      </p:sp>
    </p:spTree>
    <p:extLst>
      <p:ext uri="{BB962C8B-B14F-4D97-AF65-F5344CB8AC3E}">
        <p14:creationId xmlns:p14="http://schemas.microsoft.com/office/powerpoint/2010/main" val="41470320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DACCD-50D9-449C-5E0D-B9DC7646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B8E7DD-B1D7-47D1-28A9-EACCEF105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5E8918-788F-0C91-29DB-7E2A9BB9A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1463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25908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b="1" dirty="0">
                <a:solidFill>
                  <a:srgbClr val="94A3B8"/>
                </a:solidFill>
              </a:rPr>
              <a:t>CHAT WITH YOUR DATA</a:t>
            </a:r>
            <a:r>
              <a:rPr lang="en-US" sz="900" dirty="0">
                <a:solidFill>
                  <a:srgbClr val="94A3B8"/>
                </a:solidFill>
              </a:rPr>
              <a:t>  ·  x.com/alperebicoglu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FED691-C0E0-6840-99E9-4DBDDDE0DA22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1506200" y="6162963"/>
            <a:ext cx="609600" cy="628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90" r:id="rId4"/>
    <p:sldLayoutId id="214748369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315557" cy="537556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DevDays Europe 2026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700168" y="1273893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343903" y="5361379"/>
            <a:ext cx="4744453" cy="508000"/>
          </a:xfrm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Chat With Your Data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rgbClr val="FAFBFC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D5AF6E-89B6-877C-7960-D5F8849F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72" t="6988" r="8671" b="58988"/>
          <a:stretch>
            <a:fillRect/>
          </a:stretch>
        </p:blipFill>
        <p:spPr>
          <a:xfrm>
            <a:off x="523415" y="1828800"/>
            <a:ext cx="11051757" cy="2875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440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94968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202" name="Pain202"/>
          <p:cNvSpPr/>
          <p:nvPr/>
        </p:nvSpPr>
        <p:spPr>
          <a:xfrm>
            <a:off x="294970" y="4362335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Developers are </a:t>
            </a:r>
            <a:r>
              <a:rPr lang="en-US" sz="2400" b="1" u="sng" dirty="0">
                <a:solidFill>
                  <a:srgbClr val="0F172A"/>
                </a:solidFill>
              </a:rPr>
              <a:t>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294968" y="1690688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Reporting tools are </a:t>
            </a:r>
            <a:r>
              <a:rPr lang="en-US" sz="2400" b="1" u="sng" dirty="0">
                <a:solidFill>
                  <a:srgbClr val="0F172A"/>
                </a:solidFill>
              </a:rPr>
              <a:t>rigid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294968" y="3026511"/>
            <a:ext cx="900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Writing SQL, Page Design, Testing, Deployment are </a:t>
            </a:r>
            <a:r>
              <a:rPr lang="en-US" sz="2400" b="1" u="sng" dirty="0">
                <a:solidFill>
                  <a:srgbClr val="0F172A"/>
                </a:solidFill>
              </a:rPr>
              <a:t>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real value is trapped behind technical gatekeepers</a:t>
            </a:r>
          </a:p>
        </p:txBody>
      </p:sp>
      <p:sp>
        <p:nvSpPr>
          <p:cNvPr id="3" name="HookCard">
            <a:extLst>
              <a:ext uri="{FF2B5EF4-FFF2-40B4-BE49-F238E27FC236}">
                <a16:creationId xmlns:a16="http://schemas.microsoft.com/office/drawing/2014/main" id="{83DB4F90-329A-712C-5DB7-1C0CE558FAFF}"/>
              </a:ext>
            </a:extLst>
          </p:cNvPr>
          <p:cNvSpPr/>
          <p:nvPr/>
        </p:nvSpPr>
        <p:spPr>
          <a:xfrm>
            <a:off x="9438968" y="1606339"/>
            <a:ext cx="2458062" cy="3983344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r"/>
            <a:endParaRPr lang="en-US" sz="3600" b="1" dirty="0">
              <a:solidFill>
                <a:srgbClr val="0F172A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520705-57EF-7347-2A93-B973F7CDFB64}"/>
              </a:ext>
            </a:extLst>
          </p:cNvPr>
          <p:cNvSpPr txBox="1"/>
          <p:nvPr/>
        </p:nvSpPr>
        <p:spPr>
          <a:xfrm>
            <a:off x="9438968" y="2166850"/>
            <a:ext cx="260206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>
                <a:solidFill>
                  <a:srgbClr val="0F172A"/>
                </a:solidFill>
              </a:rPr>
              <a:t>Data is </a:t>
            </a:r>
            <a:r>
              <a:rPr lang="en-US" sz="3600" b="1" dirty="0">
                <a:solidFill>
                  <a:srgbClr val="FF0000"/>
                </a:solidFill>
              </a:rPr>
              <a:t>locked</a:t>
            </a:r>
            <a:r>
              <a:rPr lang="en-US" sz="3600" b="1" dirty="0">
                <a:solidFill>
                  <a:srgbClr val="0F172A"/>
                </a:solidFill>
              </a:rPr>
              <a:t> behind technical curtains!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74421564-AFB6-A882-9D32-6CFD32A6A777}"/>
              </a:ext>
            </a:extLst>
          </p:cNvPr>
          <p:cNvSpPr/>
          <p:nvPr/>
        </p:nvSpPr>
        <p:spPr>
          <a:xfrm>
            <a:off x="73744" y="911168"/>
            <a:ext cx="12118256" cy="452773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chemeClr val="bg1"/>
                </a:solidFill>
              </a:rPr>
              <a:t>What if you could </a:t>
            </a:r>
            <a:br>
              <a:rPr lang="en-US" sz="6600" b="1" dirty="0">
                <a:solidFill>
                  <a:schemeClr val="bg1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chemeClr val="bg1"/>
                </a:solidFill>
              </a:rPr>
              <a:t>your database?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231" y="30621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r>
              <a:rPr lang="en-US" sz="2000" dirty="0">
                <a:solidFill>
                  <a:srgbClr val="94A3B8"/>
                </a:solidFill>
                <a:latin typeface="Consolas"/>
              </a:rPr>
              <a:t>User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✍️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  <p:sp>
        <p:nvSpPr>
          <p:cNvPr id="4" name="Arr1">
            <a:extLst>
              <a:ext uri="{FF2B5EF4-FFF2-40B4-BE49-F238E27FC236}">
                <a16:creationId xmlns:a16="http://schemas.microsoft.com/office/drawing/2014/main" id="{CC055861-FBC1-3080-75B8-5020F7F83ED8}"/>
              </a:ext>
            </a:extLst>
          </p:cNvPr>
          <p:cNvSpPr/>
          <p:nvPr/>
        </p:nvSpPr>
        <p:spPr>
          <a:xfrm>
            <a:off x="7505700" y="5308600"/>
            <a:ext cx="520700" cy="419099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3C8CEA-024D-81D9-D37C-BF326147F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297" y="417260"/>
            <a:ext cx="5969000" cy="128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128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406400" y="1479550"/>
            <a:ext cx="6667500" cy="4035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0F172A"/>
            </a:solidFill>
          </a:ln>
        </p:spPr>
        <p:txBody>
          <a:bodyPr wrap="square" lIns="240000" tIns="200000" rIns="240000" bIns="200000" anchor="t"/>
          <a:lstStyle/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891B2"/>
                </a:solidFill>
              </a:rPr>
              <a:t>TEACH THE AI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800" dirty="0">
                <a:solidFill>
                  <a:srgbClr val="334155"/>
                </a:solidFill>
              </a:rPr>
              <a:t>Optional: </a:t>
            </a:r>
            <a:r>
              <a:rPr lang="en-US" sz="2800" i="1" dirty="0">
                <a:solidFill>
                  <a:srgbClr val="334155"/>
                </a:solidFill>
              </a:rPr>
              <a:t>extra DDL info</a:t>
            </a:r>
            <a:br>
              <a:rPr lang="en-US" sz="2800" dirty="0">
                <a:solidFill>
                  <a:srgbClr val="334155"/>
                </a:solidFill>
              </a:rPr>
            </a:br>
            <a:endParaRPr lang="en-US" sz="2800" dirty="0">
              <a:solidFill>
                <a:srgbClr val="334155"/>
              </a:solidFill>
            </a:endParaRPr>
          </a:p>
        </p:txBody>
      </p:sp>
      <p:sp>
        <p:nvSpPr>
          <p:cNvPr id="401" name="RightCard"/>
          <p:cNvSpPr/>
          <p:nvPr/>
        </p:nvSpPr>
        <p:spPr>
          <a:xfrm>
            <a:off x="6223000" y="1479550"/>
            <a:ext cx="5562600" cy="4042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200" b="1" spc="300" dirty="0">
                <a:solidFill>
                  <a:srgbClr val="22D3EE"/>
                </a:solidFill>
              </a:rPr>
              <a:t>WRITE THE RULES</a:t>
            </a:r>
            <a:endParaRPr lang="en-US" sz="3200" b="1" dirty="0">
              <a:solidFill>
                <a:srgbClr val="FFFFFF"/>
              </a:solidFill>
            </a:endParaRPr>
          </a:p>
          <a:p>
            <a:pPr>
              <a:spcBef>
                <a:spcPts val="800"/>
              </a:spcBef>
            </a:pPr>
            <a:r>
              <a:rPr lang="en-US" sz="2000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4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60B58A-A411-8E7E-C1B6-7B7E005995DA}"/>
              </a:ext>
            </a:extLst>
          </p:cNvPr>
          <p:cNvSpPr txBox="1"/>
          <p:nvPr/>
        </p:nvSpPr>
        <p:spPr>
          <a:xfrm>
            <a:off x="406400" y="5720834"/>
            <a:ext cx="112709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800"/>
              </a:spcBef>
            </a:pPr>
            <a:r>
              <a:rPr lang="en-US" sz="2000" i="1" dirty="0">
                <a:solidFill>
                  <a:srgbClr val="64748B"/>
                </a:solidFill>
              </a:rPr>
              <a:t>Without schema, the LLM will guess!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29325" y="1911350"/>
            <a:ext cx="4752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1850" y="2330062"/>
            <a:ext cx="10515600" cy="295863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11500" b="1" dirty="0">
                <a:solidFill>
                  <a:srgbClr val="FFFFFF"/>
                </a:solidFill>
              </a:rPr>
              <a:t>Demo</a:t>
            </a:r>
          </a:p>
          <a:p>
            <a:pPr algn="l">
              <a:buNone/>
            </a:pPr>
            <a:r>
              <a:rPr lang="en-US" sz="4000" dirty="0">
                <a:solidFill>
                  <a:srgbClr val="94A3B8"/>
                </a:solidFill>
              </a:rPr>
              <a:t>A Simple .NET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831850" y="2050663"/>
            <a:ext cx="5989080" cy="558799"/>
          </a:xfrm>
        </p:spPr>
        <p:txBody>
          <a:bodyPr>
            <a:normAutofit fontScale="92500"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CHAT WITH YOUR DATA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BF4189-844E-C8D9-D73B-DD7B8585FBE3}"/>
              </a:ext>
            </a:extLst>
          </p:cNvPr>
          <p:cNvGrpSpPr/>
          <p:nvPr/>
        </p:nvGrpSpPr>
        <p:grpSpPr>
          <a:xfrm>
            <a:off x="5270500" y="3440924"/>
            <a:ext cx="1651000" cy="457200"/>
            <a:chOff x="889000" y="1429656"/>
            <a:chExt cx="1651000" cy="457200"/>
          </a:xfrm>
        </p:grpSpPr>
        <p:sp>
          <p:nvSpPr>
            <p:cNvPr id="12" name="LiveBadge">
              <a:extLst>
                <a:ext uri="{FF2B5EF4-FFF2-40B4-BE49-F238E27FC236}">
                  <a16:creationId xmlns:a16="http://schemas.microsoft.com/office/drawing/2014/main" id="{B1DE4706-7C9E-FB03-11A8-AD13184D2821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13" name="Graphic 12" descr="Presentation with media with solid fill">
              <a:extLst>
                <a:ext uri="{FF2B5EF4-FFF2-40B4-BE49-F238E27FC236}">
                  <a16:creationId xmlns:a16="http://schemas.microsoft.com/office/drawing/2014/main" id="{37193B5B-7B8B-D404-8310-414F52FF0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445740" y="-1"/>
            <a:ext cx="10379675" cy="68579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 👌🏻 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config[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2 — Blazor Web App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826718"/>
            <a:ext cx="12118974" cy="476128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907526"/>
            <a:ext cx="10722919" cy="217247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Let's turn this </a:t>
            </a:r>
            <a:br>
              <a:rPr lang="en-US" sz="6600" b="1" dirty="0">
                <a:solidFill>
                  <a:srgbClr val="FFFFFF"/>
                </a:solidFill>
              </a:rPr>
            </a:br>
            <a:r>
              <a:rPr lang="en-US" sz="6600" b="1" dirty="0">
                <a:solidFill>
                  <a:srgbClr val="FFFFFF"/>
                </a:solidFill>
              </a:rPr>
              <a:t>into a </a:t>
            </a:r>
            <a:r>
              <a:rPr lang="en-US" sz="6600" b="1" i="1" dirty="0">
                <a:solidFill>
                  <a:srgbClr val="22D3EE"/>
                </a:solidFill>
              </a:rPr>
              <a:t>real  </a:t>
            </a:r>
            <a:r>
              <a:rPr lang="en-US" sz="66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interactive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b="1" dirty="0">
                <a:solidFill>
                  <a:srgbClr val="94A3B8"/>
                </a:solidFill>
              </a:rPr>
              <a:t> </a:t>
            </a:r>
            <a:r>
              <a:rPr lang="en-US" dirty="0">
                <a:solidFill>
                  <a:srgbClr val="94A3B8"/>
                </a:solidFill>
              </a:rPr>
              <a:t>(Blazor Server app)</a:t>
            </a:r>
            <a:endParaRPr lang="en-US" sz="1800" dirty="0">
              <a:solidFill>
                <a:srgbClr val="94A3B8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355339"/>
            <a:ext cx="6184900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TALK TO YOUR DATA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095581" y="1270000"/>
            <a:ext cx="4860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CA86898-2F04-314A-AD0D-C467D9C91776}"/>
              </a:ext>
            </a:extLst>
          </p:cNvPr>
          <p:cNvGrpSpPr/>
          <p:nvPr/>
        </p:nvGrpSpPr>
        <p:grpSpPr>
          <a:xfrm>
            <a:off x="1016000" y="1909532"/>
            <a:ext cx="2592173" cy="457200"/>
            <a:chOff x="6898982" y="1781651"/>
            <a:chExt cx="2305137" cy="457200"/>
          </a:xfrm>
        </p:grpSpPr>
        <p:sp>
          <p:nvSpPr>
            <p:cNvPr id="6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6898982" y="1781651"/>
              <a:ext cx="2305137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r"/>
              <a:r>
                <a:rPr lang="en-US" b="1" spc="300" dirty="0">
                  <a:solidFill>
                    <a:srgbClr val="FFFFFF"/>
                  </a:solidFill>
                </a:rPr>
                <a:t>     LIVE DEMO</a:t>
              </a:r>
            </a:p>
          </p:txBody>
        </p:sp>
        <p:pic>
          <p:nvPicPr>
            <p:cNvPr id="7" name="Graphic 6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137470" y="1831590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57434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2955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412955" y="1853554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412955" y="4000108"/>
            <a:ext cx="3749475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00108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033" y="180245"/>
            <a:ext cx="10515600" cy="1006003"/>
          </a:xfrm>
        </p:spPr>
        <p:txBody>
          <a:bodyPr>
            <a:normAutofit/>
          </a:bodyPr>
          <a:lstStyle/>
          <a:p>
            <a:r>
              <a:rPr lang="en-US" sz="4800" b="1" dirty="0"/>
              <a:t>Challenges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0" name="Chal"/>
          <p:cNvSpPr/>
          <p:nvPr/>
        </p:nvSpPr>
        <p:spPr>
          <a:xfrm>
            <a:off x="486033" y="1309816"/>
            <a:ext cx="11219934" cy="4593946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 </a:t>
            </a:r>
            <a:r>
              <a:rPr lang="en-US" sz="3600" b="1" dirty="0">
                <a:solidFill>
                  <a:srgbClr val="0F172A"/>
                </a:solidFill>
              </a:rPr>
              <a:t>Multi-tenancy &amp; permissions</a:t>
            </a:r>
            <a:r>
              <a:rPr lang="en-US" sz="40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row-level security</a:t>
            </a:r>
            <a:endParaRPr lang="en-US" sz="3600" b="1" dirty="0">
              <a:solidFill>
                <a:srgbClr val="0F172A"/>
              </a:solidFill>
            </a:endParaRP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Hallucination </a:t>
            </a:r>
            <a:r>
              <a:rPr lang="en-US" sz="3200" dirty="0">
                <a:solidFill>
                  <a:srgbClr val="64748B"/>
                </a:solidFill>
              </a:rPr>
              <a:t>tables, columns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Ambiguous questions </a:t>
            </a:r>
            <a:r>
              <a:rPr lang="en-US" sz="3200" dirty="0">
                <a:solidFill>
                  <a:srgbClr val="64748B"/>
                </a:solidFill>
              </a:rPr>
              <a:t>“last month”, “best song”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Cost &amp; Latency</a:t>
            </a:r>
            <a:r>
              <a:rPr lang="en-US" sz="3200" b="1" dirty="0">
                <a:solidFill>
                  <a:srgbClr val="0F172A"/>
                </a:solidFill>
              </a:rPr>
              <a:t> </a:t>
            </a:r>
            <a:r>
              <a:rPr lang="en-US" sz="3200" dirty="0">
                <a:solidFill>
                  <a:srgbClr val="64748B"/>
                </a:solidFill>
              </a:rPr>
              <a:t>cache aggressively</a:t>
            </a:r>
          </a:p>
          <a:p>
            <a:pPr>
              <a:spcBef>
                <a:spcPts val="400"/>
              </a:spcBef>
            </a:pPr>
            <a:r>
              <a:rPr lang="en-US" sz="36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⚠</a:t>
            </a:r>
            <a:r>
              <a:rPr lang="en-US" sz="36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Prompt tuning </a:t>
            </a:r>
            <a:r>
              <a:rPr lang="en-US" sz="3200" dirty="0">
                <a:solidFill>
                  <a:srgbClr val="64748B"/>
                </a:solidFill>
              </a:rPr>
              <a:t>as schema grows</a:t>
            </a:r>
          </a:p>
          <a:p>
            <a:pPr>
              <a:spcBef>
                <a:spcPts val="400"/>
              </a:spcBef>
            </a:pPr>
            <a:r>
              <a:rPr lang="en-US" sz="28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❓</a:t>
            </a:r>
            <a:r>
              <a:rPr lang="en-US" sz="3200" b="1" dirty="0"/>
              <a:t> </a:t>
            </a:r>
            <a:r>
              <a:rPr lang="en-US" sz="3600" b="1" dirty="0"/>
              <a:t>Confidential data </a:t>
            </a:r>
            <a:r>
              <a:rPr lang="en-US" sz="3200" dirty="0">
                <a:solidFill>
                  <a:srgbClr val="64748B"/>
                </a:solidFill>
              </a:rPr>
              <a:t>send only schema or local LLM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E1FFA-C6E2-1595-49D5-EA4DC238E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D4FD-0D7E-473D-F84A-E51D1F53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914" y="102902"/>
            <a:ext cx="10515600" cy="954164"/>
          </a:xfrm>
        </p:spPr>
        <p:txBody>
          <a:bodyPr>
            <a:normAutofit/>
          </a:bodyPr>
          <a:lstStyle/>
          <a:p>
            <a:r>
              <a:rPr lang="en-US" sz="4800" b="1" dirty="0"/>
              <a:t>Best Practices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501" name="BP">
            <a:extLst>
              <a:ext uri="{FF2B5EF4-FFF2-40B4-BE49-F238E27FC236}">
                <a16:creationId xmlns:a16="http://schemas.microsoft.com/office/drawing/2014/main" id="{1AE2789D-4499-7160-E5B7-4A14E5124A65}"/>
              </a:ext>
            </a:extLst>
          </p:cNvPr>
          <p:cNvSpPr/>
          <p:nvPr/>
        </p:nvSpPr>
        <p:spPr>
          <a:xfrm>
            <a:off x="430427" y="1057066"/>
            <a:ext cx="11331146" cy="4878225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ctr"/>
          <a:lstStyle/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/>
              <a:t> </a:t>
            </a:r>
            <a:r>
              <a:rPr lang="en-US" sz="3600" b="1" dirty="0">
                <a:solidFill>
                  <a:srgbClr val="0F172A"/>
                </a:solidFill>
              </a:rPr>
              <a:t>Validate queries </a:t>
            </a:r>
            <a:r>
              <a:rPr lang="en-US" sz="3200" dirty="0">
                <a:solidFill>
                  <a:srgbClr val="475569"/>
                </a:solidFill>
              </a:rPr>
              <a:t>block unsafe ones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4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Read-only DB user </a:t>
            </a:r>
            <a:r>
              <a:rPr lang="en-US" sz="3200" dirty="0">
                <a:solidFill>
                  <a:srgbClr val="475569"/>
                </a:solidFill>
              </a:rPr>
              <a:t>for the connection string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/>
              <a:t>Human in the loop </a:t>
            </a:r>
            <a:r>
              <a:rPr lang="en-US" sz="3200" dirty="0">
                <a:solidFill>
                  <a:srgbClr val="475569"/>
                </a:solidFill>
              </a:rPr>
              <a:t>approval before execution</a:t>
            </a:r>
          </a:p>
          <a:p>
            <a:pPr>
              <a:spcBef>
                <a:spcPts val="7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3600" b="1" dirty="0"/>
              <a:t> Enforce limits </a:t>
            </a:r>
            <a:r>
              <a:rPr lang="en-US" sz="3200" dirty="0">
                <a:solidFill>
                  <a:srgbClr val="475569"/>
                </a:solidFill>
              </a:rPr>
              <a:t>max 1000 records, max 30 seconds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F172A"/>
                </a:solidFill>
              </a:rPr>
              <a:t>Log everything </a:t>
            </a:r>
            <a:r>
              <a:rPr lang="en-US" sz="3200" dirty="0">
                <a:solidFill>
                  <a:srgbClr val="475569"/>
                </a:solidFill>
              </a:rPr>
              <a:t>prompt, SQL, result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 </a:t>
            </a:r>
            <a:r>
              <a:rPr lang="en-US" sz="3600" b="1" dirty="0">
                <a:solidFill>
                  <a:srgbClr val="020919"/>
                </a:solidFill>
              </a:rPr>
              <a:t>Save working queries </a:t>
            </a:r>
            <a:r>
              <a:rPr lang="en-US" sz="3200" dirty="0">
                <a:solidFill>
                  <a:srgbClr val="475569"/>
                </a:solidFill>
              </a:rPr>
              <a:t>set as public, private</a:t>
            </a:r>
          </a:p>
          <a:p>
            <a:pPr>
              <a:spcBef>
                <a:spcPts val="400"/>
              </a:spcBef>
              <a:buClr>
                <a:srgbClr val="339933"/>
              </a:buClr>
            </a:pPr>
            <a:r>
              <a:rPr lang="en-US" sz="3600" b="1" dirty="0">
                <a:solidFill>
                  <a:srgbClr val="00B050"/>
                </a:solidFill>
              </a:rPr>
              <a:t>✓</a:t>
            </a:r>
            <a:r>
              <a:rPr lang="en-US" sz="4000" b="1" dirty="0">
                <a:solidFill>
                  <a:srgbClr val="00B050"/>
                </a:solidFill>
              </a:rPr>
              <a:t> </a:t>
            </a:r>
            <a:r>
              <a:rPr lang="en-US" sz="3600" b="1" dirty="0">
                <a:solidFill>
                  <a:srgbClr val="0F172A"/>
                </a:solidFill>
              </a:rPr>
              <a:t>Start small </a:t>
            </a:r>
            <a:r>
              <a:rPr lang="en-US" sz="3200" dirty="0">
                <a:solidFill>
                  <a:srgbClr val="475569"/>
                </a:solidFill>
              </a:rPr>
              <a:t>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16734436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2091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ECA93E-8B46-57AD-0523-5CCDB5BA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57C1D50-F13C-5DD2-73AB-E9EAE5244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552" y="225829"/>
            <a:ext cx="4238095" cy="32285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22A15BF-AFD1-E6A5-97B5-01FBF3C7B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809" y="3454400"/>
            <a:ext cx="5476190" cy="51428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407F9E-34A8-5A57-5B28-9012014184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1980" y="3981810"/>
            <a:ext cx="3695238" cy="2876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0D13DE-2AE0-6C30-7149-45A6F819DC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67633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487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653927" y="872676"/>
            <a:ext cx="10564925" cy="3451838"/>
            <a:chOff x="1024646" y="3624943"/>
            <a:chExt cx="6372305" cy="1524000"/>
          </a:xfrm>
        </p:grpSpPr>
        <p:sp>
          <p:nvSpPr>
            <p:cNvPr id="1610" name="B"/>
            <p:cNvSpPr/>
            <p:nvPr/>
          </p:nvSpPr>
          <p:spPr>
            <a:xfrm>
              <a:off x="1024646" y="3730833"/>
              <a:ext cx="3914341" cy="1318039"/>
            </a:xfrm>
            <a:prstGeom prst="roundRect">
              <a:avLst>
                <a:gd name="adj" fmla="val 6000"/>
              </a:avLst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>
                <a:spcBef>
                  <a:spcPts val="300"/>
                </a:spcBef>
              </a:pPr>
              <a:r>
                <a:rPr lang="en-US" sz="4000" dirty="0">
                  <a:solidFill>
                    <a:srgbClr val="FFFFFF"/>
                  </a:solidFill>
                </a:rPr>
                <a:t>Until now we learnt programming languages to talk with computers</a:t>
              </a:r>
              <a:endParaRPr lang="en-US" sz="40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723732" y="3624943"/>
              <a:ext cx="2673219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ctr"/>
            <a:lstStyle/>
            <a:p>
              <a:pPr algn="l"/>
              <a:r>
                <a:rPr lang="en-US" sz="5000" b="1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5000" b="1" spc="300" dirty="0">
                  <a:solidFill>
                    <a:srgbClr val="1E293B"/>
                  </a:solidFill>
                </a:rPr>
              </a:br>
              <a:r>
                <a:rPr lang="en-US" sz="5000" b="1" spc="300" dirty="0">
                  <a:solidFill>
                    <a:srgbClr val="1E293B"/>
                  </a:solidFill>
                </a:rPr>
                <a:t>our language</a:t>
              </a:r>
              <a:endParaRPr lang="en-US" sz="5000" b="1" dirty="0">
                <a:solidFill>
                  <a:srgbClr val="1E293B"/>
                </a:solidFill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092994"/>
            <a:ext cx="24223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Download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2" y="4643252"/>
            <a:ext cx="5415325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C2402-DE54-31FF-8824-B62F72823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566" y="4739254"/>
            <a:ext cx="1803902" cy="1853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1327</TotalTime>
  <Words>3094</Words>
  <Application>Microsoft Office PowerPoint</Application>
  <PresentationFormat>Widescreen</PresentationFormat>
  <Paragraphs>440</Paragraphs>
  <Slides>23</Slides>
  <Notes>23</Notes>
  <HiddenSlides>8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Wingdings</vt:lpstr>
      <vt:lpstr>Office Theme [1776698939131]</vt:lpstr>
      <vt:lpstr>Building an  AI-Powered  Query Generator  with .NET</vt:lpstr>
      <vt:lpstr>PowerPoint Presentation</vt:lpstr>
      <vt:lpstr>PowerPoint Presentation</vt:lpstr>
      <vt:lpstr>The Problem</vt:lpstr>
      <vt:lpstr>PowerPoint Presentation</vt:lpstr>
      <vt:lpstr>What We'll Build</vt:lpstr>
      <vt:lpstr>The Pipeline</vt:lpstr>
      <vt:lpstr>Schema + Prompt Design</vt:lpstr>
      <vt:lpstr>Demo A Simple .NET Console App </vt:lpstr>
      <vt:lpstr>Live Demo — Console</vt:lpstr>
      <vt:lpstr>Validation + Execution</vt:lpstr>
      <vt:lpstr>PowerPoint Presentation</vt:lpstr>
      <vt:lpstr>Architecture — 3 Layers</vt:lpstr>
      <vt:lpstr>The Whole Setup 👌🏻 </vt:lpstr>
      <vt:lpstr>Live Demo 2 — Blazor Web App</vt:lpstr>
      <vt:lpstr>PowerPoint Presentation</vt:lpstr>
      <vt:lpstr>Same Backend, Closer to a Real Product</vt:lpstr>
      <vt:lpstr>The LLM is 20% of the work. </vt:lpstr>
      <vt:lpstr>Where This Fits in the Real World</vt:lpstr>
      <vt:lpstr>Challenges</vt:lpstr>
      <vt:lpstr>Best Practices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274</cp:revision>
  <dcterms:created xsi:type="dcterms:W3CDTF">2026-04-20T12:53:27Z</dcterms:created>
  <dcterms:modified xsi:type="dcterms:W3CDTF">2026-05-17T19:43:55Z</dcterms:modified>
</cp:coreProperties>
</file>