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328" r:id="rId2"/>
    <p:sldId id="329" r:id="rId3"/>
    <p:sldId id="308" r:id="rId4"/>
    <p:sldId id="309" r:id="rId5"/>
    <p:sldId id="310" r:id="rId6"/>
    <p:sldId id="311" r:id="rId7"/>
    <p:sldId id="299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D3EE"/>
    <a:srgbClr val="1E293B"/>
    <a:srgbClr val="7B4F05"/>
    <a:srgbClr val="59ADFA"/>
    <a:srgbClr val="CBD5E1"/>
    <a:srgbClr val="FEF3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2518" autoAdjust="0"/>
  </p:normalViewPr>
  <p:slideViewPr>
    <p:cSldViewPr snapToGrid="0">
      <p:cViewPr>
        <p:scale>
          <a:sx n="66" d="100"/>
          <a:sy n="66" d="100"/>
        </p:scale>
        <p:origin x="231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660078-77E7-46A7-9649-B3FD62DAD7B9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73214-2400-4051-BA10-C1E11D206B4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72855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[OPENING] Smile. Pause. Scan the room for 2 seconds before you start.</a:t>
            </a:r>
          </a:p>
          <a:p>
            <a:endParaRPr lang="en-US" dirty="0"/>
          </a:p>
          <a:p>
            <a:r>
              <a:rPr lang="en-US" dirty="0"/>
              <a:t>Hi everyone — I'm [name], and for the next 45 minutes we're going to build something you've probably wanted for years: a way to ask your database questions in plain English and get back real, trustworthy answers.</a:t>
            </a:r>
          </a:p>
          <a:p>
            <a:endParaRPr lang="en-US" dirty="0"/>
          </a:p>
          <a:p>
            <a:r>
              <a:rPr lang="en-US" dirty="0"/>
              <a:t>We'll do it in .NET, we'll do it with code you can copy, and we'll do it twice — once in a console app so you see every moving part, and once in a Blazor app with voice, charts, and Excel export.</a:t>
            </a:r>
          </a:p>
          <a:p>
            <a:endParaRPr lang="en-US" dirty="0"/>
          </a:p>
          <a:p>
            <a:r>
              <a:rPr lang="en-US" dirty="0"/>
              <a:t>[PAUSE 2s]</a:t>
            </a:r>
          </a:p>
          <a:p>
            <a:endParaRPr lang="en-US" dirty="0"/>
          </a:p>
          <a:p>
            <a:r>
              <a:rPr lang="en-US" dirty="0"/>
              <a:t>Show of hands — who here has written a SELECT this week because a PM asked for numbers?</a:t>
            </a:r>
          </a:p>
          <a:p>
            <a:endParaRPr lang="en-US" dirty="0"/>
          </a:p>
          <a:p>
            <a:r>
              <a:rPr lang="en-US" dirty="0"/>
              <a:t>[TRANSITION] 'That's exactly the problem we're solving.'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473214-2400-4051-BA10-C1E11D206B4D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0510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them through each pain point briefly — don't read every word on the slide, just tap each one:</a:t>
            </a:r>
          </a:p>
          <a:p>
            <a:r>
              <a:rPr lang="en-US" dirty="0"/>
              <a:t>- SQL is slow to write, especially for ad-hoc questions</a:t>
            </a:r>
          </a:p>
          <a:p>
            <a:r>
              <a:rPr lang="en-US" dirty="0"/>
              <a:t>- Business users wait days for answers they could have in seconds</a:t>
            </a:r>
          </a:p>
          <a:p>
            <a:r>
              <a:rPr lang="en-US" dirty="0"/>
              <a:t>- Traditional BI tools are rigid — every new question needs a new report</a:t>
            </a:r>
          </a:p>
          <a:p>
            <a:r>
              <a:rPr lang="en-US" dirty="0"/>
              <a:t>- And the result: data is locked behind technical gatekeepers</a:t>
            </a:r>
          </a:p>
          <a:p>
            <a:endParaRPr lang="en-US" dirty="0"/>
          </a:p>
          <a:p>
            <a:r>
              <a:rPr lang="en-US" dirty="0"/>
              <a:t>[EMPHASIZE] 'We are the bottleneck. And today we are going to remove ourselves.'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today you will have the pattern to actually build this.</a:t>
            </a:r>
          </a:p>
          <a:p>
            <a:endParaRPr lang="en-US" dirty="0"/>
          </a:p>
          <a:p>
            <a:r>
              <a:rPr lang="en-US" dirty="0"/>
              <a:t>Three promises on this slide:</a:t>
            </a:r>
          </a:p>
          <a:p>
            <a:r>
              <a:rPr lang="en-US" dirty="0"/>
              <a:t>- Natural language in, real data out</a:t>
            </a:r>
          </a:p>
          <a:p>
            <a:r>
              <a:rPr lang="en-US" dirty="0"/>
              <a:t>- No SQL required from the user</a:t>
            </a:r>
          </a:p>
          <a:p>
            <a:r>
              <a:rPr lang="en-US" dirty="0"/>
              <a:t>- And crucially: it works for both us as developers AND for the business users who have been waiting</a:t>
            </a:r>
          </a:p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[OVERVIEW] This slide is the table of contents for the next 40 minutes. Do not spend long here — 60 seconds max.</a:t>
            </a:r>
          </a:p>
          <a:p>
            <a:endParaRPr lang="en-US" dirty="0"/>
          </a:p>
          <a:p>
            <a:r>
              <a:rPr lang="en-US" dirty="0"/>
              <a:t>Five capabilities — walk through them quickly:</a:t>
            </a:r>
          </a:p>
          <a:p>
            <a:r>
              <a:rPr lang="en-US" dirty="0"/>
              <a:t>- Understand intent — </a:t>
            </a:r>
            <a:r>
              <a:rPr lang="en-US" b="1" dirty="0"/>
              <a:t>parse what the user actually asked</a:t>
            </a:r>
          </a:p>
          <a:p>
            <a:r>
              <a:rPr lang="en-US" dirty="0"/>
              <a:t>- Read the schema — </a:t>
            </a:r>
            <a:r>
              <a:rPr lang="en-US" b="1" dirty="0"/>
              <a:t>the LLM has to know your tables</a:t>
            </a:r>
          </a:p>
          <a:p>
            <a:r>
              <a:rPr lang="en-US" dirty="0"/>
              <a:t>- Generate SQL safely — </a:t>
            </a:r>
            <a:r>
              <a:rPr lang="en-US" b="1" dirty="0"/>
              <a:t>with validation, not blind trust</a:t>
            </a:r>
          </a:p>
          <a:p>
            <a:r>
              <a:rPr lang="en-US" dirty="0"/>
              <a:t>- Execute — </a:t>
            </a:r>
            <a:r>
              <a:rPr lang="en-US" b="1" dirty="0"/>
              <a:t>run it against the real database</a:t>
            </a:r>
          </a:p>
          <a:p>
            <a:r>
              <a:rPr lang="en-US" dirty="0"/>
              <a:t>- Export — </a:t>
            </a:r>
            <a:r>
              <a:rPr lang="en-US" b="1" dirty="0"/>
              <a:t>Excel and generating charts, because that is what people actually do with results</a:t>
            </a:r>
          </a:p>
          <a:p>
            <a:endParaRPr lang="en-US" dirty="0"/>
          </a:p>
          <a:p>
            <a:r>
              <a:rPr lang="en-US" dirty="0"/>
              <a:t>[EMPHASIZE] 'Each one of these is boring on its own. The magic is the chain.'</a:t>
            </a:r>
          </a:p>
          <a:p>
            <a:endParaRPr lang="en-US" dirty="0"/>
          </a:p>
          <a:p>
            <a:r>
              <a:rPr lang="en-US" dirty="0"/>
              <a:t>[TRANSITION] 'Here is how we will walk through it.'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[DIVIDER] This is a pacing slide — 10 seconds maximum. It exists to let the audience breathe.</a:t>
            </a:r>
          </a:p>
          <a:p>
            <a:endParaRPr lang="en-US" dirty="0"/>
          </a:p>
          <a:p>
            <a:r>
              <a:rPr lang="en-US" dirty="0"/>
              <a:t>'First demo: the console. We are going to see every stage of the pipeline explicitly.'</a:t>
            </a:r>
          </a:p>
          <a:p>
            <a:endParaRPr lang="en-US" dirty="0"/>
          </a:p>
          <a:p>
            <a:r>
              <a:rPr lang="en-US" dirty="0"/>
              <a:t>[STAGE] Walk two steps closer to the screen before clicking forward.</a:t>
            </a:r>
          </a:p>
          <a:p>
            <a:endParaRPr lang="en-US" dirty="0"/>
          </a:p>
          <a:p>
            <a:r>
              <a:rPr lang="en-US" dirty="0"/>
              <a:t>[TRANSITION] 'Let us start at the beginning — the pipeline itself.'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[STAGE] Step back from the podium. Point at the diagram.</a:t>
            </a:r>
          </a:p>
          <a:p>
            <a:endParaRPr lang="en-US" dirty="0"/>
          </a:p>
          <a:p>
            <a:r>
              <a:rPr lang="en-US" dirty="0"/>
              <a:t>This is the whole system in five boxes. Every time you hear me talk about a 'pipeline' today, come back to this slide in your head.</a:t>
            </a:r>
          </a:p>
          <a:p>
            <a:endParaRPr lang="en-US" dirty="0"/>
          </a:p>
          <a:p>
            <a:r>
              <a:rPr lang="en-US" dirty="0"/>
              <a:t>[EMPHASIZE] User types → we build the prompt → LLM writes SQL → validator checks it → we execute. That's it. That's the whole trick.</a:t>
            </a:r>
          </a:p>
          <a:p>
            <a:endParaRPr lang="en-US" dirty="0"/>
          </a:p>
          <a:p>
            <a:r>
              <a:rPr lang="en-US" dirty="0"/>
              <a:t>[PAUSE 2s]</a:t>
            </a:r>
          </a:p>
          <a:p>
            <a:endParaRPr lang="en-US" dirty="0"/>
          </a:p>
          <a:p>
            <a:r>
              <a:rPr lang="en-US" dirty="0"/>
              <a:t>The anchor chip in the corner says PIPELINE for a reason. When we break into the console in a minute, I'll point back to this slide as each stage happens so you know where you are.</a:t>
            </a:r>
          </a:p>
          <a:p>
            <a:endParaRPr lang="en-US" dirty="0"/>
          </a:p>
          <a:p>
            <a:r>
              <a:rPr lang="en-US" dirty="0"/>
              <a:t>[TRANSITION] Let's zoom into stages 1 and 2 — schema and prompt — because that's where 80% of the quality comes from.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[DETAIL] This is where the quality of the system is decided. Spend about 2 minutes here.</a:t>
            </a:r>
          </a:p>
          <a:p>
            <a:endParaRPr lang="en-US" dirty="0"/>
          </a:p>
          <a:p>
            <a:r>
              <a:rPr lang="en-US" dirty="0"/>
              <a:t>Schema first. Walk through the left card:</a:t>
            </a:r>
          </a:p>
          <a:p>
            <a:r>
              <a:rPr lang="en-US" dirty="0"/>
              <a:t>- We extract tables, columns, relationships, and types from the database</a:t>
            </a:r>
          </a:p>
          <a:p>
            <a:r>
              <a:rPr lang="en-US" dirty="0"/>
              <a:t>- Optionally sample values help the LLM understand content, not just structure</a:t>
            </a:r>
          </a:p>
          <a:p>
            <a:r>
              <a:rPr lang="en-US" dirty="0"/>
              <a:t>- Without this, the LLM is guessing. With it, it is translating.</a:t>
            </a:r>
          </a:p>
          <a:p>
            <a:endParaRPr lang="en-US" dirty="0"/>
          </a:p>
          <a:p>
            <a:r>
              <a:rPr lang="en-US" dirty="0"/>
              <a:t>[PAUSE] Then pivot to the right card.</a:t>
            </a:r>
          </a:p>
          <a:p>
            <a:endParaRPr lang="en-US" dirty="0"/>
          </a:p>
          <a:p>
            <a:r>
              <a:rPr lang="en-US" dirty="0"/>
              <a:t>The prompt is where we write the rules — in plain English. Read the code block out loud:</a:t>
            </a:r>
          </a:p>
          <a:p>
            <a:r>
              <a:rPr lang="en-US" dirty="0"/>
              <a:t>'You are a SQL assistant. Rules: SELECT only. No DELETE, UPDATE, or DROP. Return SQL only. Use the schema above.'</a:t>
            </a:r>
          </a:p>
          <a:p>
            <a:endParaRPr lang="en-US" dirty="0"/>
          </a:p>
          <a:p>
            <a:r>
              <a:rPr lang="en-US" dirty="0"/>
              <a:t>[EMPHASIZE] 'Good schema plus strict prompt equals boring, reliable SQL. That is exactly what we want.'</a:t>
            </a:r>
          </a:p>
          <a:p>
            <a:endParaRPr lang="en-US" dirty="0"/>
          </a:p>
          <a:p>
            <a:r>
              <a:rPr lang="en-US" dirty="0"/>
              <a:t>[TRANSITION] 'Let me show you this running live.'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 DEMO — Console] Alt-tab to Visual Studio. Make sure Chat.Console.OpenAI is already loaded and the font is LARGE.</a:t>
            </a:r>
          </a:p>
          <a:p>
            <a:endParaRPr lang="en-US" dirty="0"/>
          </a:p>
          <a:p>
            <a:r>
              <a:rPr lang="en-US" dirty="0"/>
              <a:t>Step 1: Start the app. Let them see the prompt blink.</a:t>
            </a:r>
          </a:p>
          <a:p>
            <a:r>
              <a:rPr lang="en-US" dirty="0"/>
              <a:t>Step 2: Type 'top 10 customers by revenue' slowly, so people can read.</a:t>
            </a:r>
          </a:p>
          <a:p>
            <a:r>
              <a:rPr lang="en-US" dirty="0"/>
              <a:t>Step 3: Pause before hitting enter. Ask: 'What SQL do you expect?'</a:t>
            </a:r>
          </a:p>
          <a:p>
            <a:r>
              <a:rPr lang="en-US" dirty="0"/>
              <a:t>Step 4: Hit enter. The generated SQL appears.</a:t>
            </a:r>
          </a:p>
          <a:p>
            <a:endParaRPr lang="en-US" dirty="0"/>
          </a:p>
          <a:p>
            <a:r>
              <a:rPr lang="en-US" dirty="0"/>
              <a:t>[TRUST MOMENT] Stop. Read the SQL out loud. Then ask the audience:</a:t>
            </a:r>
          </a:p>
          <a:p>
            <a:r>
              <a:rPr lang="en-US" dirty="0"/>
              <a:t>'Would you run this in production?'</a:t>
            </a:r>
          </a:p>
          <a:p>
            <a:endParaRPr lang="en-US" dirty="0"/>
          </a:p>
          <a:p>
            <a:r>
              <a:rPr lang="en-US" dirty="0"/>
              <a:t>[PAUSE 3s] Let them sit with it. Some will say yes, some no.</a:t>
            </a:r>
          </a:p>
          <a:p>
            <a:endParaRPr lang="en-US" dirty="0"/>
          </a:p>
          <a:p>
            <a:r>
              <a:rPr lang="en-US" dirty="0"/>
              <a:t>Then: 'Right — we would not trust it blindly. That is why the next stage is validation.'</a:t>
            </a:r>
          </a:p>
          <a:p>
            <a:endParaRPr lang="en-US" dirty="0"/>
          </a:p>
          <a:p>
            <a:r>
              <a:rPr lang="en-US" dirty="0"/>
              <a:t>[CUE] Point back to the pipeline slide mentally: we just completed Schema → Prompt → LLM → SQL. Validation is next.</a:t>
            </a:r>
          </a:p>
          <a:p>
            <a:endParaRPr lang="en-US" dirty="0"/>
          </a:p>
          <a:p>
            <a:r>
              <a:rPr lang="en-US" dirty="0"/>
              <a:t>Keep the console running — we'll use the same session for validation + execution.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[SECURITY] Slow down on this slide. This is where developers in the room decide if they trust the system.</a:t>
            </a:r>
          </a:p>
          <a:p>
            <a:endParaRPr lang="en-US" dirty="0"/>
          </a:p>
          <a:p>
            <a:r>
              <a:rPr lang="en-US" dirty="0"/>
              <a:t>Left card — the validator:</a:t>
            </a:r>
          </a:p>
          <a:p>
            <a:r>
              <a:rPr lang="en-US" dirty="0"/>
              <a:t>- Block all mutating statements: DELETE, UPDATE, DROP, TRUNCATE</a:t>
            </a:r>
          </a:p>
          <a:p>
            <a:r>
              <a:rPr lang="en-US" dirty="0"/>
              <a:t>- Block multi-statement queries (semicolons)</a:t>
            </a:r>
          </a:p>
          <a:p>
            <a:r>
              <a:rPr lang="en-US" dirty="0"/>
              <a:t>- Allow SELECT only</a:t>
            </a:r>
          </a:p>
          <a:p>
            <a:r>
              <a:rPr lang="en-US" dirty="0"/>
              <a:t>- Enforce row limits so nobody accidentally SELECTs 50 million rows</a:t>
            </a:r>
          </a:p>
          <a:p>
            <a:r>
              <a:rPr lang="en-US" dirty="0"/>
              <a:t>- Sanitize any identifiers</a:t>
            </a:r>
          </a:p>
          <a:p>
            <a:endParaRPr lang="en-US" dirty="0"/>
          </a:p>
          <a:p>
            <a:r>
              <a:rPr lang="en-US" dirty="0"/>
              <a:t>[EMPHASIZE] 'The LLM is clever. It is not on your payroll. Treat its output like untrusted user input — because that is what it is.'</a:t>
            </a:r>
          </a:p>
          <a:p>
            <a:endParaRPr lang="en-US" dirty="0"/>
          </a:p>
          <a:p>
            <a:r>
              <a:rPr lang="en-US" dirty="0"/>
              <a:t>Right card — execution:</a:t>
            </a:r>
          </a:p>
          <a:p>
            <a:r>
              <a:rPr lang="en-US" dirty="0"/>
              <a:t>- Connect with a read-only DB user. Belt and suspenders.</a:t>
            </a:r>
          </a:p>
          <a:p>
            <a:r>
              <a:rPr lang="en-US" dirty="0"/>
              <a:t>- Set a query timeout. LLMs occasionally generate Cartesian joins.</a:t>
            </a:r>
          </a:p>
          <a:p>
            <a:r>
              <a:rPr lang="en-US" dirty="0"/>
              <a:t>- Return structured data, not raw rows</a:t>
            </a:r>
          </a:p>
          <a:p>
            <a:r>
              <a:rPr lang="en-US" dirty="0"/>
              <a:t>- Log every single query — you will need this for debugging AND auditing</a:t>
            </a:r>
          </a:p>
          <a:p>
            <a:endParaRPr lang="en-US" dirty="0"/>
          </a:p>
          <a:p>
            <a:r>
              <a:rPr lang="en-US" dirty="0"/>
              <a:t>[TRANSITION] Back to the console demo — run the same query and show the log line.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[BIG MOMENT] This is the punchline of Act 1. Own it.</a:t>
            </a:r>
          </a:p>
          <a:p>
            <a:endParaRPr lang="en-US" dirty="0"/>
          </a:p>
          <a:p>
            <a:r>
              <a:rPr lang="en-US" dirty="0"/>
              <a:t>[PAUSE 3s] Stand still. Let the slide breathe.</a:t>
            </a:r>
          </a:p>
          <a:p>
            <a:endParaRPr lang="en-US" dirty="0"/>
          </a:p>
          <a:p>
            <a:r>
              <a:rPr lang="en-US" dirty="0"/>
              <a:t>Read the quote slowly: 'This is a pipeline — not magic.'</a:t>
            </a:r>
          </a:p>
          <a:p>
            <a:endParaRPr lang="en-US" dirty="0"/>
          </a:p>
          <a:p>
            <a:r>
              <a:rPr lang="en-US" dirty="0"/>
              <a:t>[EMPHASIZE] 'Every stage you just saw is inspectable. Testable. Replaceable. You can swap the LLM. You can add a cache in front of it. You can unit-test the validator.'</a:t>
            </a:r>
          </a:p>
          <a:p>
            <a:endParaRPr lang="en-US" dirty="0"/>
          </a:p>
          <a:p>
            <a:r>
              <a:rPr lang="en-US" dirty="0"/>
              <a:t>'When something goes wrong in production — and it will — you can open a log and see exactly which stage failed.'</a:t>
            </a:r>
          </a:p>
          <a:p>
            <a:endParaRPr lang="en-US" dirty="0"/>
          </a:p>
          <a:p>
            <a:r>
              <a:rPr lang="en-US" dirty="0"/>
              <a:t>[PAUSE] 'That is why this works in an enterprise context. Because it stops being AI and starts being software.'</a:t>
            </a:r>
          </a:p>
          <a:p>
            <a:endParaRPr lang="en-US" dirty="0"/>
          </a:p>
          <a:p>
            <a:r>
              <a:rPr lang="en-US" dirty="0"/>
              <a:t>[TRANSITION] 'Let me zoom out and show you the architecture.'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[ARCHITECTURE] Architects in the room, this slide is for you.</a:t>
            </a:r>
          </a:p>
          <a:p>
            <a:endParaRPr lang="en-US" dirty="0"/>
          </a:p>
          <a:p>
            <a:r>
              <a:rPr lang="en-US" dirty="0"/>
              <a:t>Three layers. Walk through top to bottom:</a:t>
            </a:r>
          </a:p>
          <a:p>
            <a:endParaRPr lang="en-US" dirty="0"/>
          </a:p>
          <a:p>
            <a:r>
              <a:rPr lang="en-US" dirty="0"/>
              <a:t>Layer 1 — Intake. The only layer that touches the user and the database schema. It answers: 'What did they ask, and what do we know about the data?'</a:t>
            </a:r>
          </a:p>
          <a:p>
            <a:endParaRPr lang="en-US" dirty="0"/>
          </a:p>
          <a:p>
            <a:r>
              <a:rPr lang="en-US" dirty="0"/>
              <a:t>Layer 2 — Brain. The LLM lives here, and so does the validator. Input: user intent plus schema. Output: safe SQL. Nothing else gets in or out.</a:t>
            </a:r>
          </a:p>
          <a:p>
            <a:endParaRPr lang="en-US" dirty="0"/>
          </a:p>
          <a:p>
            <a:r>
              <a:rPr lang="en-US" dirty="0"/>
              <a:t>Layer 3 — Output. Runs the query, formats the results, feeds downstream consumers like Excel or charts.</a:t>
            </a:r>
          </a:p>
          <a:p>
            <a:endParaRPr lang="en-US" dirty="0"/>
          </a:p>
          <a:p>
            <a:r>
              <a:rPr lang="en-US" dirty="0"/>
              <a:t>[EMPHASIZE] Read the bottom strip: 'Swap the LLM, swap the database, swap the UI — the contract between layers stays the same.'</a:t>
            </a:r>
          </a:p>
          <a:p>
            <a:endParaRPr lang="en-US" dirty="0"/>
          </a:p>
          <a:p>
            <a:r>
              <a:rPr lang="en-US" dirty="0"/>
              <a:t>'Which means when OpenAI releases a better model next week, you change one class. When you move from SQL Server to Postgres, you change one class. That is the win.'</a:t>
            </a:r>
          </a:p>
          <a:p>
            <a:endParaRPr lang="en-US" dirty="0"/>
          </a:p>
          <a:p>
            <a:r>
              <a:rPr lang="en-US" dirty="0"/>
              <a:t>[TRANSITION] 'And because the layers are clean, this whole thing fits in one NuGet module.'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[PRACTICAL] Point at the code block on the left.</a:t>
            </a:r>
          </a:p>
          <a:p>
            <a:endParaRPr lang="en-US" dirty="0"/>
          </a:p>
          <a:p>
            <a:r>
              <a:rPr lang="en-US" dirty="0"/>
              <a:t>'This is literally the whole setup. Three lines in Program.cs:'</a:t>
            </a:r>
          </a:p>
          <a:p>
            <a:r>
              <a:rPr lang="en-US" dirty="0"/>
              <a:t>- Connection string — where's your database</a:t>
            </a:r>
          </a:p>
          <a:p>
            <a:r>
              <a:rPr lang="en-US" dirty="0"/>
              <a:t>- LLM provider — OpenAI, Azure OpenAI, local model, whatever</a:t>
            </a:r>
          </a:p>
          <a:p>
            <a:r>
              <a:rPr lang="en-US" dirty="0"/>
              <a:t>- ReadOnly flag — belt and suspenders on top of the validator</a:t>
            </a:r>
          </a:p>
          <a:p>
            <a:endParaRPr lang="en-US" dirty="0"/>
          </a:p>
          <a:p>
            <a:r>
              <a:rPr lang="en-US" dirty="0"/>
              <a:t>'Then you inject IReportingService wherever you want to use it.'</a:t>
            </a:r>
          </a:p>
          <a:p>
            <a:endParaRPr lang="en-US" dirty="0"/>
          </a:p>
          <a:p>
            <a:r>
              <a:rPr lang="en-US" dirty="0"/>
              <a:t>[RIGHT] Tap the three target cards:</a:t>
            </a:r>
          </a:p>
          <a:p>
            <a:r>
              <a:rPr lang="en-US" dirty="0"/>
              <a:t>- ASP.NET API — expose as an HTTP endpoint for integrations</a:t>
            </a:r>
          </a:p>
          <a:p>
            <a:r>
              <a:rPr lang="en-US" dirty="0"/>
              <a:t>- Blazor or MAUI — what we'll see next</a:t>
            </a:r>
          </a:p>
          <a:p>
            <a:r>
              <a:rPr lang="en-US" dirty="0"/>
              <a:t>- Worker or CLI — schedule it, pipe results to email or Slack</a:t>
            </a:r>
          </a:p>
          <a:p>
            <a:endParaRPr lang="en-US" dirty="0"/>
          </a:p>
          <a:p>
            <a:r>
              <a:rPr lang="en-US" dirty="0"/>
              <a:t>[EMPHASIZE] 'One module, three lines of setup, any .NET app.'</a:t>
            </a:r>
          </a:p>
          <a:p>
            <a:endParaRPr lang="en-US" dirty="0"/>
          </a:p>
          <a:p>
            <a:r>
              <a:rPr lang="en-US" dirty="0"/>
              <a:t>[TRANSITION] 'So let us look at what a real product feels like.'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[DIVIDER] Brief pacing slide — 10 seconds.</a:t>
            </a:r>
          </a:p>
          <a:p>
            <a:endParaRPr lang="en-US" dirty="0"/>
          </a:p>
          <a:p>
            <a:r>
              <a:rPr lang="en-US" dirty="0"/>
              <a:t>'Second demo: the product. Same backend, but now with voice input, live charts, and Excel export. This is what you'd actually ship to business users.'</a:t>
            </a:r>
          </a:p>
          <a:p>
            <a:endParaRPr lang="en-US" dirty="0"/>
          </a:p>
          <a:p>
            <a:r>
              <a:rPr lang="en-US" dirty="0"/>
              <a:t>[STAGE] Take a breath. Check the room. Walk to the other side of the stage if possible.</a:t>
            </a:r>
          </a:p>
          <a:p>
            <a:endParaRPr lang="en-US" dirty="0"/>
          </a:p>
          <a:p>
            <a:r>
              <a:rPr lang="en-US" dirty="0"/>
              <a:t>[TRANSITION] 'Let me show you the pieces.'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[SETUP] This slide introduces the second demo. Frame it as 'same engine, different car.'</a:t>
            </a:r>
          </a:p>
          <a:p>
            <a:endParaRPr lang="en-US" dirty="0"/>
          </a:p>
          <a:p>
            <a:r>
              <a:rPr lang="en-US" dirty="0"/>
              <a:t>'The console app proved the pipeline works. But business users don't open a terminal — they want to click, talk, and see a chart.'</a:t>
            </a:r>
          </a:p>
          <a:p>
            <a:endParaRPr lang="en-US" dirty="0"/>
          </a:p>
          <a:p>
            <a:r>
              <a:rPr lang="en-US" dirty="0"/>
              <a:t>Walk through the three upgrades briefly:</a:t>
            </a:r>
          </a:p>
          <a:p>
            <a:r>
              <a:rPr lang="en-US" dirty="0"/>
              <a:t>- Voice input — you literally speak your question</a:t>
            </a:r>
          </a:p>
          <a:p>
            <a:r>
              <a:rPr lang="en-US" dirty="0"/>
              <a:t>- Live charts — results render as tables AND as visualizations</a:t>
            </a:r>
          </a:p>
          <a:p>
            <a:r>
              <a:rPr lang="en-US" dirty="0"/>
              <a:t>- One-click Excel export — because half of all reporting ends in Excel anyway</a:t>
            </a:r>
          </a:p>
          <a:p>
            <a:endParaRPr lang="en-US" dirty="0"/>
          </a:p>
          <a:p>
            <a:r>
              <a:rPr lang="en-US" dirty="0"/>
              <a:t>[EMPHASIZE] 'The backend code? Identical. We just swapped the UI.'</a:t>
            </a:r>
          </a:p>
          <a:p>
            <a:endParaRPr lang="en-US" dirty="0"/>
          </a:p>
          <a:p>
            <a:r>
              <a:rPr lang="en-US" dirty="0"/>
              <a:t>[TRANSITION] 'Let me show you.'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 DEMO] Switch to the Blazor browser window. Make sure the mic permission is already granted before the talk.</a:t>
            </a:r>
          </a:p>
          <a:p>
            <a:endParaRPr lang="en-US" dirty="0"/>
          </a:p>
          <a:p>
            <a:r>
              <a:rPr lang="en-US" dirty="0"/>
              <a:t>Demo script — roughly 4 minutes total:</a:t>
            </a:r>
          </a:p>
          <a:p>
            <a:endParaRPr lang="en-US" dirty="0"/>
          </a:p>
          <a:p>
            <a:r>
              <a:rPr lang="en-US" dirty="0"/>
              <a:t>1. Click the mic button. Say clearly: 'Show me sales trends for the last six months.'</a:t>
            </a:r>
          </a:p>
          <a:p>
            <a:r>
              <a:rPr lang="en-US" dirty="0"/>
              <a:t>2. Let the audience watch the transcription appear.</a:t>
            </a:r>
          </a:p>
          <a:p>
            <a:r>
              <a:rPr lang="en-US" dirty="0"/>
              <a:t>3. Show the SQL it generated (same pipeline as before — point this out).</a:t>
            </a:r>
          </a:p>
          <a:p>
            <a:r>
              <a:rPr lang="en-US" dirty="0"/>
              <a:t>4. Watch the table render.</a:t>
            </a:r>
          </a:p>
          <a:p>
            <a:r>
              <a:rPr lang="en-US" dirty="0"/>
              <a:t>5. Switch to the chart tab — the 'wow' moment.</a:t>
            </a:r>
          </a:p>
          <a:p>
            <a:r>
              <a:rPr lang="en-US" dirty="0"/>
              <a:t>6. Click Export to Excel. Open the file briefly so they see it's real.</a:t>
            </a:r>
          </a:p>
          <a:p>
            <a:endParaRPr lang="en-US" dirty="0"/>
          </a:p>
          <a:p>
            <a:r>
              <a:rPr lang="en-US" dirty="0"/>
              <a:t>[EMPHASIZE] 'Voice in. Chart out. Spreadsheet in my downloads folder. Zero SQL.'</a:t>
            </a:r>
          </a:p>
          <a:p>
            <a:endParaRPr lang="en-US" dirty="0"/>
          </a:p>
          <a:p>
            <a:r>
              <a:rPr lang="en-US" dirty="0"/>
              <a:t>[FALLBACK] If the mic fails, just type the query. Don't panic. Say: 'Let me type this instead.'</a:t>
            </a:r>
          </a:p>
          <a:p>
            <a:endParaRPr lang="en-US" dirty="0"/>
          </a:p>
          <a:p>
            <a:r>
              <a:rPr lang="en-US" dirty="0"/>
              <a:t>[TRANSITION] Return to slides. 'Why does this feel different from the console? Let's talk about UX.'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[REFLECTION] Slow down here. The audience just saw something cool — give them a moment to integrate it.</a:t>
            </a:r>
          </a:p>
          <a:p>
            <a:endParaRPr lang="en-US" dirty="0"/>
          </a:p>
          <a:p>
            <a:r>
              <a:rPr lang="en-US" dirty="0"/>
              <a:t>Three UX truths this project taught me:</a:t>
            </a:r>
          </a:p>
          <a:p>
            <a:endParaRPr lang="en-US" dirty="0"/>
          </a:p>
          <a:p>
            <a:r>
              <a:rPr lang="en-US" dirty="0"/>
              <a:t>- Simplicity wins. The user types or speaks. That's it. No dropdowns, no filters, no form fields.</a:t>
            </a:r>
          </a:p>
          <a:p>
            <a:r>
              <a:rPr lang="en-US" dirty="0"/>
              <a:t>- Instant feedback. Show the SQL. Show the table. Show the chart. Never leave the user staring at a spinner with no context.</a:t>
            </a:r>
          </a:p>
          <a:p>
            <a:r>
              <a:rPr lang="en-US" dirty="0"/>
              <a:t>- Trust in results. Every answer can be inspected — show me the query, show me the row count, let me verify.</a:t>
            </a:r>
          </a:p>
          <a:p>
            <a:endParaRPr lang="en-US" dirty="0"/>
          </a:p>
          <a:p>
            <a:r>
              <a:rPr lang="en-US" dirty="0"/>
              <a:t>[EMPHASIZE] 'The tech is the LLM. The product is the trust.'</a:t>
            </a:r>
          </a:p>
          <a:p>
            <a:endParaRPr lang="en-US" dirty="0"/>
          </a:p>
          <a:p>
            <a:r>
              <a:rPr lang="en-US" dirty="0"/>
              <a:t>[TRANSITION] 'So where does this actually fit in the real world?'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[MAKE IT REAL] This is where you connect the demo to their day job. Tailor the examples to the room if you can — if you know someone works in finance, lean on that one.</a:t>
            </a:r>
          </a:p>
          <a:p>
            <a:endParaRPr lang="en-US" dirty="0"/>
          </a:p>
          <a:p>
            <a:r>
              <a:rPr lang="en-US" dirty="0"/>
              <a:t>Four places this pattern ships today:</a:t>
            </a:r>
          </a:p>
          <a:p>
            <a:endParaRPr lang="en-US" dirty="0"/>
          </a:p>
          <a:p>
            <a:r>
              <a:rPr lang="en-US" dirty="0"/>
              <a:t>- Admin dashboards — internal tools where PMs, ops, and support staff self-serve data</a:t>
            </a:r>
          </a:p>
          <a:p>
            <a:r>
              <a:rPr lang="en-US" dirty="0"/>
              <a:t>- Customer support — '/lookup everything for account 1234' without a Slack ticket to engineering</a:t>
            </a:r>
          </a:p>
          <a:p>
            <a:r>
              <a:rPr lang="en-US" dirty="0"/>
              <a:t>- Finance and BI — replacing half-built Power BI reports that nobody maintains</a:t>
            </a:r>
          </a:p>
          <a:p>
            <a:r>
              <a:rPr lang="en-US" dirty="0"/>
              <a:t>- Sales ops — 'what's my pipeline this quarter?' asked and answered in five seconds</a:t>
            </a:r>
          </a:p>
          <a:p>
            <a:endParaRPr lang="en-US" dirty="0"/>
          </a:p>
          <a:p>
            <a:r>
              <a:rPr lang="en-US" dirty="0"/>
              <a:t>[EMPHASIZE] 'Every company you've worked at had this need. You just didn't have the tools to solve it cheaply. Now you do.'</a:t>
            </a:r>
          </a:p>
          <a:p>
            <a:endParaRPr lang="en-US" dirty="0"/>
          </a:p>
          <a:p>
            <a:r>
              <a:rPr lang="en-US" dirty="0"/>
              <a:t>[TRANSITION] 'Before you go build one — the real talk.'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[HONEST] Don't skip past this. The audience trusts you more when you admit what's hard.</a:t>
            </a:r>
          </a:p>
          <a:p>
            <a:endParaRPr lang="en-US" dirty="0"/>
          </a:p>
          <a:p>
            <a:r>
              <a:rPr lang="en-US" dirty="0"/>
              <a:t>Challenges you will absolutely hit:</a:t>
            </a:r>
          </a:p>
          <a:p>
            <a:r>
              <a:rPr lang="en-US" dirty="0"/>
              <a:t>- Prompt tuning is iterative. Your first prompt will be wrong. Your tenth will still miss edge cases.</a:t>
            </a:r>
          </a:p>
          <a:p>
            <a:r>
              <a:rPr lang="en-US" dirty="0"/>
              <a:t>- SQL safety is a moving target — you're not just blocking DROP, you're blocking creative joins that melt the DB.</a:t>
            </a:r>
          </a:p>
          <a:p>
            <a:r>
              <a:rPr lang="en-US" dirty="0"/>
              <a:t>- Performance matters — LLM latency + query latency compounds. Cache aggressively.</a:t>
            </a:r>
          </a:p>
          <a:p>
            <a:r>
              <a:rPr lang="en-US" dirty="0"/>
              <a:t>- Edge cases are infinite. 'Show me sales' is easy. 'Compare this quarter to the same quarter two years ago, excluding returns' is not.</a:t>
            </a:r>
          </a:p>
          <a:p>
            <a:endParaRPr lang="en-US" dirty="0"/>
          </a:p>
          <a:p>
            <a:r>
              <a:rPr lang="en-US" dirty="0"/>
              <a:t>Best practices that actually work:</a:t>
            </a:r>
          </a:p>
          <a:p>
            <a:r>
              <a:rPr lang="en-US" dirty="0"/>
              <a:t>- Always validate SQL. Twice. Belt and suspenders.</a:t>
            </a:r>
          </a:p>
          <a:p>
            <a:r>
              <a:rPr lang="en-US" dirty="0"/>
              <a:t>- Keep prompts strict — don't try to be clever.</a:t>
            </a:r>
          </a:p>
          <a:p>
            <a:r>
              <a:rPr lang="en-US" dirty="0"/>
              <a:t>- Log every single query, prompt, and response. You'll need them when a user says 'that number looks wrong.'</a:t>
            </a:r>
          </a:p>
          <a:p>
            <a:r>
              <a:rPr lang="en-US" dirty="0"/>
              <a:t>- Start simple. Ship the ugly version first.</a:t>
            </a:r>
          </a:p>
          <a:p>
            <a:endParaRPr lang="en-US" dirty="0"/>
          </a:p>
          <a:p>
            <a:r>
              <a:rPr lang="en-US" dirty="0"/>
              <a:t>[TRANSITION] 'Which brings me to the three things I want you to take home.'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[CLOSING] Speak slowly. Make eye contact with different sections of the room.</a:t>
            </a:r>
          </a:p>
          <a:p>
            <a:endParaRPr lang="en-US" dirty="0"/>
          </a:p>
          <a:p>
            <a:r>
              <a:rPr lang="en-US" dirty="0"/>
              <a:t>Four takeaways — the reason you came today:</a:t>
            </a:r>
          </a:p>
          <a:p>
            <a:r>
              <a:rPr lang="en-US" dirty="0"/>
              <a:t>- LLMs can unlock data. Not in a hype way — in a boring, pipeline-shaped, shippable way.</a:t>
            </a:r>
          </a:p>
          <a:p>
            <a:r>
              <a:rPr lang="en-US" dirty="0"/>
              <a:t>- Start small. A console app. One table. One query. Prove the pattern before you build the Blazor version.</a:t>
            </a:r>
          </a:p>
          <a:p>
            <a:r>
              <a:rPr lang="en-US" dirty="0"/>
              <a:t>- Scale to real apps. When the pattern works, wrap it in the UX your users actually want.</a:t>
            </a:r>
          </a:p>
          <a:p>
            <a:r>
              <a:rPr lang="en-US" dirty="0"/>
              <a:t>- Focus on UX. The LLM is replaceable. The trust you build with users is not.</a:t>
            </a:r>
          </a:p>
          <a:p>
            <a:endParaRPr lang="en-US" dirty="0"/>
          </a:p>
          <a:p>
            <a:r>
              <a:rPr lang="en-US" dirty="0"/>
              <a:t>[PAUSE 2s]</a:t>
            </a:r>
          </a:p>
          <a:p>
            <a:endParaRPr lang="en-US" dirty="0"/>
          </a:p>
          <a:p>
            <a:r>
              <a:rPr lang="en-US" dirty="0"/>
              <a:t>[CLOSING LINE] 'Start simple. Then evolve into a product.'</a:t>
            </a:r>
          </a:p>
          <a:p>
            <a:endParaRPr lang="en-US" dirty="0"/>
          </a:p>
          <a:p>
            <a:r>
              <a:rPr lang="en-US" dirty="0"/>
              <a:t>[PAUSE 3s]</a:t>
            </a:r>
          </a:p>
          <a:p>
            <a:endParaRPr lang="en-US" dirty="0"/>
          </a:p>
          <a:p>
            <a:r>
              <a:rPr lang="en-US" dirty="0"/>
              <a:t>'Thank you — I'd love your questions.'</a:t>
            </a:r>
          </a:p>
          <a:p>
            <a:endParaRPr lang="en-US" dirty="0"/>
          </a:p>
          <a:p>
            <a:r>
              <a:rPr lang="en-US" dirty="0"/>
              <a:t>[QA] Stay on this slide. Don't flip back to earlier slides unless someone asks. Repeat the question so the whole room hears it. If you don't know the answer: 'Great question, I don't know — find me after.' Better than faking it.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4A668-7820-8A4A-4103-128C3CDA4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9A3CB-1C8E-5F2F-7E0F-8020AFD538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CADC6-76DB-B80D-E8B5-277C2C2E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AF917-D7F4-8BDC-D92C-96432793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E976-38CC-1FA0-D8CD-0C979B05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0898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84EA-CDF2-A314-8B91-728E9C67C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DB4ED-5BD8-7B2F-230B-41DA4B100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911EF-0B06-7947-9DDD-F75EAE1E6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5DB6-DF7E-9B25-7163-08A55C6D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487D7-4C0B-B815-A0A2-20D99AF6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277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DCC4-B41F-B311-79C2-28D722B4B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08651-0BA3-BCF8-ABEC-224E7B087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281D8-3A7D-3F81-FB3C-A03503404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8AA5C-4342-D1C9-194A-B89241879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BE101-D0F2-8A6D-AC9A-A5E7216C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4926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6B5E5-CF30-49C0-2511-08B3A156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31D83-C97A-AF38-42B5-644B19337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2F6F4F-DC33-347D-99DB-F6373935D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DB5C53-F985-18A5-A9F4-F99EEDD1D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DF2EC-6BCA-192E-89E4-81A3660A5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4955E-3D13-74E3-945B-29C90C29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1125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AFCE-4360-3529-85C2-D60FC5E11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86F6A-F01D-451D-9D1C-C244C18E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1DA4F-D891-8A45-3D20-4FE773914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51488-DD92-854E-AD1E-96FF4EA71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6D5DA0-F756-BF63-C4FA-25F46285D9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580AF-DDF0-5735-7FA1-BA2164904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1F4271-D40F-CA31-8B0B-FE6CC8A48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DE1E1-DCF0-0C8F-541D-DD492121D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4434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1F5F-D53B-EC38-2AA3-5FE1BA25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6DACA6-FDEE-7F72-D51C-BDC0D588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5F510D-AF43-9AB9-943B-8B04D964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D72D5-3121-A953-13E1-BB6B5BEE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4813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3533E-79AA-F494-5B16-80AC9FA6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ED0A2C-F8A5-BE29-11EA-CA93E3C8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23C4C-67E4-75FD-7BAF-CBD91412F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37297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D7AFE-9199-4B99-6229-31F59F69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6E8B0-4AA1-2AB8-7AE0-2EA8800C3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647DDB-79DD-4362-7368-01805DD73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3BFDDE-F648-F670-FC83-45FB6643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6594F-6295-65C2-9F7E-10C6F06A1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D7D61-B07D-E080-7E94-03E2BB8F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667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2E56-AA67-3DBD-311B-635721F90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95AD3-6D8E-9C5F-1135-7EF1ADB47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28BCE-E549-CD71-E3A8-9C90152AA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AFBE0-8FD6-DED4-0EED-4DBA9FF0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D7EB54-93F5-4DEF-EB51-550B04FF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B9F31-E1A5-9596-FBCA-39DBD706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9987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8888-A623-35ED-213E-A37F6BDE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A9139-209A-A01D-82F3-A8BCA77BC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7F07A-463B-C7B5-5472-301379FCD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97970-C865-4EA9-BD77-F90120B8C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4E478-9DD2-5A8A-E300-876CD465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42221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DBE8A5-7C1E-E08E-7897-C746B1087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D3E72-F444-9496-C4DD-3BD97A07C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5E509-79F7-F450-D395-0E6FB01E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8506B-FD6B-821D-547B-4DDD9E98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1E9E-6227-96CD-F6BB-7C48811F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3662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5570F-08DF-C25C-7EA2-5D2EAFC9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34B50-5538-83C8-3AA5-0C3617709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1F98-55B7-9A51-0154-752A6A1687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59CCF-2F75-48E0-B827-F930E918C137}" type="datetimeFigureOut">
              <a:rPr lang="tr-TR" smtClean="0"/>
              <a:t>20.04.2026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A37BB-55F0-1E88-2CB1-D47229C910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2FFEB3-CD35-26D7-5BD0-357AAFB5A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F86283-E030-43E8-9698-621E2E587A4B}" type="slidenum">
              <a:rPr lang="tr-TR" smtClean="0"/>
              <a:t>‹#›</a:t>
            </a:fld>
            <a:endParaRPr lang="tr-TR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FooterLine"/>
          <p:cNvSpPr/>
          <p:nvPr userDrawn="1"/>
        </p:nvSpPr>
        <p:spPr>
          <a:xfrm>
            <a:off x="457200" y="6400800"/>
            <a:ext cx="822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FooterBrand"/>
          <p:cNvSpPr txBox="1"/>
          <p:nvPr userDrawn="1"/>
        </p:nvSpPr>
        <p:spPr>
          <a:xfrm>
            <a:off x="457200" y="6477000"/>
            <a:ext cx="5486400" cy="254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900" dirty="0">
                <a:solidFill>
                  <a:srgbClr val="94A3B8"/>
                </a:solidFill>
              </a:rPr>
              <a:t>Building AI-Powered Reporting with .NET  ·  x.com/alperebicoglu</a:t>
            </a:r>
          </a:p>
        </p:txBody>
      </p:sp>
      <p:pic>
        <p:nvPicPr>
          <p:cNvPr id="903" name="QR_Twit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80800" y="61214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76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172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5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LeftPanel"/>
          <p:cNvSpPr/>
          <p:nvPr/>
        </p:nvSpPr>
        <p:spPr>
          <a:xfrm>
            <a:off x="0" y="0"/>
            <a:ext cx="70612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AccentBar"/>
          <p:cNvSpPr/>
          <p:nvPr/>
        </p:nvSpPr>
        <p:spPr>
          <a:xfrm>
            <a:off x="0" y="0"/>
            <a:ext cx="70612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VDivider"/>
          <p:cNvSpPr/>
          <p:nvPr/>
        </p:nvSpPr>
        <p:spPr>
          <a:xfrm>
            <a:off x="6985000" y="0"/>
            <a:ext cx="102936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" name="Chip"/>
          <p:cNvSpPr/>
          <p:nvPr/>
        </p:nvSpPr>
        <p:spPr>
          <a:xfrm>
            <a:off x="508000" y="457200"/>
            <a:ext cx="3048000" cy="355600"/>
          </a:xfrm>
          <a:prstGeom prst="roundRect">
            <a:avLst>
              <a:gd name="adj" fmla="val 50000"/>
            </a:avLst>
          </a:prstGeom>
          <a:solidFill>
            <a:srgbClr val="164E63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/>
            <a:r>
              <a:rPr lang="en-US" b="1" spc="300" dirty="0">
                <a:solidFill>
                  <a:srgbClr val="22D3EE"/>
                </a:solidFill>
              </a:rPr>
              <a:t>DOTNET KONF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1142999"/>
            <a:ext cx="6527800" cy="3662681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</a:rPr>
              <a:t>Building 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AI-Powered</a:t>
            </a:r>
          </a:p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FFFFFF"/>
                </a:solidFill>
              </a:rPr>
              <a:t>Reporting with </a:t>
            </a:r>
            <a:r>
              <a:rPr lang="en-US" b="1" dirty="0">
                <a:solidFill>
                  <a:srgbClr val="22D3EE"/>
                </a:solidFill>
              </a:rPr>
              <a:t>.NET</a:t>
            </a:r>
          </a:p>
        </p:txBody>
      </p:sp>
      <p:sp>
        <p:nvSpPr>
          <p:cNvPr id="600" name="AvatarCircle"/>
          <p:cNvSpPr/>
          <p:nvPr/>
        </p:nvSpPr>
        <p:spPr>
          <a:xfrm>
            <a:off x="7374021" y="673100"/>
            <a:ext cx="1143000" cy="1143000"/>
          </a:xfrm>
          <a:prstGeom prst="ellipse">
            <a:avLst/>
          </a:prstGeom>
          <a:solidFill>
            <a:srgbClr val="0891B2"/>
          </a:solidFill>
          <a:ln w="19050">
            <a:solidFill>
              <a:srgbClr val="22D3EE"/>
            </a:solidFill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4400" b="1" dirty="0">
                <a:solidFill>
                  <a:srgbClr val="FFFFFF"/>
                </a:solidFill>
              </a:rPr>
              <a:t>AE</a:t>
            </a:r>
          </a:p>
        </p:txBody>
      </p:sp>
      <p:sp>
        <p:nvSpPr>
          <p:cNvPr id="601" name="SpeakerName"/>
          <p:cNvSpPr txBox="1"/>
          <p:nvPr/>
        </p:nvSpPr>
        <p:spPr>
          <a:xfrm>
            <a:off x="8666077" y="701172"/>
            <a:ext cx="3195053" cy="6450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4000" b="1" dirty="0">
                <a:solidFill>
                  <a:srgbClr val="0F172A"/>
                </a:solidFill>
              </a:rPr>
              <a:t>Alper Ebiçoğlu</a:t>
            </a:r>
          </a:p>
        </p:txBody>
      </p:sp>
      <p:sp>
        <p:nvSpPr>
          <p:cNvPr id="602" name="SpeakerRole"/>
          <p:cNvSpPr txBox="1"/>
          <p:nvPr/>
        </p:nvSpPr>
        <p:spPr>
          <a:xfrm>
            <a:off x="8666077" y="1384300"/>
            <a:ext cx="3454400" cy="44917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800" dirty="0">
                <a:solidFill>
                  <a:srgbClr val="475569"/>
                </a:solidFill>
              </a:rPr>
              <a:t>Cofounder—Volosoft</a:t>
            </a:r>
          </a:p>
        </p:txBody>
      </p:sp>
      <p:sp>
        <p:nvSpPr>
          <p:cNvPr id="610" name="RightDiv"/>
          <p:cNvSpPr/>
          <p:nvPr/>
        </p:nvSpPr>
        <p:spPr>
          <a:xfrm>
            <a:off x="7505700" y="2332789"/>
            <a:ext cx="4191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0" name="QRLabel"/>
          <p:cNvSpPr txBox="1"/>
          <p:nvPr/>
        </p:nvSpPr>
        <p:spPr>
          <a:xfrm>
            <a:off x="8140700" y="2730500"/>
            <a:ext cx="3048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600" b="1" spc="200" dirty="0">
                <a:solidFill>
                  <a:srgbClr val="64748B"/>
                </a:solidFill>
              </a:rPr>
              <a:t>FOLLOW on TWITTER</a:t>
            </a:r>
          </a:p>
        </p:txBody>
      </p:sp>
      <p:pic>
        <p:nvPicPr>
          <p:cNvPr id="621" name="QR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700" y="3048000"/>
            <a:ext cx="3048000" cy="3048000"/>
          </a:xfrm>
          <a:prstGeom prst="rect">
            <a:avLst/>
          </a:prstGeom>
        </p:spPr>
      </p:pic>
      <p:sp>
        <p:nvSpPr>
          <p:cNvPr id="622" name="QRUrl"/>
          <p:cNvSpPr txBox="1"/>
          <p:nvPr/>
        </p:nvSpPr>
        <p:spPr>
          <a:xfrm>
            <a:off x="7886700" y="6096000"/>
            <a:ext cx="355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dirty="0"/>
              <a:t>x.com/</a:t>
            </a:r>
            <a:r>
              <a:rPr lang="en-US" b="1" dirty="0"/>
              <a:t>alperebicoglu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2DF1F1EF-0A50-6D19-3F17-37567905D655}"/>
              </a:ext>
            </a:extLst>
          </p:cNvPr>
          <p:cNvCxnSpPr>
            <a:cxnSpLocks/>
            <a:stCxn id="620" idx="3"/>
            <a:endCxn id="621" idx="3"/>
          </p:cNvCxnSpPr>
          <p:nvPr/>
        </p:nvCxnSpPr>
        <p:spPr>
          <a:xfrm>
            <a:off x="11188700" y="2870200"/>
            <a:ext cx="12700" cy="1701800"/>
          </a:xfrm>
          <a:prstGeom prst="curvedConnector3">
            <a:avLst>
              <a:gd name="adj1" fmla="val 4392000"/>
            </a:avLst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4889500"/>
            <a:ext cx="4744453" cy="50800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3200" dirty="0">
                <a:solidFill>
                  <a:srgbClr val="94A3B8"/>
                </a:solidFill>
              </a:rPr>
              <a:t>From Your Native Language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D1D0BC3-3BFF-8912-9DA1-DA0F0A31D2D7}"/>
              </a:ext>
            </a:extLst>
          </p:cNvPr>
          <p:cNvGrpSpPr/>
          <p:nvPr/>
        </p:nvGrpSpPr>
        <p:grpSpPr>
          <a:xfrm>
            <a:off x="5067206" y="4889500"/>
            <a:ext cx="1651187" cy="508000"/>
            <a:chOff x="5067206" y="4889500"/>
            <a:chExt cx="1651187" cy="508000"/>
          </a:xfrm>
        </p:grpSpPr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F0C04564-E4C0-F5EF-41C0-C360D063978F}"/>
                </a:ext>
              </a:extLst>
            </p:cNvPr>
            <p:cNvSpPr/>
            <p:nvPr/>
          </p:nvSpPr>
          <p:spPr>
            <a:xfrm>
              <a:off x="5067206" y="4913564"/>
              <a:ext cx="573024" cy="424180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 dirty="0"/>
            </a:p>
          </p:txBody>
        </p:sp>
        <p:sp>
          <p:nvSpPr>
            <p:cNvPr id="12" name="Subtitle 2">
              <a:extLst>
                <a:ext uri="{FF2B5EF4-FFF2-40B4-BE49-F238E27FC236}">
                  <a16:creationId xmlns:a16="http://schemas.microsoft.com/office/drawing/2014/main" id="{8346BC4F-555E-4279-9796-2E03531A4D9E}"/>
                </a:ext>
              </a:extLst>
            </p:cNvPr>
            <p:cNvSpPr txBox="1">
              <a:spLocks/>
            </p:cNvSpPr>
            <p:nvPr/>
          </p:nvSpPr>
          <p:spPr>
            <a:xfrm>
              <a:off x="5741830" y="4889500"/>
              <a:ext cx="976563" cy="508000"/>
            </a:xfrm>
            <a:prstGeom prst="rect">
              <a:avLst/>
            </a:prstGeom>
          </p:spPr>
          <p:txBody>
            <a:bodyPr vert="horz" wrap="square" lIns="0" tIns="0" rIns="0" bIns="0" rtlCol="0" anchor="t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rgbClr val="334155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3200" dirty="0">
                  <a:solidFill>
                    <a:srgbClr val="94A3B8"/>
                  </a:solidFill>
                </a:rPr>
                <a:t>SQL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074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C0D9473-061D-C9E9-4B55-5C81CD2FBAC1}"/>
              </a:ext>
            </a:extLst>
          </p:cNvPr>
          <p:cNvGrpSpPr/>
          <p:nvPr/>
        </p:nvGrpSpPr>
        <p:grpSpPr>
          <a:xfrm>
            <a:off x="292607" y="500775"/>
            <a:ext cx="5781675" cy="5826874"/>
            <a:chOff x="5851726" y="316952"/>
            <a:chExt cx="5400000" cy="6392899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05BF955-0262-9FFC-A3DF-B392C75BB70E}"/>
                </a:ext>
              </a:extLst>
            </p:cNvPr>
            <p:cNvCxnSpPr>
              <a:cxnSpLocks/>
            </p:cNvCxnSpPr>
            <p:nvPr/>
          </p:nvCxnSpPr>
          <p:spPr>
            <a:xfrm>
              <a:off x="6601026" y="405089"/>
              <a:ext cx="0" cy="6064007"/>
            </a:xfrm>
            <a:prstGeom prst="line">
              <a:avLst/>
            </a:prstGeom>
            <a:ln w="28575">
              <a:solidFill>
                <a:srgbClr val="D9D9D9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EA45590-D411-FBCF-8031-68C9298C8D68}"/>
                </a:ext>
              </a:extLst>
            </p:cNvPr>
            <p:cNvGrpSpPr/>
            <p:nvPr/>
          </p:nvGrpSpPr>
          <p:grpSpPr>
            <a:xfrm>
              <a:off x="5851726" y="316952"/>
              <a:ext cx="5400000" cy="1080000"/>
              <a:chOff x="5177173" y="285179"/>
              <a:chExt cx="6302970" cy="1096566"/>
            </a:xfrm>
          </p:grpSpPr>
          <p:sp>
            <p:nvSpPr>
              <p:cNvPr id="23" name="Shape 1">
                <a:extLst>
                  <a:ext uri="{FF2B5EF4-FFF2-40B4-BE49-F238E27FC236}">
                    <a16:creationId xmlns:a16="http://schemas.microsoft.com/office/drawing/2014/main" id="{831188E9-0791-5F7D-6BF7-EAD5BE1BB0BC}"/>
                  </a:ext>
                </a:extLst>
              </p:cNvPr>
              <p:cNvSpPr/>
              <p:nvPr/>
            </p:nvSpPr>
            <p:spPr>
              <a:xfrm>
                <a:off x="5177173" y="285179"/>
                <a:ext cx="6302970" cy="1096566"/>
              </a:xfrm>
              <a:prstGeom prst="roundRect">
                <a:avLst>
                  <a:gd name="adj" fmla="val 7206"/>
                </a:avLst>
              </a:prstGeom>
              <a:solidFill>
                <a:schemeClr val="bg1">
                  <a:lumMod val="95000"/>
                </a:schemeClr>
              </a:solidFill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Text 2">
                <a:extLst>
                  <a:ext uri="{FF2B5EF4-FFF2-40B4-BE49-F238E27FC236}">
                    <a16:creationId xmlns:a16="http://schemas.microsoft.com/office/drawing/2014/main" id="{991C0F6F-36D1-2F0B-79ED-5ED4B250F002}"/>
                  </a:ext>
                </a:extLst>
              </p:cNvPr>
              <p:cNvSpPr/>
              <p:nvPr/>
            </p:nvSpPr>
            <p:spPr>
              <a:xfrm>
                <a:off x="5371641" y="479648"/>
                <a:ext cx="2351882" cy="29388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1997</a:t>
                </a:r>
                <a:endParaRPr lang="en-US" sz="2000" b="1" dirty="0"/>
              </a:p>
            </p:txBody>
          </p:sp>
          <p:sp>
            <p:nvSpPr>
              <p:cNvPr id="25" name="Text 3">
                <a:extLst>
                  <a:ext uri="{FF2B5EF4-FFF2-40B4-BE49-F238E27FC236}">
                    <a16:creationId xmlns:a16="http://schemas.microsoft.com/office/drawing/2014/main" id="{411362A0-933C-F13E-1EF5-47E195758EF2}"/>
                  </a:ext>
                </a:extLst>
              </p:cNvPr>
              <p:cNvSpPr/>
              <p:nvPr/>
            </p:nvSpPr>
            <p:spPr>
              <a:xfrm>
                <a:off x="5371642" y="932767"/>
                <a:ext cx="5914034" cy="30093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Intel i386 processor with Q-Basic programming</a:t>
                </a:r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9CA6E73-D44A-6BFB-D3D4-1BFC5245F81C}"/>
                </a:ext>
              </a:extLst>
            </p:cNvPr>
            <p:cNvGrpSpPr/>
            <p:nvPr/>
          </p:nvGrpSpPr>
          <p:grpSpPr>
            <a:xfrm>
              <a:off x="5851726" y="1645177"/>
              <a:ext cx="5400000" cy="1080000"/>
              <a:chOff x="5230515" y="2673450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20" name="Shape 4">
                <a:extLst>
                  <a:ext uri="{FF2B5EF4-FFF2-40B4-BE49-F238E27FC236}">
                    <a16:creationId xmlns:a16="http://schemas.microsoft.com/office/drawing/2014/main" id="{5BC4C0BA-2604-C2C7-F93D-5085287EFA6D}"/>
                  </a:ext>
                </a:extLst>
              </p:cNvPr>
              <p:cNvSpPr/>
              <p:nvPr/>
            </p:nvSpPr>
            <p:spPr>
              <a:xfrm>
                <a:off x="5230515" y="2673450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1" name="Text 5">
                <a:extLst>
                  <a:ext uri="{FF2B5EF4-FFF2-40B4-BE49-F238E27FC236}">
                    <a16:creationId xmlns:a16="http://schemas.microsoft.com/office/drawing/2014/main" id="{EBB25F70-73A0-FEFE-A786-32FF1B4E9B78}"/>
                  </a:ext>
                </a:extLst>
              </p:cNvPr>
              <p:cNvSpPr/>
              <p:nvPr/>
            </p:nvSpPr>
            <p:spPr>
              <a:xfrm>
                <a:off x="5424983" y="2867919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2004</a:t>
                </a:r>
                <a:endParaRPr lang="en-US" sz="2000" b="1" dirty="0"/>
              </a:p>
            </p:txBody>
          </p:sp>
          <p:sp>
            <p:nvSpPr>
              <p:cNvPr id="22" name="Text 6">
                <a:extLst>
                  <a:ext uri="{FF2B5EF4-FFF2-40B4-BE49-F238E27FC236}">
                    <a16:creationId xmlns:a16="http://schemas.microsoft.com/office/drawing/2014/main" id="{C449CDC2-4399-87A6-A3E4-996D15FD91FA}"/>
                  </a:ext>
                </a:extLst>
              </p:cNvPr>
              <p:cNvSpPr/>
              <p:nvPr/>
            </p:nvSpPr>
            <p:spPr>
              <a:xfrm>
                <a:off x="5424984" y="3321037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First .NET App developed on .NET Framework 1.0</a:t>
                </a:r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9368E19-B3A9-2795-9019-97B699D13410}"/>
                </a:ext>
              </a:extLst>
            </p:cNvPr>
            <p:cNvGrpSpPr/>
            <p:nvPr/>
          </p:nvGrpSpPr>
          <p:grpSpPr>
            <a:xfrm>
              <a:off x="5851726" y="2973402"/>
              <a:ext cx="5400000" cy="1080000"/>
              <a:chOff x="5230515" y="2673450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17" name="Shape 4">
                <a:extLst>
                  <a:ext uri="{FF2B5EF4-FFF2-40B4-BE49-F238E27FC236}">
                    <a16:creationId xmlns:a16="http://schemas.microsoft.com/office/drawing/2014/main" id="{D16B007F-95E4-096C-B4D2-B551E00648EC}"/>
                  </a:ext>
                </a:extLst>
              </p:cNvPr>
              <p:cNvSpPr/>
              <p:nvPr/>
            </p:nvSpPr>
            <p:spPr>
              <a:xfrm>
                <a:off x="5230515" y="2673450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8" name="Text 5">
                <a:extLst>
                  <a:ext uri="{FF2B5EF4-FFF2-40B4-BE49-F238E27FC236}">
                    <a16:creationId xmlns:a16="http://schemas.microsoft.com/office/drawing/2014/main" id="{101D7DDF-139A-655D-7394-E1B2CEDDC195}"/>
                  </a:ext>
                </a:extLst>
              </p:cNvPr>
              <p:cNvSpPr/>
              <p:nvPr/>
            </p:nvSpPr>
            <p:spPr>
              <a:xfrm>
                <a:off x="5424983" y="2867919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2006</a:t>
                </a:r>
                <a:endParaRPr lang="en-US" sz="2000" b="1" dirty="0"/>
              </a:p>
            </p:txBody>
          </p:sp>
          <p:sp>
            <p:nvSpPr>
              <p:cNvPr id="19" name="Text 6">
                <a:extLst>
                  <a:ext uri="{FF2B5EF4-FFF2-40B4-BE49-F238E27FC236}">
                    <a16:creationId xmlns:a16="http://schemas.microsoft.com/office/drawing/2014/main" id="{6115236A-0980-4BD4-0346-BF8810FE6EF8}"/>
                  </a:ext>
                </a:extLst>
              </p:cNvPr>
              <p:cNvSpPr/>
              <p:nvPr/>
            </p:nvSpPr>
            <p:spPr>
              <a:xfrm>
                <a:off x="5424984" y="3321037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Computer Engineering</a:t>
                </a:r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2606A69-A8D4-0FF1-DB83-BF0A95A7DAA5}"/>
                </a:ext>
              </a:extLst>
            </p:cNvPr>
            <p:cNvGrpSpPr/>
            <p:nvPr/>
          </p:nvGrpSpPr>
          <p:grpSpPr>
            <a:xfrm>
              <a:off x="5851726" y="4301627"/>
              <a:ext cx="5400000" cy="1080000"/>
              <a:chOff x="5230515" y="2673450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14" name="Shape 4">
                <a:extLst>
                  <a:ext uri="{FF2B5EF4-FFF2-40B4-BE49-F238E27FC236}">
                    <a16:creationId xmlns:a16="http://schemas.microsoft.com/office/drawing/2014/main" id="{559EB20F-10AF-CF0E-CE4A-AAC63F7776EF}"/>
                  </a:ext>
                </a:extLst>
              </p:cNvPr>
              <p:cNvSpPr/>
              <p:nvPr/>
            </p:nvSpPr>
            <p:spPr>
              <a:xfrm>
                <a:off x="5230515" y="2673450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5" name="Text 5">
                <a:extLst>
                  <a:ext uri="{FF2B5EF4-FFF2-40B4-BE49-F238E27FC236}">
                    <a16:creationId xmlns:a16="http://schemas.microsoft.com/office/drawing/2014/main" id="{BAEC6D8F-BF48-4931-69ED-A9C573705E96}"/>
                  </a:ext>
                </a:extLst>
              </p:cNvPr>
              <p:cNvSpPr/>
              <p:nvPr/>
            </p:nvSpPr>
            <p:spPr>
              <a:xfrm>
                <a:off x="5424983" y="2867919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2010</a:t>
                </a:r>
                <a:endParaRPr lang="en-US" sz="2000" b="1" dirty="0"/>
              </a:p>
            </p:txBody>
          </p:sp>
          <p:sp>
            <p:nvSpPr>
              <p:cNvPr id="16" name="Text 6">
                <a:extLst>
                  <a:ext uri="{FF2B5EF4-FFF2-40B4-BE49-F238E27FC236}">
                    <a16:creationId xmlns:a16="http://schemas.microsoft.com/office/drawing/2014/main" id="{6A15A1CC-CE87-34E1-E797-06EB7D6F0604}"/>
                  </a:ext>
                </a:extLst>
              </p:cNvPr>
              <p:cNvSpPr/>
              <p:nvPr/>
            </p:nvSpPr>
            <p:spPr>
              <a:xfrm>
                <a:off x="5424984" y="3321037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Master Degree</a:t>
                </a:r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958AEF2-AE2A-FE87-8C7E-5EE447A2C096}"/>
                </a:ext>
              </a:extLst>
            </p:cNvPr>
            <p:cNvGrpSpPr/>
            <p:nvPr/>
          </p:nvGrpSpPr>
          <p:grpSpPr>
            <a:xfrm>
              <a:off x="5851726" y="5629851"/>
              <a:ext cx="5400000" cy="1080000"/>
              <a:chOff x="5230515" y="5242819"/>
              <a:chExt cx="6302970" cy="1096566"/>
            </a:xfrm>
            <a:solidFill>
              <a:schemeClr val="bg1">
                <a:lumMod val="95000"/>
              </a:schemeClr>
            </a:solidFill>
          </p:grpSpPr>
          <p:sp>
            <p:nvSpPr>
              <p:cNvPr id="11" name="Shape 10">
                <a:extLst>
                  <a:ext uri="{FF2B5EF4-FFF2-40B4-BE49-F238E27FC236}">
                    <a16:creationId xmlns:a16="http://schemas.microsoft.com/office/drawing/2014/main" id="{C632B7D7-2D83-58B0-D98A-FA6BCD5DD109}"/>
                  </a:ext>
                </a:extLst>
              </p:cNvPr>
              <p:cNvSpPr/>
              <p:nvPr/>
            </p:nvSpPr>
            <p:spPr>
              <a:xfrm>
                <a:off x="5230515" y="5242819"/>
                <a:ext cx="6302970" cy="1096566"/>
              </a:xfrm>
              <a:prstGeom prst="roundRect">
                <a:avLst>
                  <a:gd name="adj" fmla="val 7206"/>
                </a:avLst>
              </a:prstGeom>
              <a:grpFill/>
              <a:ln w="7620">
                <a:solidFill>
                  <a:srgbClr val="C7C7D0"/>
                </a:solidFill>
                <a:prstDash val="solid"/>
              </a:ln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2" name="Text 11">
                <a:extLst>
                  <a:ext uri="{FF2B5EF4-FFF2-40B4-BE49-F238E27FC236}">
                    <a16:creationId xmlns:a16="http://schemas.microsoft.com/office/drawing/2014/main" id="{51FE5208-DAB9-60D1-EE8F-58A82ABCF6F8}"/>
                  </a:ext>
                </a:extLst>
              </p:cNvPr>
              <p:cNvSpPr/>
              <p:nvPr/>
            </p:nvSpPr>
            <p:spPr>
              <a:xfrm>
                <a:off x="5424983" y="5437287"/>
                <a:ext cx="2351882" cy="293886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292"/>
                  </a:lnSpc>
                </a:pPr>
                <a:r>
                  <a:rPr lang="en-US" sz="2000" b="1" dirty="0">
                    <a:solidFill>
                      <a:srgbClr val="3C3939"/>
                    </a:solidFill>
                    <a:latin typeface="Raleway" pitchFamily="34" charset="0"/>
                    <a:ea typeface="Raleway" pitchFamily="34" charset="-122"/>
                    <a:cs typeface="Raleway" pitchFamily="34" charset="-120"/>
                  </a:rPr>
                  <a:t>2017</a:t>
                </a:r>
                <a:endParaRPr lang="en-US" sz="2000" b="1" dirty="0"/>
              </a:p>
            </p:txBody>
          </p:sp>
          <p:sp>
            <p:nvSpPr>
              <p:cNvPr id="13" name="Text 12">
                <a:extLst>
                  <a:ext uri="{FF2B5EF4-FFF2-40B4-BE49-F238E27FC236}">
                    <a16:creationId xmlns:a16="http://schemas.microsoft.com/office/drawing/2014/main" id="{4FDEF6FE-D278-30FA-FF00-F8BB60B3EA3B}"/>
                  </a:ext>
                </a:extLst>
              </p:cNvPr>
              <p:cNvSpPr/>
              <p:nvPr/>
            </p:nvSpPr>
            <p:spPr>
              <a:xfrm>
                <a:off x="5424984" y="5890406"/>
                <a:ext cx="5914034" cy="300931"/>
              </a:xfrm>
              <a:prstGeom prst="rect">
                <a:avLst/>
              </a:prstGeom>
              <a:grpFill/>
              <a:ln/>
            </p:spPr>
            <p:txBody>
              <a:bodyPr wrap="none" lIns="0" tIns="0" rIns="0" bIns="0" rtlCol="0" anchor="t"/>
              <a:lstStyle/>
              <a:p>
                <a:pPr>
                  <a:lnSpc>
                    <a:spcPts val="2333"/>
                  </a:lnSpc>
                </a:pPr>
                <a:r>
                  <a:rPr lang="en-US" dirty="0">
                    <a:solidFill>
                      <a:srgbClr val="3C3939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Co-Founder of Volosoft</a:t>
                </a:r>
              </a:p>
            </p:txBody>
          </p:sp>
        </p:grp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0278EBE5-0553-A4BC-FEF9-28E3AAB4D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738" y="0"/>
            <a:ext cx="5781675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546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714B-8540-832E-9FD8-43EEDC04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100" name="HookCard"/>
          <p:cNvSpPr/>
          <p:nvPr/>
        </p:nvSpPr>
        <p:spPr>
          <a:xfrm>
            <a:off x="889000" y="1460500"/>
            <a:ext cx="10414000" cy="1397000"/>
          </a:xfrm>
          <a:prstGeom prst="roundRect">
            <a:avLst>
              <a:gd name="adj" fmla="val 6000"/>
            </a:avLst>
          </a:prstGeom>
          <a:solidFill>
            <a:srgbClr val="ECFEFF"/>
          </a:solidFill>
          <a:ln w="12700">
            <a:solidFill>
              <a:srgbClr val="A5F3FC"/>
            </a:solidFill>
          </a:ln>
        </p:spPr>
        <p:txBody>
          <a:bodyPr wrap="square" lIns="260000" tIns="140000" rIns="260000" bIns="140000" anchor="ctr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How many of you have written SQL before?</a:t>
            </a:r>
          </a:p>
          <a:p>
            <a:pPr algn="l"/>
            <a:r>
              <a:rPr lang="en-US" sz="2400" i="1" dirty="0">
                <a:solidFill>
                  <a:srgbClr val="0891B2"/>
                </a:solidFill>
              </a:rPr>
              <a:t>Now imagine your PM doing that… </a:t>
            </a:r>
            <a:r>
              <a:rPr lang="en-US" sz="2400" b="1" i="1" dirty="0">
                <a:solidFill>
                  <a:srgbClr val="0891B2"/>
                </a:solidFill>
              </a:rPr>
              <a:t>without you</a:t>
            </a:r>
            <a:r>
              <a:rPr lang="en-US" sz="2400" i="1" dirty="0">
                <a:solidFill>
                  <a:srgbClr val="0891B2"/>
                </a:solidFill>
              </a:rPr>
              <a:t>.</a:t>
            </a:r>
          </a:p>
        </p:txBody>
      </p:sp>
      <p:sp>
        <p:nvSpPr>
          <p:cNvPr id="201" name="Pain201"/>
          <p:cNvSpPr/>
          <p:nvPr/>
        </p:nvSpPr>
        <p:spPr>
          <a:xfrm>
            <a:off x="889000" y="3175000"/>
            <a:ext cx="508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b="1" dirty="0">
                <a:solidFill>
                  <a:srgbClr val="0891B2"/>
                </a:solidFill>
              </a:rPr>
              <a:t>01  </a:t>
            </a:r>
            <a:r>
              <a:rPr lang="en-US" sz="2400" b="1" dirty="0">
                <a:solidFill>
                  <a:srgbClr val="0F172A"/>
                </a:solidFill>
              </a:rPr>
              <a:t>Writing SQL is slow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Even simple reports take hours</a:t>
            </a:r>
          </a:p>
        </p:txBody>
      </p:sp>
      <p:sp>
        <p:nvSpPr>
          <p:cNvPr id="202" name="Pain202"/>
          <p:cNvSpPr/>
          <p:nvPr/>
        </p:nvSpPr>
        <p:spPr>
          <a:xfrm>
            <a:off x="6223000" y="3175000"/>
            <a:ext cx="508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b="1" dirty="0">
                <a:solidFill>
                  <a:srgbClr val="F59E0B"/>
                </a:solidFill>
              </a:rPr>
              <a:t>02  </a:t>
            </a:r>
            <a:r>
              <a:rPr lang="en-US" sz="2400" b="1" dirty="0">
                <a:solidFill>
                  <a:srgbClr val="0F172A"/>
                </a:solidFill>
              </a:rPr>
              <a:t>Dev bottleneck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Business waits on engineers</a:t>
            </a:r>
          </a:p>
        </p:txBody>
      </p:sp>
      <p:sp>
        <p:nvSpPr>
          <p:cNvPr id="203" name="Pain203"/>
          <p:cNvSpPr/>
          <p:nvPr/>
        </p:nvSpPr>
        <p:spPr>
          <a:xfrm>
            <a:off x="889000" y="4572000"/>
            <a:ext cx="508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b="1" dirty="0">
                <a:solidFill>
                  <a:srgbClr val="F43F5E"/>
                </a:solidFill>
              </a:rPr>
              <a:t>03  </a:t>
            </a:r>
            <a:r>
              <a:rPr lang="en-US" sz="2400" b="1" dirty="0">
                <a:solidFill>
                  <a:srgbClr val="0F172A"/>
                </a:solidFill>
              </a:rPr>
              <a:t>Rigid reporting tools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Every new question = new ticket</a:t>
            </a:r>
          </a:p>
        </p:txBody>
      </p:sp>
      <p:sp>
        <p:nvSpPr>
          <p:cNvPr id="204" name="Pain204"/>
          <p:cNvSpPr/>
          <p:nvPr/>
        </p:nvSpPr>
        <p:spPr>
          <a:xfrm>
            <a:off x="6223000" y="4572000"/>
            <a:ext cx="5080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ctr"/>
          <a:lstStyle/>
          <a:p>
            <a:pPr algn="l"/>
            <a:r>
              <a:rPr lang="en-US" b="1" dirty="0">
                <a:solidFill>
                  <a:srgbClr val="10B981"/>
                </a:solidFill>
              </a:rPr>
              <a:t>04  </a:t>
            </a:r>
            <a:r>
              <a:rPr lang="en-US" sz="2400" b="1" dirty="0">
                <a:solidFill>
                  <a:srgbClr val="0F172A"/>
                </a:solidFill>
              </a:rPr>
              <a:t>Data is locked away</a:t>
            </a:r>
          </a:p>
          <a:p>
            <a:pPr algn="l">
              <a:spcBef>
                <a:spcPts val="400"/>
              </a:spcBef>
            </a:pPr>
            <a:r>
              <a:rPr lang="en-US" dirty="0">
                <a:solidFill>
                  <a:srgbClr val="475569"/>
                </a:solidFill>
              </a:rPr>
              <a:t>The value is trapped behind SQL</a:t>
            </a:r>
          </a:p>
        </p:txBody>
      </p:sp>
    </p:spTree>
    <p:extLst>
      <p:ext uri="{BB962C8B-B14F-4D97-AF65-F5344CB8AC3E}">
        <p14:creationId xmlns:p14="http://schemas.microsoft.com/office/powerpoint/2010/main" val="1966582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QMark"/>
          <p:cNvSpPr txBox="1"/>
          <p:nvPr/>
        </p:nvSpPr>
        <p:spPr>
          <a:xfrm>
            <a:off x="503990" y="1143000"/>
            <a:ext cx="1524000" cy="1524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400" b="1" dirty="0">
                <a:solidFill>
                  <a:srgbClr val="22D3EE"/>
                </a:solidFill>
                <a:latin typeface="Inter"/>
              </a:rPr>
              <a:t>"</a:t>
            </a:r>
          </a:p>
        </p:txBody>
      </p:sp>
      <p:sp>
        <p:nvSpPr>
          <p:cNvPr id="301" name="Quote"/>
          <p:cNvSpPr txBox="1"/>
          <p:nvPr/>
        </p:nvSpPr>
        <p:spPr>
          <a:xfrm>
            <a:off x="889000" y="2222500"/>
            <a:ext cx="10414000" cy="215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6600" b="1" dirty="0">
                <a:solidFill>
                  <a:srgbClr val="0F172A"/>
                </a:solidFill>
              </a:rPr>
              <a:t>What if you could just </a:t>
            </a:r>
            <a:r>
              <a:rPr lang="en-US" sz="6600" b="1" dirty="0">
                <a:solidFill>
                  <a:srgbClr val="0891B2"/>
                </a:solidFill>
              </a:rPr>
              <a:t>ask</a:t>
            </a:r>
            <a:r>
              <a:rPr lang="en-US" sz="6600" b="1" dirty="0">
                <a:solidFill>
                  <a:srgbClr val="0F172A"/>
                </a:solidFill>
              </a:rPr>
              <a:t> your database?</a:t>
            </a:r>
          </a:p>
        </p:txBody>
      </p:sp>
      <p:sp>
        <p:nvSpPr>
          <p:cNvPr id="310" name="Chip310"/>
          <p:cNvSpPr/>
          <p:nvPr/>
        </p:nvSpPr>
        <p:spPr>
          <a:xfrm>
            <a:off x="888999" y="4953000"/>
            <a:ext cx="3526589" cy="889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A5F3FC"/>
            </a:solidFill>
          </a:ln>
        </p:spPr>
        <p:txBody>
          <a:bodyPr wrap="square" lIns="180000" tIns="100000" rIns="180000" bIns="100000" anchor="ctr"/>
          <a:lstStyle/>
          <a:p>
            <a:pPr algn="ctr"/>
            <a:r>
              <a:rPr lang="en-US" sz="2400" dirty="0">
                <a:solidFill>
                  <a:srgbClr val="0891B2"/>
                </a:solidFill>
              </a:rPr>
              <a:t>→  </a:t>
            </a:r>
            <a:r>
              <a:rPr lang="en-US" dirty="0">
                <a:solidFill>
                  <a:srgbClr val="0F172A"/>
                </a:solidFill>
              </a:rPr>
              <a:t>Natural language → insights</a:t>
            </a:r>
          </a:p>
        </p:txBody>
      </p:sp>
      <p:sp>
        <p:nvSpPr>
          <p:cNvPr id="311" name="Chip311"/>
          <p:cNvSpPr/>
          <p:nvPr/>
        </p:nvSpPr>
        <p:spPr>
          <a:xfrm>
            <a:off x="4547937" y="4953000"/>
            <a:ext cx="3332747" cy="889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A5F3FC"/>
            </a:solidFill>
          </a:ln>
        </p:spPr>
        <p:txBody>
          <a:bodyPr wrap="square" lIns="180000" tIns="100000" rIns="180000" bIns="100000" anchor="ctr"/>
          <a:lstStyle/>
          <a:p>
            <a:pPr algn="ctr"/>
            <a:r>
              <a:rPr lang="en-US" sz="2800" dirty="0">
                <a:solidFill>
                  <a:srgbClr val="0891B2"/>
                </a:solidFill>
              </a:rPr>
              <a:t>✓  </a:t>
            </a:r>
            <a:r>
              <a:rPr lang="en-US" sz="2000" dirty="0">
                <a:solidFill>
                  <a:srgbClr val="0F172A"/>
                </a:solidFill>
              </a:rPr>
              <a:t>No SQL required</a:t>
            </a:r>
          </a:p>
        </p:txBody>
      </p:sp>
      <p:sp>
        <p:nvSpPr>
          <p:cNvPr id="312" name="Chip312"/>
          <p:cNvSpPr/>
          <p:nvPr/>
        </p:nvSpPr>
        <p:spPr>
          <a:xfrm>
            <a:off x="8000999" y="4953000"/>
            <a:ext cx="3526589" cy="889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A5F3FC"/>
            </a:solidFill>
          </a:ln>
        </p:spPr>
        <p:txBody>
          <a:bodyPr wrap="square" lIns="180000" tIns="100000" rIns="180000" bIns="100000" anchor="ctr"/>
          <a:lstStyle/>
          <a:p>
            <a:pPr algn="ctr"/>
            <a:r>
              <a:rPr lang="en-US" sz="2800" dirty="0">
                <a:solidFill>
                  <a:srgbClr val="0891B2"/>
                </a:solidFill>
              </a:rPr>
              <a:t>◎  </a:t>
            </a:r>
            <a:r>
              <a:rPr lang="en-US" sz="2000" dirty="0">
                <a:solidFill>
                  <a:srgbClr val="0F172A"/>
                </a:solidFill>
              </a:rPr>
              <a:t>Devs AND business users</a:t>
            </a:r>
          </a:p>
        </p:txBody>
      </p:sp>
      <p:sp>
        <p:nvSpPr>
          <p:cNvPr id="4" name="QMark">
            <a:extLst>
              <a:ext uri="{FF2B5EF4-FFF2-40B4-BE49-F238E27FC236}">
                <a16:creationId xmlns:a16="http://schemas.microsoft.com/office/drawing/2014/main" id="{75D887ED-F9DA-3A3C-1FFA-A57CEDCF23B0}"/>
              </a:ext>
            </a:extLst>
          </p:cNvPr>
          <p:cNvSpPr txBox="1"/>
          <p:nvPr/>
        </p:nvSpPr>
        <p:spPr>
          <a:xfrm>
            <a:off x="6416842" y="3429000"/>
            <a:ext cx="1524000" cy="1524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4400" b="1" dirty="0">
                <a:solidFill>
                  <a:srgbClr val="22D3EE"/>
                </a:solidFill>
                <a:latin typeface="Inter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09236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DC06-12C5-EEFA-9FCF-9D0C6B920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What We'll Build</a:t>
            </a:r>
          </a:p>
        </p:txBody>
      </p:sp>
      <p:sp>
        <p:nvSpPr>
          <p:cNvPr id="400" name="Sub"/>
          <p:cNvSpPr txBox="1"/>
          <p:nvPr/>
        </p:nvSpPr>
        <p:spPr>
          <a:xfrm>
            <a:off x="889000" y="1371600"/>
            <a:ext cx="10414000" cy="431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800" dirty="0">
                <a:solidFill>
                  <a:srgbClr val="475569"/>
                </a:solidFill>
              </a:rPr>
              <a:t>Five capabilities working together</a:t>
            </a:r>
          </a:p>
        </p:txBody>
      </p:sp>
      <p:sp>
        <p:nvSpPr>
          <p:cNvPr id="410" name="N410"/>
          <p:cNvSpPr/>
          <p:nvPr/>
        </p:nvSpPr>
        <p:spPr>
          <a:xfrm>
            <a:off x="889000" y="2032000"/>
            <a:ext cx="660400" cy="6604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1" name="L410"/>
          <p:cNvSpPr txBox="1"/>
          <p:nvPr/>
        </p:nvSpPr>
        <p:spPr>
          <a:xfrm>
            <a:off x="1778000" y="2032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Understand user intent</a:t>
            </a:r>
            <a:r>
              <a:rPr lang="en-US" dirty="0">
                <a:solidFill>
                  <a:srgbClr val="64748B"/>
                </a:solidFill>
              </a:rPr>
              <a:t>   parse the natural-language question</a:t>
            </a:r>
          </a:p>
        </p:txBody>
      </p:sp>
      <p:sp>
        <p:nvSpPr>
          <p:cNvPr id="420" name="N420"/>
          <p:cNvSpPr/>
          <p:nvPr/>
        </p:nvSpPr>
        <p:spPr>
          <a:xfrm>
            <a:off x="889000" y="2794000"/>
            <a:ext cx="660400" cy="660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21" name="L420"/>
          <p:cNvSpPr txBox="1"/>
          <p:nvPr/>
        </p:nvSpPr>
        <p:spPr>
          <a:xfrm>
            <a:off x="1778000" y="2794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Read the schema</a:t>
            </a:r>
            <a:r>
              <a:rPr lang="en-US" dirty="0">
                <a:solidFill>
                  <a:srgbClr val="64748B"/>
                </a:solidFill>
              </a:rPr>
              <a:t>   tables, columns, relationships</a:t>
            </a:r>
          </a:p>
        </p:txBody>
      </p:sp>
      <p:sp>
        <p:nvSpPr>
          <p:cNvPr id="430" name="N430"/>
          <p:cNvSpPr/>
          <p:nvPr/>
        </p:nvSpPr>
        <p:spPr>
          <a:xfrm>
            <a:off x="889000" y="3556000"/>
            <a:ext cx="660400" cy="660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1" name="L430"/>
          <p:cNvSpPr txBox="1"/>
          <p:nvPr/>
        </p:nvSpPr>
        <p:spPr>
          <a:xfrm>
            <a:off x="1778000" y="3556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Generate SQL safely</a:t>
            </a:r>
            <a:r>
              <a:rPr lang="en-US" dirty="0">
                <a:solidFill>
                  <a:srgbClr val="64748B"/>
                </a:solidFill>
              </a:rPr>
              <a:t>   LLM + strict prompt + validator</a:t>
            </a:r>
          </a:p>
        </p:txBody>
      </p:sp>
      <p:sp>
        <p:nvSpPr>
          <p:cNvPr id="440" name="N440"/>
          <p:cNvSpPr/>
          <p:nvPr/>
        </p:nvSpPr>
        <p:spPr>
          <a:xfrm>
            <a:off x="889000" y="4318000"/>
            <a:ext cx="660400" cy="660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1" name="L440"/>
          <p:cNvSpPr txBox="1"/>
          <p:nvPr/>
        </p:nvSpPr>
        <p:spPr>
          <a:xfrm>
            <a:off x="1778000" y="4318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Execute the query</a:t>
            </a:r>
            <a:r>
              <a:rPr lang="en-US" dirty="0">
                <a:solidFill>
                  <a:srgbClr val="64748B"/>
                </a:solidFill>
              </a:rPr>
              <a:t>   return structured results</a:t>
            </a:r>
          </a:p>
        </p:txBody>
      </p:sp>
      <p:sp>
        <p:nvSpPr>
          <p:cNvPr id="450" name="N450"/>
          <p:cNvSpPr/>
          <p:nvPr/>
        </p:nvSpPr>
        <p:spPr>
          <a:xfrm>
            <a:off x="889000" y="5080000"/>
            <a:ext cx="660400" cy="6604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51" name="L450"/>
          <p:cNvSpPr txBox="1"/>
          <p:nvPr/>
        </p:nvSpPr>
        <p:spPr>
          <a:xfrm>
            <a:off x="1778000" y="5080000"/>
            <a:ext cx="9525000" cy="660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b="1" dirty="0">
                <a:solidFill>
                  <a:srgbClr val="0F172A"/>
                </a:solidFill>
              </a:rPr>
              <a:t>Export to Excel &amp; Visualization</a:t>
            </a:r>
            <a:r>
              <a:rPr lang="en-US" dirty="0">
                <a:solidFill>
                  <a:srgbClr val="64748B"/>
                </a:solidFill>
              </a:rPr>
              <a:t>   turn data into decisions</a:t>
            </a:r>
          </a:p>
        </p:txBody>
      </p:sp>
    </p:spTree>
    <p:extLst>
      <p:ext uri="{BB962C8B-B14F-4D97-AF65-F5344CB8AC3E}">
        <p14:creationId xmlns:p14="http://schemas.microsoft.com/office/powerpoint/2010/main" val="2200040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anel"/>
          <p:cNvSpPr/>
          <p:nvPr/>
        </p:nvSpPr>
        <p:spPr>
          <a:xfrm>
            <a:off x="73026" y="1270000"/>
            <a:ext cx="12118974" cy="431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701" name="AccentBar"/>
          <p:cNvSpPr/>
          <p:nvPr/>
        </p:nvSpPr>
        <p:spPr>
          <a:xfrm>
            <a:off x="889000" y="1968500"/>
            <a:ext cx="1016000" cy="76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91E33-3D7D-A8AE-07EA-1012F711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00000"/>
              </a:lnSpc>
            </a:pPr>
            <a:r>
              <a:rPr lang="en-US" sz="8000" b="1" dirty="0">
                <a:solidFill>
                  <a:srgbClr val="FFFFFF"/>
                </a:solidFill>
              </a:rPr>
              <a:t>The Pipeline</a:t>
            </a:r>
          </a:p>
          <a:p>
            <a:pPr algn="l">
              <a:buNone/>
            </a:pPr>
            <a:r>
              <a:rPr lang="en-US" sz="2800" dirty="0">
                <a:solidFill>
                  <a:srgbClr val="94A3B8"/>
                </a:solidFill>
              </a:rPr>
              <a:t>A Simple Console App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29D77-BA5C-9191-1558-B33FEC2D2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2000" b="1" spc="400" dirty="0">
                <a:solidFill>
                  <a:srgbClr val="22D3EE"/>
                </a:solidFill>
              </a:rPr>
              <a:t>PART 1  ·  LIVE DEMO</a:t>
            </a:r>
          </a:p>
        </p:txBody>
      </p:sp>
    </p:spTree>
    <p:extLst>
      <p:ext uri="{BB962C8B-B14F-4D97-AF65-F5344CB8AC3E}">
        <p14:creationId xmlns:p14="http://schemas.microsoft.com/office/powerpoint/2010/main" val="376164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tage0">
            <a:extLst>
              <a:ext uri="{FF2B5EF4-FFF2-40B4-BE49-F238E27FC236}">
                <a16:creationId xmlns:a16="http://schemas.microsoft.com/office/drawing/2014/main" id="{C88B0937-7522-BCEA-AD17-C53A61AD7815}"/>
              </a:ext>
            </a:extLst>
          </p:cNvPr>
          <p:cNvSpPr/>
          <p:nvPr/>
        </p:nvSpPr>
        <p:spPr>
          <a:xfrm>
            <a:off x="9804400" y="3323967"/>
            <a:ext cx="2106862" cy="1519881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0000" tIns="90000" rIns="90000" bIns="90000" anchor="t"/>
          <a:lstStyle/>
          <a:p>
            <a:pPr algn="l"/>
            <a:endParaRPr lang="en-US" sz="1100" dirty="0">
              <a:solidFill>
                <a:srgbClr val="64748B"/>
              </a:solidFill>
            </a:endParaRPr>
          </a:p>
        </p:txBody>
      </p:sp>
      <p:sp>
        <p:nvSpPr>
          <p:cNvPr id="3" name="Stage0">
            <a:extLst>
              <a:ext uri="{FF2B5EF4-FFF2-40B4-BE49-F238E27FC236}">
                <a16:creationId xmlns:a16="http://schemas.microsoft.com/office/drawing/2014/main" id="{8861DE56-5964-C0B4-16CE-5227DA7D9A2C}"/>
              </a:ext>
            </a:extLst>
          </p:cNvPr>
          <p:cNvSpPr/>
          <p:nvPr/>
        </p:nvSpPr>
        <p:spPr>
          <a:xfrm>
            <a:off x="279399" y="1779372"/>
            <a:ext cx="11631863" cy="1791731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90000" tIns="90000" rIns="90000" bIns="90000" anchor="t"/>
          <a:lstStyle/>
          <a:p>
            <a:pPr algn="l"/>
            <a:endParaRPr lang="en-US" sz="1100" dirty="0">
              <a:solidFill>
                <a:srgbClr val="64748B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6D80D3-1267-47C8-5022-51711533C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The Pipeline</a:t>
            </a:r>
            <a:endParaRPr lang="en-US" sz="4800" b="1" dirty="0">
              <a:solidFill>
                <a:srgbClr val="94A3B8"/>
              </a:solidFill>
            </a:endParaRPr>
          </a:p>
        </p:txBody>
      </p:sp>
      <p:sp>
        <p:nvSpPr>
          <p:cNvPr id="800" name="Stage0"/>
          <p:cNvSpPr/>
          <p:nvPr/>
        </p:nvSpPr>
        <p:spPr>
          <a:xfrm>
            <a:off x="508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400" b="1" spc="300" dirty="0">
                <a:solidFill>
                  <a:srgbClr val="0891B2"/>
                </a:solidFill>
              </a:rPr>
              <a:t>01</a:t>
            </a:r>
          </a:p>
          <a:p>
            <a:pPr algn="l">
              <a:spcBef>
                <a:spcPts val="400"/>
              </a:spcBef>
            </a:pPr>
            <a:r>
              <a:rPr lang="en-US" sz="2800" b="1" dirty="0">
                <a:solidFill>
                  <a:srgbClr val="0F172A"/>
                </a:solidFill>
              </a:rPr>
              <a:t>User</a:t>
            </a:r>
          </a:p>
          <a:p>
            <a:pPr algn="l">
              <a:spcBef>
                <a:spcPts val="300"/>
              </a:spcBef>
            </a:pPr>
            <a:r>
              <a:rPr lang="en-US" sz="1400" dirty="0">
                <a:solidFill>
                  <a:srgbClr val="64748B"/>
                </a:solidFill>
              </a:rPr>
              <a:t>natural language</a:t>
            </a:r>
          </a:p>
        </p:txBody>
      </p:sp>
      <p:sp>
        <p:nvSpPr>
          <p:cNvPr id="850" name="Arr0"/>
          <p:cNvSpPr/>
          <p:nvPr/>
        </p:nvSpPr>
        <p:spPr>
          <a:xfrm>
            <a:off x="2184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1" name="Stage1"/>
          <p:cNvSpPr/>
          <p:nvPr/>
        </p:nvSpPr>
        <p:spPr>
          <a:xfrm>
            <a:off x="2413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400" b="1" spc="300" dirty="0">
                <a:solidFill>
                  <a:srgbClr val="0891B2"/>
                </a:solidFill>
              </a:rPr>
              <a:t>02</a:t>
            </a:r>
          </a:p>
          <a:p>
            <a:pPr algn="l">
              <a:spcBef>
                <a:spcPts val="400"/>
              </a:spcBef>
            </a:pPr>
            <a:r>
              <a:rPr lang="en-US" sz="2800" b="1" dirty="0">
                <a:solidFill>
                  <a:srgbClr val="0F172A"/>
                </a:solidFill>
              </a:rPr>
              <a:t>Prompt</a:t>
            </a:r>
          </a:p>
          <a:p>
            <a:pPr algn="l">
              <a:spcBef>
                <a:spcPts val="300"/>
              </a:spcBef>
            </a:pPr>
            <a:r>
              <a:rPr lang="en-US" sz="1400" dirty="0">
                <a:solidFill>
                  <a:srgbClr val="64748B"/>
                </a:solidFill>
              </a:rPr>
              <a:t>schema + rules</a:t>
            </a:r>
          </a:p>
        </p:txBody>
      </p:sp>
      <p:sp>
        <p:nvSpPr>
          <p:cNvPr id="851" name="Arr1"/>
          <p:cNvSpPr/>
          <p:nvPr/>
        </p:nvSpPr>
        <p:spPr>
          <a:xfrm>
            <a:off x="4089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Stage2"/>
          <p:cNvSpPr/>
          <p:nvPr/>
        </p:nvSpPr>
        <p:spPr>
          <a:xfrm>
            <a:off x="4318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2D3EE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400" b="1" spc="300" dirty="0">
                <a:solidFill>
                  <a:srgbClr val="22D3EE"/>
                </a:solidFill>
              </a:rPr>
              <a:t>03</a:t>
            </a:r>
          </a:p>
          <a:p>
            <a:pPr algn="l">
              <a:spcBef>
                <a:spcPts val="400"/>
              </a:spcBef>
            </a:pPr>
            <a:r>
              <a:rPr lang="en-US" sz="2800" b="1" dirty="0">
                <a:solidFill>
                  <a:srgbClr val="0F172A"/>
                </a:solidFill>
              </a:rPr>
              <a:t>LLM</a:t>
            </a:r>
          </a:p>
          <a:p>
            <a:pPr algn="l">
              <a:spcBef>
                <a:spcPts val="300"/>
              </a:spcBef>
            </a:pPr>
            <a:r>
              <a:rPr lang="en-US" sz="1400" dirty="0">
                <a:solidFill>
                  <a:srgbClr val="64748B"/>
                </a:solidFill>
              </a:rPr>
              <a:t>reasoning</a:t>
            </a:r>
          </a:p>
        </p:txBody>
      </p:sp>
      <p:sp>
        <p:nvSpPr>
          <p:cNvPr id="852" name="Arr2"/>
          <p:cNvSpPr/>
          <p:nvPr/>
        </p:nvSpPr>
        <p:spPr>
          <a:xfrm>
            <a:off x="5994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3" name="Stage3"/>
          <p:cNvSpPr/>
          <p:nvPr/>
        </p:nvSpPr>
        <p:spPr>
          <a:xfrm>
            <a:off x="6223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400" b="1" spc="300" dirty="0">
                <a:solidFill>
                  <a:srgbClr val="10B981"/>
                </a:solidFill>
              </a:rPr>
              <a:t>04</a:t>
            </a:r>
          </a:p>
          <a:p>
            <a:pPr algn="l">
              <a:spcBef>
                <a:spcPts val="400"/>
              </a:spcBef>
            </a:pPr>
            <a:r>
              <a:rPr lang="en-US" sz="2800" b="1" dirty="0">
                <a:solidFill>
                  <a:srgbClr val="0F172A"/>
                </a:solidFill>
              </a:rPr>
              <a:t>SQL</a:t>
            </a:r>
          </a:p>
          <a:p>
            <a:pPr algn="l">
              <a:spcBef>
                <a:spcPts val="300"/>
              </a:spcBef>
            </a:pPr>
            <a:r>
              <a:rPr lang="en-US" sz="1400" dirty="0">
                <a:solidFill>
                  <a:srgbClr val="64748B"/>
                </a:solidFill>
              </a:rPr>
              <a:t>generated query</a:t>
            </a:r>
          </a:p>
        </p:txBody>
      </p:sp>
      <p:sp>
        <p:nvSpPr>
          <p:cNvPr id="853" name="Arr3"/>
          <p:cNvSpPr/>
          <p:nvPr/>
        </p:nvSpPr>
        <p:spPr>
          <a:xfrm>
            <a:off x="7899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Stage4"/>
          <p:cNvSpPr/>
          <p:nvPr/>
        </p:nvSpPr>
        <p:spPr>
          <a:xfrm>
            <a:off x="8128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43F5E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400" b="1" spc="300" dirty="0">
                <a:solidFill>
                  <a:srgbClr val="F43F5E"/>
                </a:solidFill>
              </a:rPr>
              <a:t>05</a:t>
            </a:r>
          </a:p>
          <a:p>
            <a:pPr algn="l">
              <a:spcBef>
                <a:spcPts val="400"/>
              </a:spcBef>
            </a:pPr>
            <a:r>
              <a:rPr lang="en-US" sz="2800" b="1" dirty="0">
                <a:solidFill>
                  <a:srgbClr val="0F172A"/>
                </a:solidFill>
              </a:rPr>
              <a:t>Validator</a:t>
            </a:r>
          </a:p>
          <a:p>
            <a:pPr algn="l">
              <a:spcBef>
                <a:spcPts val="300"/>
              </a:spcBef>
            </a:pPr>
            <a:r>
              <a:rPr lang="en-US" sz="1400" dirty="0">
                <a:solidFill>
                  <a:srgbClr val="64748B"/>
                </a:solidFill>
              </a:rPr>
              <a:t>safety gate</a:t>
            </a:r>
          </a:p>
        </p:txBody>
      </p:sp>
      <p:sp>
        <p:nvSpPr>
          <p:cNvPr id="854" name="Arr4"/>
          <p:cNvSpPr/>
          <p:nvPr/>
        </p:nvSpPr>
        <p:spPr>
          <a:xfrm>
            <a:off x="9804400" y="2668372"/>
            <a:ext cx="2032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5" name="Stage5"/>
          <p:cNvSpPr/>
          <p:nvPr/>
        </p:nvSpPr>
        <p:spPr>
          <a:xfrm>
            <a:off x="10033000" y="2033372"/>
            <a:ext cx="1651000" cy="12905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400" b="1" spc="300" dirty="0">
                <a:solidFill>
                  <a:srgbClr val="F59E0B"/>
                </a:solidFill>
              </a:rPr>
              <a:t>06</a:t>
            </a:r>
          </a:p>
          <a:p>
            <a:pPr algn="l">
              <a:spcBef>
                <a:spcPts val="400"/>
              </a:spcBef>
            </a:pPr>
            <a:r>
              <a:rPr lang="en-US" sz="2800" b="1" dirty="0">
                <a:solidFill>
                  <a:srgbClr val="0F172A"/>
                </a:solidFill>
              </a:rPr>
              <a:t>Execute</a:t>
            </a:r>
          </a:p>
          <a:p>
            <a:pPr algn="l">
              <a:spcBef>
                <a:spcPts val="300"/>
              </a:spcBef>
            </a:pPr>
            <a:r>
              <a:rPr lang="en-US" sz="1400" dirty="0">
                <a:solidFill>
                  <a:srgbClr val="64748B"/>
                </a:solidFill>
              </a:rPr>
              <a:t>results</a:t>
            </a:r>
          </a:p>
        </p:txBody>
      </p:sp>
      <p:sp>
        <p:nvSpPr>
          <p:cNvPr id="880" name="Ex"/>
          <p:cNvSpPr/>
          <p:nvPr/>
        </p:nvSpPr>
        <p:spPr>
          <a:xfrm>
            <a:off x="507330" y="4999681"/>
            <a:ext cx="11176000" cy="101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</p:spPr>
        <p:txBody>
          <a:bodyPr wrap="square" lIns="240000" tIns="140000" rIns="240000" bIns="140000" anchor="ctr"/>
          <a:lstStyle/>
          <a:p>
            <a:pPr algn="l"/>
            <a:r>
              <a:rPr lang="en-US" dirty="0">
                <a:solidFill>
                  <a:srgbClr val="94A3B8"/>
                </a:solidFill>
                <a:latin typeface="Consolas"/>
              </a:rPr>
              <a:t>user:  </a:t>
            </a:r>
            <a:r>
              <a:rPr lang="en-US" sz="2000" b="1" dirty="0">
                <a:solidFill>
                  <a:srgbClr val="22D3EE"/>
                </a:solidFill>
                <a:latin typeface="Consolas"/>
              </a:rPr>
              <a:t>"top 10 customers by revenue this year"</a:t>
            </a:r>
            <a:r>
              <a:rPr lang="en-US" dirty="0">
                <a:solidFill>
                  <a:srgbClr val="94A3B8"/>
                </a:solidFill>
                <a:latin typeface="Consolas"/>
              </a:rPr>
              <a:t>   →   </a:t>
            </a:r>
            <a:r>
              <a:rPr lang="en-US" sz="2000" b="1" dirty="0">
                <a:solidFill>
                  <a:srgbClr val="10B981"/>
                </a:solidFill>
                <a:latin typeface="Consolas"/>
              </a:rPr>
              <a:t>SELECT TOP 10 ...</a:t>
            </a:r>
          </a:p>
        </p:txBody>
      </p:sp>
      <p:sp>
        <p:nvSpPr>
          <p:cNvPr id="5" name="Stage5">
            <a:extLst>
              <a:ext uri="{FF2B5EF4-FFF2-40B4-BE49-F238E27FC236}">
                <a16:creationId xmlns:a16="http://schemas.microsoft.com/office/drawing/2014/main" id="{169C684F-9C26-86A6-AC1E-ECE5050DAC37}"/>
              </a:ext>
            </a:extLst>
          </p:cNvPr>
          <p:cNvSpPr/>
          <p:nvPr/>
        </p:nvSpPr>
        <p:spPr>
          <a:xfrm>
            <a:off x="10043297" y="3672191"/>
            <a:ext cx="1651000" cy="92057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2D3EE"/>
            </a:solidFill>
            <a:prstDash val="sysDash"/>
          </a:ln>
          <a:effectLst>
            <a:outerShdw blurRad="50000" dist="15000" dir="5400000" algn="t" rotWithShape="0">
              <a:srgbClr val="0F172A">
                <a:alpha val="10000"/>
              </a:srgbClr>
            </a:outerShdw>
          </a:effectLst>
        </p:spPr>
        <p:txBody>
          <a:bodyPr wrap="square" lIns="90000" tIns="90000" rIns="90000" bIns="90000" anchor="t"/>
          <a:lstStyle/>
          <a:p>
            <a:pPr algn="l"/>
            <a:r>
              <a:rPr lang="en-US" sz="1400" b="1" spc="300" dirty="0">
                <a:solidFill>
                  <a:srgbClr val="22D3EE"/>
                </a:solidFill>
              </a:rPr>
              <a:t>07</a:t>
            </a:r>
            <a:br>
              <a:rPr lang="en-US" sz="1400" b="1" spc="300" dirty="0">
                <a:solidFill>
                  <a:srgbClr val="F59E0B"/>
                </a:solidFill>
              </a:rPr>
            </a:br>
            <a:r>
              <a:rPr lang="en-US" sz="2800" b="1" dirty="0">
                <a:solidFill>
                  <a:schemeClr val="accent5"/>
                </a:solidFill>
              </a:rPr>
              <a:t>On Error</a:t>
            </a:r>
          </a:p>
          <a:p>
            <a:pPr algn="l">
              <a:spcBef>
                <a:spcPts val="300"/>
              </a:spcBef>
            </a:pPr>
            <a:endParaRPr lang="en-US" sz="1400" dirty="0">
              <a:solidFill>
                <a:srgbClr val="64748B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0E5E794-A4F8-C1F4-5248-9B689CAD8735}"/>
              </a:ext>
            </a:extLst>
          </p:cNvPr>
          <p:cNvCxnSpPr>
            <a:cxnSpLocks/>
            <a:stCxn id="5" idx="1"/>
            <a:endCxn id="803" idx="2"/>
          </p:cNvCxnSpPr>
          <p:nvPr/>
        </p:nvCxnSpPr>
        <p:spPr>
          <a:xfrm rot="10800000">
            <a:off x="7048501" y="3323968"/>
            <a:ext cx="2994797" cy="808512"/>
          </a:xfrm>
          <a:prstGeom prst="bentConnector2">
            <a:avLst/>
          </a:prstGeom>
          <a:ln w="76200">
            <a:solidFill>
              <a:srgbClr val="CBD5E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Arr4">
            <a:extLst>
              <a:ext uri="{FF2B5EF4-FFF2-40B4-BE49-F238E27FC236}">
                <a16:creationId xmlns:a16="http://schemas.microsoft.com/office/drawing/2014/main" id="{9286CF5E-7314-85A6-D4EF-063F9CE387DD}"/>
              </a:ext>
            </a:extLst>
          </p:cNvPr>
          <p:cNvSpPr/>
          <p:nvPr/>
        </p:nvSpPr>
        <p:spPr>
          <a:xfrm rot="5400000">
            <a:off x="10710070" y="3359987"/>
            <a:ext cx="321230" cy="27837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BD5E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2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719D-6174-6E05-E935-B77F706A8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Schema + Prompt Design</a:t>
            </a:r>
          </a:p>
        </p:txBody>
      </p:sp>
      <p:sp>
        <p:nvSpPr>
          <p:cNvPr id="400" name="LeftCard"/>
          <p:cNvSpPr/>
          <p:nvPr/>
        </p:nvSpPr>
        <p:spPr>
          <a:xfrm>
            <a:off x="635000" y="1524000"/>
            <a:ext cx="5334000" cy="406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b="1" spc="300" dirty="0">
                <a:solidFill>
                  <a:srgbClr val="0891B2"/>
                </a:solidFill>
              </a:rPr>
              <a:t>STEP 1  ·  SCHEMA</a:t>
            </a: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0F172A"/>
                </a:solidFill>
              </a:rPr>
              <a:t>Teach the LLM your data</a:t>
            </a:r>
          </a:p>
          <a:p>
            <a:pPr marL="228600" indent="-228600">
              <a:spcBef>
                <a:spcPts val="8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Tables &amp; columns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Relationships &amp; keys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Data types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Optional: sample values</a:t>
            </a:r>
          </a:p>
          <a:p>
            <a:pPr>
              <a:spcBef>
                <a:spcPts val="800"/>
              </a:spcBef>
            </a:pPr>
            <a:r>
              <a:rPr lang="en-US" i="1" dirty="0">
                <a:solidFill>
                  <a:srgbClr val="64748B"/>
                </a:solidFill>
              </a:rPr>
              <a:t>Without schema, the LLM is guessing.</a:t>
            </a:r>
          </a:p>
        </p:txBody>
      </p:sp>
      <p:sp>
        <p:nvSpPr>
          <p:cNvPr id="401" name="RightCard"/>
          <p:cNvSpPr/>
          <p:nvPr/>
        </p:nvSpPr>
        <p:spPr>
          <a:xfrm>
            <a:off x="6223000" y="1524000"/>
            <a:ext cx="5334000" cy="4064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b="1" spc="300" dirty="0">
                <a:solidFill>
                  <a:srgbClr val="22D3EE"/>
                </a:solidFill>
              </a:rPr>
              <a:t>STEP 2  ·  PROMPT</a:t>
            </a: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FFFFFF"/>
                </a:solidFill>
              </a:rPr>
              <a:t>Write the rules</a:t>
            </a:r>
          </a:p>
          <a:p>
            <a:pPr>
              <a:spcBef>
                <a:spcPts val="800"/>
              </a:spcBef>
            </a:pPr>
            <a:r>
              <a:rPr lang="en-US" dirty="0">
                <a:solidFill>
                  <a:srgbClr val="64748B"/>
                </a:solidFill>
                <a:latin typeface="Consolas"/>
              </a:rPr>
              <a:t>// system prompt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You are a SQL assistant.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22D3EE"/>
                </a:solidFill>
                <a:latin typeface="Consolas"/>
              </a:rPr>
              <a:t>RULES: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• SELECT only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• No DELETE/UPDATE/DROP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• Return SQL only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• Use the schema above</a:t>
            </a:r>
          </a:p>
        </p:txBody>
      </p:sp>
      <p:sp>
        <p:nvSpPr>
          <p:cNvPr id="402" name="Note"/>
          <p:cNvSpPr txBox="1"/>
          <p:nvPr/>
        </p:nvSpPr>
        <p:spPr>
          <a:xfrm>
            <a:off x="889000" y="5791200"/>
            <a:ext cx="104140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i="1" dirty="0">
                <a:solidFill>
                  <a:srgbClr val="64748B"/>
                </a:solidFill>
              </a:rPr>
              <a:t>Good schema + strict prompt = reliable SQL</a:t>
            </a:r>
          </a:p>
        </p:txBody>
      </p:sp>
    </p:spTree>
    <p:extLst>
      <p:ext uri="{BB962C8B-B14F-4D97-AF65-F5344CB8AC3E}">
        <p14:creationId xmlns:p14="http://schemas.microsoft.com/office/powerpoint/2010/main" val="2819277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C9AD2-1B67-A3D7-680A-E00FA44CA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88211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Live Demo — Console</a:t>
            </a:r>
          </a:p>
        </p:txBody>
      </p:sp>
      <p:sp>
        <p:nvSpPr>
          <p:cNvPr id="501" name="DemoSub"/>
          <p:cNvSpPr txBox="1"/>
          <p:nvPr/>
        </p:nvSpPr>
        <p:spPr>
          <a:xfrm>
            <a:off x="2794000" y="1429656"/>
            <a:ext cx="8890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dirty="0">
                <a:solidFill>
                  <a:srgbClr val="475569"/>
                </a:solidFill>
              </a:rPr>
              <a:t>Visual Studio  &gt;  Chat.Console.OpenAI</a:t>
            </a:r>
          </a:p>
        </p:txBody>
      </p:sp>
      <p:sp>
        <p:nvSpPr>
          <p:cNvPr id="510" name="Terminal"/>
          <p:cNvSpPr/>
          <p:nvPr/>
        </p:nvSpPr>
        <p:spPr>
          <a:xfrm>
            <a:off x="508000" y="2342240"/>
            <a:ext cx="7112000" cy="33655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  <a:effectLst>
            <a:outerShdw blurRad="80000" dist="20000" dir="5400000" algn="t" rotWithShape="0">
              <a:srgbClr val="0F172A">
                <a:alpha val="20000"/>
              </a:srgbClr>
            </a:outerShdw>
          </a:effectLst>
        </p:spPr>
        <p:txBody>
          <a:bodyPr wrap="square" lIns="240000" tIns="200000" rIns="240000" bIns="200000" anchor="t"/>
          <a:lstStyle/>
          <a:p>
            <a:pPr algn="l"/>
            <a:r>
              <a:rPr lang="en-US" sz="1600" dirty="0">
                <a:solidFill>
                  <a:srgbClr val="64748B"/>
                </a:solidFill>
                <a:latin typeface="Consolas"/>
              </a:rPr>
              <a:t>$ dotnet run</a:t>
            </a:r>
          </a:p>
          <a:p>
            <a:pPr>
              <a:spcBef>
                <a:spcPts val="400"/>
              </a:spcBef>
            </a:pPr>
            <a:r>
              <a:rPr lang="en-US" sz="1600" dirty="0">
                <a:solidFill>
                  <a:srgbClr val="94A3B8"/>
                </a:solidFill>
                <a:latin typeface="Consolas"/>
              </a:rPr>
              <a:t>Ask your database &gt; </a:t>
            </a:r>
            <a:r>
              <a:rPr lang="en-US" sz="2000" b="1" dirty="0">
                <a:solidFill>
                  <a:srgbClr val="22D3EE"/>
                </a:solidFill>
                <a:latin typeface="Consolas"/>
              </a:rPr>
              <a:t>top 10 customers by revenue</a:t>
            </a:r>
          </a:p>
          <a:p>
            <a:pPr>
              <a:spcBef>
                <a:spcPts val="600"/>
              </a:spcBef>
            </a:pPr>
            <a:r>
              <a:rPr lang="en-US" sz="1600" dirty="0">
                <a:solidFill>
                  <a:srgbClr val="64748B"/>
                </a:solidFill>
                <a:latin typeface="Consolas"/>
              </a:rPr>
              <a:t>// generated SQL</a:t>
            </a:r>
          </a:p>
          <a:p>
            <a:pPr>
              <a:spcBef>
                <a:spcPts val="3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SELECT TOP 10 c.Name,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       SUM(o.Total) AS Revenue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FROM Customers c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JOIN Orders o ON o.CustomerId=c.Id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GROUP BY c.Name</a:t>
            </a:r>
          </a:p>
          <a:p>
            <a:pPr>
              <a:spcBef>
                <a:spcPts val="100"/>
              </a:spcBef>
            </a:pPr>
            <a:r>
              <a:rPr lang="en-US" dirty="0">
                <a:solidFill>
                  <a:srgbClr val="10B981"/>
                </a:solidFill>
                <a:latin typeface="Consolas"/>
              </a:rPr>
              <a:t>ORDER BY Revenue DESC;</a:t>
            </a:r>
          </a:p>
        </p:txBody>
      </p:sp>
      <p:sp>
        <p:nvSpPr>
          <p:cNvPr id="520" name="Trust"/>
          <p:cNvSpPr/>
          <p:nvPr/>
        </p:nvSpPr>
        <p:spPr>
          <a:xfrm>
            <a:off x="7874000" y="2342240"/>
            <a:ext cx="3810000" cy="33655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220000" tIns="200000" rIns="220000" bIns="200000" anchor="t"/>
          <a:lstStyle/>
          <a:p>
            <a:pPr>
              <a:spcBef>
                <a:spcPts val="800"/>
              </a:spcBef>
            </a:pPr>
            <a:r>
              <a:rPr lang="en-US" sz="3200" b="1" spc="300" dirty="0">
                <a:solidFill>
                  <a:srgbClr val="92400E"/>
                </a:solidFill>
              </a:rPr>
              <a:t>⏸</a:t>
            </a:r>
            <a:r>
              <a:rPr lang="en-US" sz="3200" b="1" dirty="0">
                <a:solidFill>
                  <a:srgbClr val="0F172A"/>
                </a:solidFill>
              </a:rPr>
              <a:t>Would you </a:t>
            </a:r>
            <a:br>
              <a:rPr lang="en-US" sz="3200" b="1" dirty="0">
                <a:solidFill>
                  <a:srgbClr val="0F172A"/>
                </a:solidFill>
              </a:rPr>
            </a:br>
            <a:r>
              <a:rPr lang="en-US" sz="3200" b="1" dirty="0">
                <a:solidFill>
                  <a:srgbClr val="0F172A"/>
                </a:solidFill>
              </a:rPr>
              <a:t>     run this </a:t>
            </a:r>
            <a:br>
              <a:rPr lang="en-US" sz="3200" b="1" dirty="0">
                <a:solidFill>
                  <a:srgbClr val="0F172A"/>
                </a:solidFill>
              </a:rPr>
            </a:br>
            <a:r>
              <a:rPr lang="en-US" sz="3200" b="1" dirty="0">
                <a:solidFill>
                  <a:srgbClr val="0F172A"/>
                </a:solidFill>
              </a:rPr>
              <a:t>     in production?"</a:t>
            </a:r>
          </a:p>
          <a:p>
            <a:pPr algn="l">
              <a:spcBef>
                <a:spcPts val="400"/>
              </a:spcBef>
            </a:pPr>
            <a:br>
              <a:rPr lang="en-US" dirty="0">
                <a:solidFill>
                  <a:srgbClr val="78350F"/>
                </a:solidFill>
              </a:rPr>
            </a:br>
            <a:br>
              <a:rPr lang="en-US" dirty="0">
                <a:solidFill>
                  <a:srgbClr val="78350F"/>
                </a:solidFill>
              </a:rPr>
            </a:br>
            <a:r>
              <a:rPr lang="en-US" dirty="0">
                <a:solidFill>
                  <a:srgbClr val="78350F"/>
                </a:solidFill>
              </a:rPr>
              <a:t>        </a:t>
            </a:r>
            <a:r>
              <a:rPr lang="en-US" sz="2400" b="1" dirty="0">
                <a:solidFill>
                  <a:srgbClr val="78350F"/>
                </a:solidFill>
              </a:rPr>
              <a:t>The validator → </a:t>
            </a:r>
            <a:endParaRPr lang="en-US" b="1" dirty="0">
              <a:solidFill>
                <a:srgbClr val="78350F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E91529-23A7-B9D9-91A9-CD0F5AB4D505}"/>
              </a:ext>
            </a:extLst>
          </p:cNvPr>
          <p:cNvGrpSpPr/>
          <p:nvPr/>
        </p:nvGrpSpPr>
        <p:grpSpPr>
          <a:xfrm>
            <a:off x="889000" y="1429656"/>
            <a:ext cx="1651000" cy="457200"/>
            <a:chOff x="889000" y="1429656"/>
            <a:chExt cx="1651000" cy="457200"/>
          </a:xfrm>
        </p:grpSpPr>
        <p:sp>
          <p:nvSpPr>
            <p:cNvPr id="500" name="LiveBadge"/>
            <p:cNvSpPr/>
            <p:nvPr/>
          </p:nvSpPr>
          <p:spPr>
            <a:xfrm>
              <a:off x="889000" y="1429656"/>
              <a:ext cx="1651000" cy="45720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txBody>
            <a:bodyPr wrap="square" lIns="91440" tIns="0" rIns="91440" bIns="0" anchor="ctr"/>
            <a:lstStyle/>
            <a:p>
              <a:pPr algn="ctr"/>
              <a:r>
                <a:rPr lang="en-US" b="1" spc="300" dirty="0">
                  <a:solidFill>
                    <a:srgbClr val="FFFFFF"/>
                  </a:solidFill>
                </a:rPr>
                <a:t>    LIVE</a:t>
              </a:r>
            </a:p>
          </p:txBody>
        </p:sp>
        <p:pic>
          <p:nvPicPr>
            <p:cNvPr id="8" name="Graphic 7" descr="Presentation with media with solid fill">
              <a:extLst>
                <a:ext uri="{FF2B5EF4-FFF2-40B4-BE49-F238E27FC236}">
                  <a16:creationId xmlns:a16="http://schemas.microsoft.com/office/drawing/2014/main" id="{09202127-A8D4-A00F-7BBA-CB4879194B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7503" y="1476895"/>
              <a:ext cx="394735" cy="394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5431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BEB7-C36F-15BC-7D87-2E120220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4357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Validation + Execution</a:t>
            </a:r>
          </a:p>
        </p:txBody>
      </p:sp>
      <p:sp>
        <p:nvSpPr>
          <p:cNvPr id="600" name="Validator"/>
          <p:cNvSpPr/>
          <p:nvPr/>
        </p:nvSpPr>
        <p:spPr>
          <a:xfrm>
            <a:off x="635000" y="1669140"/>
            <a:ext cx="53340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ECDD3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3600" b="1" dirty="0">
                <a:solidFill>
                  <a:srgbClr val="F43F5E"/>
                </a:solidFill>
              </a:rPr>
              <a:t>🛡</a:t>
            </a:r>
            <a:r>
              <a:rPr lang="en-US" b="1" spc="300" dirty="0">
                <a:solidFill>
                  <a:srgbClr val="9F1239"/>
                </a:solidFill>
              </a:rPr>
              <a:t>  </a:t>
            </a:r>
            <a:r>
              <a:rPr lang="en-US" sz="2800" b="1" spc="300" dirty="0">
                <a:solidFill>
                  <a:srgbClr val="9F1239"/>
                </a:solidFill>
              </a:rPr>
              <a:t>VALIDATE</a:t>
            </a:r>
            <a:endParaRPr lang="en-US" b="1" spc="300" dirty="0">
              <a:solidFill>
                <a:srgbClr val="9F1239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0F172A"/>
                </a:solidFill>
              </a:rPr>
              <a:t>Never trust the LLM</a:t>
            </a:r>
          </a:p>
          <a:p>
            <a:pPr marL="228600" indent="-228600">
              <a:spcBef>
                <a:spcPts val="600"/>
              </a:spcBef>
              <a:buClr>
                <a:srgbClr val="FF0000"/>
              </a:buClr>
              <a:buFont typeface="Arial"/>
              <a:buChar char="✕"/>
            </a:pPr>
            <a:r>
              <a:rPr lang="en-US" sz="2400" dirty="0">
                <a:solidFill>
                  <a:srgbClr val="334155"/>
                </a:solidFill>
              </a:rPr>
              <a:t> Block DELETE / UPDATE / DROP</a:t>
            </a:r>
          </a:p>
          <a:p>
            <a:pPr marL="228600" indent="-228600">
              <a:spcBef>
                <a:spcPts val="400"/>
              </a:spcBef>
              <a:buClr>
                <a:srgbClr val="FF0000"/>
              </a:buClr>
              <a:buFont typeface="Arial"/>
              <a:buChar char="✕"/>
            </a:pPr>
            <a:r>
              <a:rPr lang="en-US" sz="2400" dirty="0">
                <a:solidFill>
                  <a:srgbClr val="334155"/>
                </a:solidFill>
              </a:rPr>
              <a:t> Block multi-statement queries</a:t>
            </a:r>
          </a:p>
          <a:p>
            <a:pPr marL="228600" indent="-228600">
              <a:spcBef>
                <a:spcPts val="400"/>
              </a:spcBef>
              <a:buClr>
                <a:srgbClr val="00B050"/>
              </a:buClr>
              <a:buFont typeface="Arial"/>
              <a:buChar char="✓"/>
            </a:pPr>
            <a:r>
              <a:rPr lang="en-US" sz="2400" dirty="0">
                <a:solidFill>
                  <a:srgbClr val="334155"/>
                </a:solidFill>
              </a:rPr>
              <a:t> Allow only SELECT</a:t>
            </a:r>
          </a:p>
          <a:p>
            <a:pPr marL="228600" indent="-228600">
              <a:spcBef>
                <a:spcPts val="400"/>
              </a:spcBef>
              <a:buClr>
                <a:srgbClr val="00B050"/>
              </a:buClr>
              <a:buFont typeface="Arial"/>
              <a:buChar char="✓"/>
            </a:pPr>
            <a:r>
              <a:rPr lang="en-US" sz="2400" dirty="0">
                <a:solidFill>
                  <a:srgbClr val="334155"/>
                </a:solidFill>
              </a:rPr>
              <a:t> Enforce row limits</a:t>
            </a:r>
          </a:p>
          <a:p>
            <a:pPr marL="228600" indent="-228600">
              <a:spcBef>
                <a:spcPts val="400"/>
              </a:spcBef>
              <a:buClr>
                <a:srgbClr val="00B050"/>
              </a:buClr>
              <a:buFont typeface="Arial"/>
              <a:buChar char="✓"/>
            </a:pPr>
            <a:r>
              <a:rPr lang="en-US" sz="2400" dirty="0">
                <a:solidFill>
                  <a:srgbClr val="334155"/>
                </a:solidFill>
              </a:rPr>
              <a:t> Sanitize identifiers</a:t>
            </a:r>
          </a:p>
        </p:txBody>
      </p:sp>
      <p:sp>
        <p:nvSpPr>
          <p:cNvPr id="601" name="Exec"/>
          <p:cNvSpPr/>
          <p:nvPr/>
        </p:nvSpPr>
        <p:spPr>
          <a:xfrm>
            <a:off x="6223000" y="1669140"/>
            <a:ext cx="5334000" cy="419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7F3D0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3600" b="1" dirty="0">
                <a:solidFill>
                  <a:srgbClr val="10B981"/>
                </a:solidFill>
              </a:rPr>
              <a:t>▶</a:t>
            </a:r>
            <a:r>
              <a:rPr lang="en-US" b="1" spc="300" dirty="0">
                <a:solidFill>
                  <a:srgbClr val="047857"/>
                </a:solidFill>
              </a:rPr>
              <a:t>  </a:t>
            </a:r>
            <a:r>
              <a:rPr lang="en-US" sz="2800" b="1" spc="300" dirty="0">
                <a:solidFill>
                  <a:srgbClr val="047857"/>
                </a:solidFill>
              </a:rPr>
              <a:t>EXECUTE</a:t>
            </a:r>
            <a:endParaRPr lang="en-US" b="1" spc="300" dirty="0">
              <a:solidFill>
                <a:srgbClr val="047857"/>
              </a:solidFill>
            </a:endParaRP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0F172A"/>
                </a:solidFill>
              </a:rPr>
              <a:t>Run it, return it</a:t>
            </a:r>
          </a:p>
          <a:p>
            <a:pPr marL="228600" indent="-228600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Read-only connection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Timeout guard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Return as structured data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dirty="0">
                <a:solidFill>
                  <a:srgbClr val="334155"/>
                </a:solidFill>
              </a:rPr>
              <a:t>Log every query</a:t>
            </a:r>
          </a:p>
          <a:p>
            <a:pPr>
              <a:spcBef>
                <a:spcPts val="800"/>
              </a:spcBef>
            </a:pPr>
            <a:r>
              <a:rPr lang="en-US" i="1" dirty="0">
                <a:solidFill>
                  <a:srgbClr val="64748B"/>
                </a:solidFill>
              </a:rPr>
              <a:t>The DB user should only SELECT.</a:t>
            </a:r>
          </a:p>
        </p:txBody>
      </p:sp>
    </p:spTree>
    <p:extLst>
      <p:ext uri="{BB962C8B-B14F-4D97-AF65-F5344CB8AC3E}">
        <p14:creationId xmlns:p14="http://schemas.microsoft.com/office/powerpoint/2010/main" val="306723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BG"/>
          <p:cNvSpPr/>
          <p:nvPr/>
        </p:nvSpPr>
        <p:spPr>
          <a:xfrm>
            <a:off x="60960" y="0"/>
            <a:ext cx="12131039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2" name="Quote"/>
          <p:cNvSpPr txBox="1"/>
          <p:nvPr/>
        </p:nvSpPr>
        <p:spPr>
          <a:xfrm>
            <a:off x="1016000" y="1407886"/>
            <a:ext cx="10160000" cy="319314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9600" b="1" dirty="0">
                <a:solidFill>
                  <a:srgbClr val="FFFFFF"/>
                </a:solidFill>
              </a:rPr>
              <a:t>This is a </a:t>
            </a:r>
            <a:r>
              <a:rPr lang="en-US" sz="9600" b="1" i="1" dirty="0">
                <a:solidFill>
                  <a:srgbClr val="22D3EE"/>
                </a:solidFill>
              </a:rPr>
              <a:t>pipeline,</a:t>
            </a:r>
          </a:p>
          <a:p>
            <a:pPr algn="l">
              <a:lnSpc>
                <a:spcPct val="105000"/>
              </a:lnSpc>
            </a:pPr>
            <a:r>
              <a:rPr lang="en-US" sz="9600" b="1" dirty="0">
                <a:solidFill>
                  <a:srgbClr val="FFFFFF"/>
                </a:solidFill>
              </a:rPr>
              <a:t>not </a:t>
            </a:r>
            <a:r>
              <a:rPr lang="en-US" sz="9600" b="1" i="1" dirty="0">
                <a:solidFill>
                  <a:srgbClr val="F43F5E"/>
                </a:solidFill>
              </a:rPr>
              <a:t>magic.</a:t>
            </a:r>
          </a:p>
        </p:txBody>
      </p:sp>
      <p:sp>
        <p:nvSpPr>
          <p:cNvPr id="703" name="Sub"/>
          <p:cNvSpPr txBox="1"/>
          <p:nvPr/>
        </p:nvSpPr>
        <p:spPr>
          <a:xfrm>
            <a:off x="1016000" y="5029200"/>
            <a:ext cx="1016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dirty="0">
                <a:solidFill>
                  <a:srgbClr val="94A3B8"/>
                </a:solidFill>
              </a:rPr>
              <a:t>Every stage is inspectable, testable, replaceable.</a:t>
            </a:r>
          </a:p>
        </p:txBody>
      </p:sp>
    </p:spTree>
    <p:extLst>
      <p:ext uri="{BB962C8B-B14F-4D97-AF65-F5344CB8AC3E}">
        <p14:creationId xmlns:p14="http://schemas.microsoft.com/office/powerpoint/2010/main" val="3187530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3F21-8185-DCF7-FAAB-4AD3EB181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79173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Architecture — 3 Layers</a:t>
            </a:r>
          </a:p>
        </p:txBody>
      </p:sp>
      <p:sp>
        <p:nvSpPr>
          <p:cNvPr id="800" name="Sub"/>
          <p:cNvSpPr txBox="1"/>
          <p:nvPr/>
        </p:nvSpPr>
        <p:spPr>
          <a:xfrm>
            <a:off x="635000" y="1166586"/>
            <a:ext cx="104140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dirty="0">
                <a:solidFill>
                  <a:srgbClr val="64748B"/>
                </a:solidFill>
              </a:rPr>
              <a:t>Clean boundaries. Each layer does one thing well.</a:t>
            </a:r>
          </a:p>
        </p:txBody>
      </p:sp>
      <p:sp>
        <p:nvSpPr>
          <p:cNvPr id="900" name="L1"/>
          <p:cNvSpPr/>
          <p:nvPr/>
        </p:nvSpPr>
        <p:spPr>
          <a:xfrm>
            <a:off x="801914" y="1890486"/>
            <a:ext cx="889000" cy="8890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01" name="L1T"/>
          <p:cNvSpPr txBox="1"/>
          <p:nvPr/>
        </p:nvSpPr>
        <p:spPr>
          <a:xfrm>
            <a:off x="1872344" y="1905000"/>
            <a:ext cx="3302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Intake</a:t>
            </a:r>
          </a:p>
          <a:p>
            <a:pPr algn="l">
              <a:spcBef>
                <a:spcPts val="200"/>
              </a:spcBef>
            </a:pPr>
            <a:r>
              <a:rPr lang="en-US" b="1" dirty="0">
                <a:solidFill>
                  <a:srgbClr val="7B4F05"/>
                </a:solidFill>
              </a:rPr>
              <a:t>Understand what the user asked</a:t>
            </a:r>
          </a:p>
        </p:txBody>
      </p:sp>
      <p:sp>
        <p:nvSpPr>
          <p:cNvPr id="910" name="C1_0"/>
          <p:cNvSpPr/>
          <p:nvPr/>
        </p:nvSpPr>
        <p:spPr>
          <a:xfrm>
            <a:off x="5334000" y="2032000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User Query</a:t>
            </a:r>
          </a:p>
        </p:txBody>
      </p:sp>
      <p:sp>
        <p:nvSpPr>
          <p:cNvPr id="911" name="C1_1"/>
          <p:cNvSpPr/>
          <p:nvPr/>
        </p:nvSpPr>
        <p:spPr>
          <a:xfrm>
            <a:off x="7620000" y="2032000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22D3EE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Schema Reader</a:t>
            </a:r>
          </a:p>
        </p:txBody>
      </p:sp>
      <p:sp>
        <p:nvSpPr>
          <p:cNvPr id="930" name="L2"/>
          <p:cNvSpPr/>
          <p:nvPr/>
        </p:nvSpPr>
        <p:spPr>
          <a:xfrm>
            <a:off x="801914" y="3175000"/>
            <a:ext cx="889000" cy="8890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31" name="L2T"/>
          <p:cNvSpPr txBox="1"/>
          <p:nvPr/>
        </p:nvSpPr>
        <p:spPr>
          <a:xfrm>
            <a:off x="1872344" y="3175000"/>
            <a:ext cx="3302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Brain</a:t>
            </a:r>
          </a:p>
          <a:p>
            <a:pPr algn="l">
              <a:spcBef>
                <a:spcPts val="200"/>
              </a:spcBef>
            </a:pPr>
            <a:r>
              <a:rPr lang="en-US" b="1" dirty="0">
                <a:solidFill>
                  <a:srgbClr val="6366F1"/>
                </a:solidFill>
              </a:rPr>
              <a:t>Generate safe SQL</a:t>
            </a:r>
          </a:p>
        </p:txBody>
      </p:sp>
      <p:sp>
        <p:nvSpPr>
          <p:cNvPr id="940" name="C2_0"/>
          <p:cNvSpPr/>
          <p:nvPr/>
        </p:nvSpPr>
        <p:spPr>
          <a:xfrm>
            <a:off x="5334000" y="3302000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Prompt Builder</a:t>
            </a:r>
          </a:p>
        </p:txBody>
      </p:sp>
      <p:sp>
        <p:nvSpPr>
          <p:cNvPr id="941" name="C2_1"/>
          <p:cNvSpPr/>
          <p:nvPr/>
        </p:nvSpPr>
        <p:spPr>
          <a:xfrm>
            <a:off x="7620000" y="3302000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LLM Service</a:t>
            </a:r>
          </a:p>
        </p:txBody>
      </p:sp>
      <p:sp>
        <p:nvSpPr>
          <p:cNvPr id="942" name="C2_2"/>
          <p:cNvSpPr/>
          <p:nvPr/>
        </p:nvSpPr>
        <p:spPr>
          <a:xfrm>
            <a:off x="9906000" y="3302000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Validator</a:t>
            </a:r>
          </a:p>
        </p:txBody>
      </p:sp>
      <p:sp>
        <p:nvSpPr>
          <p:cNvPr id="960" name="L3"/>
          <p:cNvSpPr/>
          <p:nvPr/>
        </p:nvSpPr>
        <p:spPr>
          <a:xfrm>
            <a:off x="801914" y="4445000"/>
            <a:ext cx="889000" cy="889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61" name="L3T"/>
          <p:cNvSpPr txBox="1"/>
          <p:nvPr/>
        </p:nvSpPr>
        <p:spPr>
          <a:xfrm>
            <a:off x="1872344" y="4445000"/>
            <a:ext cx="3302000" cy="889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2800" b="1" dirty="0">
                <a:solidFill>
                  <a:srgbClr val="0F172A"/>
                </a:solidFill>
              </a:rPr>
              <a:t>Output</a:t>
            </a:r>
          </a:p>
          <a:p>
            <a:pPr algn="l">
              <a:spcBef>
                <a:spcPts val="200"/>
              </a:spcBef>
            </a:pPr>
            <a:r>
              <a:rPr lang="en-US" b="1" dirty="0">
                <a:solidFill>
                  <a:srgbClr val="10B981"/>
                </a:solidFill>
              </a:rPr>
              <a:t>Run and format results</a:t>
            </a:r>
          </a:p>
        </p:txBody>
      </p:sp>
      <p:sp>
        <p:nvSpPr>
          <p:cNvPr id="970" name="C3_0"/>
          <p:cNvSpPr/>
          <p:nvPr/>
        </p:nvSpPr>
        <p:spPr>
          <a:xfrm>
            <a:off x="5334000" y="4572000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Executor</a:t>
            </a:r>
          </a:p>
        </p:txBody>
      </p:sp>
      <p:sp>
        <p:nvSpPr>
          <p:cNvPr id="971" name="C3_1"/>
          <p:cNvSpPr/>
          <p:nvPr/>
        </p:nvSpPr>
        <p:spPr>
          <a:xfrm>
            <a:off x="7620000" y="4572000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Formatter</a:t>
            </a:r>
          </a:p>
        </p:txBody>
      </p:sp>
      <p:sp>
        <p:nvSpPr>
          <p:cNvPr id="972" name="C3_2"/>
          <p:cNvSpPr/>
          <p:nvPr/>
        </p:nvSpPr>
        <p:spPr>
          <a:xfrm>
            <a:off x="9906000" y="4572000"/>
            <a:ext cx="2032000" cy="635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txBody>
          <a:bodyPr wrap="square" lIns="91440" tIns="91440" rIns="91440" bIns="91440" anchor="ctr"/>
          <a:lstStyle/>
          <a:p>
            <a:pPr algn="ctr"/>
            <a:r>
              <a:rPr lang="en-US" sz="2000" dirty="0">
                <a:solidFill>
                  <a:srgbClr val="0F172A"/>
                </a:solidFill>
              </a:rPr>
              <a:t>Exporter</a:t>
            </a:r>
          </a:p>
        </p:txBody>
      </p:sp>
      <p:sp>
        <p:nvSpPr>
          <p:cNvPr id="996" name="Insight"/>
          <p:cNvSpPr/>
          <p:nvPr/>
        </p:nvSpPr>
        <p:spPr>
          <a:xfrm>
            <a:off x="635000" y="5778500"/>
            <a:ext cx="109220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wrap="square" lIns="180000" tIns="0" rIns="180000" bIns="0" anchor="ctr"/>
          <a:lstStyle/>
          <a:p>
            <a:pPr algn="ctr"/>
            <a:r>
              <a:rPr lang="en-US" dirty="0">
                <a:solidFill>
                  <a:srgbClr val="475569"/>
                </a:solidFill>
              </a:rPr>
              <a:t>Swap the LLM, swap the database, swap the UI — the contract between layers stays the same.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1DD38E-AD84-1D50-E52F-B5F98C5D28D8}"/>
              </a:ext>
            </a:extLst>
          </p:cNvPr>
          <p:cNvCxnSpPr>
            <a:cxnSpLocks/>
          </p:cNvCxnSpPr>
          <p:nvPr/>
        </p:nvCxnSpPr>
        <p:spPr>
          <a:xfrm>
            <a:off x="635000" y="2975429"/>
            <a:ext cx="11557000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400EC4-90AC-A72F-9F8C-1821703F6ACF}"/>
              </a:ext>
            </a:extLst>
          </p:cNvPr>
          <p:cNvCxnSpPr>
            <a:cxnSpLocks/>
          </p:cNvCxnSpPr>
          <p:nvPr/>
        </p:nvCxnSpPr>
        <p:spPr>
          <a:xfrm>
            <a:off x="635000" y="4230915"/>
            <a:ext cx="11557000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812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9B66-9047-A005-9B40-77D94E89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2543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One Module. Any .NET App.</a:t>
            </a:r>
          </a:p>
        </p:txBody>
      </p:sp>
      <p:sp>
        <p:nvSpPr>
          <p:cNvPr id="900" name="Code"/>
          <p:cNvSpPr/>
          <p:nvPr/>
        </p:nvSpPr>
        <p:spPr>
          <a:xfrm>
            <a:off x="635000" y="1651000"/>
            <a:ext cx="6731000" cy="4064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b="1" spc="300" dirty="0">
                <a:solidFill>
                  <a:srgbClr val="22D3EE"/>
                </a:solidFill>
              </a:rPr>
              <a:t>PROGRAM.CS</a:t>
            </a:r>
          </a:p>
          <a:p>
            <a:pPr>
              <a:spcBef>
                <a:spcPts val="500"/>
              </a:spcBef>
            </a:pPr>
            <a:r>
              <a:rPr lang="en-US" sz="2000" dirty="0">
                <a:solidFill>
                  <a:srgbClr val="A78BFA"/>
                </a:solidFill>
                <a:latin typeface="Consolas"/>
              </a:rPr>
              <a:t>builder.Services.</a:t>
            </a:r>
            <a:r>
              <a:rPr lang="en-US" sz="2000" dirty="0">
                <a:solidFill>
                  <a:srgbClr val="22D3EE"/>
                </a:solidFill>
                <a:latin typeface="Consolas"/>
              </a:rPr>
              <a:t>AddAiReporting</a:t>
            </a:r>
            <a:r>
              <a:rPr lang="en-US" sz="2000" dirty="0">
                <a:solidFill>
                  <a:srgbClr val="E2E8F0"/>
                </a:solidFill>
                <a:latin typeface="Consolas"/>
              </a:rPr>
              <a:t>(opt =&gt;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    opt.ConnectionString = cfg[</a:t>
            </a:r>
            <a:r>
              <a:rPr lang="en-US" sz="2000" dirty="0">
                <a:solidFill>
                  <a:srgbClr val="10B981"/>
                </a:solidFill>
                <a:latin typeface="Consolas"/>
              </a:rPr>
              <a:t>"Db"</a:t>
            </a:r>
            <a:r>
              <a:rPr lang="en-US" sz="2000" dirty="0">
                <a:solidFill>
                  <a:srgbClr val="E2E8F0"/>
                </a:solidFill>
                <a:latin typeface="Consolas"/>
              </a:rPr>
              <a:t>];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    opt.LlmProvider   = </a:t>
            </a:r>
            <a:r>
              <a:rPr lang="en-US" sz="2000" dirty="0">
                <a:solidFill>
                  <a:srgbClr val="10B981"/>
                </a:solidFill>
                <a:latin typeface="Consolas"/>
              </a:rPr>
              <a:t>"OpenAI"</a:t>
            </a:r>
            <a:r>
              <a:rPr lang="en-US" sz="2000" dirty="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    opt.ReadOnly      = </a:t>
            </a:r>
            <a:r>
              <a:rPr lang="en-US" sz="2000" dirty="0">
                <a:solidFill>
                  <a:srgbClr val="A78BFA"/>
                </a:solidFill>
                <a:latin typeface="Consolas"/>
              </a:rPr>
              <a:t>true</a:t>
            </a:r>
            <a:r>
              <a:rPr lang="en-US" sz="2000" dirty="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200"/>
              </a:spcBef>
            </a:pPr>
            <a:r>
              <a:rPr lang="en-US" sz="2000" dirty="0">
                <a:solidFill>
                  <a:srgbClr val="E2E8F0"/>
                </a:solidFill>
                <a:latin typeface="Consolas"/>
              </a:rPr>
              <a:t>});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rgbClr val="64748B"/>
                </a:solidFill>
                <a:latin typeface="Consolas"/>
              </a:rPr>
              <a:t>// inject IReportingService anywhere</a:t>
            </a:r>
          </a:p>
        </p:txBody>
      </p:sp>
      <p:sp>
        <p:nvSpPr>
          <p:cNvPr id="910" name="T"/>
          <p:cNvSpPr/>
          <p:nvPr/>
        </p:nvSpPr>
        <p:spPr>
          <a:xfrm>
            <a:off x="7620000" y="1651000"/>
            <a:ext cx="4064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t"/>
          <a:lstStyle/>
          <a:p>
            <a:pPr algn="l"/>
            <a:r>
              <a:rPr lang="en-US" sz="3200" b="1" dirty="0">
                <a:solidFill>
                  <a:srgbClr val="22D3EE"/>
                </a:solidFill>
              </a:rPr>
              <a:t>▣  </a:t>
            </a:r>
            <a:r>
              <a:rPr lang="en-US" sz="2800" b="1" dirty="0">
                <a:solidFill>
                  <a:srgbClr val="0F172A"/>
                </a:solidFill>
              </a:rPr>
              <a:t>ASP.NET API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Expose as HTTP endpoint</a:t>
            </a:r>
          </a:p>
        </p:txBody>
      </p:sp>
      <p:sp>
        <p:nvSpPr>
          <p:cNvPr id="911" name="T"/>
          <p:cNvSpPr/>
          <p:nvPr/>
        </p:nvSpPr>
        <p:spPr>
          <a:xfrm>
            <a:off x="7620000" y="2984500"/>
            <a:ext cx="4064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t"/>
          <a:lstStyle/>
          <a:p>
            <a:pPr algn="l"/>
            <a:r>
              <a:rPr lang="en-US" sz="3200" b="1" dirty="0">
                <a:solidFill>
                  <a:srgbClr val="22D3EE"/>
                </a:solidFill>
              </a:rPr>
              <a:t>◉  </a:t>
            </a:r>
            <a:r>
              <a:rPr lang="en-US" sz="2800" b="1" dirty="0">
                <a:solidFill>
                  <a:srgbClr val="0F172A"/>
                </a:solidFill>
              </a:rPr>
              <a:t>Blazor / MAUI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Ship with real UX</a:t>
            </a:r>
          </a:p>
        </p:txBody>
      </p:sp>
      <p:sp>
        <p:nvSpPr>
          <p:cNvPr id="912" name="T"/>
          <p:cNvSpPr/>
          <p:nvPr/>
        </p:nvSpPr>
        <p:spPr>
          <a:xfrm>
            <a:off x="7620000" y="4318000"/>
            <a:ext cx="4064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40000" rIns="180000" bIns="140000" anchor="t"/>
          <a:lstStyle/>
          <a:p>
            <a:pPr algn="l"/>
            <a:r>
              <a:rPr lang="en-US" sz="3200" b="1" dirty="0">
                <a:solidFill>
                  <a:srgbClr val="22D3EE"/>
                </a:solidFill>
              </a:rPr>
              <a:t>⚡  </a:t>
            </a:r>
            <a:r>
              <a:rPr lang="en-US" sz="2800" b="1" dirty="0">
                <a:solidFill>
                  <a:srgbClr val="0F172A"/>
                </a:solidFill>
              </a:rPr>
              <a:t>Worker / CLI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Run on a schedule</a:t>
            </a:r>
          </a:p>
        </p:txBody>
      </p:sp>
    </p:spTree>
    <p:extLst>
      <p:ext uri="{BB962C8B-B14F-4D97-AF65-F5344CB8AC3E}">
        <p14:creationId xmlns:p14="http://schemas.microsoft.com/office/powerpoint/2010/main" val="2434733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>
            <a:extLst>
              <a:ext uri="{FF2B5EF4-FFF2-40B4-BE49-F238E27FC236}">
                <a16:creationId xmlns:a16="http://schemas.microsoft.com/office/drawing/2014/main" id="{BAA9BBAE-549B-363A-B2DE-7B82682E01A1}"/>
              </a:ext>
            </a:extLst>
          </p:cNvPr>
          <p:cNvSpPr/>
          <p:nvPr/>
        </p:nvSpPr>
        <p:spPr>
          <a:xfrm>
            <a:off x="73026" y="1270000"/>
            <a:ext cx="12118974" cy="431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sz="3200"/>
          </a:p>
        </p:txBody>
      </p:sp>
      <p:sp>
        <p:nvSpPr>
          <p:cNvPr id="1001" name="Lbl"/>
          <p:cNvSpPr txBox="1"/>
          <p:nvPr/>
        </p:nvSpPr>
        <p:spPr>
          <a:xfrm>
            <a:off x="1016000" y="1778000"/>
            <a:ext cx="10160000" cy="381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b="1" spc="400" dirty="0">
                <a:solidFill>
                  <a:srgbClr val="22D3EE"/>
                </a:solidFill>
              </a:rPr>
              <a:t>DEMO 2  ·  THE PRODUCT</a:t>
            </a:r>
          </a:p>
        </p:txBody>
      </p:sp>
      <p:sp>
        <p:nvSpPr>
          <p:cNvPr id="1002" name="Q"/>
          <p:cNvSpPr txBox="1"/>
          <p:nvPr/>
        </p:nvSpPr>
        <p:spPr>
          <a:xfrm>
            <a:off x="1016000" y="2603500"/>
            <a:ext cx="10160000" cy="2032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7200" b="1" dirty="0">
                <a:solidFill>
                  <a:srgbClr val="FFFFFF"/>
                </a:solidFill>
              </a:rPr>
              <a:t>Now let's turn this into a </a:t>
            </a:r>
            <a:r>
              <a:rPr lang="en-US" sz="7200" b="1" i="1" dirty="0">
                <a:solidFill>
                  <a:srgbClr val="22D3EE"/>
                </a:solidFill>
              </a:rPr>
              <a:t>real product</a:t>
            </a:r>
          </a:p>
        </p:txBody>
      </p:sp>
      <p:sp>
        <p:nvSpPr>
          <p:cNvPr id="1003" name="Sub"/>
          <p:cNvSpPr txBox="1"/>
          <p:nvPr/>
        </p:nvSpPr>
        <p:spPr>
          <a:xfrm>
            <a:off x="1016000" y="5207000"/>
            <a:ext cx="10160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1800" i="1" dirty="0">
                <a:solidFill>
                  <a:srgbClr val="94A3B8"/>
                </a:solidFill>
              </a:rPr>
              <a:t>Same backend. Voice input. Charts. Excel export.</a:t>
            </a:r>
          </a:p>
        </p:txBody>
      </p:sp>
    </p:spTree>
    <p:extLst>
      <p:ext uri="{BB962C8B-B14F-4D97-AF65-F5344CB8AC3E}">
        <p14:creationId xmlns:p14="http://schemas.microsoft.com/office/powerpoint/2010/main" val="2413001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1DA7E-317D-1151-40A8-0BFF0DA6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53218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Same Backend, </a:t>
            </a:r>
            <a:r>
              <a:rPr lang="en-US" sz="4800" dirty="0">
                <a:solidFill>
                  <a:srgbClr val="0F172A"/>
                </a:solidFill>
              </a:rPr>
              <a:t>Little Bit</a:t>
            </a:r>
            <a:r>
              <a:rPr lang="en-US" sz="4800" b="1" dirty="0">
                <a:solidFill>
                  <a:srgbClr val="0F172A"/>
                </a:solidFill>
              </a:rPr>
              <a:t> Better UX</a:t>
            </a:r>
          </a:p>
        </p:txBody>
      </p:sp>
      <p:sp>
        <p:nvSpPr>
          <p:cNvPr id="1100" name="F"/>
          <p:cNvSpPr/>
          <p:nvPr/>
        </p:nvSpPr>
        <p:spPr>
          <a:xfrm>
            <a:off x="635000" y="1778000"/>
            <a:ext cx="254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F43F5E"/>
                </a:solidFill>
              </a:rPr>
              <a:t>🎤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Voice input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Talk to your data</a:t>
            </a:r>
          </a:p>
        </p:txBody>
      </p:sp>
      <p:sp>
        <p:nvSpPr>
          <p:cNvPr id="1101" name="F"/>
          <p:cNvSpPr/>
          <p:nvPr/>
        </p:nvSpPr>
        <p:spPr>
          <a:xfrm>
            <a:off x="3365500" y="1778000"/>
            <a:ext cx="254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22D3EE"/>
                </a:solidFill>
              </a:rPr>
              <a:t>⚡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Live query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Real-time NL → SQL</a:t>
            </a:r>
          </a:p>
        </p:txBody>
      </p:sp>
      <p:sp>
        <p:nvSpPr>
          <p:cNvPr id="1102" name="F"/>
          <p:cNvSpPr/>
          <p:nvPr/>
        </p:nvSpPr>
        <p:spPr>
          <a:xfrm>
            <a:off x="6096000" y="1778000"/>
            <a:ext cx="254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6366F1"/>
                </a:solidFill>
              </a:rPr>
              <a:t>📊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Charts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Auto-visualize result</a:t>
            </a:r>
          </a:p>
        </p:txBody>
      </p:sp>
      <p:sp>
        <p:nvSpPr>
          <p:cNvPr id="1103" name="F"/>
          <p:cNvSpPr/>
          <p:nvPr/>
        </p:nvSpPr>
        <p:spPr>
          <a:xfrm>
            <a:off x="8826500" y="1778000"/>
            <a:ext cx="2540000" cy="215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20000" rIns="180000" bIns="180000" anchor="t"/>
          <a:lstStyle/>
          <a:p>
            <a:pPr algn="l"/>
            <a:r>
              <a:rPr lang="en-US" sz="4800" b="1" dirty="0">
                <a:solidFill>
                  <a:srgbClr val="10B981"/>
                </a:solidFill>
              </a:rPr>
              <a:t>📄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F172A"/>
                </a:solidFill>
              </a:rPr>
              <a:t>Excel export</a:t>
            </a:r>
          </a:p>
          <a:p>
            <a:pPr algn="l">
              <a:spcBef>
                <a:spcPts val="300"/>
              </a:spcBef>
            </a:pPr>
            <a:r>
              <a:rPr lang="en-US" sz="2000" dirty="0">
                <a:solidFill>
                  <a:srgbClr val="64748B"/>
                </a:solidFill>
              </a:rPr>
              <a:t>One click to report</a:t>
            </a:r>
          </a:p>
        </p:txBody>
      </p:sp>
      <p:sp>
        <p:nvSpPr>
          <p:cNvPr id="1110" name="Banner"/>
          <p:cNvSpPr/>
          <p:nvPr/>
        </p:nvSpPr>
        <p:spPr>
          <a:xfrm>
            <a:off x="635000" y="4318000"/>
            <a:ext cx="10731500" cy="1524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txBody>
          <a:bodyPr wrap="square" lIns="280000" tIns="200000" rIns="280000" bIns="200000" anchor="ctr"/>
          <a:lstStyle/>
          <a:p>
            <a:pPr algn="l"/>
            <a:r>
              <a:rPr lang="en-US" sz="1400" b="1" spc="300" dirty="0">
                <a:solidFill>
                  <a:srgbClr val="22D3EE"/>
                </a:solidFill>
              </a:rPr>
              <a:t>THE BACKEND DIDN'T CHANGE.</a:t>
            </a:r>
          </a:p>
          <a:p>
            <a:pPr algn="l">
              <a:spcBef>
                <a:spcPts val="400"/>
              </a:spcBef>
            </a:pPr>
            <a:r>
              <a:rPr lang="en-US" sz="2400" dirty="0">
                <a:solidFill>
                  <a:srgbClr val="FFFFFF"/>
                </a:solidFill>
              </a:rPr>
              <a:t>Blazor reuses the exact same module. The frontend is where </a:t>
            </a:r>
            <a:r>
              <a:rPr lang="en-US" sz="2400" i="1" dirty="0">
                <a:solidFill>
                  <a:srgbClr val="22D3EE"/>
                </a:solidFill>
              </a:rPr>
              <a:t>the product</a:t>
            </a:r>
            <a:r>
              <a:rPr lang="en-US" sz="2400" dirty="0">
                <a:solidFill>
                  <a:srgbClr val="FFFFFF"/>
                </a:solidFill>
              </a:rPr>
              <a:t> lives.</a:t>
            </a:r>
          </a:p>
        </p:txBody>
      </p:sp>
    </p:spTree>
    <p:extLst>
      <p:ext uri="{BB962C8B-B14F-4D97-AF65-F5344CB8AC3E}">
        <p14:creationId xmlns:p14="http://schemas.microsoft.com/office/powerpoint/2010/main" val="4276252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87CF-88FF-1DB2-F78F-BF6C35A2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003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Live Demo — Blazor</a:t>
            </a:r>
          </a:p>
        </p:txBody>
      </p:sp>
      <p:sp>
        <p:nvSpPr>
          <p:cNvPr id="1210" name="S"/>
          <p:cNvSpPr/>
          <p:nvPr/>
        </p:nvSpPr>
        <p:spPr>
          <a:xfrm>
            <a:off x="635000" y="2159000"/>
            <a:ext cx="2872014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pPr algn="l"/>
            <a:r>
              <a:rPr lang="en-US" sz="2400" b="1" spc="300" dirty="0">
                <a:solidFill>
                  <a:srgbClr val="F43F5E"/>
                </a:solidFill>
              </a:rPr>
              <a:t>STEP 1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F43F5E"/>
                </a:solidFill>
              </a:rPr>
              <a:t>🎤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Speak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rgbClr val="64748B"/>
                </a:solidFill>
              </a:rPr>
              <a:t>"Show sales trends last 6 months"</a:t>
            </a:r>
          </a:p>
        </p:txBody>
      </p:sp>
      <p:sp>
        <p:nvSpPr>
          <p:cNvPr id="1211" name="S"/>
          <p:cNvSpPr/>
          <p:nvPr/>
        </p:nvSpPr>
        <p:spPr>
          <a:xfrm>
            <a:off x="3321958" y="2159000"/>
            <a:ext cx="2872014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pPr algn="l"/>
            <a:r>
              <a:rPr lang="en-US" sz="2400" b="1" spc="300" dirty="0">
                <a:solidFill>
                  <a:srgbClr val="22D3EE"/>
                </a:solidFill>
              </a:rPr>
              <a:t>STEP 2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22D3EE"/>
                </a:solidFill>
              </a:rPr>
              <a:t>⚡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Query runs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rgbClr val="64748B"/>
                </a:solidFill>
              </a:rPr>
              <a:t>Same pipeline. Faster feedback.</a:t>
            </a:r>
          </a:p>
        </p:txBody>
      </p:sp>
      <p:sp>
        <p:nvSpPr>
          <p:cNvPr id="1212" name="S"/>
          <p:cNvSpPr/>
          <p:nvPr/>
        </p:nvSpPr>
        <p:spPr>
          <a:xfrm>
            <a:off x="6052458" y="2159000"/>
            <a:ext cx="2872014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pPr algn="l"/>
            <a:r>
              <a:rPr lang="en-US" sz="2400" b="1" spc="300" dirty="0">
                <a:solidFill>
                  <a:srgbClr val="6366F1"/>
                </a:solidFill>
              </a:rPr>
              <a:t>STEP 3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6366F1"/>
                </a:solidFill>
              </a:rPr>
              <a:t>📊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Chart renders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rgbClr val="64748B"/>
                </a:solidFill>
              </a:rPr>
              <a:t>Table + chart, side by side.</a:t>
            </a:r>
          </a:p>
        </p:txBody>
      </p:sp>
      <p:sp>
        <p:nvSpPr>
          <p:cNvPr id="1213" name="S"/>
          <p:cNvSpPr/>
          <p:nvPr/>
        </p:nvSpPr>
        <p:spPr>
          <a:xfrm>
            <a:off x="8782958" y="2159000"/>
            <a:ext cx="2872014" cy="330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200000" rIns="180000" bIns="200000" anchor="t"/>
          <a:lstStyle/>
          <a:p>
            <a:pPr algn="l"/>
            <a:r>
              <a:rPr lang="en-US" sz="2400" b="1" spc="300" dirty="0">
                <a:solidFill>
                  <a:srgbClr val="10B981"/>
                </a:solidFill>
              </a:rPr>
              <a:t>STEP 4</a:t>
            </a:r>
          </a:p>
          <a:p>
            <a:pPr algn="l">
              <a:spcBef>
                <a:spcPts val="400"/>
              </a:spcBef>
            </a:pPr>
            <a:r>
              <a:rPr lang="en-US" sz="5400" b="1" dirty="0">
                <a:solidFill>
                  <a:srgbClr val="10B981"/>
                </a:solidFill>
              </a:rPr>
              <a:t>📄</a:t>
            </a:r>
          </a:p>
          <a:p>
            <a:pPr algn="l">
              <a:spcBef>
                <a:spcPts val="500"/>
              </a:spcBef>
            </a:pPr>
            <a:r>
              <a:rPr lang="en-US" sz="3200" b="1" dirty="0">
                <a:solidFill>
                  <a:srgbClr val="0F172A"/>
                </a:solidFill>
              </a:rPr>
              <a:t>Export</a:t>
            </a:r>
          </a:p>
          <a:p>
            <a:pPr algn="l">
              <a:spcBef>
                <a:spcPts val="400"/>
              </a:spcBef>
            </a:pPr>
            <a:r>
              <a:rPr lang="en-US" sz="2400" i="1" dirty="0">
                <a:solidFill>
                  <a:srgbClr val="64748B"/>
                </a:solidFill>
              </a:rPr>
              <a:t>One click → Excel report.</a:t>
            </a:r>
          </a:p>
        </p:txBody>
      </p:sp>
      <p:sp>
        <p:nvSpPr>
          <p:cNvPr id="3" name="DemoSub">
            <a:extLst>
              <a:ext uri="{FF2B5EF4-FFF2-40B4-BE49-F238E27FC236}">
                <a16:creationId xmlns:a16="http://schemas.microsoft.com/office/drawing/2014/main" id="{E33DA3B9-8656-E2AF-4324-2D26E49EA3D5}"/>
              </a:ext>
            </a:extLst>
          </p:cNvPr>
          <p:cNvSpPr txBox="1"/>
          <p:nvPr/>
        </p:nvSpPr>
        <p:spPr>
          <a:xfrm>
            <a:off x="2540000" y="1397000"/>
            <a:ext cx="8890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lang="en-US" sz="2400" dirty="0">
                <a:solidFill>
                  <a:srgbClr val="475569"/>
                </a:solidFill>
              </a:rPr>
              <a:t>Switching to browser  &gt;  </a:t>
            </a:r>
            <a:r>
              <a:rPr lang="en-US" sz="2400" dirty="0" err="1">
                <a:solidFill>
                  <a:srgbClr val="475569"/>
                </a:solidFill>
              </a:rPr>
              <a:t>Talk.Web</a:t>
            </a:r>
            <a:endParaRPr lang="en-US" sz="2400" dirty="0">
              <a:solidFill>
                <a:srgbClr val="475569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5D02981-EC00-CA24-9A53-841C69148F8E}"/>
              </a:ext>
            </a:extLst>
          </p:cNvPr>
          <p:cNvGrpSpPr/>
          <p:nvPr/>
        </p:nvGrpSpPr>
        <p:grpSpPr>
          <a:xfrm>
            <a:off x="635000" y="1397000"/>
            <a:ext cx="1651000" cy="457200"/>
            <a:chOff x="889000" y="1429656"/>
            <a:chExt cx="1651000" cy="457200"/>
          </a:xfrm>
        </p:grpSpPr>
        <p:sp>
          <p:nvSpPr>
            <p:cNvPr id="5" name="LiveBadge">
              <a:extLst>
                <a:ext uri="{FF2B5EF4-FFF2-40B4-BE49-F238E27FC236}">
                  <a16:creationId xmlns:a16="http://schemas.microsoft.com/office/drawing/2014/main" id="{0F7942F8-37EE-BE0E-CF0A-AFDCE5AED565}"/>
                </a:ext>
              </a:extLst>
            </p:cNvPr>
            <p:cNvSpPr/>
            <p:nvPr/>
          </p:nvSpPr>
          <p:spPr>
            <a:xfrm>
              <a:off x="889000" y="1429656"/>
              <a:ext cx="1651000" cy="457200"/>
            </a:xfrm>
            <a:prstGeom prst="roundRect">
              <a:avLst>
                <a:gd name="adj" fmla="val 50000"/>
              </a:avLst>
            </a:prstGeom>
            <a:solidFill>
              <a:srgbClr val="F43F5E"/>
            </a:solidFill>
            <a:ln>
              <a:noFill/>
            </a:ln>
          </p:spPr>
          <p:txBody>
            <a:bodyPr wrap="square" lIns="91440" tIns="0" rIns="91440" bIns="0" anchor="ctr"/>
            <a:lstStyle/>
            <a:p>
              <a:pPr algn="ctr"/>
              <a:r>
                <a:rPr lang="en-US" b="1" spc="300" dirty="0">
                  <a:solidFill>
                    <a:srgbClr val="FFFFFF"/>
                  </a:solidFill>
                </a:rPr>
                <a:t>    LIVE</a:t>
              </a:r>
            </a:p>
          </p:txBody>
        </p:sp>
        <p:pic>
          <p:nvPicPr>
            <p:cNvPr id="6" name="Graphic 5" descr="Presentation with media with solid fill">
              <a:extLst>
                <a:ext uri="{FF2B5EF4-FFF2-40B4-BE49-F238E27FC236}">
                  <a16:creationId xmlns:a16="http://schemas.microsoft.com/office/drawing/2014/main" id="{44BF11B1-A87D-0E81-4EF5-B50F0A9C05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37503" y="1476895"/>
              <a:ext cx="394735" cy="394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3866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8FAF-AB4F-A00A-4E74-5574F0150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350611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UX Is the Product</a:t>
            </a:r>
          </a:p>
        </p:txBody>
      </p:sp>
      <p:sp>
        <p:nvSpPr>
          <p:cNvPr id="1300" name="P"/>
          <p:cNvSpPr/>
          <p:nvPr/>
        </p:nvSpPr>
        <p:spPr>
          <a:xfrm>
            <a:off x="635000" y="1778000"/>
            <a:ext cx="34925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20000" tIns="240000" rIns="220000" bIns="240000" anchor="t"/>
          <a:lstStyle/>
          <a:p>
            <a:pPr algn="l"/>
            <a:r>
              <a:rPr lang="en-US" sz="2000" b="1" spc="300" dirty="0">
                <a:solidFill>
                  <a:srgbClr val="22D3EE"/>
                </a:solidFill>
              </a:rPr>
              <a:t>01</a:t>
            </a:r>
          </a:p>
          <a:p>
            <a:pPr algn="l">
              <a:spcBef>
                <a:spcPts val="400"/>
              </a:spcBef>
            </a:pPr>
            <a:r>
              <a:rPr lang="en-US" sz="4800" b="1" dirty="0">
                <a:solidFill>
                  <a:srgbClr val="22D3EE"/>
                </a:solidFill>
              </a:rPr>
              <a:t>Simplicity</a:t>
            </a:r>
          </a:p>
          <a:p>
            <a:pPr algn="l">
              <a:spcBef>
                <a:spcPts val="600"/>
              </a:spcBef>
            </a:pPr>
            <a:r>
              <a:rPr lang="en-US" sz="2800" dirty="0">
                <a:solidFill>
                  <a:srgbClr val="475569"/>
                </a:solidFill>
              </a:rPr>
              <a:t>One input. One answer. Hide everything else until they ask.</a:t>
            </a:r>
          </a:p>
        </p:txBody>
      </p:sp>
      <p:sp>
        <p:nvSpPr>
          <p:cNvPr id="1301" name="P"/>
          <p:cNvSpPr/>
          <p:nvPr/>
        </p:nvSpPr>
        <p:spPr>
          <a:xfrm>
            <a:off x="4343400" y="1778000"/>
            <a:ext cx="34925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20000" tIns="240000" rIns="220000" bIns="240000" anchor="t"/>
          <a:lstStyle/>
          <a:p>
            <a:pPr algn="l"/>
            <a:r>
              <a:rPr lang="en-US" sz="2000" b="1" spc="300" dirty="0">
                <a:solidFill>
                  <a:srgbClr val="6366F1"/>
                </a:solidFill>
              </a:rPr>
              <a:t>02</a:t>
            </a:r>
          </a:p>
          <a:p>
            <a:pPr algn="l">
              <a:spcBef>
                <a:spcPts val="400"/>
              </a:spcBef>
            </a:pPr>
            <a:r>
              <a:rPr lang="en-US" sz="4800" b="1" dirty="0">
                <a:solidFill>
                  <a:srgbClr val="6366F1"/>
                </a:solidFill>
              </a:rPr>
              <a:t>Speed</a:t>
            </a:r>
          </a:p>
          <a:p>
            <a:pPr algn="l">
              <a:spcBef>
                <a:spcPts val="600"/>
              </a:spcBef>
            </a:pPr>
            <a:r>
              <a:rPr lang="en-US" sz="2800" dirty="0">
                <a:solidFill>
                  <a:srgbClr val="475569"/>
                </a:solidFill>
              </a:rPr>
              <a:t>Stream the SQL. Stream the result. No spinners over 2 seconds.</a:t>
            </a:r>
          </a:p>
        </p:txBody>
      </p:sp>
      <p:sp>
        <p:nvSpPr>
          <p:cNvPr id="1302" name="P"/>
          <p:cNvSpPr/>
          <p:nvPr/>
        </p:nvSpPr>
        <p:spPr>
          <a:xfrm>
            <a:off x="8051800" y="1778000"/>
            <a:ext cx="34925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220000" tIns="240000" rIns="220000" bIns="240000" anchor="t"/>
          <a:lstStyle/>
          <a:p>
            <a:pPr algn="l"/>
            <a:r>
              <a:rPr lang="en-US" sz="2000" b="1" spc="300" dirty="0">
                <a:solidFill>
                  <a:srgbClr val="F43F5E"/>
                </a:solidFill>
              </a:rPr>
              <a:t>03</a:t>
            </a:r>
          </a:p>
          <a:p>
            <a:pPr algn="l">
              <a:spcBef>
                <a:spcPts val="400"/>
              </a:spcBef>
            </a:pPr>
            <a:r>
              <a:rPr lang="en-US" sz="4800" b="1" dirty="0">
                <a:solidFill>
                  <a:srgbClr val="F43F5E"/>
                </a:solidFill>
              </a:rPr>
              <a:t>Trust</a:t>
            </a:r>
          </a:p>
          <a:p>
            <a:pPr algn="l">
              <a:spcBef>
                <a:spcPts val="600"/>
              </a:spcBef>
            </a:pPr>
            <a:r>
              <a:rPr lang="en-US" sz="2800" dirty="0">
                <a:solidFill>
                  <a:srgbClr val="475569"/>
                </a:solidFill>
              </a:rPr>
              <a:t>Always show the SQL. Let users verify before they believe.</a:t>
            </a:r>
          </a:p>
        </p:txBody>
      </p:sp>
      <p:sp>
        <p:nvSpPr>
          <p:cNvPr id="1310" name="BQ"/>
          <p:cNvSpPr/>
          <p:nvPr/>
        </p:nvSpPr>
        <p:spPr>
          <a:xfrm>
            <a:off x="635000" y="5778500"/>
            <a:ext cx="1092200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  <p:txBody>
          <a:bodyPr wrap="square" lIns="180000" tIns="0" rIns="180000" bIns="0" anchor="ctr"/>
          <a:lstStyle/>
          <a:p>
            <a:pPr algn="ctr"/>
            <a:r>
              <a:rPr lang="en-US" sz="2400" i="1" dirty="0">
                <a:solidFill>
                  <a:srgbClr val="475569"/>
                </a:solidFill>
              </a:rPr>
              <a:t>The LLM is 20% of the work. The UX is the rest!</a:t>
            </a:r>
          </a:p>
        </p:txBody>
      </p:sp>
    </p:spTree>
    <p:extLst>
      <p:ext uri="{BB962C8B-B14F-4D97-AF65-F5344CB8AC3E}">
        <p14:creationId xmlns:p14="http://schemas.microsoft.com/office/powerpoint/2010/main" val="2802800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FFD1-30E3-F282-65BE-DD43E9D8B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25437"/>
            <a:ext cx="10515600" cy="1325563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Where This Fits in the Real World</a:t>
            </a:r>
          </a:p>
        </p:txBody>
      </p:sp>
      <p:sp>
        <p:nvSpPr>
          <p:cNvPr id="1400" name="U"/>
          <p:cNvSpPr/>
          <p:nvPr/>
        </p:nvSpPr>
        <p:spPr>
          <a:xfrm>
            <a:off x="562430" y="1651000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4000" b="1" dirty="0">
                <a:solidFill>
                  <a:srgbClr val="22D3EE"/>
                </a:solidFill>
              </a:rPr>
              <a:t>▣  </a:t>
            </a:r>
            <a:r>
              <a:rPr lang="en-US" sz="2800" b="1" dirty="0">
                <a:solidFill>
                  <a:srgbClr val="0F172A"/>
                </a:solidFill>
              </a:rPr>
              <a:t>Admin dashboards</a:t>
            </a:r>
          </a:p>
          <a:p>
            <a:pPr algn="l">
              <a:spcBef>
                <a:spcPts val="500"/>
              </a:spcBef>
            </a:pPr>
            <a:r>
              <a:rPr lang="en-US" sz="2000" i="1" dirty="0">
                <a:solidFill>
                  <a:srgbClr val="64748B"/>
                </a:solidFill>
              </a:rPr>
              <a:t>"How many new users last week?"</a:t>
            </a:r>
          </a:p>
        </p:txBody>
      </p:sp>
      <p:sp>
        <p:nvSpPr>
          <p:cNvPr id="1401" name="U"/>
          <p:cNvSpPr/>
          <p:nvPr/>
        </p:nvSpPr>
        <p:spPr>
          <a:xfrm>
            <a:off x="4343400" y="1651000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4000" b="1" dirty="0">
                <a:solidFill>
                  <a:srgbClr val="6366F1"/>
                </a:solidFill>
              </a:rPr>
              <a:t>◉  </a:t>
            </a:r>
            <a:r>
              <a:rPr lang="en-US" sz="2800" b="1" dirty="0">
                <a:solidFill>
                  <a:srgbClr val="0F172A"/>
                </a:solidFill>
              </a:rPr>
              <a:t>Internal tools</a:t>
            </a:r>
          </a:p>
          <a:p>
            <a:pPr algn="l">
              <a:spcBef>
                <a:spcPts val="500"/>
              </a:spcBef>
            </a:pPr>
            <a:r>
              <a:rPr lang="en-US" sz="2000" i="1" dirty="0">
                <a:solidFill>
                  <a:srgbClr val="64748B"/>
                </a:solidFill>
              </a:rPr>
              <a:t>"Failed orders from the EU region."</a:t>
            </a:r>
          </a:p>
        </p:txBody>
      </p:sp>
      <p:sp>
        <p:nvSpPr>
          <p:cNvPr id="1402" name="U"/>
          <p:cNvSpPr/>
          <p:nvPr/>
        </p:nvSpPr>
        <p:spPr>
          <a:xfrm>
            <a:off x="8124370" y="1651000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4000" b="1" dirty="0">
                <a:solidFill>
                  <a:srgbClr val="10B981"/>
                </a:solidFill>
              </a:rPr>
              <a:t>⚡  </a:t>
            </a:r>
            <a:r>
              <a:rPr lang="en-US" sz="2800" b="1" dirty="0">
                <a:solidFill>
                  <a:srgbClr val="0F172A"/>
                </a:solidFill>
              </a:rPr>
              <a:t>Support &amp; ops</a:t>
            </a:r>
          </a:p>
          <a:p>
            <a:pPr algn="l">
              <a:spcBef>
                <a:spcPts val="500"/>
              </a:spcBef>
            </a:pPr>
            <a:r>
              <a:rPr lang="en-US" sz="2000" i="1" dirty="0">
                <a:solidFill>
                  <a:srgbClr val="64748B"/>
                </a:solidFill>
              </a:rPr>
              <a:t>"Customers who churned in March."</a:t>
            </a:r>
          </a:p>
        </p:txBody>
      </p:sp>
      <p:sp>
        <p:nvSpPr>
          <p:cNvPr id="1403" name="U"/>
          <p:cNvSpPr/>
          <p:nvPr/>
        </p:nvSpPr>
        <p:spPr>
          <a:xfrm>
            <a:off x="562430" y="3726542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4000" b="1" dirty="0">
                <a:solidFill>
                  <a:srgbClr val="F43F5E"/>
                </a:solidFill>
              </a:rPr>
              <a:t>📊  </a:t>
            </a:r>
            <a:r>
              <a:rPr lang="en-US" sz="2800" b="1" dirty="0">
                <a:solidFill>
                  <a:srgbClr val="0F172A"/>
                </a:solidFill>
              </a:rPr>
              <a:t>Exec reporting</a:t>
            </a:r>
          </a:p>
          <a:p>
            <a:pPr algn="l">
              <a:spcBef>
                <a:spcPts val="500"/>
              </a:spcBef>
            </a:pPr>
            <a:r>
              <a:rPr lang="en-US" sz="2000" i="1" dirty="0">
                <a:solidFill>
                  <a:srgbClr val="64748B"/>
                </a:solidFill>
              </a:rPr>
              <a:t>"Revenue by product, last 4 quarters."</a:t>
            </a:r>
          </a:p>
        </p:txBody>
      </p:sp>
      <p:sp>
        <p:nvSpPr>
          <p:cNvPr id="1404" name="U"/>
          <p:cNvSpPr/>
          <p:nvPr/>
        </p:nvSpPr>
        <p:spPr>
          <a:xfrm>
            <a:off x="4343400" y="3726542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3600" b="1" dirty="0">
                <a:solidFill>
                  <a:srgbClr val="F59E0B"/>
                </a:solidFill>
              </a:rPr>
              <a:t>🔍</a:t>
            </a:r>
            <a:r>
              <a:rPr lang="en-US" sz="4000" b="1" dirty="0">
                <a:solidFill>
                  <a:srgbClr val="F59E0B"/>
                </a:solidFill>
              </a:rPr>
              <a:t>  </a:t>
            </a:r>
            <a:r>
              <a:rPr lang="en-US" sz="2800" b="1" dirty="0">
                <a:solidFill>
                  <a:srgbClr val="0F172A"/>
                </a:solidFill>
              </a:rPr>
              <a:t>Ad-hoc analysis</a:t>
            </a:r>
          </a:p>
          <a:p>
            <a:pPr algn="l">
              <a:spcBef>
                <a:spcPts val="500"/>
              </a:spcBef>
            </a:pPr>
            <a:r>
              <a:rPr lang="en-US" sz="2000" i="1" dirty="0">
                <a:solidFill>
                  <a:srgbClr val="64748B"/>
                </a:solidFill>
              </a:rPr>
              <a:t>"Orders over $1k with no shipment."</a:t>
            </a:r>
          </a:p>
        </p:txBody>
      </p:sp>
      <p:sp>
        <p:nvSpPr>
          <p:cNvPr id="1405" name="U"/>
          <p:cNvSpPr/>
          <p:nvPr/>
        </p:nvSpPr>
        <p:spPr>
          <a:xfrm>
            <a:off x="8124370" y="3726542"/>
            <a:ext cx="3600000" cy="19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80000" tIns="160000" rIns="180000" bIns="160000" anchor="t"/>
          <a:lstStyle/>
          <a:p>
            <a:pPr algn="l"/>
            <a:r>
              <a:rPr lang="en-US" sz="4000" b="1" dirty="0">
                <a:solidFill>
                  <a:srgbClr val="A78BFA"/>
                </a:solidFill>
              </a:rPr>
              <a:t>📈  </a:t>
            </a:r>
            <a:r>
              <a:rPr lang="en-US" sz="2800" b="1" dirty="0">
                <a:solidFill>
                  <a:srgbClr val="0F172A"/>
                </a:solidFill>
              </a:rPr>
              <a:t>Self-serve BI</a:t>
            </a:r>
          </a:p>
          <a:p>
            <a:pPr algn="l">
              <a:spcBef>
                <a:spcPts val="500"/>
              </a:spcBef>
            </a:pPr>
            <a:r>
              <a:rPr lang="en-US" sz="2000" i="1" dirty="0">
                <a:solidFill>
                  <a:srgbClr val="64748B"/>
                </a:solidFill>
              </a:rPr>
              <a:t>"Top 20 SKUs by margin this year."</a:t>
            </a:r>
          </a:p>
        </p:txBody>
      </p:sp>
      <p:sp>
        <p:nvSpPr>
          <p:cNvPr id="1420" name="Q"/>
          <p:cNvSpPr txBox="1"/>
          <p:nvPr/>
        </p:nvSpPr>
        <p:spPr>
          <a:xfrm>
            <a:off x="635000" y="5842000"/>
            <a:ext cx="10922000" cy="381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80000" tIns="0" rIns="180000" bIns="0" anchor="ctr"/>
          <a:lstStyle>
            <a:defPPr>
              <a:defRPr lang="tr-TR"/>
            </a:defPPr>
            <a:lvl1pPr algn="ctr">
              <a:defRPr sz="2400" i="1">
                <a:solidFill>
                  <a:srgbClr val="475569"/>
                </a:solidFill>
              </a:defRPr>
            </a:lvl1pPr>
          </a:lstStyle>
          <a:p>
            <a:r>
              <a:rPr lang="en-US" dirty="0"/>
              <a:t>Anywhere a JIRA ticket asks a developer to write a SELECT.</a:t>
            </a:r>
          </a:p>
        </p:txBody>
      </p:sp>
    </p:spTree>
    <p:extLst>
      <p:ext uri="{BB962C8B-B14F-4D97-AF65-F5344CB8AC3E}">
        <p14:creationId xmlns:p14="http://schemas.microsoft.com/office/powerpoint/2010/main" val="4193197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E464-4A9F-3D02-3031-A210FB8E2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800" b="1" dirty="0">
                <a:solidFill>
                  <a:srgbClr val="0F172A"/>
                </a:solidFill>
              </a:rPr>
              <a:t>What to Watch Out For</a:t>
            </a:r>
          </a:p>
        </p:txBody>
      </p:sp>
      <p:sp>
        <p:nvSpPr>
          <p:cNvPr id="1500" name="Chal"/>
          <p:cNvSpPr/>
          <p:nvPr/>
        </p:nvSpPr>
        <p:spPr>
          <a:xfrm>
            <a:off x="635000" y="1524000"/>
            <a:ext cx="5334000" cy="4191000"/>
          </a:xfrm>
          <a:prstGeom prst="roundRect">
            <a:avLst>
              <a:gd name="adj" fmla="val 6000"/>
            </a:avLst>
          </a:prstGeom>
          <a:solidFill>
            <a:srgbClr val="FEF2F2">
              <a:alpha val="30000"/>
            </a:srgbClr>
          </a:solidFill>
          <a:ln w="12700">
            <a:solidFill>
              <a:srgbClr val="FECDD3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2400" b="1" spc="300" dirty="0">
                <a:solidFill>
                  <a:srgbClr val="9F1239"/>
                </a:solidFill>
              </a:rPr>
              <a:t>⚠  CHALLENGES</a:t>
            </a: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0F172A"/>
                </a:solidFill>
              </a:rPr>
              <a:t>It gets hard fast.</a:t>
            </a:r>
            <a:br>
              <a:rPr lang="en-US" sz="3600" b="1" dirty="0">
                <a:solidFill>
                  <a:srgbClr val="0F172A"/>
                </a:solidFill>
              </a:rPr>
            </a:br>
            <a:endParaRPr lang="en-US" sz="3600" b="1" dirty="0">
              <a:solidFill>
                <a:srgbClr val="0F172A"/>
              </a:solidFill>
            </a:endParaRPr>
          </a:p>
          <a:p>
            <a:pPr marL="228600" indent="-228600">
              <a:spcBef>
                <a:spcPts val="700"/>
              </a:spcBef>
              <a:buFont typeface="Arial"/>
              <a:buChar char="•"/>
            </a:pPr>
            <a:r>
              <a:rPr lang="en-US" sz="2400" b="1" dirty="0">
                <a:solidFill>
                  <a:srgbClr val="0F172A"/>
                </a:solidFill>
              </a:rPr>
              <a:t>Prompt drift </a:t>
            </a:r>
            <a:r>
              <a:rPr lang="en-US" sz="2000" dirty="0">
                <a:solidFill>
                  <a:srgbClr val="64748B"/>
                </a:solidFill>
              </a:rPr>
              <a:t>as schema grows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b="1" dirty="0">
                <a:solidFill>
                  <a:srgbClr val="0F172A"/>
                </a:solidFill>
              </a:rPr>
              <a:t>Ambiguous questions </a:t>
            </a:r>
            <a:r>
              <a:rPr lang="en-US" sz="2000" dirty="0">
                <a:solidFill>
                  <a:srgbClr val="64748B"/>
                </a:solidFill>
              </a:rPr>
              <a:t>("last month")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b="1" dirty="0">
                <a:solidFill>
                  <a:srgbClr val="0F172A"/>
                </a:solidFill>
              </a:rPr>
              <a:t>Cost &amp; latency </a:t>
            </a:r>
            <a:r>
              <a:rPr lang="en-US" sz="2000" dirty="0">
                <a:solidFill>
                  <a:srgbClr val="64748B"/>
                </a:solidFill>
              </a:rPr>
              <a:t>per query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b="1" dirty="0">
                <a:solidFill>
                  <a:srgbClr val="0F172A"/>
                </a:solidFill>
              </a:rPr>
              <a:t>Hallucinated columns </a:t>
            </a:r>
            <a:r>
              <a:rPr lang="en-US" sz="2000" dirty="0">
                <a:solidFill>
                  <a:srgbClr val="64748B"/>
                </a:solidFill>
              </a:rPr>
              <a:t>&amp; joins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2400" b="1" dirty="0">
                <a:solidFill>
                  <a:srgbClr val="0F172A"/>
                </a:solidFill>
              </a:rPr>
              <a:t>Permissions </a:t>
            </a:r>
            <a:r>
              <a:rPr lang="en-US" sz="2000" dirty="0">
                <a:solidFill>
                  <a:srgbClr val="64748B"/>
                </a:solidFill>
              </a:rPr>
              <a:t>&amp; row-level security</a:t>
            </a:r>
          </a:p>
        </p:txBody>
      </p:sp>
      <p:sp>
        <p:nvSpPr>
          <p:cNvPr id="1501" name="BP"/>
          <p:cNvSpPr/>
          <p:nvPr/>
        </p:nvSpPr>
        <p:spPr>
          <a:xfrm>
            <a:off x="6223000" y="1524000"/>
            <a:ext cx="5334000" cy="4191000"/>
          </a:xfrm>
          <a:prstGeom prst="roundRect">
            <a:avLst>
              <a:gd name="adj" fmla="val 6000"/>
            </a:avLst>
          </a:prstGeom>
          <a:solidFill>
            <a:srgbClr val="ECFDF5">
              <a:alpha val="30000"/>
            </a:srgbClr>
          </a:solidFill>
          <a:ln w="12700">
            <a:solidFill>
              <a:srgbClr val="A7F3D0"/>
            </a:solidFill>
          </a:ln>
        </p:spPr>
        <p:txBody>
          <a:bodyPr wrap="square" lIns="240000" tIns="200000" rIns="240000" bIns="200000" anchor="t"/>
          <a:lstStyle/>
          <a:p>
            <a:pPr algn="l"/>
            <a:r>
              <a:rPr lang="en-US" sz="2400" b="1" spc="300" dirty="0">
                <a:solidFill>
                  <a:srgbClr val="047857"/>
                </a:solidFill>
              </a:rPr>
              <a:t>✓  BEST PRACTICES</a:t>
            </a:r>
          </a:p>
          <a:p>
            <a:pPr algn="l">
              <a:spcBef>
                <a:spcPts val="400"/>
              </a:spcBef>
            </a:pPr>
            <a:r>
              <a:rPr lang="en-US" sz="3600" b="1" dirty="0">
                <a:solidFill>
                  <a:srgbClr val="0F172A"/>
                </a:solidFill>
              </a:rPr>
              <a:t>What actually works.</a:t>
            </a:r>
            <a:br>
              <a:rPr lang="en-US" sz="3600" b="1" dirty="0">
                <a:solidFill>
                  <a:srgbClr val="0F172A"/>
                </a:solidFill>
              </a:rPr>
            </a:br>
            <a:endParaRPr lang="en-US" sz="3600" b="1" dirty="0">
              <a:solidFill>
                <a:srgbClr val="0F172A"/>
              </a:solidFill>
            </a:endParaRPr>
          </a:p>
          <a:p>
            <a:pPr marL="228600" indent="-228600">
              <a:spcBef>
                <a:spcPts val="700"/>
              </a:spcBef>
              <a:buFont typeface="Arial"/>
              <a:buChar char="✓"/>
            </a:pPr>
            <a:r>
              <a:rPr lang="en-US" sz="2400" b="1" dirty="0">
                <a:solidFill>
                  <a:srgbClr val="0F172A"/>
                </a:solidFill>
              </a:rPr>
              <a:t>Always validate </a:t>
            </a:r>
            <a:r>
              <a:rPr lang="en-US" sz="2000" dirty="0">
                <a:solidFill>
                  <a:srgbClr val="475569"/>
                </a:solidFill>
              </a:rPr>
              <a:t>— never trust raw SQL</a:t>
            </a:r>
          </a:p>
          <a:p>
            <a:pPr marL="228600" indent="-228600">
              <a:spcBef>
                <a:spcPts val="400"/>
              </a:spcBef>
              <a:buFont typeface="Arial"/>
              <a:buChar char="✓"/>
            </a:pPr>
            <a:r>
              <a:rPr lang="en-US" sz="2400" b="1" dirty="0">
                <a:solidFill>
                  <a:srgbClr val="0F172A"/>
                </a:solidFill>
              </a:rPr>
              <a:t>Keep prompts strict </a:t>
            </a:r>
            <a:r>
              <a:rPr lang="en-US" sz="2000" dirty="0">
                <a:solidFill>
                  <a:srgbClr val="475569"/>
                </a:solidFill>
              </a:rPr>
              <a:t>&amp; versioned</a:t>
            </a:r>
          </a:p>
          <a:p>
            <a:pPr marL="228600" indent="-228600">
              <a:spcBef>
                <a:spcPts val="400"/>
              </a:spcBef>
              <a:buFont typeface="Arial"/>
              <a:buChar char="✓"/>
            </a:pPr>
            <a:r>
              <a:rPr lang="en-US" sz="2400" b="1" dirty="0">
                <a:solidFill>
                  <a:srgbClr val="0F172A"/>
                </a:solidFill>
              </a:rPr>
              <a:t>Read-only DB user </a:t>
            </a:r>
            <a:r>
              <a:rPr lang="en-US" sz="2000" dirty="0">
                <a:solidFill>
                  <a:srgbClr val="475569"/>
                </a:solidFill>
              </a:rPr>
              <a:t>for the pipeline</a:t>
            </a:r>
          </a:p>
          <a:p>
            <a:pPr marL="228600" indent="-228600">
              <a:spcBef>
                <a:spcPts val="400"/>
              </a:spcBef>
              <a:buFont typeface="Arial"/>
              <a:buChar char="✓"/>
            </a:pPr>
            <a:r>
              <a:rPr lang="en-US" sz="2400" b="1" dirty="0">
                <a:solidFill>
                  <a:srgbClr val="0F172A"/>
                </a:solidFill>
              </a:rPr>
              <a:t>Log everything </a:t>
            </a:r>
            <a:r>
              <a:rPr lang="en-US" sz="2000" dirty="0">
                <a:solidFill>
                  <a:srgbClr val="475569"/>
                </a:solidFill>
              </a:rPr>
              <a:t>— prompt, SQL, result</a:t>
            </a:r>
          </a:p>
          <a:p>
            <a:pPr marL="228600" indent="-228600">
              <a:spcBef>
                <a:spcPts val="400"/>
              </a:spcBef>
              <a:buFont typeface="Arial"/>
              <a:buChar char="✓"/>
            </a:pPr>
            <a:r>
              <a:rPr lang="en-US" sz="2400" b="1" dirty="0">
                <a:solidFill>
                  <a:srgbClr val="0F172A"/>
                </a:solidFill>
              </a:rPr>
              <a:t>Start small </a:t>
            </a:r>
            <a:r>
              <a:rPr lang="en-US" sz="2000" dirty="0">
                <a:solidFill>
                  <a:srgbClr val="475569"/>
                </a:solidFill>
              </a:rPr>
              <a:t>— one table, one user</a:t>
            </a:r>
          </a:p>
        </p:txBody>
      </p:sp>
    </p:spTree>
    <p:extLst>
      <p:ext uri="{BB962C8B-B14F-4D97-AF65-F5344CB8AC3E}">
        <p14:creationId xmlns:p14="http://schemas.microsoft.com/office/powerpoint/2010/main" val="3349061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BG"/>
          <p:cNvSpPr/>
          <p:nvPr/>
        </p:nvSpPr>
        <p:spPr>
          <a:xfrm>
            <a:off x="76200" y="0"/>
            <a:ext cx="121158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601" name="Bar"/>
          <p:cNvSpPr/>
          <p:nvPr/>
        </p:nvSpPr>
        <p:spPr>
          <a:xfrm>
            <a:off x="0" y="1016000"/>
            <a:ext cx="76200" cy="4826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" name="Q"/>
          <p:cNvSpPr txBox="1"/>
          <p:nvPr/>
        </p:nvSpPr>
        <p:spPr>
          <a:xfrm>
            <a:off x="762000" y="411504"/>
            <a:ext cx="10668000" cy="235562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05000"/>
              </a:lnSpc>
            </a:pPr>
            <a:r>
              <a:rPr lang="en-US" sz="7200" b="1" dirty="0">
                <a:solidFill>
                  <a:srgbClr val="FFFFFF"/>
                </a:solidFill>
              </a:rPr>
              <a:t>Start  simple</a:t>
            </a:r>
          </a:p>
          <a:p>
            <a:pPr algn="l">
              <a:lnSpc>
                <a:spcPct val="105000"/>
              </a:lnSpc>
            </a:pPr>
            <a:r>
              <a:rPr lang="en-US" sz="7200" b="1" dirty="0">
                <a:solidFill>
                  <a:srgbClr val="FFFFFF"/>
                </a:solidFill>
              </a:rPr>
              <a:t>Then evolve into a </a:t>
            </a:r>
            <a:r>
              <a:rPr lang="en-US" sz="7200" b="1" i="1" dirty="0">
                <a:solidFill>
                  <a:srgbClr val="22D3EE"/>
                </a:solidFill>
              </a:rPr>
              <a:t>product.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6DDA9F-DD43-59A2-0129-A027E314CDEB}"/>
              </a:ext>
            </a:extLst>
          </p:cNvPr>
          <p:cNvGrpSpPr/>
          <p:nvPr/>
        </p:nvGrpSpPr>
        <p:grpSpPr>
          <a:xfrm>
            <a:off x="862642" y="2936063"/>
            <a:ext cx="10124672" cy="1524000"/>
            <a:chOff x="762000" y="3624943"/>
            <a:chExt cx="6634951" cy="1524000"/>
          </a:xfrm>
        </p:grpSpPr>
        <p:sp>
          <p:nvSpPr>
            <p:cNvPr id="1610" name="B"/>
            <p:cNvSpPr/>
            <p:nvPr/>
          </p:nvSpPr>
          <p:spPr>
            <a:xfrm>
              <a:off x="762000" y="3624943"/>
              <a:ext cx="3773409" cy="1524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>
              <a:noFill/>
            </a:ln>
          </p:spPr>
          <p:txBody>
            <a:bodyPr wrap="square" lIns="200000" tIns="200000" rIns="200000" bIns="200000" anchor="t"/>
            <a:lstStyle/>
            <a:p>
              <a:pPr algn="l">
                <a:spcBef>
                  <a:spcPts val="300"/>
                </a:spcBef>
              </a:pPr>
              <a:r>
                <a:rPr lang="en-US" sz="2800" dirty="0">
                  <a:solidFill>
                    <a:srgbClr val="FFFFFF"/>
                  </a:solidFill>
                </a:rPr>
                <a:t>We learnt programming languages to talk with computers</a:t>
              </a:r>
              <a:endParaRPr lang="en-US" sz="2000" dirty="0">
                <a:solidFill>
                  <a:srgbClr val="94A3B8"/>
                </a:solidFill>
              </a:endParaRPr>
            </a:p>
          </p:txBody>
        </p:sp>
        <p:sp>
          <p:nvSpPr>
            <p:cNvPr id="1611" name="B"/>
            <p:cNvSpPr/>
            <p:nvPr/>
          </p:nvSpPr>
          <p:spPr>
            <a:xfrm>
              <a:off x="4371599" y="3624943"/>
              <a:ext cx="3025352" cy="1524000"/>
            </a:xfrm>
            <a:prstGeom prst="roundRect">
              <a:avLst>
                <a:gd name="adj" fmla="val 6000"/>
              </a:avLst>
            </a:prstGeom>
            <a:solidFill>
              <a:schemeClr val="bg2"/>
            </a:solidFill>
            <a:ln>
              <a:noFill/>
            </a:ln>
          </p:spPr>
          <p:txBody>
            <a:bodyPr wrap="square" lIns="200000" tIns="200000" rIns="200000" bIns="200000" anchor="t"/>
            <a:lstStyle/>
            <a:p>
              <a:pPr algn="l"/>
              <a:r>
                <a:rPr lang="en-US" sz="2800" spc="300" dirty="0">
                  <a:solidFill>
                    <a:srgbClr val="1E293B"/>
                  </a:solidFill>
                </a:rPr>
                <a:t>now they learnt</a:t>
              </a:r>
              <a:br>
                <a:rPr lang="en-US" sz="2800" spc="300" dirty="0">
                  <a:solidFill>
                    <a:srgbClr val="1E293B"/>
                  </a:solidFill>
                </a:rPr>
              </a:br>
              <a:r>
                <a:rPr lang="en-US" sz="2800" spc="300" dirty="0">
                  <a:solidFill>
                    <a:srgbClr val="1E293B"/>
                  </a:solidFill>
                </a:rPr>
                <a:t>our language</a:t>
              </a:r>
              <a:endParaRPr lang="en-US" sz="2800" dirty="0">
                <a:solidFill>
                  <a:srgbClr val="1E293B"/>
                </a:solidFill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5D01CF5-3779-C47E-5AA7-7E0126629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318" y="4787580"/>
            <a:ext cx="1735996" cy="17516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AC7983-4AF8-14A4-A44D-2BB81412E54E}"/>
              </a:ext>
            </a:extLst>
          </p:cNvPr>
          <p:cNvSpPr txBox="1"/>
          <p:nvPr/>
        </p:nvSpPr>
        <p:spPr>
          <a:xfrm>
            <a:off x="5272789" y="5442636"/>
            <a:ext cx="26958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i="1" dirty="0">
                <a:solidFill>
                  <a:srgbClr val="94A3B8"/>
                </a:solidFill>
              </a:rPr>
              <a:t>Presentation</a:t>
            </a:r>
            <a:br>
              <a:rPr lang="en-US" sz="2800" i="1" dirty="0">
                <a:solidFill>
                  <a:srgbClr val="94A3B8"/>
                </a:solidFill>
              </a:rPr>
            </a:br>
            <a:r>
              <a:rPr lang="en-US" sz="2800" i="1" dirty="0">
                <a:solidFill>
                  <a:srgbClr val="94A3B8"/>
                </a:solidFill>
              </a:rPr>
              <a:t>+ Source-code</a:t>
            </a:r>
            <a:endParaRPr lang="tr-TR" sz="2800" i="1" dirty="0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5D101DB-A4D3-4114-CE0B-9DA7CACA4509}"/>
              </a:ext>
            </a:extLst>
          </p:cNvPr>
          <p:cNvCxnSpPr>
            <a:cxnSpLocks/>
          </p:cNvCxnSpPr>
          <p:nvPr/>
        </p:nvCxnSpPr>
        <p:spPr>
          <a:xfrm flipV="1">
            <a:off x="7876269" y="5192160"/>
            <a:ext cx="1333045" cy="727529"/>
          </a:xfrm>
          <a:prstGeom prst="curvedConnector3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peakerName">
            <a:extLst>
              <a:ext uri="{FF2B5EF4-FFF2-40B4-BE49-F238E27FC236}">
                <a16:creationId xmlns:a16="http://schemas.microsoft.com/office/drawing/2014/main" id="{B67F7C9D-3984-DFAA-4F75-34BC31E06746}"/>
              </a:ext>
            </a:extLst>
          </p:cNvPr>
          <p:cNvSpPr txBox="1"/>
          <p:nvPr/>
        </p:nvSpPr>
        <p:spPr>
          <a:xfrm>
            <a:off x="862642" y="5243713"/>
            <a:ext cx="3386413" cy="1153029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4000" b="1" dirty="0">
                <a:solidFill>
                  <a:schemeClr val="bg1"/>
                </a:solidFill>
              </a:rPr>
              <a:t>Alper Ebicoglu</a:t>
            </a:r>
          </a:p>
          <a:p>
            <a:r>
              <a:rPr lang="en-US" sz="2800" dirty="0">
                <a:solidFill>
                  <a:schemeClr val="bg1"/>
                </a:solidFill>
              </a:rPr>
              <a:t>x.com/</a:t>
            </a:r>
            <a:r>
              <a:rPr lang="en-US" sz="2800" dirty="0">
                <a:solidFill>
                  <a:srgbClr val="22D3EE"/>
                </a:solidFill>
              </a:rPr>
              <a:t>alperebicoglu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7516DB6-9F60-477D-8214-F1524AF1287A}"/>
              </a:ext>
            </a:extLst>
          </p:cNvPr>
          <p:cNvSpPr/>
          <p:nvPr/>
        </p:nvSpPr>
        <p:spPr>
          <a:xfrm>
            <a:off x="2825886" y="482478"/>
            <a:ext cx="2979828" cy="1170440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FB9B4569-51E9-BCD9-9F8D-73705F246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Until now we learnt programming languages to talk with computers</a:t>
            </a:r>
            <a:endParaRPr kumimoji="0" lang="tr-TR" altLang="tr-T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954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698939131]">
  <a:themeElements>
    <a:clrScheme name="Office">
      <a:dk1>
        <a:srgbClr val="0F172A"/>
      </a:dk1>
      <a:lt1>
        <a:srgbClr val="FAFBFC"/>
      </a:lt1>
      <a:dk2>
        <a:srgbClr val="475569"/>
      </a:dk2>
      <a:lt2>
        <a:srgbClr val="E2E8F0"/>
      </a:lt2>
      <a:accent1>
        <a:srgbClr val="22D3EE"/>
      </a:accent1>
      <a:accent2>
        <a:srgbClr val="0891B2"/>
      </a:accent2>
      <a:accent3>
        <a:srgbClr val="F59E0B"/>
      </a:accent3>
      <a:accent4>
        <a:srgbClr val="10B981"/>
      </a:accent4>
      <a:accent5>
        <a:srgbClr val="F43F5E"/>
      </a:accent5>
      <a:accent6>
        <a:srgbClr val="1E293B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A96001D-FC19-48DE-ACAE-658A0B89BED9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5c3744b-1745-4281-a778-88fed6b7998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823AA437-7D55-4192-9ACF-F8570218A846}">
  <we:reference id="wa200009023" version="1.0.0.2" store="en-US" storeType="OMEX"/>
  <we:alternateReferences>
    <we:reference id="wa200009023" version="1.0.0.2" store="wa20000902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3673</Words>
  <Application>Microsoft Office PowerPoint</Application>
  <PresentationFormat>Widescreen</PresentationFormat>
  <Paragraphs>483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Consolas</vt:lpstr>
      <vt:lpstr>Google Sans Text</vt:lpstr>
      <vt:lpstr>Inter</vt:lpstr>
      <vt:lpstr>Raleway</vt:lpstr>
      <vt:lpstr>Roboto</vt:lpstr>
      <vt:lpstr>Office Theme [1776698939131]</vt:lpstr>
      <vt:lpstr>Building  AI-Powered Reporting with .NET</vt:lpstr>
      <vt:lpstr>PowerPoint Presentation</vt:lpstr>
      <vt:lpstr>The Problem</vt:lpstr>
      <vt:lpstr>PowerPoint Presentation</vt:lpstr>
      <vt:lpstr>What We'll Build</vt:lpstr>
      <vt:lpstr>The Pipeline A Simple Console App </vt:lpstr>
      <vt:lpstr>The Pipeline</vt:lpstr>
      <vt:lpstr>Schema + Prompt Design</vt:lpstr>
      <vt:lpstr>Live Demo — Console</vt:lpstr>
      <vt:lpstr>Validation + Execution</vt:lpstr>
      <vt:lpstr>PowerPoint Presentation</vt:lpstr>
      <vt:lpstr>Architecture — 3 Layers</vt:lpstr>
      <vt:lpstr>One Module. Any .NET App.</vt:lpstr>
      <vt:lpstr>PowerPoint Presentation</vt:lpstr>
      <vt:lpstr>Same Backend, Little Bit Better UX</vt:lpstr>
      <vt:lpstr>Live Demo — Blazor</vt:lpstr>
      <vt:lpstr>UX Is the Product</vt:lpstr>
      <vt:lpstr>Where This Fits in the Real World</vt:lpstr>
      <vt:lpstr>What to Watch Out For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Volosoft Bilisim</dc:creator>
  <cp:lastModifiedBy>Alper Ebiçoğlu</cp:lastModifiedBy>
  <cp:revision>77</cp:revision>
  <dcterms:created xsi:type="dcterms:W3CDTF">2026-04-20T12:53:27Z</dcterms:created>
  <dcterms:modified xsi:type="dcterms:W3CDTF">2026-04-20T19:04:16Z</dcterms:modified>
</cp:coreProperties>
</file>